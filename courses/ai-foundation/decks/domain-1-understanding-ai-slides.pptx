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CYBER ACADEMY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1 OF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UKAIC AI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Understanding AI: The Big Picture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What AI is, what it is not, and how it already surrounds you at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009497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DOMAIN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3441" y="4224528"/>
            <a:ext cx="1367942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14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7688" y="42245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12%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6" name="Picture 15" descr="cyber-academ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WELCOME · 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UKAIC AI Foundation — 8 sessions, one exam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120640"/>
                <a:gridCol w="100584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Domain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Questions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Understanding AI: The Big Picture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How AI Works (Without the Maths)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The AI Landscape &amp; Generative AI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Prompt Engineering Fundamentals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Working with AI Day to Day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Limitations, Risks &amp; Hallucination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AI Security, Privacy &amp;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Ethics, Bias, Responsible AI &amp; Governance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Define AI  </a:t>
            </a:r>
            <a:r>
              <a:rPr sz="1450">
                <a:solidFill>
                  <a:srgbClr val="D1D5DB"/>
                </a:solidFill>
                <a:latin typeface="Arial"/>
              </a:rPr>
              <a:t>accurately — learning patterns from data to predict, generate or act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Separate the hype  </a:t>
            </a:r>
            <a:r>
              <a:rPr sz="1450">
                <a:solidFill>
                  <a:srgbClr val="D1D5DB"/>
                </a:solidFill>
                <a:latin typeface="Arial"/>
              </a:rPr>
              <a:t>from the technology: what AI is not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Nest the terms  </a:t>
            </a:r>
            <a:r>
              <a:rPr sz="1450">
                <a:solidFill>
                  <a:srgbClr val="D1D5DB"/>
                </a:solidFill>
                <a:latin typeface="Arial"/>
              </a:rPr>
              <a:t>AI ⊃ machine learning ⊃ deep learning ⊃ generative AI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Apply the narrow-or-general test  </a:t>
            </a:r>
            <a:r>
              <a:rPr sz="1450">
                <a:solidFill>
                  <a:srgbClr val="D1D5DB"/>
                </a:solidFill>
                <a:latin typeface="Arial"/>
              </a:rPr>
              <a:t>to dramatic claims about AI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Recognise everyday AI  </a:t>
            </a:r>
            <a:r>
              <a:rPr sz="1450">
                <a:solidFill>
                  <a:srgbClr val="D1D5DB"/>
                </a:solidFill>
                <a:latin typeface="Arial"/>
              </a:rPr>
              <a:t>already embedded in routine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1.1 DEFINING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Most modern AI learns patterns from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Learns patterns  </a:t>
            </a:r>
            <a:r>
              <a:rPr sz="1450">
                <a:solidFill>
                  <a:srgbClr val="D1D5DB"/>
                </a:solidFill>
                <a:latin typeface="Arial"/>
              </a:rPr>
              <a:t>from examples, not from rules a human wrote for every case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Makes predictions  </a:t>
            </a:r>
            <a:r>
              <a:rPr sz="1450">
                <a:solidFill>
                  <a:srgbClr val="D1D5DB"/>
                </a:solidFill>
                <a:latin typeface="Arial"/>
              </a:rPr>
              <a:t>— e.g. will this email be opened, will this loan default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Generates content  </a:t>
            </a:r>
            <a:r>
              <a:rPr sz="1450">
                <a:solidFill>
                  <a:srgbClr val="D1D5DB"/>
                </a:solidFill>
                <a:latin typeface="Arial"/>
              </a:rPr>
              <a:t>— text, images, audio, video, code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Takes actions  </a:t>
            </a:r>
            <a:r>
              <a:rPr sz="1450">
                <a:solidFill>
                  <a:srgbClr val="D1D5DB"/>
                </a:solidFill>
                <a:latin typeface="Arial"/>
              </a:rPr>
              <a:t>— navigation rerouting, autosave, automated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77639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Working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44568"/>
            <a:ext cx="768096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AI: technology that learns patterns from data to make predictions, generate content, or take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1.1 DEFINING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AI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Not conscious  </a:t>
            </a:r>
            <a:r>
              <a:rPr sz="1450">
                <a:solidFill>
                  <a:srgbClr val="D1D5DB"/>
                </a:solidFill>
                <a:latin typeface="Arial"/>
              </a:rPr>
              <a:t>— no awareness, feelings, or intentions, whatever the interface implies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Not infallible  </a:t>
            </a:r>
            <a:r>
              <a:rPr sz="1450">
                <a:solidFill>
                  <a:srgbClr val="D1D5DB"/>
                </a:solidFill>
                <a:latin typeface="Arial"/>
              </a:rPr>
              <a:t>— it can be confidently wrong; accuracy is not guaranteed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Not magic  </a:t>
            </a:r>
            <a:r>
              <a:rPr sz="1450">
                <a:solidFill>
                  <a:srgbClr val="D1D5DB"/>
                </a:solidFill>
                <a:latin typeface="Arial"/>
              </a:rPr>
              <a:t>— pattern learning over large datasets, with real limits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Not a person  </a:t>
            </a:r>
            <a:r>
              <a:rPr sz="1450">
                <a:solidFill>
                  <a:srgbClr val="D1D5DB"/>
                </a:solidFill>
                <a:latin typeface="Arial"/>
              </a:rPr>
              <a:t>— "the AI thought..." is a metaphor, not a 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1.1 DEFINING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Rule-based systems vs learning systems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8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383279"/>
                <a:gridCol w="3383279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Rule-based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Learning system (AI)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How it works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Human-coded if-then rules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Patterns learned from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Tax calculator, spreadsheet formula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Spam filter, face unlock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Rules updated by humans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Re-trained on new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Flexibility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Predictable, rigid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Adaptable, but fallible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Simple ≠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-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 simple explanation of AI can still be accurate. Precision and simplicity are not opposites.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Is a spreadsheet formula "AI"?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Push for a rule-based vs learned distinction. A formula executes human-written rules; a spam filter learned its behaviour from data. Neither is conscious; both can be useful.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Probe: where do you already rely on things you would never call AI?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1.2 AI, ML, DEEP LEARNING &amp;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One family, four nested terms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The umbrella term — any machine that performs tasks we associate with intelligence.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7752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52344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A subset of AI that learns patterns from data instead of following fixed rules.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584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37176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Deep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A subset of ML using multi-layer neural networks to find complex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57416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22008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Generative AI / LLMs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A subset of deep learning that produces new content — text, image, audio.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4" name="Picture 23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1.2 AI, ML, DEEP LEARNING &amp;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Machine learning — learning from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Training data  </a:t>
            </a:r>
            <a:r>
              <a:rPr sz="1450">
                <a:solidFill>
                  <a:srgbClr val="D1D5DB"/>
                </a:solidFill>
                <a:latin typeface="Arial"/>
              </a:rPr>
              <a:t>— the examples the system learns from (labelled or unlabelled)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Patterns, not rules  </a:t>
            </a:r>
            <a:r>
              <a:rPr sz="1450">
                <a:solidFill>
                  <a:srgbClr val="D1D5DB"/>
                </a:solidFill>
                <a:latin typeface="Arial"/>
              </a:rPr>
              <a:t>— the system finds statistical regularities by itself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Generalising  </a:t>
            </a:r>
            <a:r>
              <a:rPr sz="1450">
                <a:solidFill>
                  <a:srgbClr val="D1D5DB"/>
                </a:solidFill>
                <a:latin typeface="Arial"/>
              </a:rPr>
              <a:t>— applying what was learned to new, unseen examples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Example  </a:t>
            </a:r>
            <a:r>
              <a:rPr sz="1450">
                <a:solidFill>
                  <a:srgbClr val="D1D5DB"/>
                </a:solidFill>
                <a:latin typeface="Arial"/>
              </a:rPr>
              <a:t>— a fraud model learns from past transactions, then scores new 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1.2 AI, ML, DEEP LEARNING &amp;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Deep learning — layered neural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Inspired by  </a:t>
            </a:r>
            <a:r>
              <a:rPr sz="1450">
                <a:solidFill>
                  <a:srgbClr val="D1D5DB"/>
                </a:solidFill>
                <a:latin typeface="Arial"/>
              </a:rPr>
              <a:t>— simplified models of interconnected processing units (neurons)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Depth  </a:t>
            </a:r>
            <a:r>
              <a:rPr sz="1450">
                <a:solidFill>
                  <a:srgbClr val="D1D5DB"/>
                </a:solidFill>
                <a:latin typeface="Arial"/>
              </a:rPr>
              <a:t>— many layers, each transforming the data into more abstract representations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Where it shines  </a:t>
            </a:r>
            <a:r>
              <a:rPr sz="1450">
                <a:solidFill>
                  <a:srgbClr val="D1D5DB"/>
                </a:solidFill>
                <a:latin typeface="Arial"/>
              </a:rPr>
              <a:t>— images, speech, language: patterns too subtle for hand-coded rules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Cost  </a:t>
            </a:r>
            <a:r>
              <a:rPr sz="1450">
                <a:solidFill>
                  <a:srgbClr val="D1D5DB"/>
                </a:solidFill>
                <a:latin typeface="Arial"/>
              </a:rPr>
              <a:t>— needs large datasets and significant computing 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1.2 AI, ML, DEEP LEARNING &amp;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Generative AI &amp;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Generative  </a:t>
            </a:r>
            <a:r>
              <a:rPr sz="1450">
                <a:solidFill>
                  <a:srgbClr val="D1D5DB"/>
                </a:solidFill>
                <a:latin typeface="Arial"/>
              </a:rPr>
              <a:t>— creates new content rather than classifying or labelling existing content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Large language models  </a:t>
            </a:r>
            <a:r>
              <a:rPr sz="1450">
                <a:solidFill>
                  <a:srgbClr val="D1D5DB"/>
                </a:solidFill>
                <a:latin typeface="Arial"/>
              </a:rPr>
              <a:t>— trained on huge text corpora; the engines behind chat assistants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Output types  </a:t>
            </a:r>
            <a:r>
              <a:rPr sz="1450">
                <a:solidFill>
                  <a:srgbClr val="D1D5DB"/>
                </a:solidFill>
                <a:latin typeface="Arial"/>
              </a:rPr>
              <a:t>— text, images, audio/voice, video, and code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Key trait  </a:t>
            </a:r>
            <a:r>
              <a:rPr sz="1450">
                <a:solidFill>
                  <a:srgbClr val="D1D5DB"/>
                </a:solidFill>
                <a:latin typeface="Arial"/>
              </a:rPr>
              <a:t>— fluent and plausible; fluency is not the same as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1.2 AI, ML, DEEP LEARNING &amp;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Why precision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Vendor marketing  </a:t>
            </a:r>
            <a:r>
              <a:rPr sz="1450">
                <a:solidFill>
                  <a:srgbClr val="D1D5DB"/>
                </a:solidFill>
                <a:latin typeface="Arial"/>
              </a:rPr>
              <a:t>— "AI-powered" may mean a simple rule or a learned model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Media coverage  </a:t>
            </a:r>
            <a:r>
              <a:rPr sz="1450">
                <a:solidFill>
                  <a:srgbClr val="D1D5DB"/>
                </a:solidFill>
                <a:latin typeface="Arial"/>
              </a:rPr>
              <a:t>— "AI" is used loosely for anything automated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Your decisions  </a:t>
            </a:r>
            <a:r>
              <a:rPr sz="1450">
                <a:solidFill>
                  <a:srgbClr val="D1D5DB"/>
                </a:solidFill>
                <a:latin typeface="Arial"/>
              </a:rPr>
              <a:t>— a chatbot and a spreadsheet both get called AI, but behave differently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 </a:t>
            </a:r>
            <a:r>
              <a:rPr sz="1450">
                <a:solidFill>
                  <a:srgbClr val="D1D5DB"/>
                </a:solidFill>
                <a:latin typeface="Arial"/>
              </a:rPr>
              <a:t>— the UKAIC exam tests recognising the correct term, not brand names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Rule of thumb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-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Ask: did this system learn from data, or is it following human-written rules?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label the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streaming service "uses AI" to rank films you might like — ML, DL or neither?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satnav recomputes a route from a traffic feed — learned or rule-based?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chatbot drafts an email — which subset of AI is that?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Pair up: write one AI claim from a product you use, then label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Answers: 1 ML/DL (learned ranking) · 2 rule-based + learned traffic prediction · 3 generative AI /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2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Two minutes to stand and stretch — we resume with narrow vs general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1.3 NARROW VS GENERAL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Narrow AI — brilliant within a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Single-purpose  </a:t>
            </a:r>
            <a:r>
              <a:rPr sz="1450">
                <a:solidFill>
                  <a:srgbClr val="D1D5DB"/>
                </a:solidFill>
                <a:latin typeface="Arial"/>
              </a:rPr>
              <a:t>— designed for specific tasks: translation, face unlock, chess, triage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Domain-bound  </a:t>
            </a:r>
            <a:r>
              <a:rPr sz="1450">
                <a:solidFill>
                  <a:srgbClr val="D1D5DB"/>
                </a:solidFill>
                <a:latin typeface="Arial"/>
              </a:rPr>
              <a:t>— exceptional inside its lane, helpless outside it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Every product today  </a:t>
            </a:r>
            <a:r>
              <a:rPr sz="1450">
                <a:solidFill>
                  <a:srgbClr val="D1D5DB"/>
                </a:solidFill>
                <a:latin typeface="Arial"/>
              </a:rPr>
              <a:t>— assistants, drivers, medical screeners are all narrow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name  </a:t>
            </a:r>
            <a:r>
              <a:rPr sz="1450">
                <a:solidFill>
                  <a:srgbClr val="D1D5DB"/>
                </a:solidFill>
                <a:latin typeface="Arial"/>
              </a:rPr>
              <a:t>— "weak AI" in the literature; not an insult, an accurate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1.3 NARROW VS GENERAL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General AI (AGI) — a research goal, not a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Definition  </a:t>
            </a:r>
            <a:r>
              <a:rPr sz="1450">
                <a:solidFill>
                  <a:srgbClr val="D1D5DB"/>
                </a:solidFill>
                <a:latin typeface="Arial"/>
              </a:rPr>
              <a:t>— a hypothetical system able to perform any intellectual task a human can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Current status  </a:t>
            </a:r>
            <a:r>
              <a:rPr sz="1450">
                <a:solidFill>
                  <a:srgbClr val="D1D5DB"/>
                </a:solidFill>
                <a:latin typeface="Arial"/>
              </a:rPr>
              <a:t>— does not exist; no deployed system is general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Why it matters  </a:t>
            </a:r>
            <a:r>
              <a:rPr sz="1450">
                <a:solidFill>
                  <a:srgbClr val="D1D5DB"/>
                </a:solidFill>
                <a:latin typeface="Arial"/>
              </a:rPr>
              <a:t>— headlines claiming AGI are claims, not facts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Exam stance  </a:t>
            </a:r>
            <a:r>
              <a:rPr sz="1450">
                <a:solidFill>
                  <a:srgbClr val="D1D5DB"/>
                </a:solidFill>
                <a:latin typeface="Arial"/>
              </a:rPr>
              <a:t>— AGI is a research goal; all commercial AI today is narrow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1.3 NARROW VS GENERAL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The narrow-or-general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Ask the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What specific task does the system do?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7752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52344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Change the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Would it cope with a completely different kind of task?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584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37176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Check the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If it fails the test, the claim is marketing, not fact.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57416" y="1691640"/>
            <a:ext cx="1883664" cy="13716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 w="1270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22008" y="1856232"/>
            <a:ext cx="384048" cy="384048"/>
          </a:xfrm>
          <a:prstGeom prst="ellipse">
            <a:avLst/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2331720"/>
            <a:ext cx="166420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rial"/>
              </a:rPr>
              <a:t>Conclude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2697480"/>
            <a:ext cx="166420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Narrow systems are still powerful — just bounded.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4" name="Picture 23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Is there any product you use that is truly general?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Work through the test on real examples: assistants, image generators, autopilot. Every candidate is narrow once you name the specific task.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Link back to 1.1: general claims usually hide a narrow, learned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1.4 EVERYDAY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AI is already in your routine tools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5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19"/>
                <a:gridCol w="4206240"/>
                <a:gridCol w="22860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Tool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the AI does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Learned or rules?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Email spam filter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Scores and quarantines unwanted mail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Learned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Search ranking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Orders results by relevance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Learned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Navigation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Predicts traffic, reroutes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Learned (traffic) + rules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Recommendations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Suggests films, products, posts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Learned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Photo search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Finds "dog" without a tag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Learned (deep learning)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1.4 EVERYDAY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You are already an AI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C22828"/>
                </a:solidFill>
                <a:latin typeface="Arial"/>
              </a:rPr>
              <a:t>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of UK businesses now use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61488"/>
            <a:ext cx="20574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ONS, December 2025 — up from 9% in late 2023; 44% among firms with 250+ staff.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73736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47088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C22828"/>
                </a:solidFill>
                <a:latin typeface="Arial"/>
              </a:rPr>
              <a:t>9 in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04288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UK professionals use at least one AI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761488"/>
            <a:ext cx="20574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Estimates vary; even a calendar's smart suggestions 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737360"/>
            <a:ext cx="2743200" cy="123444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47088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C22828"/>
                </a:solidFill>
                <a:latin typeface="Arial"/>
              </a:rPr>
              <a:t>Narrow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3042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all of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61488"/>
            <a:ext cx="22860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CA3AF"/>
                </a:solidFill>
                <a:latin typeface="Arial"/>
              </a:rPr>
              <a:t>Every mainstream tool is narrow AI — powerful, bounded, learned from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20" name="Picture 1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1.4 EVERYDAY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Spot the AI in a working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Morning  </a:t>
            </a:r>
            <a:r>
              <a:rPr sz="1450">
                <a:solidFill>
                  <a:srgbClr val="D1D5DB"/>
                </a:solidFill>
                <a:latin typeface="Arial"/>
              </a:rPr>
              <a:t>— calendar auto-suggests meeting times; email sorts itself into categories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Midday  </a:t>
            </a:r>
            <a:r>
              <a:rPr sz="1450">
                <a:solidFill>
                  <a:srgbClr val="D1D5DB"/>
                </a:solidFill>
                <a:latin typeface="Arial"/>
              </a:rPr>
              <a:t>— search ranks results; maps reroute around congestion; docs autocomplete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Afternoon  </a:t>
            </a:r>
            <a:r>
              <a:rPr sz="1450">
                <a:solidFill>
                  <a:srgbClr val="D1D5DB"/>
                </a:solidFill>
                <a:latin typeface="Arial"/>
              </a:rPr>
              <a:t>— a chatbot drafts a reply; a fraud model silently blocks a card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Evening  </a:t>
            </a:r>
            <a:r>
              <a:rPr sz="1450">
                <a:solidFill>
                  <a:srgbClr val="D1D5DB"/>
                </a:solidFill>
                <a:latin typeface="Arial"/>
              </a:rPr>
              <a:t>— a streaming service queues tonight's viewing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point  </a:t>
            </a:r>
            <a:r>
              <a:rPr sz="1450">
                <a:solidFill>
                  <a:srgbClr val="D1D5DB"/>
                </a:solidFill>
                <a:latin typeface="Arial"/>
              </a:rPr>
              <a:t>— most professionals are already daily AI users, often without noticing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spot the AI in your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List every tool you used today that learned from data.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Sort your list: rule-based vs learned vs not sure.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For the "not sure" column — what would prove which it is?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Share one surprising find with your neighbour.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The goal is recognition, not perfection: if in doubt, ask whether it learned from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EXAM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What Domain 1 tests (14 questions, 12%)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94360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the exam expects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1.1 Defining AI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Accurate definition; what AI is not; simple ≠ wrong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1.2 AI, ML, DL &amp; GenAI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Nesting of terms; spotting wrong synonyms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1.3 Narrow vs General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All commercial AI is narrow; AGI is a research goal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1.4 Everyday AI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Recognising narrow AI in routine tools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FFFF"/>
                </a:solidFill>
                <a:latin typeface="Arial"/>
              </a:rPr>
              <a:t>Vendor-neutral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98848"/>
            <a:ext cx="7680960" cy="-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250">
                <a:solidFill>
                  <a:srgbClr val="F3D9D9"/>
                </a:solidFill>
                <a:latin typeface="Arial"/>
              </a:rPr>
              <a:t>No question requires knowledge of any specific commercial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Quiz_Session_01.html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domain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 —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shows the syllabus area it maps to, e.g. Domain 1.2.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AI is learned, not scripted  </a:t>
            </a:r>
            <a:r>
              <a:rPr sz="1600">
                <a:solidFill>
                  <a:srgbClr val="FFFFFF"/>
                </a:solidFill>
                <a:latin typeface="Arial"/>
              </a:rPr>
              <a:t>it finds patterns in data to predict, generate, or act.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Not conscious, not infallible, not magic  </a:t>
            </a:r>
            <a:r>
              <a:rPr sz="1600">
                <a:solidFill>
                  <a:srgbClr val="FFFFFF"/>
                </a:solidFill>
                <a:latin typeface="Arial"/>
              </a:rPr>
              <a:t>— three claims to correct on sight.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Terms nest  </a:t>
            </a:r>
            <a:r>
              <a:rPr sz="1600">
                <a:solidFill>
                  <a:srgbClr val="FFFFFF"/>
                </a:solidFill>
                <a:latin typeface="Arial"/>
              </a:rPr>
              <a:t>AI ⊃ ML ⊃ deep learning ⊃ generative AI / LLMs.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All commercial AI is narrow  </a:t>
            </a:r>
            <a:r>
              <a:rPr sz="1600">
                <a:solidFill>
                  <a:srgbClr val="FFFFFF"/>
                </a:solidFill>
                <a:latin typeface="Arial"/>
              </a:rPr>
              <a:t>AGI is a research goal, not a product.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You already use AI  </a:t>
            </a:r>
            <a:r>
              <a:rPr sz="1600">
                <a:solidFill>
                  <a:srgbClr val="FFFFFF"/>
                </a:solidFill>
                <a:latin typeface="Arial"/>
              </a:rPr>
              <a:t>spam filters, search, navigation, recommendations — every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Teach it back  </a:t>
            </a:r>
            <a:r>
              <a:rPr sz="1450">
                <a:solidFill>
                  <a:srgbClr val="D1D5DB"/>
                </a:solidFill>
                <a:latin typeface="Arial"/>
              </a:rPr>
              <a:t>explain the AI family tree to a colleague in 60 seconds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Collect claims  </a:t>
            </a:r>
            <a:r>
              <a:rPr sz="1450">
                <a:solidFill>
                  <a:srgbClr val="D1D5DB"/>
                </a:solidFill>
                <a:latin typeface="Arial"/>
              </a:rPr>
              <a:t>three "AI-powered" products; label each with the correct term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ahead  </a:t>
            </a:r>
            <a:r>
              <a:rPr sz="1450">
                <a:solidFill>
                  <a:srgbClr val="D1D5DB"/>
                </a:solidFill>
                <a:latin typeface="Arial"/>
              </a:rPr>
              <a:t>Domain 2 — how models are trained, and what inference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Session 2 — How AI Works (Without the Maths)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Models, training and inference · next-token prediction · tokens and the context window · knowledge cut-off · variability and 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A model is a set of learned values, not a database of answers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Fluency is generated, not retrieved — and not verified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The context window is short-term working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UKAIC AI Foundation · Session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cyber-academ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809744"/>
            <a:ext cx="914400" cy="265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