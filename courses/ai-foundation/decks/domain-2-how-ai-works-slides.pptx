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2 OF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UKAIC AI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How AI Works (Without the Maths)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Models, training, tokens and prediction — the honest mental model behind every AI tool you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DOMAIN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441" y="4224528"/>
            <a:ext cx="1367942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17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7688" y="42245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14%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6" name="Picture 15" descr="cyber-acade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Under the bonnet, without the maths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 1  </a:t>
            </a:r>
            <a:r>
              <a:rPr sz="1450">
                <a:solidFill>
                  <a:srgbClr val="D1D5DB"/>
                </a:solidFill>
                <a:latin typeface="Arial"/>
              </a:rPr>
              <a:t>gave us the vocabulary — AI, ML, deep learning, generative AI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Today  </a:t>
            </a:r>
            <a:r>
              <a:rPr sz="1450">
                <a:solidFill>
                  <a:srgbClr val="D1D5DB"/>
                </a:solidFill>
                <a:latin typeface="Arial"/>
              </a:rPr>
              <a:t>an accurate mental model of how outputs are produced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promise  </a:t>
            </a:r>
            <a:r>
              <a:rPr sz="1450">
                <a:solidFill>
                  <a:srgbClr val="D1D5DB"/>
                </a:solidFill>
                <a:latin typeface="Arial"/>
              </a:rPr>
              <a:t>no maths, no code — just honest mechanics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pay-off  </a:t>
            </a:r>
            <a:r>
              <a:rPr sz="1450">
                <a:solidFill>
                  <a:srgbClr val="D1D5DB"/>
                </a:solidFill>
                <a:latin typeface="Arial"/>
              </a:rPr>
              <a:t>you will know why AI fails, which Session 6 builds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a model  </a:t>
            </a:r>
            <a:r>
              <a:rPr sz="1450">
                <a:solidFill>
                  <a:srgbClr val="D1D5DB"/>
                </a:solidFill>
                <a:latin typeface="Arial"/>
              </a:rPr>
              <a:t>a set of learned values, not a database of answers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Distinguish training and inference  </a:t>
            </a:r>
            <a:r>
              <a:rPr sz="1450">
                <a:solidFill>
                  <a:srgbClr val="D1D5DB"/>
                </a:solidFill>
                <a:latin typeface="Arial"/>
              </a:rPr>
              <a:t>learning the model vs using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next-token prediction  </a:t>
            </a:r>
            <a:r>
              <a:rPr sz="1450">
                <a:solidFill>
                  <a:srgbClr val="D1D5DB"/>
                </a:solidFill>
                <a:latin typeface="Arial"/>
              </a:rPr>
              <a:t>and why fluency is not accuracy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Work within the context window  </a:t>
            </a:r>
            <a:r>
              <a:rPr sz="1450">
                <a:solidFill>
                  <a:srgbClr val="D1D5DB"/>
                </a:solidFill>
                <a:latin typeface="Arial"/>
              </a:rPr>
              <a:t>tokens, limits, practical habits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the knowledge cut-off  </a:t>
            </a:r>
            <a:r>
              <a:rPr sz="1450">
                <a:solidFill>
                  <a:srgbClr val="D1D5DB"/>
                </a:solidFill>
                <a:latin typeface="Arial"/>
              </a:rPr>
              <a:t>and why the base model stays frozen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variability  </a:t>
            </a:r>
            <a:r>
              <a:rPr sz="1450">
                <a:solidFill>
                  <a:srgbClr val="D1D5DB"/>
                </a:solidFill>
                <a:latin typeface="Arial"/>
              </a:rPr>
              <a:t>and the model-versus-application distinction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2.1 MODELS, TRAINING &amp;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 model is learned values, not a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Parameters  </a:t>
            </a:r>
            <a:r>
              <a:rPr sz="1450">
                <a:solidFill>
                  <a:srgbClr val="D1D5DB"/>
                </a:solidFill>
                <a:latin typeface="Arial"/>
              </a:rPr>
              <a:t>adjustable values learned during training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 stored answers  </a:t>
            </a:r>
            <a:r>
              <a:rPr sz="1450">
                <a:solidFill>
                  <a:srgbClr val="D1D5DB"/>
                </a:solidFill>
                <a:latin typeface="Arial"/>
              </a:rPr>
              <a:t>the model does not contain a copy of its training text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Patterns, compressed  </a:t>
            </a:r>
            <a:r>
              <a:rPr sz="1450">
                <a:solidFill>
                  <a:srgbClr val="D1D5DB"/>
                </a:solidFill>
                <a:latin typeface="Arial"/>
              </a:rPr>
              <a:t>the training data shaped the values; the data itself is gone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implication  </a:t>
            </a:r>
            <a:r>
              <a:rPr sz="1450">
                <a:solidFill>
                  <a:srgbClr val="D1D5DB"/>
                </a:solidFill>
                <a:latin typeface="Arial"/>
              </a:rPr>
              <a:t>an answer is generated from patterns, not fetched from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2.1 MODELS, TRAINING &amp;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Training vs inference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474720"/>
                <a:gridCol w="3383279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Training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Inference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What happens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model learns from datasets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model produces an output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Once, at build time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Every time you use 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Large data and compute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Small per-request compute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Your role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You are the user, not the trainer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You prompt, it responds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2.1 MODELS, TRAINING &amp;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Parameters — the learned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Definition  </a:t>
            </a:r>
            <a:r>
              <a:rPr sz="1450">
                <a:solidFill>
                  <a:srgbClr val="D1D5DB"/>
                </a:solidFill>
                <a:latin typeface="Arial"/>
              </a:rPr>
              <a:t>the adjustable values the training process sets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Scale  </a:t>
            </a:r>
            <a:r>
              <a:rPr sz="1450">
                <a:solidFill>
                  <a:srgbClr val="D1D5DB"/>
                </a:solidFill>
                <a:latin typeface="Arial"/>
              </a:rPr>
              <a:t>modern models have billions — the values are many, the idea is simple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they encode  </a:t>
            </a:r>
            <a:r>
              <a:rPr sz="1450">
                <a:solidFill>
                  <a:srgbClr val="D1D5DB"/>
                </a:solidFill>
                <a:latin typeface="Arial"/>
              </a:rPr>
              <a:t>statistical patterns of language and knowledge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level  </a:t>
            </a:r>
            <a:r>
              <a:rPr sz="1450">
                <a:solidFill>
                  <a:srgbClr val="D1D5DB"/>
                </a:solidFill>
                <a:latin typeface="Arial"/>
              </a:rPr>
              <a:t>know what parameters are; never the maths behind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If the model is not a database, where do answers come from?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Steer to generation: the model computes likely continuations from patterns, it does not look up stored answers. This explains both fluency and hallucination.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This is the foundation for Session 6 — the answer is generated, not retrieved, not verified.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2.2 HOW LANGUAGE MODELS GENERATE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Next-token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Token by token  </a:t>
            </a:r>
            <a:r>
              <a:rPr sz="1450">
                <a:solidFill>
                  <a:srgbClr val="D1D5DB"/>
                </a:solidFill>
                <a:latin typeface="Arial"/>
              </a:rPr>
              <a:t>the model predicts the most likely next piece of text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prompt and text so far  </a:t>
            </a:r>
            <a:r>
              <a:rPr sz="1450">
                <a:solidFill>
                  <a:srgbClr val="D1D5DB"/>
                </a:solidFill>
                <a:latin typeface="Arial"/>
              </a:rPr>
              <a:t>everything written becomes the basis for the next token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Repeat  </a:t>
            </a:r>
            <a:r>
              <a:rPr sz="1450">
                <a:solidFill>
                  <a:srgbClr val="D1D5DB"/>
                </a:solidFill>
                <a:latin typeface="Arial"/>
              </a:rPr>
              <a:t>each new token extends the text, and the prediction continues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engine of all output  </a:t>
            </a:r>
            <a:r>
              <a:rPr sz="1450">
                <a:solidFill>
                  <a:srgbClr val="D1D5DB"/>
                </a:solidFill>
                <a:latin typeface="Arial"/>
              </a:rPr>
              <a:t>chat, essays, code, even images in some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2.2 HOW LANGUAGE MODELS GENERATE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Generated, not retrieved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 lookup table  </a:t>
            </a:r>
            <a:r>
              <a:rPr sz="1450">
                <a:solidFill>
                  <a:srgbClr val="D1D5DB"/>
                </a:solidFill>
                <a:latin typeface="Arial"/>
              </a:rPr>
              <a:t>the model is not searching a stored answer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Plausibility engine  </a:t>
            </a:r>
            <a:r>
              <a:rPr sz="1450">
                <a:solidFill>
                  <a:srgbClr val="D1D5DB"/>
                </a:solidFill>
                <a:latin typeface="Arial"/>
              </a:rPr>
              <a:t>it produces what is likely, given the patterns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Fluency ≠ accuracy  </a:t>
            </a:r>
            <a:r>
              <a:rPr sz="1450">
                <a:solidFill>
                  <a:srgbClr val="D1D5DB"/>
                </a:solidFill>
                <a:latin typeface="Arial"/>
              </a:rPr>
              <a:t>a smooth sentence can be entirely wrong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generated text carries no guarantee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2.2 HOW LANGUAGE MODELS GENERATE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More than autocomplete — but no fact-checker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Sophisticated  </a:t>
            </a:r>
            <a:r>
              <a:rPr sz="1450">
                <a:solidFill>
                  <a:srgbClr val="D1D5DB"/>
                </a:solidFill>
                <a:latin typeface="Arial"/>
              </a:rPr>
              <a:t>vast patterns, long-range context, subtle style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Still prediction  </a:t>
            </a:r>
            <a:r>
              <a:rPr sz="1450">
                <a:solidFill>
                  <a:srgbClr val="D1D5DB"/>
                </a:solidFill>
                <a:latin typeface="Arial"/>
              </a:rPr>
              <a:t>the core mechanism is the same family as autocomplete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 fact-checker  </a:t>
            </a:r>
            <a:r>
              <a:rPr sz="1450">
                <a:solidFill>
                  <a:srgbClr val="D1D5DB"/>
                </a:solidFill>
                <a:latin typeface="Arial"/>
              </a:rPr>
              <a:t>nothing checks the output against reality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consequence  </a:t>
            </a:r>
            <a:r>
              <a:rPr sz="1450">
                <a:solidFill>
                  <a:srgbClr val="D1D5DB"/>
                </a:solidFill>
                <a:latin typeface="Arial"/>
              </a:rPr>
              <a:t>confidence and fluency are not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predict the next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Complete the sentence out loud: "The cat sat on the..." — how did you choose?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Now try: "The judge entered the courtroom and the jury..."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Notice you are predicting, not recalling — the same mechanism, at human scale.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what does this tell you about AI writing?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Your prediction habits mirror the model's — probability, context and pattern.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2.3 TOKENS &amp; THE CONTEXT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Tokens — the units the model reads and writes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Basic unit  </a:t>
            </a:r>
            <a:r>
              <a:rPr sz="1450">
                <a:solidFill>
                  <a:srgbClr val="D1D5DB"/>
                </a:solidFill>
                <a:latin typeface="Arial"/>
              </a:rPr>
              <a:t>text is split into tokens — roughly parts of words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Not one word = one token  </a:t>
            </a:r>
            <a:r>
              <a:rPr sz="1450">
                <a:solidFill>
                  <a:srgbClr val="D1D5DB"/>
                </a:solidFill>
                <a:latin typeface="Arial"/>
              </a:rPr>
              <a:t>a token may be a fragment, a word, or a word plus space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Counts matter  </a:t>
            </a:r>
            <a:r>
              <a:rPr sz="1450">
                <a:solidFill>
                  <a:srgbClr val="D1D5DB"/>
                </a:solidFill>
                <a:latin typeface="Arial"/>
              </a:rPr>
              <a:t>models price and limit by tokens, not by characters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long prompts and long outputs both consume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2.3 TOKENS &amp; THE CONTEXT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context window is working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Definition  </a:t>
            </a:r>
            <a:r>
              <a:rPr sz="1450">
                <a:solidFill>
                  <a:srgbClr val="D1D5DB"/>
                </a:solidFill>
                <a:latin typeface="Arial"/>
              </a:rPr>
              <a:t>the maximum text the model can consider at once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Short-term memory  </a:t>
            </a:r>
            <a:r>
              <a:rPr sz="1450">
                <a:solidFill>
                  <a:srgbClr val="D1D5DB"/>
                </a:solidFill>
                <a:latin typeface="Arial"/>
              </a:rPr>
              <a:t>everything in the window is "in mind" for this response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Outside the window  </a:t>
            </a:r>
            <a:r>
              <a:rPr sz="1450">
                <a:solidFill>
                  <a:srgbClr val="D1D5DB"/>
                </a:solidFill>
                <a:latin typeface="Arial"/>
              </a:rPr>
              <a:t>earlier detail is effectively forgotten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of thumb  </a:t>
            </a:r>
            <a:r>
              <a:rPr sz="1450">
                <a:solidFill>
                  <a:srgbClr val="D1D5DB"/>
                </a:solidFill>
                <a:latin typeface="Arial"/>
              </a:rPr>
              <a:t>working memory is limited — spend it wisely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2.3 TOKENS &amp; THE CONTEXT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Exceeding the window — and working within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happens  </a:t>
            </a:r>
            <a:r>
              <a:rPr sz="1450">
                <a:solidFill>
                  <a:srgbClr val="D1D5DB"/>
                </a:solidFill>
                <a:latin typeface="Arial"/>
              </a:rPr>
              <a:t>earlier detail drops out; large pastes crowd out your instructions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Concise prompts  </a:t>
            </a:r>
            <a:r>
              <a:rPr sz="1450">
                <a:solidFill>
                  <a:srgbClr val="D1D5DB"/>
                </a:solidFill>
                <a:latin typeface="Arial"/>
              </a:rPr>
              <a:t>say what matters, skip the padding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Key instructions first or last  </a:t>
            </a:r>
            <a:r>
              <a:rPr sz="1450">
                <a:solidFill>
                  <a:srgbClr val="D1D5DB"/>
                </a:solidFill>
                <a:latin typeface="Arial"/>
              </a:rPr>
              <a:t>positioning helps them survive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Chunk  </a:t>
            </a:r>
            <a:r>
              <a:rPr sz="1450">
                <a:solidFill>
                  <a:srgbClr val="D1D5DB"/>
                </a:solidFill>
                <a:latin typeface="Arial"/>
              </a:rPr>
              <a:t>split large documents into sections for separate passes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What happens when you paste a huge document into a chat window?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Walk through the mechanics: the document fills the window, earlier instructions and context fall away, and the model answers from only the most recent material.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This is why chunking and concise prompts are examinable habits.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Two minutes to stand and stretch — next up: the knowledge cut-off and variability.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2.4 KNOWLEDGE CUT-OFF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model is frozen at its training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Cut-off  </a:t>
            </a:r>
            <a:r>
              <a:rPr sz="1450">
                <a:solidFill>
                  <a:srgbClr val="D1D5DB"/>
                </a:solidFill>
                <a:latin typeface="Arial"/>
              </a:rPr>
              <a:t>no knowledge of events after the training date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Time-sensitive questions  </a:t>
            </a:r>
            <a:r>
              <a:rPr sz="1450">
                <a:solidFill>
                  <a:srgbClr val="D1D5DB"/>
                </a:solidFill>
                <a:latin typeface="Arial"/>
              </a:rPr>
              <a:t>unreliable from the base model alone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Some apps add live search  </a:t>
            </a:r>
            <a:r>
              <a:rPr sz="1450">
                <a:solidFill>
                  <a:srgbClr val="D1D5DB"/>
                </a:solidFill>
                <a:latin typeface="Arial"/>
              </a:rPr>
              <a:t>the application feels current — the base model stays frozen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test  </a:t>
            </a:r>
            <a:r>
              <a:rPr sz="1450">
                <a:solidFill>
                  <a:srgbClr val="D1D5DB"/>
                </a:solidFill>
                <a:latin typeface="Arial"/>
              </a:rPr>
              <a:t>ask about a recent event; verify the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2.4 KNOWLEDGE CUT-OFF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base model vs 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Base model  </a:t>
            </a:r>
            <a:r>
              <a:rPr sz="1450">
                <a:solidFill>
                  <a:srgbClr val="D1D5DB"/>
                </a:solidFill>
                <a:latin typeface="Arial"/>
              </a:rPr>
              <a:t>frozen at training; no current events, no fact-checker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Application layer  </a:t>
            </a:r>
            <a:r>
              <a:rPr sz="1450">
                <a:solidFill>
                  <a:srgbClr val="D1D5DB"/>
                </a:solidFill>
                <a:latin typeface="Arial"/>
              </a:rPr>
              <a:t>may add search, retrieval and other tools around the model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distinction  </a:t>
            </a:r>
            <a:r>
              <a:rPr sz="1450">
                <a:solidFill>
                  <a:srgbClr val="D1D5DB"/>
                </a:solidFill>
                <a:latin typeface="Arial"/>
              </a:rPr>
              <a:t>a current-sounding app can still rest on a frozen model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habit  </a:t>
            </a:r>
            <a:r>
              <a:rPr sz="1450">
                <a:solidFill>
                  <a:srgbClr val="D1D5DB"/>
                </a:solidFill>
                <a:latin typeface="Arial"/>
              </a:rPr>
              <a:t>treat the output as stale until proven 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2.5 VARIABILITY &amp;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Why identical prompts give different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Sampling  </a:t>
            </a:r>
            <a:r>
              <a:rPr sz="1450">
                <a:solidFill>
                  <a:srgbClr val="D1D5DB"/>
                </a:solidFill>
                <a:latin typeface="Arial"/>
              </a:rPr>
              <a:t>the model draws from likely tokens — not always the single most likely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Temperature  </a:t>
            </a:r>
            <a:r>
              <a:rPr sz="1450">
                <a:solidFill>
                  <a:srgbClr val="D1D5DB"/>
                </a:solidFill>
                <a:latin typeface="Arial"/>
              </a:rPr>
              <a:t>the setting that controls how random the sampling is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Same prompt, twice  </a:t>
            </a:r>
            <a:r>
              <a:rPr sz="1450">
                <a:solidFill>
                  <a:srgbClr val="D1D5DB"/>
                </a:solidFill>
                <a:latin typeface="Arial"/>
              </a:rPr>
              <a:t>different samples, different answers — by design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implication  </a:t>
            </a:r>
            <a:r>
              <a:rPr sz="1450">
                <a:solidFill>
                  <a:srgbClr val="D1D5DB"/>
                </a:solidFill>
                <a:latin typeface="Arial"/>
              </a:rPr>
              <a:t>a second run is a second draft, not a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2.5 VARIABILITY &amp;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Model vs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model  </a:t>
            </a:r>
            <a:r>
              <a:rPr sz="1450">
                <a:solidFill>
                  <a:srgbClr val="D1D5DB"/>
                </a:solidFill>
                <a:latin typeface="Arial"/>
              </a:rPr>
              <a:t>the engine — the learned values that generate text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application  </a:t>
            </a:r>
            <a:r>
              <a:rPr sz="1450">
                <a:solidFill>
                  <a:srgbClr val="D1D5DB"/>
                </a:solidFill>
                <a:latin typeface="Arial"/>
              </a:rPr>
              <a:t>the interface, settings and tools built around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changing the app does not change the model's knowledge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line  </a:t>
            </a:r>
            <a:r>
              <a:rPr sz="1450">
                <a:solidFill>
                  <a:srgbClr val="D1D5DB"/>
                </a:solidFill>
                <a:latin typeface="Arial"/>
              </a:rPr>
              <a:t>variability is a property of the model, exposed by the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2.5 VARIABILITY &amp;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Embeddings — meaning as numbers (awareness)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Definition  </a:t>
            </a:r>
            <a:r>
              <a:rPr sz="1450">
                <a:solidFill>
                  <a:srgbClr val="D1D5DB"/>
                </a:solidFill>
                <a:latin typeface="Arial"/>
              </a:rPr>
              <a:t>words and phrases represented as lists of numbers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Close in meaning, close in numbers  </a:t>
            </a:r>
            <a:r>
              <a:rPr sz="1450">
                <a:solidFill>
                  <a:srgbClr val="D1D5DB"/>
                </a:solidFill>
                <a:latin typeface="Arial"/>
              </a:rPr>
              <a:t>related items sit near each other in the space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enables  </a:t>
            </a:r>
            <a:r>
              <a:rPr sz="1450">
                <a:solidFill>
                  <a:srgbClr val="D1D5DB"/>
                </a:solidFill>
                <a:latin typeface="Arial"/>
              </a:rPr>
              <a:t>search, similarity, retrieval — and the RAG techniques of Session 3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Awareness level  </a:t>
            </a:r>
            <a:r>
              <a:rPr sz="1450">
                <a:solidFill>
                  <a:srgbClr val="D1D5DB"/>
                </a:solidFill>
                <a:latin typeface="Arial"/>
              </a:rPr>
              <a:t>recognise the idea; the maths is out of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same prompt, different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Ask an AI the same question twice in fresh chats.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Compare the two answers — what changed and what stayed?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Now ask it about an event from this month; check the date.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which difference is sampling, and which is the cut-off?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Sampling explains variation; the cut-off explains staleness.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Domain 2 tests (17 questions, 14%)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expects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2.1 Models, Training &amp; Inference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Model as learned values; training vs inference; parameters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2.2 Generating text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Next-token prediction; generated not retrieved; no fact-checker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2.3 Tokens &amp; window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Tokens; context window as working memory; practical habits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2.4 Knowledge cut-off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Frozen base model; live search in the app layer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2.5 Variability &amp; embeddings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Sampling and temperature; model vs app; embeddings (awareness)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Quiz_Session_02.html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domain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 —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shows the syllabus area it maps to, e.g. Domain 2.2.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A model is learned values  </a:t>
            </a:r>
            <a:r>
              <a:rPr sz="1600">
                <a:solidFill>
                  <a:srgbClr val="FFFFFF"/>
                </a:solidFill>
                <a:latin typeface="Arial"/>
              </a:rPr>
              <a:t>not a database — answers are generated, not retrieved.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Training then inference  </a:t>
            </a:r>
            <a:r>
              <a:rPr sz="1600">
                <a:solidFill>
                  <a:srgbClr val="FFFFFF"/>
                </a:solidFill>
                <a:latin typeface="Arial"/>
              </a:rPr>
              <a:t>the model learns once; you use it every time.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Fluency is not accuracy  </a:t>
            </a:r>
            <a:r>
              <a:rPr sz="1600">
                <a:solidFill>
                  <a:srgbClr val="FFFFFF"/>
                </a:solidFill>
                <a:latin typeface="Arial"/>
              </a:rPr>
              <a:t>next-token prediction has no built-in fact-checker.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The window is memory  </a:t>
            </a:r>
            <a:r>
              <a:rPr sz="1600">
                <a:solidFill>
                  <a:srgbClr val="FFFFFF"/>
                </a:solidFill>
                <a:latin typeface="Arial"/>
              </a:rPr>
              <a:t>concise prompts, key instructions first or last, chunk long input.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Frozen at cut-off  </a:t>
            </a:r>
            <a:r>
              <a:rPr sz="1600">
                <a:solidFill>
                  <a:srgbClr val="FFFFFF"/>
                </a:solidFill>
                <a:latin typeface="Arial"/>
              </a:rPr>
              <a:t>the base model knows nothing after training; verify recency.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it back  </a:t>
            </a:r>
            <a:r>
              <a:rPr sz="1450">
                <a:solidFill>
                  <a:srgbClr val="D1D5DB"/>
                </a:solidFill>
                <a:latin typeface="Arial"/>
              </a:rPr>
              <a:t>training vs inference to a colleague in 60 seconds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Practise chunking  </a:t>
            </a:r>
            <a:r>
              <a:rPr sz="1450">
                <a:solidFill>
                  <a:srgbClr val="D1D5DB"/>
                </a:solidFill>
                <a:latin typeface="Arial"/>
              </a:rPr>
              <a:t>split one long document and compare the answers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Domain 3 — the AI landscape and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3 — The AI Landscape &amp; 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Generative output types, foundation models, RAG, agents, and choosing the right tool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Generative vs classifying — and the five output types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RAG: grounding answers in retrieved sources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Model, application and service — and choosing the right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