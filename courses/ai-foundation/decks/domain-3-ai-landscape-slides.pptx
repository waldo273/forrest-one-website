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3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UKAIC AI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The AI Landscape &amp;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A map of what AI can produce, how answers get grounded, and how to choose the right kind of tool.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DOMAIN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367942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14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12%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cyber-acade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From mechanics to 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 2  </a:t>
            </a:r>
            <a:r>
              <a:rPr sz="1450">
                <a:solidFill>
                  <a:srgbClr val="D1D5DB"/>
                </a:solidFill>
                <a:latin typeface="Arial"/>
              </a:rPr>
              <a:t>gave us the mechanics — models, tokens, prediction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the landscape: what AI can generate, and how to choose tools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the exam is vendor-neutral — categories, not brands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thread  </a:t>
            </a:r>
            <a:r>
              <a:rPr sz="1450">
                <a:solidFill>
                  <a:srgbClr val="D1D5DB"/>
                </a:solidFill>
                <a:latin typeface="Arial"/>
              </a:rPr>
              <a:t>generative output, grounding, agents, and tool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Define generative AI  </a:t>
            </a:r>
            <a:r>
              <a:rPr sz="1450">
                <a:solidFill>
                  <a:srgbClr val="D1D5DB"/>
                </a:solidFill>
                <a:latin typeface="Arial"/>
              </a:rPr>
              <a:t>producing new content, not classifying old content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Name the output types  </a:t>
            </a:r>
            <a:r>
              <a:rPr sz="1450">
                <a:solidFill>
                  <a:srgbClr val="D1D5DB"/>
                </a:solidFill>
                <a:latin typeface="Arial"/>
              </a:rPr>
              <a:t>text, image, audio/voice, video, code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foundation and multimodal models  </a:t>
            </a:r>
            <a:r>
              <a:rPr sz="1450">
                <a:solidFill>
                  <a:srgbClr val="D1D5DB"/>
                </a:solidFill>
                <a:latin typeface="Arial"/>
              </a:rPr>
              <a:t>awareness level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RAG  </a:t>
            </a:r>
            <a:r>
              <a:rPr sz="1450">
                <a:solidFill>
                  <a:srgbClr val="D1D5DB"/>
                </a:solidFill>
                <a:latin typeface="Arial"/>
              </a:rPr>
              <a:t>retrieving sources, then grounding the answer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AI agents  </a:t>
            </a:r>
            <a:r>
              <a:rPr sz="1450">
                <a:solidFill>
                  <a:srgbClr val="D1D5DB"/>
                </a:solidFill>
                <a:latin typeface="Arial"/>
              </a:rPr>
              <a:t>multi-step, tool-using, needing oversight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Distinguish model, application, service  </a:t>
            </a:r>
            <a:r>
              <a:rPr sz="1450">
                <a:solidFill>
                  <a:srgbClr val="D1D5DB"/>
                </a:solidFill>
                <a:latin typeface="Arial"/>
              </a:rPr>
              <a:t>and choose a tool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3.1 GENERATIVE AI &amp; OUTPUT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Generative vs classifying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Generative  </a:t>
            </a:r>
            <a:r>
              <a:rPr sz="1450">
                <a:solidFill>
                  <a:srgbClr val="D1D5DB"/>
                </a:solidFill>
                <a:latin typeface="Arial"/>
              </a:rPr>
              <a:t>produces new content that did not exist before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Classifying  </a:t>
            </a:r>
            <a:r>
              <a:rPr sz="1450">
                <a:solidFill>
                  <a:srgbClr val="D1D5DB"/>
                </a:solidFill>
                <a:latin typeface="Arial"/>
              </a:rPr>
              <a:t>assigns labels to existing content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Example  </a:t>
            </a:r>
            <a:r>
              <a:rPr sz="1450">
                <a:solidFill>
                  <a:srgbClr val="D1D5DB"/>
                </a:solidFill>
                <a:latin typeface="Arial"/>
              </a:rPr>
              <a:t>an essay is generated; a spam score is classification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test  </a:t>
            </a:r>
            <a:r>
              <a:rPr sz="1450">
                <a:solidFill>
                  <a:srgbClr val="D1D5DB"/>
                </a:solidFill>
                <a:latin typeface="Arial"/>
              </a:rPr>
              <a:t>is the output new content, or a label on old content?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3.1 GENERATIVE AI &amp; OUTPUT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Five output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essays, summaries, chat, translations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0785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5377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0513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0513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pictures, diagrams, art from prompts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8651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03243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8379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Audio / 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8379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speech, music, cloned voices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6516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711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6244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6244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synthetic clips and animations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4382" y="169164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3897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110" y="233172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110" y="269748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programs, scripts, tests, fixes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8" name="Picture 27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generative or classifying?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model tags photos as 'beach' or 'city' — classifying.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model writes a poem about a beach — generative.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model scores an email as spam — classifying.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model composes a jingle for the course — generative.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Add one of each from your own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New content = generative; a label on existing content = classifying.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3.2 FOUNDATION MODELS &amp; MULTIMODAL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Foundation models (awareness)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large, general-purpose models trained on vast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Adapted, not rebuilt  </a:t>
            </a:r>
            <a:r>
              <a:rPr sz="1450">
                <a:solidFill>
                  <a:srgbClr val="D1D5DB"/>
                </a:solidFill>
                <a:latin typeface="Arial"/>
              </a:rPr>
              <a:t>the same base is fine-tuned for many tasks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they matter  </a:t>
            </a:r>
            <a:r>
              <a:rPr sz="1450">
                <a:solidFill>
                  <a:srgbClr val="D1D5DB"/>
                </a:solidFill>
                <a:latin typeface="Arial"/>
              </a:rPr>
              <a:t>one foundation powers many applications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Awareness level  </a:t>
            </a:r>
            <a:r>
              <a:rPr sz="1450">
                <a:solidFill>
                  <a:srgbClr val="D1D5DB"/>
                </a:solidFill>
                <a:latin typeface="Arial"/>
              </a:rPr>
              <a:t>recognise the idea — architecture is out of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3.2 FOUNDATION MODELS &amp; MULTIMODAL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Multimodal AI (awareness)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handling more than one type of input or output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Examples  </a:t>
            </a:r>
            <a:r>
              <a:rPr sz="1450">
                <a:solidFill>
                  <a:srgbClr val="D1D5DB"/>
                </a:solidFill>
                <a:latin typeface="Arial"/>
              </a:rPr>
              <a:t>text and images in; text and images out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one system can read a picture and answer questions about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Awareness level  </a:t>
            </a:r>
            <a:r>
              <a:rPr sz="1450">
                <a:solidFill>
                  <a:srgbClr val="D1D5DB"/>
                </a:solidFill>
                <a:latin typeface="Arial"/>
              </a:rPr>
              <a:t>recognise the capability, no engineering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3.3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grounding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problem  </a:t>
            </a:r>
            <a:r>
              <a:rPr sz="1450">
                <a:solidFill>
                  <a:srgbClr val="D1D5DB"/>
                </a:solidFill>
                <a:latin typeface="Arial"/>
              </a:rPr>
              <a:t>a model alone answers from patterns, not from your documents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risk  </a:t>
            </a:r>
            <a:r>
              <a:rPr sz="1450">
                <a:solidFill>
                  <a:srgbClr val="D1D5DB"/>
                </a:solidFill>
                <a:latin typeface="Arial"/>
              </a:rPr>
              <a:t>fresh, private or specific facts get guessed or hallucinated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fix  </a:t>
            </a:r>
            <a:r>
              <a:rPr sz="1450">
                <a:solidFill>
                  <a:srgbClr val="D1D5DB"/>
                </a:solidFill>
                <a:latin typeface="Arial"/>
              </a:rPr>
              <a:t>retrieve relevant sources first, then generate grounded in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name  </a:t>
            </a:r>
            <a:r>
              <a:rPr sz="1450">
                <a:solidFill>
                  <a:srgbClr val="D1D5DB"/>
                </a:solidFill>
                <a:latin typeface="Arial"/>
              </a:rPr>
              <a:t>retrieval-augmented generation —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3.3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How RAG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Retrieve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find relevant chunks from your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Augment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add them to the prompt as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model answers grounded in that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grounding reduces error; it does not remove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4" name="Picture 23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3.3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RAG improves — and does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Freshness  </a:t>
            </a:r>
            <a:r>
              <a:rPr sz="1450">
                <a:solidFill>
                  <a:srgbClr val="D1D5DB"/>
                </a:solidFill>
                <a:latin typeface="Arial"/>
              </a:rPr>
              <a:t>answers can reflect documents newer than the model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Grounding  </a:t>
            </a:r>
            <a:r>
              <a:rPr sz="1450">
                <a:solidFill>
                  <a:srgbClr val="D1D5DB"/>
                </a:solidFill>
                <a:latin typeface="Arial"/>
              </a:rPr>
              <a:t>output is tied to material you supplied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qualifier  </a:t>
            </a:r>
            <a:r>
              <a:rPr sz="1450">
                <a:solidFill>
                  <a:srgbClr val="D1D5DB"/>
                </a:solidFill>
                <a:latin typeface="Arial"/>
              </a:rPr>
              <a:t>reduces rather than removes error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Still verify  </a:t>
            </a:r>
            <a:r>
              <a:rPr sz="1450">
                <a:solidFill>
                  <a:srgbClr val="D1D5DB"/>
                </a:solidFill>
                <a:latin typeface="Arial"/>
              </a:rPr>
              <a:t>retrieved context can still be misread or misapplied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Why does a chatbot need grounding in your documents?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Steer to the mechanics: without retrieved context, the model answers from patterns alone — guessing facts it does not hold. RAG supplies the material; verification still applies.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Link to Session 6: grounding is a defence against hallucination.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3.4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Agents: goals, tools,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Multi-step  </a:t>
            </a:r>
            <a:r>
              <a:rPr sz="1450">
                <a:solidFill>
                  <a:srgbClr val="D1D5DB"/>
                </a:solidFill>
                <a:latin typeface="Arial"/>
              </a:rPr>
              <a:t>an agent works towards a goal over several steps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Tool-using  </a:t>
            </a:r>
            <a:r>
              <a:rPr sz="1450">
                <a:solidFill>
                  <a:srgbClr val="D1D5DB"/>
                </a:solidFill>
                <a:latin typeface="Arial"/>
              </a:rPr>
              <a:t>it can search, calculate, call services, update records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single-turn  </a:t>
            </a:r>
            <a:r>
              <a:rPr sz="1450">
                <a:solidFill>
                  <a:srgbClr val="D1D5DB"/>
                </a:solidFill>
                <a:latin typeface="Arial"/>
              </a:rPr>
              <a:t>unlike a one-shot assistant, it plans and acts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agents that take actions require greater human oversight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3.4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Why acting agents need oversight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Actions have consequences  </a:t>
            </a:r>
            <a:r>
              <a:rPr sz="1450">
                <a:solidFill>
                  <a:srgbClr val="D1D5DB"/>
                </a:solidFill>
                <a:latin typeface="Arial"/>
              </a:rPr>
              <a:t>sending, paying, deleting, approving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Errors scale  </a:t>
            </a:r>
            <a:r>
              <a:rPr sz="1450">
                <a:solidFill>
                  <a:srgbClr val="D1D5DB"/>
                </a:solidFill>
                <a:latin typeface="Arial"/>
              </a:rPr>
              <a:t>an agent's wrong step can compound quickly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Injection risk  </a:t>
            </a:r>
            <a:r>
              <a:rPr sz="1450">
                <a:solidFill>
                  <a:srgbClr val="D1D5DB"/>
                </a:solidFill>
                <a:latin typeface="Arial"/>
              </a:rPr>
              <a:t>hidden instructions can steer agent actions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the more autonomy, the more oversight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Two minutes to stand and stretch — next up: model, application and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When would you let an AI agent take actions on your behalf?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Collect candidates: booking meetings, replying to mail, updating records. For each, weigh the stakes and the oversight: what could go wrong, and who checks?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The syllabus: agents that act require greater human oversight.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3.5 MODEL, APPLICATION &amp;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Three layers, one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657600"/>
                <a:gridCol w="329183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 role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engine — learned values that generate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language model itself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Application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interface and settings around 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chat window you type into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managed product, hosted and operated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subscription you pay for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3.5 MODEL, APPLICATION &amp;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Open-weight vs hosted (awareness)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657600"/>
                <a:gridCol w="3383279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Open-weight / self-hosted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Hosted service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You run it; data stays with you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Vendor runs it; data handled per terms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Setup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You maintain hardware and updates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Ready to use immediately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Residency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Full control over data location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Depends on the vendor's regions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Upfront and operational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Subscription, per use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model, application or service?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The chat window you open in a browser — application.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The learned engine generating the reply — model.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The hosted product with support and billing — service.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Label three tools you use: which layer is each?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Same engine can appear in many applications; the service wraps it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3.6 SELECTING A TOOL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Choose the category, not the 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Capability  </a:t>
            </a:r>
            <a:r>
              <a:rPr sz="1450">
                <a:solidFill>
                  <a:srgbClr val="D1D5DB"/>
                </a:solidFill>
                <a:latin typeface="Arial"/>
              </a:rPr>
              <a:t>can this category do the task at all?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Cost  </a:t>
            </a:r>
            <a:r>
              <a:rPr sz="1450">
                <a:solidFill>
                  <a:srgbClr val="D1D5DB"/>
                </a:solidFill>
                <a:latin typeface="Arial"/>
              </a:rPr>
              <a:t>what does it cost to run and to scale?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sensitivity  </a:t>
            </a:r>
            <a:r>
              <a:rPr sz="1450">
                <a:solidFill>
                  <a:srgbClr val="D1D5DB"/>
                </a:solidFill>
                <a:latin typeface="Arial"/>
              </a:rPr>
              <a:t>what will the tool see, and where?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Organisational approval  </a:t>
            </a:r>
            <a:r>
              <a:rPr sz="1450">
                <a:solidFill>
                  <a:srgbClr val="D1D5DB"/>
                </a:solidFill>
                <a:latin typeface="Arial"/>
              </a:rPr>
              <a:t>is this category permitted for this 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3.6 SELECTING A TOOL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selection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Define 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what exactly must the tool do?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Match the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generative text, image, audio, agent?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Check data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sensitive data needs controlled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Get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then pilot, review and 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4" name="Picture 23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choose the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Drafting customer emails — text generation category.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Creating product images — image generation category.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Transcribing and translating meetings — audio category.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Automating follow-up actions — agent category.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Defend one choice: what data would it see?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Capability, cost, data sensitivity and approval — in that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Domain 3 tests (14 questions, 12%)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expects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3.1 Generative &amp; output types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Generative vs classifying; text, image, audio, video, code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3.2 Foundation &amp; multimodal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Recognition only (awareness)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3.3 RAG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Grounding problem; retrieve then generate; reduces not removes error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3.4 Agents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Multi-step, tool-using; greater oversight for acting agents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3.5 Model, application, service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Layer distinction; open-weight vs hosted trade-offs (awareness)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3.6 Selecting a category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Capability, cost, data sensitivity, approval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Quiz_Session_03.html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domain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 —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shows the syllabus area it maps to, e.g. Domain 3.3.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Generative means new content  </a:t>
            </a:r>
            <a:r>
              <a:rPr sz="1600">
                <a:solidFill>
                  <a:srgbClr val="FFFFFF"/>
                </a:solidFill>
                <a:latin typeface="Arial"/>
              </a:rPr>
              <a:t>classifying labels what exists; generating creates what did not.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Five output types  </a:t>
            </a:r>
            <a:r>
              <a:rPr sz="1600">
                <a:solidFill>
                  <a:srgbClr val="FFFFFF"/>
                </a:solidFill>
                <a:latin typeface="Arial"/>
              </a:rPr>
              <a:t>text, image, audio/voice, video, code.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RAG grounds answers  </a:t>
            </a:r>
            <a:r>
              <a:rPr sz="1600">
                <a:solidFill>
                  <a:srgbClr val="FFFFFF"/>
                </a:solidFill>
                <a:latin typeface="Arial"/>
              </a:rPr>
              <a:t>retrieve sources, then generate — it reduces error, it does not remove it.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Agents act — so oversee them  </a:t>
            </a:r>
            <a:r>
              <a:rPr sz="1600">
                <a:solidFill>
                  <a:srgbClr val="FFFFFF"/>
                </a:solidFill>
                <a:latin typeface="Arial"/>
              </a:rPr>
              <a:t>multi-step, tool-using systems need human oversight.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Pick the category  </a:t>
            </a:r>
            <a:r>
              <a:rPr sz="1600">
                <a:solidFill>
                  <a:srgbClr val="FFFFFF"/>
                </a:solidFill>
                <a:latin typeface="Arial"/>
              </a:rPr>
              <a:t>capability, cost, data sensitivity, organisational approval.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Label your tools  </a:t>
            </a:r>
            <a:r>
              <a:rPr sz="1450">
                <a:solidFill>
                  <a:srgbClr val="D1D5DB"/>
                </a:solidFill>
                <a:latin typeface="Arial"/>
              </a:rPr>
              <a:t>model, application or service — for three tools you use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Practise the test  </a:t>
            </a:r>
            <a:r>
              <a:rPr sz="1450">
                <a:solidFill>
                  <a:srgbClr val="D1D5DB"/>
                </a:solidFill>
                <a:latin typeface="Arial"/>
              </a:rPr>
              <a:t>generative or classifying, for ten outputs this week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Domain 4 — prompt engineering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4 — Prompt Engineering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The highest-leverage practical skill in the certification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Task, context, format, constraints — the anatomy of a prompt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Role, audience and few-shot examples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Structured output, decomposition and iterative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