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5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Working with AI Day to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Drafting, summarising, planning and verifying — the professional habits that keep AI output 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15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12%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From vocabulary to daily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1–4  </a:t>
            </a:r>
            <a:r>
              <a:rPr sz="1450">
                <a:solidFill>
                  <a:srgbClr val="D1D5DB"/>
                </a:solidFill>
                <a:latin typeface="Arial"/>
              </a:rPr>
              <a:t>built the vocabulary, the mechanics, the landscape and prompting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judgement and habits that make AI use professional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thread  </a:t>
            </a:r>
            <a:r>
              <a:rPr sz="1450">
                <a:solidFill>
                  <a:srgbClr val="D1D5DB"/>
                </a:solidFill>
                <a:latin typeface="Arial"/>
              </a:rPr>
              <a:t>AI proposes — you review, verify and own the result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15 questions; the verification habit is tested again in Domain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Draft and reshape  </a:t>
            </a:r>
            <a:r>
              <a:rPr sz="1450">
                <a:solidFill>
                  <a:srgbClr val="D1D5DB"/>
                </a:solidFill>
                <a:latin typeface="Arial"/>
              </a:rPr>
              <a:t>content — then review and personalise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Summarise with purpose  </a:t>
            </a:r>
            <a:r>
              <a:rPr sz="1450">
                <a:solidFill>
                  <a:srgbClr val="D1D5DB"/>
                </a:solidFill>
                <a:latin typeface="Arial"/>
              </a:rPr>
              <a:t>and know when to read the original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 AI as a thinking partner  </a:t>
            </a:r>
            <a:r>
              <a:rPr sz="1450">
                <a:solidFill>
                  <a:srgbClr val="D1D5DB"/>
                </a:solidFill>
                <a:latin typeface="Arial"/>
              </a:rPr>
              <a:t>while keeping human ownership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Judge appropriate use  </a:t>
            </a:r>
            <a:r>
              <a:rPr sz="1450">
                <a:solidFill>
                  <a:srgbClr val="D1D5DB"/>
                </a:solidFill>
                <a:latin typeface="Arial"/>
              </a:rPr>
              <a:t>by task and stakes, not by convenience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Verify before you share  </a:t>
            </a:r>
            <a:r>
              <a:rPr sz="1450">
                <a:solidFill>
                  <a:srgbClr val="D1D5DB"/>
                </a:solidFill>
                <a:latin typeface="Arial"/>
              </a:rPr>
              <a:t>and own the output you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5.1 DRAFTING &amp;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AI as a first-draft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Speed  </a:t>
            </a:r>
            <a:r>
              <a:rPr sz="1450">
                <a:solidFill>
                  <a:srgbClr val="D1D5DB"/>
                </a:solidFill>
                <a:latin typeface="Arial"/>
              </a:rPr>
              <a:t>a competent first draft in seconds, not hours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Blank page solved  </a:t>
            </a:r>
            <a:r>
              <a:rPr sz="1450">
                <a:solidFill>
                  <a:srgbClr val="D1D5DB"/>
                </a:solidFill>
                <a:latin typeface="Arial"/>
              </a:rPr>
              <a:t>the hardest part of writing is often starting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Best uses  </a:t>
            </a:r>
            <a:r>
              <a:rPr sz="1450">
                <a:solidFill>
                  <a:srgbClr val="D1D5DB"/>
                </a:solidFill>
                <a:latin typeface="Arial"/>
              </a:rPr>
              <a:t>reports, emails, meeting notes, proposals, policy summaries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draft fast, then review hard — never publish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5.1 DRAFTING &amp;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Reshaping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Shorten  </a:t>
            </a:r>
            <a:r>
              <a:rPr sz="1450">
                <a:solidFill>
                  <a:srgbClr val="D1D5DB"/>
                </a:solidFill>
                <a:latin typeface="Arial"/>
              </a:rPr>
              <a:t>a 2,000-word report to a 300-word brief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Re-level  </a:t>
            </a:r>
            <a:r>
              <a:rPr sz="1450">
                <a:solidFill>
                  <a:srgbClr val="D1D5DB"/>
                </a:solidFill>
                <a:latin typeface="Arial"/>
              </a:rPr>
              <a:t>technical material for a non-technical audience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Change tone  </a:t>
            </a:r>
            <a:r>
              <a:rPr sz="1450">
                <a:solidFill>
                  <a:srgbClr val="D1D5DB"/>
                </a:solidFill>
                <a:latin typeface="Arial"/>
              </a:rPr>
              <a:t>formal to friendly, blunt to diplomatic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Change format  </a:t>
            </a:r>
            <a:r>
              <a:rPr sz="1450">
                <a:solidFill>
                  <a:srgbClr val="D1D5DB"/>
                </a:solidFill>
                <a:latin typeface="Arial"/>
              </a:rPr>
              <a:t>paragraphs to bullets, bullets to a table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Keep the facts  </a:t>
            </a:r>
            <a:r>
              <a:rPr sz="1450">
                <a:solidFill>
                  <a:srgbClr val="D1D5DB"/>
                </a:solidFill>
                <a:latin typeface="Arial"/>
              </a:rPr>
              <a:t>reshaping changes the packaging, never the substance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5.1 DRAFTING &amp;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Review and personalise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AI output is a draft  </a:t>
            </a:r>
            <a:r>
              <a:rPr sz="1450">
                <a:solidFill>
                  <a:srgbClr val="D1D5DB"/>
                </a:solidFill>
                <a:latin typeface="Arial"/>
              </a:rPr>
              <a:t>a starting point, not a finished product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Add your voice  </a:t>
            </a:r>
            <a:r>
              <a:rPr sz="1450">
                <a:solidFill>
                  <a:srgbClr val="D1D5DB"/>
                </a:solidFill>
                <a:latin typeface="Arial"/>
              </a:rPr>
              <a:t>your knowledge, judgement and experience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Check the details  </a:t>
            </a:r>
            <a:r>
              <a:rPr sz="1450">
                <a:solidFill>
                  <a:srgbClr val="D1D5DB"/>
                </a:solidFill>
                <a:latin typeface="Arial"/>
              </a:rPr>
              <a:t>names, figures, dates, references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 </a:t>
            </a:r>
            <a:r>
              <a:rPr sz="1450">
                <a:solidFill>
                  <a:srgbClr val="D1D5DB"/>
                </a:solidFill>
                <a:latin typeface="Arial"/>
              </a:rPr>
              <a:t>"would I sign my name to this?" — if not, it is not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Would you send an AI-drafted email unchanged?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Probe the risks: wrong tone, invented detail, missing context only you know. The answer should land on: AI drafts, the person owns and releases.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Link forward to 5.5 — the verification habit starts at the draft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5.2 SUMMARISING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Directed, audience-targeted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State the audience  </a:t>
            </a:r>
            <a:r>
              <a:rPr sz="1450">
                <a:solidFill>
                  <a:srgbClr val="D1D5DB"/>
                </a:solidFill>
                <a:latin typeface="Arial"/>
              </a:rPr>
              <a:t>an executive brief differs from a team note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State the purpose  </a:t>
            </a:r>
            <a:r>
              <a:rPr sz="1450">
                <a:solidFill>
                  <a:srgbClr val="D1D5DB"/>
                </a:solidFill>
                <a:latin typeface="Arial"/>
              </a:rPr>
              <a:t>decision support, awareness, or action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Request structure  </a:t>
            </a:r>
            <a:r>
              <a:rPr sz="1450">
                <a:solidFill>
                  <a:srgbClr val="D1D5DB"/>
                </a:solidFill>
                <a:latin typeface="Arial"/>
              </a:rPr>
              <a:t>key points, recommendations, risks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trade-off  </a:t>
            </a:r>
            <a:r>
              <a:rPr sz="1450">
                <a:solidFill>
                  <a:srgbClr val="D1D5DB"/>
                </a:solidFill>
                <a:latin typeface="Arial"/>
              </a:rPr>
              <a:t>summaries compress; compression loses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5.2 SUMMARISING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summaries are dangerous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Critical detail vanishes  </a:t>
            </a:r>
            <a:r>
              <a:rPr sz="1450">
                <a:solidFill>
                  <a:srgbClr val="D1D5DB"/>
                </a:solidFill>
                <a:latin typeface="Arial"/>
              </a:rPr>
              <a:t>exceptions, caveats, footnotes, small print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omission is silent  </a:t>
            </a:r>
            <a:r>
              <a:rPr sz="1450">
                <a:solidFill>
                  <a:srgbClr val="D1D5DB"/>
                </a:solidFill>
                <a:latin typeface="Arial"/>
              </a:rPr>
              <a:t>you do not know what was left out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High-stakes documents  </a:t>
            </a:r>
            <a:r>
              <a:rPr sz="1450">
                <a:solidFill>
                  <a:srgbClr val="D1D5DB"/>
                </a:solidFill>
                <a:latin typeface="Arial"/>
              </a:rPr>
              <a:t>contracts, regulations, clinical or safety text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for high-stakes documents, read the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two summaries, one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Pick a 2–3 page document you know well (a policy, a report).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Ask for a one-paragraph summary for your organisation's board.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Then ask for a one-paragraph summary for your own team.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Compare: what changed? What was lost in each?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The exercise proves that summaries are directed — the audience shapes the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5.3 IDEATION, PLANNING &amp; RESEARCH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AI as a thinking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Generate options  </a:t>
            </a:r>
            <a:r>
              <a:rPr sz="1450">
                <a:solidFill>
                  <a:srgbClr val="D1D5DB"/>
                </a:solidFill>
                <a:latin typeface="Arial"/>
              </a:rPr>
              <a:t>brainstorming, naming, structuring ideas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Stress-test plans  </a:t>
            </a:r>
            <a:r>
              <a:rPr sz="1450">
                <a:solidFill>
                  <a:srgbClr val="D1D5DB"/>
                </a:solidFill>
                <a:latin typeface="Arial"/>
              </a:rPr>
              <a:t>ask for risks, gaps, and counter-arguments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Draft the skeleton  </a:t>
            </a:r>
            <a:r>
              <a:rPr sz="1450">
                <a:solidFill>
                  <a:srgbClr val="D1D5DB"/>
                </a:solidFill>
                <a:latin typeface="Arial"/>
              </a:rPr>
              <a:t>agendas, project plans, meeting structures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Human ownership  </a:t>
            </a:r>
            <a:r>
              <a:rPr sz="1450">
                <a:solidFill>
                  <a:srgbClr val="D1D5DB"/>
                </a:solidFill>
                <a:latin typeface="Arial"/>
              </a:rPr>
              <a:t>the plan is yours — AI contributed, you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5.3 IDEATION, PLANNING &amp; RESEARCH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Research assistance is a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Scaffolding  </a:t>
            </a:r>
            <a:r>
              <a:rPr sz="1450">
                <a:solidFill>
                  <a:srgbClr val="D1D5DB"/>
                </a:solidFill>
                <a:latin typeface="Arial"/>
              </a:rPr>
              <a:t>good for finding what to look at next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authoritative  </a:t>
            </a:r>
            <a:r>
              <a:rPr sz="1450">
                <a:solidFill>
                  <a:srgbClr val="D1D5DB"/>
                </a:solidFill>
                <a:latin typeface="Arial"/>
              </a:rPr>
              <a:t>never cite the assistant as a source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Verify everything  </a:t>
            </a:r>
            <a:r>
              <a:rPr sz="1450">
                <a:solidFill>
                  <a:srgbClr val="D1D5DB"/>
                </a:solidFill>
                <a:latin typeface="Arial"/>
              </a:rPr>
              <a:t>every fact, figure and citation at its origin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shortcut trap  </a:t>
            </a:r>
            <a:r>
              <a:rPr sz="1450">
                <a:solidFill>
                  <a:srgbClr val="D1D5DB"/>
                </a:solidFill>
                <a:latin typeface="Arial"/>
              </a:rPr>
              <a:t>a plausible answer is not a verified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should a human own in a plan the AI helped draft?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Steer to accountability: goals, constraints, decisions and final sign-off are human. AI can structure, suggest and critique — it cannot be accountable.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This is the bridge to 5.4 and to Domain 8's accountability principle.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next up: judging when AI is the right tool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5.4 APPROPRIATE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AI suits the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Low-stakes drafting  </a:t>
            </a:r>
            <a:r>
              <a:rPr sz="1450">
                <a:solidFill>
                  <a:srgbClr val="D1D5DB"/>
                </a:solidFill>
                <a:latin typeface="Arial"/>
              </a:rPr>
              <a:t>emails, first drafts, internal notes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High-volume, low-risk  </a:t>
            </a:r>
            <a:r>
              <a:rPr sz="1450">
                <a:solidFill>
                  <a:srgbClr val="D1D5DB"/>
                </a:solidFill>
                <a:latin typeface="Arial"/>
              </a:rPr>
              <a:t>classification, summarising routine material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Structured generation  </a:t>
            </a:r>
            <a:r>
              <a:rPr sz="1450">
                <a:solidFill>
                  <a:srgbClr val="D1D5DB"/>
                </a:solidFill>
                <a:latin typeface="Arial"/>
              </a:rPr>
              <a:t>forms, templates, standardised content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Time-boxed exploration  </a:t>
            </a:r>
            <a:r>
              <a:rPr sz="1450">
                <a:solidFill>
                  <a:srgbClr val="D1D5DB"/>
                </a:solidFill>
                <a:latin typeface="Arial"/>
              </a:rPr>
              <a:t>ideas and options before committing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5.4 APPROPRIATE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Stakes decide the answer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50292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Stakes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AI role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Internal draft email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Draft freely, review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Customer-facing quote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Draft, verify, human signs off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Contract clause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Human expertise leads; AI at most assists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Medical or safety advice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Do not use — specialist required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5.4 APPROPRIATE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human expertise should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Judgement calls  </a:t>
            </a:r>
            <a:r>
              <a:rPr sz="1450">
                <a:solidFill>
                  <a:srgbClr val="D1D5DB"/>
                </a:solidFill>
                <a:latin typeface="Arial"/>
              </a:rPr>
              <a:t>people decisions, ethics, strategy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Authoritative sources  </a:t>
            </a:r>
            <a:r>
              <a:rPr sz="1450">
                <a:solidFill>
                  <a:srgbClr val="D1D5DB"/>
                </a:solidFill>
                <a:latin typeface="Arial"/>
              </a:rPr>
              <a:t>law, medicine, safety, regulation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Creative identity  </a:t>
            </a:r>
            <a:r>
              <a:rPr sz="1450">
                <a:solidFill>
                  <a:srgbClr val="D1D5DB"/>
                </a:solidFill>
                <a:latin typeface="Arial"/>
              </a:rPr>
              <a:t>your voice, your organisation's voice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question to ask  </a:t>
            </a:r>
            <a:r>
              <a:rPr sz="1450">
                <a:solidFill>
                  <a:srgbClr val="D1D5DB"/>
                </a:solidFill>
                <a:latin typeface="Arial"/>
              </a:rPr>
              <a:t>what is the cost of being wrong here?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classify the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Sort these into: draft freely / verify before use / human leads: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Internal meeting agenda — draft freely.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price list sent to a client — verify before use.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Disciplinary outcome wording — human leads.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Add two of your own tasks and defend your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The stakes test: low-stakes draft, medium verify, high-stakes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5.5 THE VERIFICATION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to verify before acting or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Facts and figures  </a:t>
            </a:r>
            <a:r>
              <a:rPr sz="1450">
                <a:solidFill>
                  <a:srgbClr val="D1D5DB"/>
                </a:solidFill>
                <a:latin typeface="Arial"/>
              </a:rPr>
              <a:t>numbers, statistics, prices, dates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Names and titles  </a:t>
            </a:r>
            <a:r>
              <a:rPr sz="1450">
                <a:solidFill>
                  <a:srgbClr val="D1D5DB"/>
                </a:solidFill>
                <a:latin typeface="Arial"/>
              </a:rPr>
              <a:t>people, organisations, roles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Quotes and citations  </a:t>
            </a:r>
            <a:r>
              <a:rPr sz="1450">
                <a:solidFill>
                  <a:srgbClr val="D1D5DB"/>
                </a:solidFill>
                <a:latin typeface="Arial"/>
              </a:rPr>
              <a:t>did the source really say that?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output's context  </a:t>
            </a:r>
            <a:r>
              <a:rPr sz="1450">
                <a:solidFill>
                  <a:srgbClr val="D1D5DB"/>
                </a:solidFill>
                <a:latin typeface="Arial"/>
              </a:rPr>
              <a:t>does it match the task you set?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5.5 THE VERIFICATION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How to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List the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every fact, figure, name, quote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Go to the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primary source, not another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Confirm before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only verified claims survive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Record the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note what you verified and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5.5 THE VERIFICATION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You remain accountable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user owns the output  </a:t>
            </a:r>
            <a:r>
              <a:rPr sz="1450">
                <a:solidFill>
                  <a:srgbClr val="D1D5DB"/>
                </a:solidFill>
                <a:latin typeface="Arial"/>
              </a:rPr>
              <a:t>sharing AI text is sharing your text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84% of adopters  </a:t>
            </a:r>
            <a:r>
              <a:rPr sz="1450">
                <a:solidFill>
                  <a:srgbClr val="D1D5DB"/>
                </a:solidFill>
                <a:latin typeface="Arial"/>
              </a:rPr>
              <a:t>report at least some human checking of AI output — make it your habit too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excuses  </a:t>
            </a:r>
            <a:r>
              <a:rPr sz="1450">
                <a:solidFill>
                  <a:srgbClr val="D1D5DB"/>
                </a:solidFill>
                <a:latin typeface="Arial"/>
              </a:rPr>
              <a:t>"the AI said so" does not transfer responsibility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the user, not the AI, remains accountable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is the most dangerous AI output you have seen at 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Collect examples of plausible-but-wrong content. For each, identify the claim that should have been verified before use — and the check that would have caught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Anchor the discussion: fluency made the error convincing; only verification catches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5.6 PERSONAL PROMPT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Save your best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Purpose  </a:t>
            </a:r>
            <a:r>
              <a:rPr sz="1450">
                <a:solidFill>
                  <a:srgbClr val="D1D5DB"/>
                </a:solidFill>
                <a:latin typeface="Arial"/>
              </a:rPr>
              <a:t>reusable prompts for recurring tasks save time and keep quality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to save  </a:t>
            </a:r>
            <a:r>
              <a:rPr sz="1450">
                <a:solidFill>
                  <a:srgbClr val="D1D5DB"/>
                </a:solidFill>
                <a:latin typeface="Arial"/>
              </a:rPr>
              <a:t>prompts that worked — with the task they serve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How to store  </a:t>
            </a:r>
            <a:r>
              <a:rPr sz="1450">
                <a:solidFill>
                  <a:srgbClr val="D1D5DB"/>
                </a:solidFill>
                <a:latin typeface="Arial"/>
              </a:rPr>
              <a:t>notes, documents, a shared team folder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Keep them current  </a:t>
            </a:r>
            <a:r>
              <a:rPr sz="1450">
                <a:solidFill>
                  <a:srgbClr val="D1D5DB"/>
                </a:solidFill>
                <a:latin typeface="Arial"/>
              </a:rPr>
              <a:t>templates drift; review them like any work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build your prompt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Pick three tasks you do weekly (reports, emails, minutes).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Write one reusable prompt for each, using task + context + format + constraints.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Test each prompt once and note what to refine.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Store them where your team can reuse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A library is only useful if it is organised, tested and shared.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5 tests (15 questions, 12%)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5.1 Drafting &amp; Rewriting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Using AI for drafts and reshaping; reviewing rather than using unchanged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5.2 Summarising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Directed summaries; summaries can omit critical detail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5.3 Ideation &amp; Planning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Thinking partner; research assistance must be verified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5.4 Appropriate 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Suitability by task and stakes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5.5 Verification Habit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Verify facts, figures, quotes; user remains accountable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5.6 Prompt Library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Purpose of saving reusable prompts (awareness)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Quiz_Session_05.html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5.5.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AI drafts, you own  </a:t>
            </a:r>
            <a:r>
              <a:rPr sz="1600">
                <a:solidFill>
                  <a:srgbClr val="FFFFFF"/>
                </a:solidFill>
                <a:latin typeface="Arial"/>
              </a:rPr>
              <a:t>review, personalise and verify before anything is shared.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Summaries are directed  </a:t>
            </a:r>
            <a:r>
              <a:rPr sz="1600">
                <a:solidFill>
                  <a:srgbClr val="FFFFFF"/>
                </a:solidFill>
                <a:latin typeface="Arial"/>
              </a:rPr>
              <a:t>name the audience; for high-stakes text, read the original.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Stakes decide  </a:t>
            </a:r>
            <a:r>
              <a:rPr sz="1600">
                <a:solidFill>
                  <a:srgbClr val="FFFFFF"/>
                </a:solidFill>
                <a:latin typeface="Arial"/>
              </a:rPr>
              <a:t>low-stakes draft freely; high-stakes human expertise leads.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Verify the claims  </a:t>
            </a:r>
            <a:r>
              <a:rPr sz="1600">
                <a:solidFill>
                  <a:srgbClr val="FFFFFF"/>
                </a:solidFill>
                <a:latin typeface="Arial"/>
              </a:rPr>
              <a:t>facts, figures, names, quotes — at the primary source.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Build your library  </a:t>
            </a:r>
            <a:r>
              <a:rPr sz="1600">
                <a:solidFill>
                  <a:srgbClr val="FFFFFF"/>
                </a:solidFill>
                <a:latin typeface="Arial"/>
              </a:rPr>
              <a:t>reusable prompts are professional tools, not tricks.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the habit  </a:t>
            </a:r>
            <a:r>
              <a:rPr sz="1450">
                <a:solidFill>
                  <a:srgbClr val="D1D5DB"/>
                </a:solidFill>
                <a:latin typeface="Arial"/>
              </a:rPr>
              <a:t>verify one AI output against its primary source this week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Write two summaries  </a:t>
            </a:r>
            <a:r>
              <a:rPr sz="1450">
                <a:solidFill>
                  <a:srgbClr val="D1D5DB"/>
                </a:solidFill>
                <a:latin typeface="Arial"/>
              </a:rPr>
              <a:t>board-level and team-level, from the same source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Domain 6 — limitations, risks and hallucination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6 — Limitations, Risks &amp;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Why confident AI output can be wrong, and how to reduce 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Hallucination is inherent, not a bug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Stale information and fabricated citations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Mandatory-verification contexts: legal, medical, financial,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