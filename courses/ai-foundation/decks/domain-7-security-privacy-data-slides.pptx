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7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AI Security, Privacy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What must never go into an AI tool — and how AI is being turned against organisations.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12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10%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security consequences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5–6  </a:t>
            </a:r>
            <a:r>
              <a:rPr sz="1450">
                <a:solidFill>
                  <a:srgbClr val="D1D5DB"/>
                </a:solidFill>
                <a:latin typeface="Arial"/>
              </a:rPr>
              <a:t>built the verification habit and the risk awareness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protecting information and recognising AI-enabled threats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lens  </a:t>
            </a:r>
            <a:r>
              <a:rPr sz="1450">
                <a:solidFill>
                  <a:srgbClr val="D1D5DB"/>
                </a:solidFill>
                <a:latin typeface="Arial"/>
              </a:rPr>
              <a:t>professional literacy — not penetration testing, not engineering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12 questions; the "when in doubt, leave it out" rule is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 what must never enter  </a:t>
            </a:r>
            <a:r>
              <a:rPr sz="1450">
                <a:solidFill>
                  <a:srgbClr val="D1D5DB"/>
                </a:solidFill>
                <a:latin typeface="Arial"/>
              </a:rPr>
              <a:t>personal data, confidential material,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the default rule  </a:t>
            </a:r>
            <a:r>
              <a:rPr sz="1450">
                <a:solidFill>
                  <a:srgbClr val="D1D5DB"/>
                </a:solidFill>
                <a:latin typeface="Arial"/>
              </a:rPr>
              <a:t>"when in doubt, leave it out"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service data handling  </a:t>
            </a:r>
            <a:r>
              <a:rPr sz="1450">
                <a:solidFill>
                  <a:srgbClr val="D1D5DB"/>
                </a:solidFill>
                <a:latin typeface="Arial"/>
              </a:rPr>
              <a:t>terms, retention, residency,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Recognise shadow AI  </a:t>
            </a:r>
            <a:r>
              <a:rPr sz="1450">
                <a:solidFill>
                  <a:srgbClr val="D1D5DB"/>
                </a:solidFill>
                <a:latin typeface="Arial"/>
              </a:rPr>
              <a:t>and its risks to the organisation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Spot AI-enabled threats  </a:t>
            </a:r>
            <a:r>
              <a:rPr sz="1450">
                <a:solidFill>
                  <a:srgbClr val="D1D5DB"/>
                </a:solidFill>
                <a:latin typeface="Arial"/>
              </a:rPr>
              <a:t>deepfakes, impersonation, AI-assisted phishing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Identify prompt injection  </a:t>
            </a:r>
            <a:r>
              <a:rPr sz="1450">
                <a:solidFill>
                  <a:srgbClr val="D1D5DB"/>
                </a:solidFill>
                <a:latin typeface="Arial"/>
              </a:rPr>
              <a:t>hidden instructions inside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7.1 PROTECTING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must never go into public AI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Personal data  </a:t>
            </a:r>
            <a:r>
              <a:rPr sz="1450">
                <a:solidFill>
                  <a:srgbClr val="D1D5DB"/>
                </a:solidFill>
                <a:latin typeface="Arial"/>
              </a:rPr>
              <a:t>names, addresses, contact details, medical or financial details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Confidential information  </a:t>
            </a:r>
            <a:r>
              <a:rPr sz="1450">
                <a:solidFill>
                  <a:srgbClr val="D1D5DB"/>
                </a:solidFill>
                <a:latin typeface="Arial"/>
              </a:rPr>
              <a:t>commercially sensitive strategy, pricing, bids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Credentials  </a:t>
            </a:r>
            <a:r>
              <a:rPr sz="1450">
                <a:solidFill>
                  <a:srgbClr val="D1D5DB"/>
                </a:solidFill>
                <a:latin typeface="Arial"/>
              </a:rPr>
              <a:t>passwords, tokens, API keys, session details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Confidential documents  </a:t>
            </a:r>
            <a:r>
              <a:rPr sz="1450">
                <a:solidFill>
                  <a:srgbClr val="D1D5DB"/>
                </a:solidFill>
                <a:latin typeface="Arial"/>
              </a:rPr>
              <a:t>contracts, draft reports, board papers, staff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7.1 PROTECTING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default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When in doubt, leave it out  </a:t>
            </a:r>
            <a:r>
              <a:rPr sz="1450">
                <a:solidFill>
                  <a:srgbClr val="D1D5DB"/>
                </a:solidFill>
                <a:latin typeface="Arial"/>
              </a:rPr>
              <a:t>if you cannot confirm it is safe, it does not go 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Assume public  </a:t>
            </a:r>
            <a:r>
              <a:rPr sz="1450">
                <a:solidFill>
                  <a:srgbClr val="D1D5DB"/>
                </a:solidFill>
                <a:latin typeface="Arial"/>
              </a:rPr>
              <a:t>unapproved tools may treat input as training or shared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first  </a:t>
            </a:r>
            <a:r>
              <a:rPr sz="1450">
                <a:solidFill>
                  <a:srgbClr val="D1D5DB"/>
                </a:solidFill>
                <a:latin typeface="Arial"/>
              </a:rPr>
              <a:t>check the tool, check the policy, check with the data owner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scales  </a:t>
            </a:r>
            <a:r>
              <a:rPr sz="1450">
                <a:solidFill>
                  <a:srgbClr val="D1D5DB"/>
                </a:solidFill>
                <a:latin typeface="Arial"/>
              </a:rPr>
              <a:t>one pasted document can leak more than a hundred emails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7.1 PROTECTING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is at stake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42976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If this leaks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Through an AI tool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consequence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Customer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Pasted into a summariser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GDPR breach; fines; loss of trust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bid price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Asked for pricing advice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Competitive damage; lost contract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password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Pasted to debug an error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Account compromise; lateral movement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Board minutes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Used to draft a summary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Regulatory and reputational exposure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have you already typed into an AI tool?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Invite honest examples — meeting notes, emails, code. For each, ask: could this be personal data, confidential, or a credential? Would you put it in a public forum?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The point is recognition without embarrassment: most people have done it; professionals stop.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7.2 DATA HANDLING BY AI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happens to your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Terms govern  </a:t>
            </a:r>
            <a:r>
              <a:rPr sz="1450">
                <a:solidFill>
                  <a:srgbClr val="D1D5DB"/>
                </a:solidFill>
                <a:latin typeface="Arial"/>
              </a:rPr>
              <a:t>third-party services may transmit, store, or use inputs per their terms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Retention  </a:t>
            </a:r>
            <a:r>
              <a:rPr sz="1450">
                <a:solidFill>
                  <a:srgbClr val="D1D5DB"/>
                </a:solidFill>
                <a:latin typeface="Arial"/>
              </a:rPr>
              <a:t>inputs may be kept for training, review, or compliance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Residency  </a:t>
            </a:r>
            <a:r>
              <a:rPr sz="1450">
                <a:solidFill>
                  <a:srgbClr val="D1D5DB"/>
                </a:solidFill>
                <a:latin typeface="Arial"/>
              </a:rPr>
              <a:t>data may be processed in other jurisdictions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takeaway  </a:t>
            </a:r>
            <a:r>
              <a:rPr sz="1450">
                <a:solidFill>
                  <a:srgbClr val="D1D5DB"/>
                </a:solidFill>
                <a:latin typeface="Arial"/>
              </a:rPr>
              <a:t>you are agreeing to the terms of a tool you may not have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7.2 DATA HANDLING BY AI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Organisational policy governs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Policy before convenience  </a:t>
            </a:r>
            <a:r>
              <a:rPr sz="1450">
                <a:solidFill>
                  <a:srgbClr val="D1D5DB"/>
                </a:solidFill>
                <a:latin typeface="Arial"/>
              </a:rPr>
              <a:t>what your organisation permits is what you may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Approved tools  </a:t>
            </a:r>
            <a:r>
              <a:rPr sz="1450">
                <a:solidFill>
                  <a:srgbClr val="D1D5DB"/>
                </a:solidFill>
                <a:latin typeface="Arial"/>
              </a:rPr>
              <a:t>those reviewed for data handling and security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Check the labels  </a:t>
            </a:r>
            <a:r>
              <a:rPr sz="1450">
                <a:solidFill>
                  <a:srgbClr val="D1D5DB"/>
                </a:solidFill>
                <a:latin typeface="Arial"/>
              </a:rPr>
              <a:t>public vs private instances, retention promises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Escalate, don't improvise  </a:t>
            </a:r>
            <a:r>
              <a:rPr sz="1450">
                <a:solidFill>
                  <a:srgbClr val="D1D5DB"/>
                </a:solidFill>
                <a:latin typeface="Arial"/>
              </a:rPr>
              <a:t>an unclear policy is a reason to ask, not to guess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classify the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For each input, decide: safe for an approved tool, or leave it out?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colleague's phone number from the intranet — personal data?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This month's sales forecast — commercially sensitive?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password reset token in a log paste — credential?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 team social event menu — genuinely safe?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Apply the rule: when in doubt, leave it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7.3 SHADOW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shadow AI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unapproved AI use outside organisational oversight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it starts  </a:t>
            </a:r>
            <a:r>
              <a:rPr sz="1450">
                <a:solidFill>
                  <a:srgbClr val="D1D5DB"/>
                </a:solidFill>
                <a:latin typeface="Arial"/>
              </a:rPr>
              <a:t>a worker pasting data into a tool to save time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risks  </a:t>
            </a:r>
            <a:r>
              <a:rPr sz="1450">
                <a:solidFill>
                  <a:srgbClr val="D1D5DB"/>
                </a:solidFill>
                <a:latin typeface="Arial"/>
              </a:rPr>
              <a:t>data exposure, no policy, no review, no audit trail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irony  </a:t>
            </a:r>
            <a:r>
              <a:rPr sz="1450">
                <a:solidFill>
                  <a:srgbClr val="D1D5DB"/>
                </a:solidFill>
                <a:latin typeface="Arial"/>
              </a:rPr>
              <a:t>the more sensitive the data, the more tempting the shortcut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7.3 SHADOW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Managing shadow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 approved tools  </a:t>
            </a:r>
            <a:r>
              <a:rPr sz="1450">
                <a:solidFill>
                  <a:srgbClr val="D1D5DB"/>
                </a:solidFill>
                <a:latin typeface="Arial"/>
              </a:rPr>
              <a:t>the ones reviewed for data handling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Seek approval  </a:t>
            </a:r>
            <a:r>
              <a:rPr sz="1450">
                <a:solidFill>
                  <a:srgbClr val="D1D5DB"/>
                </a:solidFill>
                <a:latin typeface="Arial"/>
              </a:rPr>
              <a:t>for new tools — before using them, not after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Report policy gaps  </a:t>
            </a:r>
            <a:r>
              <a:rPr sz="1450">
                <a:solidFill>
                  <a:srgbClr val="D1D5DB"/>
                </a:solidFill>
                <a:latin typeface="Arial"/>
              </a:rPr>
              <a:t>a missing policy is a reason to escalate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Culture beats policing  </a:t>
            </a:r>
            <a:r>
              <a:rPr sz="1450">
                <a:solidFill>
                  <a:srgbClr val="D1D5DB"/>
                </a:solidFill>
                <a:latin typeface="Arial"/>
              </a:rPr>
              <a:t>people stop using shadow tools when approved ones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do people quietly use unapproved AI tools?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Expect speed, convenience, and better results. Steer to the fix: approved tools must be good enough, and the policy must be visible and explainable.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Link to 7.2: the organisation's data handling depends on the tools its people actually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the threats AI enables against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7.4 AI-ENABLED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is now a weapon for attackers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Deepfakes  </a:t>
            </a:r>
            <a:r>
              <a:rPr sz="1450">
                <a:solidFill>
                  <a:srgbClr val="D1D5DB"/>
                </a:solidFill>
                <a:latin typeface="Arial"/>
              </a:rPr>
              <a:t>synthetic video, audio and images of real people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Impersonation  </a:t>
            </a:r>
            <a:r>
              <a:rPr sz="1450">
                <a:solidFill>
                  <a:srgbClr val="D1D5DB"/>
                </a:solidFill>
                <a:latin typeface="Arial"/>
              </a:rPr>
              <a:t>cloned voices of executives and colleagues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AI-assisted phishing  </a:t>
            </a:r>
            <a:r>
              <a:rPr sz="1450">
                <a:solidFill>
                  <a:srgbClr val="D1D5DB"/>
                </a:solidFill>
                <a:latin typeface="Arial"/>
              </a:rPr>
              <a:t>fluent, personalised, grammatically perfect lures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Scale  </a:t>
            </a:r>
            <a:r>
              <a:rPr sz="1450">
                <a:solidFill>
                  <a:srgbClr val="D1D5DB"/>
                </a:solidFill>
                <a:latin typeface="Arial"/>
              </a:rPr>
              <a:t>automation lets attackers send more, faster, cheaper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7.4 AI-ENABLED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numbers are stark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deepfake files projected for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2148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Up from roughly 500,000 in 2023 — exponential growth.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4708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1,633%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0428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surge in deepfake vishing, Q1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61488"/>
            <a:ext cx="21488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Deepfake voice-call attacks versus the previous quarter.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3736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47088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042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of phishing emails now AI-generated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61488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Industry analysis across security vendors,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0" name="Picture 1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7.4 AI-ENABLED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Arup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attack  </a:t>
            </a:r>
            <a:r>
              <a:rPr sz="1450">
                <a:solidFill>
                  <a:srgbClr val="D1D5DB"/>
                </a:solidFill>
                <a:latin typeface="Arial"/>
              </a:rPr>
              <a:t>a deepfake video call impersonating the chief financial officer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ask  </a:t>
            </a:r>
            <a:r>
              <a:rPr sz="1450">
                <a:solidFill>
                  <a:srgbClr val="D1D5DB"/>
                </a:solidFill>
                <a:latin typeface="Arial"/>
              </a:rPr>
              <a:t>an urgent, confidential transfer — and it worked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loss  </a:t>
            </a:r>
            <a:r>
              <a:rPr sz="1450">
                <a:solidFill>
                  <a:srgbClr val="D1D5DB"/>
                </a:solidFill>
                <a:latin typeface="Arial"/>
              </a:rPr>
              <a:t>USD 25.6 million to fraudsters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lesson  </a:t>
            </a:r>
            <a:r>
              <a:rPr sz="1450">
                <a:solidFill>
                  <a:srgbClr val="D1D5DB"/>
                </a:solidFill>
                <a:latin typeface="Arial"/>
              </a:rPr>
              <a:t>seeing and hearing is no longer proof of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7.4 AI-ENABLED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defence: a separate, trusted channel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Spot the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unexpected or urgent requests for money, data,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urgency is the attacker's tool — slow the process 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Verify out of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call the person on a number you already 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Confirm before acting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no verified confirmation, no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would you do if the CEO emailed a voice note asking for a transfer?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Walk the defence: it is unexpected, urgent, and money-related. The correct move is to pause and verify through a separate trusted channel — not reply to the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Urgency plus authority is the attacker's favourite combination.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7.5 PROMPT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Hidden instructions inside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malicious instructions hidden in content the AI processes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it hides  </a:t>
            </a:r>
            <a:r>
              <a:rPr sz="1450">
                <a:solidFill>
                  <a:srgbClr val="D1D5DB"/>
                </a:solidFill>
                <a:latin typeface="Arial"/>
              </a:rPr>
              <a:t>documents, emails, web pages, images — anything the AI reads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goal  </a:t>
            </a:r>
            <a:r>
              <a:rPr sz="1450">
                <a:solidFill>
                  <a:srgbClr val="D1D5DB"/>
                </a:solidFill>
                <a:latin typeface="Arial"/>
              </a:rPr>
              <a:t>make the AI ignore your instructions and follow the attacker's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an AI summarising untrusted content may act on hidden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7.5 PROMPT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Defending against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Treat untrusted content with caution  </a:t>
            </a:r>
            <a:r>
              <a:rPr sz="1450">
                <a:solidFill>
                  <a:srgbClr val="D1D5DB"/>
                </a:solidFill>
                <a:latin typeface="Arial"/>
              </a:rPr>
              <a:t>anything pasted or fetched may contain instructions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Separate data from commands  </a:t>
            </a:r>
            <a:r>
              <a:rPr sz="1450">
                <a:solidFill>
                  <a:srgbClr val="D1D5DB"/>
                </a:solidFill>
                <a:latin typeface="Arial"/>
              </a:rPr>
              <a:t>mark supplied text as data, not as instructions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Oversee AI actions  </a:t>
            </a:r>
            <a:r>
              <a:rPr sz="1450">
                <a:solidFill>
                  <a:srgbClr val="D1D5DB"/>
                </a:solidFill>
                <a:latin typeface="Arial"/>
              </a:rPr>
              <a:t>tools that can act need approval before acting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Foundation level  </a:t>
            </a:r>
            <a:r>
              <a:rPr sz="1450">
                <a:solidFill>
                  <a:srgbClr val="D1D5DB"/>
                </a:solidFill>
                <a:latin typeface="Arial"/>
              </a:rPr>
              <a:t>recognition and caution — not security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spot the 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of these requests is suspicious: a password reset email, a "re-verify" page, or a friendly follow-up?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You receive a document to summarise that includes "ignore previous instructions" — what now?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"colleague" asks for gift cards in a voice note. What is the first move?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 as a group: one real example of each threat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Spot, pause, verify out of band — the same defence covers deepfakes, phishing and injection.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7 tests (12 questions, 10%)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7.1 Protecting information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What must not be entered; when in doubt, leave it out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7.2 Data handling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Terms, retention and residency; policy governs 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7.3 Shadow AI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Unapproved use; risks; approval and escalation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7.4 AI-enabled threats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Deepfakes, impersonation, AI phishing; verify via trusted channel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7.5 Prompt injection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Hidden instructions; caution with untrusted content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Quiz_Session_07.html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7.4.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When in doubt, leave it out  </a:t>
            </a:r>
            <a:r>
              <a:rPr sz="1600">
                <a:solidFill>
                  <a:srgbClr val="FFFFFF"/>
                </a:solidFill>
                <a:latin typeface="Arial"/>
              </a:rPr>
              <a:t>personal data, confidential material and credentials never go into unapproved tools.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Terms govern your data  </a:t>
            </a:r>
            <a:r>
              <a:rPr sz="1600">
                <a:solidFill>
                  <a:srgbClr val="FFFFFF"/>
                </a:solidFill>
                <a:latin typeface="Arial"/>
              </a:rPr>
              <a:t>inputs may be stored, used and processed across borders.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Shadow AI is a data risk  </a:t>
            </a:r>
            <a:r>
              <a:rPr sz="1600">
                <a:solidFill>
                  <a:srgbClr val="FFFFFF"/>
                </a:solidFill>
                <a:latin typeface="Arial"/>
              </a:rPr>
              <a:t>unapproved tools bypass policy, review and audit.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Seeing is not believing  </a:t>
            </a:r>
            <a:r>
              <a:rPr sz="1600">
                <a:solidFill>
                  <a:srgbClr val="FFFFFF"/>
                </a:solidFill>
                <a:latin typeface="Arial"/>
              </a:rPr>
              <a:t>deepfakes and cloned voices defeat the old proofs of identity.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Verify out of band  </a:t>
            </a:r>
            <a:r>
              <a:rPr sz="1600">
                <a:solidFill>
                  <a:srgbClr val="FFFFFF"/>
                </a:solidFill>
                <a:latin typeface="Arial"/>
              </a:rPr>
              <a:t>urgent requests go through a separate, trusted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Audit your habits  </a:t>
            </a:r>
            <a:r>
              <a:rPr sz="1450">
                <a:solidFill>
                  <a:srgbClr val="D1D5DB"/>
                </a:solidFill>
                <a:latin typeface="Arial"/>
              </a:rPr>
              <a:t>list what you have pasted into AI tools this month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Check the policy  </a:t>
            </a:r>
            <a:r>
              <a:rPr sz="1450">
                <a:solidFill>
                  <a:srgbClr val="D1D5DB"/>
                </a:solidFill>
                <a:latin typeface="Arial"/>
              </a:rPr>
              <a:t>find your organisation's approved AI tools and rules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8 — ethics, bias, responsible AI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8 — Ethics, Bias, Responsible AI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The final domain: responsible use, oversight, disclosure and the professional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Sources of bias and their real-world impacts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AI proposes, a person decides and owns the outcome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Use / use with verification / escalate / do not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