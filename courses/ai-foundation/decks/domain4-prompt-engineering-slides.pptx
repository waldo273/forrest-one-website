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4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Prompt Engineering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Task, context, format and constraints — the craft that turns a tool into a professional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19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16%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highest-leverage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1–3  </a:t>
            </a:r>
            <a:r>
              <a:rPr sz="1450">
                <a:solidFill>
                  <a:srgbClr val="D1D5DB"/>
                </a:solidFill>
                <a:latin typeface="Arial"/>
              </a:rPr>
              <a:t>built vocabulary, mechanics and the tool landscape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craft of asking — the single most practical skill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19 questions — the largest weighting in the paper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promise  </a:t>
            </a:r>
            <a:r>
              <a:rPr sz="1450">
                <a:solidFill>
                  <a:srgbClr val="D1D5DB"/>
                </a:solidFill>
                <a:latin typeface="Arial"/>
              </a:rPr>
              <a:t>weak prompts become strong ones by applying four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Build a prompt  </a:t>
            </a:r>
            <a:r>
              <a:rPr sz="1450">
                <a:solidFill>
                  <a:srgbClr val="D1D5DB"/>
                </a:solidFill>
                <a:latin typeface="Arial"/>
              </a:rPr>
              <a:t>from task, context, format and constraints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Shape register  </a:t>
            </a:r>
            <a:r>
              <a:rPr sz="1450">
                <a:solidFill>
                  <a:srgbClr val="D1D5DB"/>
                </a:solidFill>
                <a:latin typeface="Arial"/>
              </a:rPr>
              <a:t>with role and audience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Calibrate with examples  </a:t>
            </a:r>
            <a:r>
              <a:rPr sz="1450">
                <a:solidFill>
                  <a:srgbClr val="D1D5DB"/>
                </a:solidFill>
                <a:latin typeface="Arial"/>
              </a:rPr>
              <a:t>zero-shot vs few-shot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Request structure  </a:t>
            </a:r>
            <a:r>
              <a:rPr sz="1450">
                <a:solidFill>
                  <a:srgbClr val="D1D5DB"/>
                </a:solidFill>
                <a:latin typeface="Arial"/>
              </a:rPr>
              <a:t>and decompose complex tasks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Refine iteratively  </a:t>
            </a:r>
            <a:r>
              <a:rPr sz="1450">
                <a:solidFill>
                  <a:srgbClr val="D1D5DB"/>
                </a:solidFill>
                <a:latin typeface="Arial"/>
              </a:rPr>
              <a:t>treating output as a draft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Diagnose faults  </a:t>
            </a:r>
            <a:r>
              <a:rPr sz="1450">
                <a:solidFill>
                  <a:srgbClr val="D1D5DB"/>
                </a:solidFill>
                <a:latin typeface="Arial"/>
              </a:rPr>
              <a:t>vague, overloaded, leading, unformatted, one-and-done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4.1 ANATOMY OF 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Four components, one effective prompt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108960"/>
                <a:gridCol w="38404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What you want done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"Summarise this report"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What the model needs to know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"...for the monthly board pack"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the output should look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"...as five bullets under headings"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Constraints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Limits and rules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"...under 150 words, no jargon"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4.1 ANATOMY OF 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Weak prompt → strong prompt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10896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Weak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Prompt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"Write about networking"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"Write a 300-word introduction to networking for new apprentices: task, context, format, constraints"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No task scope, no audience, no format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Every component present — output is predictable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spot the four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Prompt: "Draft a polite reminder email to a client about a late payment — under 100 words."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Label the task, the context, the format and the constraints.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component is missing? What would you add?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Swap with your neighbour and compare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Task, context, format, constraints — every strong prompt can be labelled with all four.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4.2 ROLE &amp;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Give the model a role and an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Role  </a:t>
            </a:r>
            <a:r>
              <a:rPr sz="1450">
                <a:solidFill>
                  <a:srgbClr val="D1D5DB"/>
                </a:solidFill>
                <a:latin typeface="Arial"/>
              </a:rPr>
              <a:t>assign a persona — "you are a security awareness trainer"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Audience  </a:t>
            </a:r>
            <a:r>
              <a:rPr sz="1450">
                <a:solidFill>
                  <a:srgbClr val="D1D5DB"/>
                </a:solidFill>
                <a:latin typeface="Arial"/>
              </a:rPr>
              <a:t>name who the output is for — "for non-technical staff"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Effect  </a:t>
            </a:r>
            <a:r>
              <a:rPr sz="1450">
                <a:solidFill>
                  <a:srgbClr val="D1D5DB"/>
                </a:solidFill>
                <a:latin typeface="Arial"/>
              </a:rPr>
              <a:t>register and depth change to fit the reader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role and audience shape the output's tone and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4.2 ROLE &amp;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Role and audience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Same fact, two registers  </a:t>
            </a:r>
            <a:r>
              <a:rPr sz="1450">
                <a:solidFill>
                  <a:srgbClr val="D1D5DB"/>
                </a:solidFill>
                <a:latin typeface="Arial"/>
              </a:rPr>
              <a:t>an expert brief vs an apprentice explainer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Named audience  </a:t>
            </a:r>
            <a:r>
              <a:rPr sz="1450">
                <a:solidFill>
                  <a:srgbClr val="D1D5DB"/>
                </a:solidFill>
                <a:latin typeface="Arial"/>
              </a:rPr>
              <a:t>"for the board" vs "for the help desk"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Named role  </a:t>
            </a:r>
            <a:r>
              <a:rPr sz="1450">
                <a:solidFill>
                  <a:srgbClr val="D1D5DB"/>
                </a:solidFill>
                <a:latin typeface="Arial"/>
              </a:rPr>
              <a:t>"as a technical reviewer" vs "as a coach"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test  </a:t>
            </a:r>
            <a:r>
              <a:rPr sz="1450">
                <a:solidFill>
                  <a:srgbClr val="D1D5DB"/>
                </a:solidFill>
                <a:latin typeface="Arial"/>
              </a:rPr>
              <a:t>would the intended reader understand the output?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4.3 FEW-SHOT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Zero-shot vs few-shot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39"/>
                <a:gridCol w="374903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Zero-shot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Few-shot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No examples given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One or more examples given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Simple, well-understood tasks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Style, format or tone must be calibrated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Format drifts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Output matches the examples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4.3 FEW-SHOT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examples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Calibrate style  </a:t>
            </a:r>
            <a:r>
              <a:rPr sz="1450">
                <a:solidFill>
                  <a:srgbClr val="D1D5DB"/>
                </a:solidFill>
                <a:latin typeface="Arial"/>
              </a:rPr>
              <a:t>show one example of the tone you want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Calibrate format  </a:t>
            </a:r>
            <a:r>
              <a:rPr sz="1450">
                <a:solidFill>
                  <a:srgbClr val="D1D5DB"/>
                </a:solidFill>
                <a:latin typeface="Arial"/>
              </a:rPr>
              <a:t>show one example of the structure you want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Calibrate length  </a:t>
            </a:r>
            <a:r>
              <a:rPr sz="1450">
                <a:solidFill>
                  <a:srgbClr val="D1D5DB"/>
                </a:solidFill>
                <a:latin typeface="Arial"/>
              </a:rPr>
              <a:t>show one example of the right size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use examples when the output must match a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zero-shot vs few-shot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for a meeting agenda with no example — note the result.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again with one example agenda attached.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Compare structure, length and tone.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When would you always include the example?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Examples calibrate; use them whenever the output must match a pattern.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4.4 STRUCTURE &amp;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Ask for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Structured output  </a:t>
            </a:r>
            <a:r>
              <a:rPr sz="1450">
                <a:solidFill>
                  <a:srgbClr val="D1D5DB"/>
                </a:solidFill>
                <a:latin typeface="Arial"/>
              </a:rPr>
              <a:t>tables, headed sections, bullet lists, numbered steps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 </a:t>
            </a:r>
            <a:r>
              <a:rPr sz="1450">
                <a:solidFill>
                  <a:srgbClr val="D1D5DB"/>
                </a:solidFill>
                <a:latin typeface="Arial"/>
              </a:rPr>
              <a:t>scannable, comparable, reusable output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How to ask  </a:t>
            </a:r>
            <a:r>
              <a:rPr sz="1450">
                <a:solidFill>
                  <a:srgbClr val="D1D5DB"/>
                </a:solidFill>
                <a:latin typeface="Arial"/>
              </a:rPr>
              <a:t>"present the comparison as a table with columns X and Y"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payoff  </a:t>
            </a:r>
            <a:r>
              <a:rPr sz="1450">
                <a:solidFill>
                  <a:srgbClr val="D1D5DB"/>
                </a:solidFill>
                <a:latin typeface="Arial"/>
              </a:rPr>
              <a:t>structure turns prose into work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4.4 STRUCTURE &amp;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Decompose the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break a complex task into ordered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ask for each step's output in 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Plan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ask the model for a plan before executing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check each step before moving to the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decompose 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Task: "Prepare a project kick-off pack."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Decompose it into four ordered steps.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the model to draft a plan first — then one step at a time.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Compare the decomposed result with a single one-shot 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Decomposition tames complex tasks; plans before execution improve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iterative refinement and the common faults.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4.5 ITERATIVE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First output is a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Rarely perfect  </a:t>
            </a:r>
            <a:r>
              <a:rPr sz="1450">
                <a:solidFill>
                  <a:srgbClr val="D1D5DB"/>
                </a:solidFill>
                <a:latin typeface="Arial"/>
              </a:rPr>
              <a:t>treat the first output as a draft, not the answer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Correct specifically  </a:t>
            </a:r>
            <a:r>
              <a:rPr sz="1450">
                <a:solidFill>
                  <a:srgbClr val="D1D5DB"/>
                </a:solidFill>
                <a:latin typeface="Arial"/>
              </a:rPr>
              <a:t>"shorten the second paragraph", not "make it better"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Build on the conversation  </a:t>
            </a:r>
            <a:r>
              <a:rPr sz="1450">
                <a:solidFill>
                  <a:srgbClr val="D1D5DB"/>
                </a:solidFill>
                <a:latin typeface="Arial"/>
              </a:rPr>
              <a:t>each follow-up uses the previous response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result  </a:t>
            </a:r>
            <a:r>
              <a:rPr sz="1450">
                <a:solidFill>
                  <a:srgbClr val="D1D5DB"/>
                </a:solidFill>
                <a:latin typeface="Arial"/>
              </a:rPr>
              <a:t>prompting is a conversation that converges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4.5 ITERATIVE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refinement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Round 1  </a:t>
            </a:r>
            <a:r>
              <a:rPr sz="1450">
                <a:solidFill>
                  <a:srgbClr val="D1D5DB"/>
                </a:solidFill>
                <a:latin typeface="Arial"/>
              </a:rPr>
              <a:t>generate a first draft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Round 2  </a:t>
            </a:r>
            <a:r>
              <a:rPr sz="1450">
                <a:solidFill>
                  <a:srgbClr val="D1D5DB"/>
                </a:solidFill>
                <a:latin typeface="Arial"/>
              </a:rPr>
              <a:t>"tighten it to 150 words"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Round 3  </a:t>
            </a:r>
            <a:r>
              <a:rPr sz="1450">
                <a:solidFill>
                  <a:srgbClr val="D1D5DB"/>
                </a:solidFill>
                <a:latin typeface="Arial"/>
              </a:rPr>
              <a:t>"add an example to the third point"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habit  </a:t>
            </a:r>
            <a:r>
              <a:rPr sz="1450">
                <a:solidFill>
                  <a:srgbClr val="D1D5DB"/>
                </a:solidFill>
                <a:latin typeface="Arial"/>
              </a:rPr>
              <a:t>specific, corrective follow-ups — one change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Why does "make it better" fail as a follow-up?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Steer to specificity: "better" gives the model nothing to act on. Name the change — shorten, restructure, re-tone, re-format — and the model can comply.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Specific corrective follow-ups are the examinable core of 4.5.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4.6 COMMON PROMPTING 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five faults to diagnose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44805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Fault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Vague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Output wanders off target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State the task explicitly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Overloaded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Too many asks at once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Split into separate prompts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Leading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Prompt suggests the answer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Ask neutrally, let evidence decide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Unformatted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Output structure is random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Request the format explicitly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One-and-done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First output used as final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Iterate with corrective follow-ups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4.6 COMMON PROMPTING 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Fix the weak prompt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91839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Weak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Prompt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"Write something about AI risks for staff"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"As a security awareness trainer, write five bullet-point AI risks for non-technical staff — one line each, no jargon, order by likelihood"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Fault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Vague, no role, no audience, no format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Role, audience, format and constraints all present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4.6 COMMON PROMPTING 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Diagnose before you 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the prompt  </a:t>
            </a:r>
            <a:r>
              <a:rPr sz="1450">
                <a:solidFill>
                  <a:srgbClr val="D1D5DB"/>
                </a:solidFill>
                <a:latin typeface="Arial"/>
              </a:rPr>
              <a:t>which of the five faults is present?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 it  </a:t>
            </a:r>
            <a:r>
              <a:rPr sz="1450">
                <a:solidFill>
                  <a:srgbClr val="D1D5DB"/>
                </a:solidFill>
                <a:latin typeface="Arial"/>
              </a:rPr>
              <a:t>vague, overloaded, leading, unformatted, one-and-done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Fix the cause  </a:t>
            </a:r>
            <a:r>
              <a:rPr sz="1450">
                <a:solidFill>
                  <a:srgbClr val="D1D5DB"/>
                </a:solidFill>
                <a:latin typeface="Arial"/>
              </a:rPr>
              <a:t>one fault, one targeted repair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Re-test  </a:t>
            </a:r>
            <a:r>
              <a:rPr sz="1450">
                <a:solidFill>
                  <a:srgbClr val="D1D5DB"/>
                </a:solidFill>
                <a:latin typeface="Arial"/>
              </a:rPr>
              <a:t>the repaired prompt should behave differently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fix the weak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Prompt: "Tell me about cyber security."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Diagnose the faults (vague, no role, no audience, no format).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Rewrite it with task, context, format and constraints.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Test both versions — compare the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One fault at a time: diagnose, name, repair, re-test.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4 tests (19 questions, 16%)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4.1 Anatomy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Task, context, format, constraints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4.2 Role &amp; Audience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Persona and audience shape register and depth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4.3 Few-shot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Zero-shot vs few-shot; when to use examples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4.4 Structure &amp; Decomposition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Structured output; ordered steps; plans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4.5 Iterative refinement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Draft, then specific corrective follow-ups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4.6 Common faults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Diagnose and fix vague, overloaded, leading, unformatted, one-and-done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Quiz_Session_04.html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4.3.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Four components  </a:t>
            </a:r>
            <a:r>
              <a:rPr sz="1600">
                <a:solidFill>
                  <a:srgbClr val="FFFFFF"/>
                </a:solidFill>
                <a:latin typeface="Arial"/>
              </a:rPr>
              <a:t>task, context, format, constraints — every strong prompt has all four.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Role and audience  </a:t>
            </a:r>
            <a:r>
              <a:rPr sz="1600">
                <a:solidFill>
                  <a:srgbClr val="FFFFFF"/>
                </a:solidFill>
                <a:latin typeface="Arial"/>
              </a:rPr>
              <a:t>persona and reader shape the register and depth.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Examples calibrate  </a:t>
            </a:r>
            <a:r>
              <a:rPr sz="1600">
                <a:solidFill>
                  <a:srgbClr val="FFFFFF"/>
                </a:solidFill>
                <a:latin typeface="Arial"/>
              </a:rPr>
              <a:t>few-shot prompting matches style, format and tone.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Draft, then refine  </a:t>
            </a:r>
            <a:r>
              <a:rPr sz="1600">
                <a:solidFill>
                  <a:srgbClr val="FFFFFF"/>
                </a:solidFill>
                <a:latin typeface="Arial"/>
              </a:rPr>
              <a:t>first output is a draft; follow up with specific corrections.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Name the fault  </a:t>
            </a:r>
            <a:r>
              <a:rPr sz="1600">
                <a:solidFill>
                  <a:srgbClr val="FFFFFF"/>
                </a:solidFill>
                <a:latin typeface="Arial"/>
              </a:rPr>
              <a:t>vague, overloaded, leading, unformatted, one-and-done — then fix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Rebuild five prompts  </a:t>
            </a:r>
            <a:r>
              <a:rPr sz="1450">
                <a:solidFill>
                  <a:srgbClr val="D1D5DB"/>
                </a:solidFill>
                <a:latin typeface="Arial"/>
              </a:rPr>
              <a:t>you use at work, with all four components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refinement  </a:t>
            </a:r>
            <a:r>
              <a:rPr sz="1450">
                <a:solidFill>
                  <a:srgbClr val="D1D5DB"/>
                </a:solidFill>
                <a:latin typeface="Arial"/>
              </a:rPr>
              <a:t>take one output through three corrective rounds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5 — working with AI day to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5 — Working with AI Day to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Applying AI to real professional work, with the judgement and habits that keep it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Drafting, rewriting and directed summarising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Appropriate use by task and stakes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verification habit — and who remains accountable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