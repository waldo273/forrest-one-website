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6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UKAIC AI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Limitations, Risks &amp; Hallucination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Why confident AI output can be wrong — and how to reduce the risk before you act on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19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16%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cyber-acade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session that makes verification non-negotiable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 5  </a:t>
            </a:r>
            <a:r>
              <a:rPr sz="1450">
                <a:solidFill>
                  <a:srgbClr val="D1D5DB"/>
                </a:solidFill>
                <a:latin typeface="Arial"/>
              </a:rPr>
              <a:t>built the verification habit — today we understand why it exists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core fact  </a:t>
            </a:r>
            <a:r>
              <a:rPr sz="1450">
                <a:solidFill>
                  <a:srgbClr val="D1D5DB"/>
                </a:solidFill>
                <a:latin typeface="Arial"/>
              </a:rPr>
              <a:t>fluency is generated, not retrieved, and not verified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stakes  </a:t>
            </a:r>
            <a:r>
              <a:rPr sz="1450">
                <a:solidFill>
                  <a:srgbClr val="D1D5DB"/>
                </a:solidFill>
                <a:latin typeface="Arial"/>
              </a:rPr>
              <a:t>Domain 6 is joint-largest: 19 questions, 16% of the exam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outcome  </a:t>
            </a:r>
            <a:r>
              <a:rPr sz="1450">
                <a:solidFill>
                  <a:srgbClr val="D1D5DB"/>
                </a:solidFill>
                <a:latin typeface="Arial"/>
              </a:rPr>
              <a:t>you will leave able to spot, test and reduce AI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Define hallucination  </a:t>
            </a:r>
            <a:r>
              <a:rPr sz="1450">
                <a:solidFill>
                  <a:srgbClr val="D1D5DB"/>
                </a:solidFill>
                <a:latin typeface="Arial"/>
              </a:rPr>
              <a:t>confident, fluent output that is factually wrong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why it is inherent  </a:t>
            </a:r>
            <a:r>
              <a:rPr sz="1450">
                <a:solidFill>
                  <a:srgbClr val="D1D5DB"/>
                </a:solidFill>
                <a:latin typeface="Arial"/>
              </a:rPr>
              <a:t>not a bug that updates will fix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Identify stale and fabricated content  </a:t>
            </a:r>
            <a:r>
              <a:rPr sz="1450">
                <a:solidFill>
                  <a:srgbClr val="D1D5DB"/>
                </a:solidFill>
                <a:latin typeface="Arial"/>
              </a:rPr>
              <a:t>cut-off dates, invented citations, fake case studies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Check provenance  </a:t>
            </a:r>
            <a:r>
              <a:rPr sz="1450">
                <a:solidFill>
                  <a:srgbClr val="D1D5DB"/>
                </a:solidFill>
                <a:latin typeface="Arial"/>
              </a:rPr>
              <a:t>generated content is not sourced content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Apply risk reduction  </a:t>
            </a:r>
            <a:r>
              <a:rPr sz="1450">
                <a:solidFill>
                  <a:srgbClr val="D1D5DB"/>
                </a:solidFill>
                <a:latin typeface="Arial"/>
              </a:rPr>
              <a:t>grounding, uncertainty flags, primary-source checks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Recognise mandatory verification  </a:t>
            </a:r>
            <a:r>
              <a:rPr sz="1450">
                <a:solidFill>
                  <a:srgbClr val="D1D5DB"/>
                </a:solidFill>
                <a:latin typeface="Arial"/>
              </a:rPr>
              <a:t>legal, medical, financial, safety, people, external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6.1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hallucination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Confident  </a:t>
            </a:r>
            <a:r>
              <a:rPr sz="1450">
                <a:solidFill>
                  <a:srgbClr val="D1D5DB"/>
                </a:solidFill>
                <a:latin typeface="Arial"/>
              </a:rPr>
              <a:t>the model states the claim as fact, with no hesitation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Fluent  </a:t>
            </a:r>
            <a:r>
              <a:rPr sz="1450">
                <a:solidFill>
                  <a:srgbClr val="D1D5DB"/>
                </a:solidFill>
                <a:latin typeface="Arial"/>
              </a:rPr>
              <a:t>the prose is smooth, structured and persuasive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Wrong  </a:t>
            </a:r>
            <a:r>
              <a:rPr sz="1450">
                <a:solidFill>
                  <a:srgbClr val="D1D5DB"/>
                </a:solidFill>
                <a:latin typeface="Arial"/>
              </a:rPr>
              <a:t>the content is factually false or invented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Silent  </a:t>
            </a:r>
            <a:r>
              <a:rPr sz="1450">
                <a:solidFill>
                  <a:srgbClr val="D1D5DB"/>
                </a:solidFill>
                <a:latin typeface="Arial"/>
              </a:rPr>
              <a:t>no signal, no warning, no apology — nothing looks amiss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6.1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Inherent, not a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How text is made  </a:t>
            </a:r>
            <a:r>
              <a:rPr sz="1450">
                <a:solidFill>
                  <a:srgbClr val="D1D5DB"/>
                </a:solidFill>
                <a:latin typeface="Arial"/>
              </a:rPr>
              <a:t>next-token prediction — the most likely continuation, not the verified truth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fact-checker  </a:t>
            </a:r>
            <a:r>
              <a:rPr sz="1450">
                <a:solidFill>
                  <a:srgbClr val="D1D5DB"/>
                </a:solidFill>
                <a:latin typeface="Arial"/>
              </a:rPr>
              <a:t>the model has no mechanism to check its own output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fixable by updates  </a:t>
            </a:r>
            <a:r>
              <a:rPr sz="1450">
                <a:solidFill>
                  <a:srgbClr val="D1D5DB"/>
                </a:solidFill>
                <a:latin typeface="Arial"/>
              </a:rPr>
              <a:t>it is a property of how language models generate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Managed, not cured  </a:t>
            </a:r>
            <a:r>
              <a:rPr sz="1450">
                <a:solidFill>
                  <a:srgbClr val="D1D5DB"/>
                </a:solidFill>
                <a:latin typeface="Arial"/>
              </a:rPr>
              <a:t>you reduce the risk; you cannot eliminate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6.1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research says: it is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69–88%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of legal answers hallucinated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2148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Stanford study on legal queries across leading models — confident, fluent,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7373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47088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28.6%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0428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reference hallucination, GPT-4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61488"/>
            <a:ext cx="2148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Independent study of AI-generated references in systematic reviews; other models scored far worse.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3736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47088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042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built-in fact-checkers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61488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No language model verifies its own output — fluency is not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0" name="Picture 1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Have you ever seen an AI be confidently wrong?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Collect one example each. For every example, name the tell: was it the detail, the confidence, or the formatting that made it convincing?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The point: the error looked exactly like correct output — that is the danger.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6.2 STALE INFORMATION &amp; FABRICATION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knowledge cut-off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Frozen knowledge  </a:t>
            </a:r>
            <a:r>
              <a:rPr sz="1450">
                <a:solidFill>
                  <a:srgbClr val="D1D5DB"/>
                </a:solidFill>
                <a:latin typeface="Arial"/>
              </a:rPr>
              <a:t>the base model knows nothing after its training date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Time-sensitive questions  </a:t>
            </a:r>
            <a:r>
              <a:rPr sz="1450">
                <a:solidFill>
                  <a:srgbClr val="D1D5DB"/>
                </a:solidFill>
                <a:latin typeface="Arial"/>
              </a:rPr>
              <a:t>unreliable from the base model alone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Live search changes the app  </a:t>
            </a:r>
            <a:r>
              <a:rPr sz="1450">
                <a:solidFill>
                  <a:srgbClr val="D1D5DB"/>
                </a:solidFill>
                <a:latin typeface="Arial"/>
              </a:rPr>
              <a:t>some applications add live search — the base model stays frozen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practical test  </a:t>
            </a:r>
            <a:r>
              <a:rPr sz="1450">
                <a:solidFill>
                  <a:srgbClr val="D1D5DB"/>
                </a:solidFill>
                <a:latin typeface="Arial"/>
              </a:rPr>
              <a:t>ask about a recent event and verify the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6.2 STALE INFORMATION &amp; FABRICATION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Fabrication looks authoritative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Statistics  </a:t>
            </a:r>
            <a:r>
              <a:rPr sz="1450">
                <a:solidFill>
                  <a:srgbClr val="D1D5DB"/>
                </a:solidFill>
                <a:latin typeface="Arial"/>
              </a:rPr>
              <a:t>precise numbers with no real survey behind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Citations  </a:t>
            </a:r>
            <a:r>
              <a:rPr sz="1450">
                <a:solidFill>
                  <a:srgbClr val="D1D5DB"/>
                </a:solidFill>
                <a:latin typeface="Arial"/>
              </a:rPr>
              <a:t>papers and references that do not exist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Quotes  </a:t>
            </a:r>
            <a:r>
              <a:rPr sz="1450">
                <a:solidFill>
                  <a:srgbClr val="D1D5DB"/>
                </a:solidFill>
                <a:latin typeface="Arial"/>
              </a:rPr>
              <a:t>attributed to real people who never said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Case studies  </a:t>
            </a:r>
            <a:r>
              <a:rPr sz="1450">
                <a:solidFill>
                  <a:srgbClr val="D1D5DB"/>
                </a:solidFill>
                <a:latin typeface="Arial"/>
              </a:rPr>
              <a:t>detailed stories that never happened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trap  </a:t>
            </a:r>
            <a:r>
              <a:rPr sz="1450">
                <a:solidFill>
                  <a:srgbClr val="D1D5DB"/>
                </a:solidFill>
                <a:latin typeface="Arial"/>
              </a:rPr>
              <a:t>specificity feels like evidence — it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spot the fabrication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Ask an AI for a statistic about a topic you know well.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Ask it to cite a specific paper, with authors and year.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Check both against the primary source.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Report back: how plausible did the fabrication look?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Specificity, formatting and named authors are not proof of existence.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6.3 PROVENANCE &amp; CITATION CHECKING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Generated is not sourced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Provenance  </a:t>
            </a:r>
            <a:r>
              <a:rPr sz="1450">
                <a:solidFill>
                  <a:srgbClr val="D1D5DB"/>
                </a:solidFill>
                <a:latin typeface="Arial"/>
              </a:rPr>
              <a:t>where the content actually came from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Generated content  </a:t>
            </a:r>
            <a:r>
              <a:rPr sz="1450">
                <a:solidFill>
                  <a:srgbClr val="D1D5DB"/>
                </a:solidFill>
                <a:latin typeface="Arial"/>
              </a:rPr>
              <a:t>produced by the model from patterns — no origin to cite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Sourced content  </a:t>
            </a:r>
            <a:r>
              <a:rPr sz="1450">
                <a:solidFill>
                  <a:srgbClr val="D1D5DB"/>
                </a:solidFill>
                <a:latin typeface="Arial"/>
              </a:rPr>
              <a:t>traces back to a real document, study or person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High-risk items  </a:t>
            </a:r>
            <a:r>
              <a:rPr sz="1450">
                <a:solidFill>
                  <a:srgbClr val="D1D5DB"/>
                </a:solidFill>
                <a:latin typeface="Arial"/>
              </a:rPr>
              <a:t>citations, statistics and quotes — confirm at the original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6.3 PROVENANCE &amp; CITATION CHECKING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citation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Isolate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every citation, statistic and quote in the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Locate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original source document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claim against what the source actually says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keep, correct, or discard — never publish unverified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Why is a fake citation more dangerous than a wrong number?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A wrong number is visible as a number; a fake citation looks like evidence, so it can carry a whole decision. Discuss where fabricated references would do the most harm in your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Link to 6.5: in mandatory-verification contexts the damage is amplified.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Two minutes to stand and stretch — next up: the defences.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6.4 REDUCING 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Ground the prompt in real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Supply the material  </a:t>
            </a:r>
            <a:r>
              <a:rPr sz="1450">
                <a:solidFill>
                  <a:srgbClr val="D1D5DB"/>
                </a:solidFill>
                <a:latin typeface="Arial"/>
              </a:rPr>
              <a:t>paste the document, policy or extract into the prompt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Ask for grounded answers  </a:t>
            </a:r>
            <a:r>
              <a:rPr sz="1450">
                <a:solidFill>
                  <a:srgbClr val="D1D5DB"/>
                </a:solidFill>
                <a:latin typeface="Arial"/>
              </a:rPr>
              <a:t>"answer only from the text provided"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works  </a:t>
            </a:r>
            <a:r>
              <a:rPr sz="1450">
                <a:solidFill>
                  <a:srgbClr val="D1D5DB"/>
                </a:solidFill>
                <a:latin typeface="Arial"/>
              </a:rPr>
              <a:t>the model builds the answer from content you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Still verify  </a:t>
            </a:r>
            <a:r>
              <a:rPr sz="1450">
                <a:solidFill>
                  <a:srgbClr val="D1D5DB"/>
                </a:solidFill>
                <a:latin typeface="Arial"/>
              </a:rPr>
              <a:t>grounding reduces error — it does not remove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6.4 REDUCING 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Ask the model to flag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Request confidence  </a:t>
            </a:r>
            <a:r>
              <a:rPr sz="1450">
                <a:solidFill>
                  <a:srgbClr val="D1D5DB"/>
                </a:solidFill>
                <a:latin typeface="Arial"/>
              </a:rPr>
              <a:t>"state how confident you are in each claim"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Mark unsure claims  </a:t>
            </a:r>
            <a:r>
              <a:rPr sz="1450">
                <a:solidFill>
                  <a:srgbClr val="D1D5DB"/>
                </a:solidFill>
                <a:latin typeface="Arial"/>
              </a:rPr>
              <a:t>"label anything you cannot verify as unverified"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Demand sources  </a:t>
            </a:r>
            <a:r>
              <a:rPr sz="1450">
                <a:solidFill>
                  <a:srgbClr val="D1D5DB"/>
                </a:solidFill>
                <a:latin typeface="Arial"/>
              </a:rPr>
              <a:t>"provide the source for every figure"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caveat  </a:t>
            </a:r>
            <a:r>
              <a:rPr sz="1450">
                <a:solidFill>
                  <a:srgbClr val="D1D5DB"/>
                </a:solidFill>
                <a:latin typeface="Arial"/>
              </a:rPr>
              <a:t>the model's self-assessment is a prompt, not a guarantee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6.4 REDUCING 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Cross-check against primary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Primary, not AI  </a:t>
            </a:r>
            <a:r>
              <a:rPr sz="1450">
                <a:solidFill>
                  <a:srgbClr val="D1D5DB"/>
                </a:solidFill>
                <a:latin typeface="Arial"/>
              </a:rPr>
              <a:t>the original document, dataset, or named person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another AI  </a:t>
            </a:r>
            <a:r>
              <a:rPr sz="1450">
                <a:solidFill>
                  <a:srgbClr val="D1D5DB"/>
                </a:solidFill>
                <a:latin typeface="Arial"/>
              </a:rPr>
              <a:t>a second model may share the same error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to check  </a:t>
            </a:r>
            <a:r>
              <a:rPr sz="1450">
                <a:solidFill>
                  <a:srgbClr val="D1D5DB"/>
                </a:solidFill>
                <a:latin typeface="Arial"/>
              </a:rPr>
              <a:t>every fact, figure, name and quote that matters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standard  </a:t>
            </a:r>
            <a:r>
              <a:rPr sz="1450">
                <a:solidFill>
                  <a:srgbClr val="D1D5DB"/>
                </a:solidFill>
                <a:latin typeface="Arial"/>
              </a:rPr>
              <a:t>if it is not confirmed, it is not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6.4 REDUCING 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Keep a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AI proposes, a person decides  </a:t>
            </a:r>
            <a:r>
              <a:rPr sz="1450">
                <a:solidFill>
                  <a:srgbClr val="D1D5DB"/>
                </a:solidFill>
                <a:latin typeface="Arial"/>
              </a:rPr>
              <a:t>the syllabus principle for responsible 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Humans catch what models miss  </a:t>
            </a:r>
            <a:r>
              <a:rPr sz="1450">
                <a:solidFill>
                  <a:srgbClr val="D1D5DB"/>
                </a:solidFill>
                <a:latin typeface="Arial"/>
              </a:rPr>
              <a:t>context, judgement, real-world knowledge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Risk scales with autonomy  </a:t>
            </a:r>
            <a:r>
              <a:rPr sz="1450">
                <a:solidFill>
                  <a:srgbClr val="D1D5DB"/>
                </a:solidFill>
                <a:latin typeface="Arial"/>
              </a:rPr>
              <a:t>the more the system acts alone, the more oversight it needs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Your role  </a:t>
            </a:r>
            <a:r>
              <a:rPr sz="1450">
                <a:solidFill>
                  <a:srgbClr val="D1D5DB"/>
                </a:solidFill>
                <a:latin typeface="Arial"/>
              </a:rPr>
              <a:t>review, verify, decide — and own the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design a safe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Pick a task from your work where you use AI output.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Write the steps that would make it safe: ground, flag, verify, human decision.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Mark which step protects against which risk (hallucination, stale, fabricated).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Share the workflow with your neighbour.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The four defences map to the four risks: grounding, uncertainty flags, primary checks, human oversight.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6.5 MANDATORY-VERIFICATION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Where verification is mandatory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0350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Context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 it is high-risk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Legal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Errors become obligations or liabilities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Medical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Wrong advice can cause direct harm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Financial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Numbers and forecasts drive money decisions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Safety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Failures can injure people or assets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HR / people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Decisions affect careers and livelihoods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Published externally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Your organisation's reputation and legal exposure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6.5 MANDATORY-VERIFICATION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default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Assume verification is required  </a:t>
            </a:r>
            <a:r>
              <a:rPr sz="1450">
                <a:solidFill>
                  <a:srgbClr val="D1D5DB"/>
                </a:solidFill>
                <a:latin typeface="Arial"/>
              </a:rPr>
              <a:t>unless the context is clearly low-stakes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Published externally  </a:t>
            </a:r>
            <a:r>
              <a:rPr sz="1450">
                <a:solidFill>
                  <a:srgbClr val="D1D5DB"/>
                </a:solidFill>
                <a:latin typeface="Arial"/>
              </a:rPr>
              <a:t>anything leaving the organisation counts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When unsure  </a:t>
            </a:r>
            <a:r>
              <a:rPr sz="1450">
                <a:solidFill>
                  <a:srgbClr val="D1D5DB"/>
                </a:solidFill>
                <a:latin typeface="Arial"/>
              </a:rPr>
              <a:t>verify — the cost of checking is small, the cost of error is not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habit from Session 5  </a:t>
            </a:r>
            <a:r>
              <a:rPr sz="1450">
                <a:solidFill>
                  <a:srgbClr val="D1D5DB"/>
                </a:solidFill>
                <a:latin typeface="Arial"/>
              </a:rPr>
              <a:t>list claims, go to source, confirm,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Which mandatory-verification contexts touch your job?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Walk the table: legal, medical, financial, safety, HR, external publication. For each context named, ask what a single hallucinated claim would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Recognition is examinable; connection to real work makes it stick.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Domain 6 tests (19 questions, 16%)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expects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6.1 Hallucination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Definition; inherent, not a bug; no built-in fact-checker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6.2 Stale &amp; Fabrication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Knowledge cut-off; fabricated stats, citations, quotes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6.3 Provenance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Generated ≠ sourced; citation checking at the origin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6.4 Reducing risk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Grounding, uncertainty flags, primary checks, human in the loop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6.5 Mandatory contexts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Legal, medical, financial, safety, HR, external publication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Quiz_Session_06.html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domain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 —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shows the syllabus area it maps to, e.g. Domain 6.4.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Hallucination is inherent  </a:t>
            </a:r>
            <a:r>
              <a:rPr sz="1600">
                <a:solidFill>
                  <a:srgbClr val="FFFFFF"/>
                </a:solidFill>
                <a:latin typeface="Arial"/>
              </a:rPr>
              <a:t>confident, fluent, wrong — with no signal that anything is amiss.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Fluency is not evidence  </a:t>
            </a:r>
            <a:r>
              <a:rPr sz="1600">
                <a:solidFill>
                  <a:srgbClr val="FFFFFF"/>
                </a:solidFill>
                <a:latin typeface="Arial"/>
              </a:rPr>
              <a:t>generated content is not sourced content.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Fabrication looks real  </a:t>
            </a:r>
            <a:r>
              <a:rPr sz="1600">
                <a:solidFill>
                  <a:srgbClr val="FFFFFF"/>
                </a:solidFill>
                <a:latin typeface="Arial"/>
              </a:rPr>
              <a:t>statistics, citations, quotes and case studies can all be invented.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Four defences  </a:t>
            </a:r>
            <a:r>
              <a:rPr sz="1600">
                <a:solidFill>
                  <a:srgbClr val="FFFFFF"/>
                </a:solidFill>
                <a:latin typeface="Arial"/>
              </a:rPr>
              <a:t>ground the prompt, flag uncertainty, check primary sources, keep a human deciding.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Some contexts are non-negotiable  </a:t>
            </a:r>
            <a:r>
              <a:rPr sz="1600">
                <a:solidFill>
                  <a:srgbClr val="FFFFFF"/>
                </a:solidFill>
                <a:latin typeface="Arial"/>
              </a:rPr>
              <a:t>legal, medical, financial, safety, people, external.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Run one fabrication hunt  </a:t>
            </a:r>
            <a:r>
              <a:rPr sz="1450">
                <a:solidFill>
                  <a:srgbClr val="D1D5DB"/>
                </a:solidFill>
                <a:latin typeface="Arial"/>
              </a:rPr>
              <a:t>ask for a citation, then verify it at the source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Map your contexts  </a:t>
            </a:r>
            <a:r>
              <a:rPr sz="1450">
                <a:solidFill>
                  <a:srgbClr val="D1D5DB"/>
                </a:solidFill>
                <a:latin typeface="Arial"/>
              </a:rPr>
              <a:t>list which mandatory-verification contexts touch your 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Domain 7 — AI security, privacy and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7 — AI Security, Privacy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Protecting information and recognising AI-enabled threats at professional-literacy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What must never go into unapproved AI tools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Shadow AI and the 'when in doubt, leave it out' rule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Deepfakes, AI-assisted phishing and 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