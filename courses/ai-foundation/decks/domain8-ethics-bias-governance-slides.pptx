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8 OF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UKAIC AI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Ethics, Bias, Responsible AI &amp;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The final domain: who is accountable, what must be disclosed, and the decision framework for the rest of your career.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DOMAIN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441" y="4224528"/>
            <a:ext cx="1367942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10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7688" y="4224528"/>
            <a:ext cx="1099108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8%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6" name="Picture 15" descr="cyber-acade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THE FINAL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Bringing the course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Eight domains  </a:t>
            </a:r>
            <a:r>
              <a:rPr sz="1450">
                <a:solidFill>
                  <a:srgbClr val="D1D5DB"/>
                </a:solidFill>
                <a:latin typeface="Arial"/>
              </a:rPr>
              <a:t>from what AI is, to how to use it responsibly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Today  </a:t>
            </a:r>
            <a:r>
              <a:rPr sz="1450">
                <a:solidFill>
                  <a:srgbClr val="D1D5DB"/>
                </a:solidFill>
                <a:latin typeface="Arial"/>
              </a:rPr>
              <a:t>ethics, bias, oversight, disclosure and governance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 </a:t>
            </a:r>
            <a:r>
              <a:rPr sz="1450">
                <a:solidFill>
                  <a:srgbClr val="D1D5DB"/>
                </a:solidFill>
                <a:latin typeface="Arial"/>
              </a:rPr>
              <a:t>10 questions — small but distinctive; the framework is the prize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thread  </a:t>
            </a:r>
            <a:r>
              <a:rPr sz="1450">
                <a:solidFill>
                  <a:srgbClr val="D1D5DB"/>
                </a:solidFill>
                <a:latin typeface="Arial"/>
              </a:rPr>
              <a:t>AI can assist while humans remain accountable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Name the sources of bias  </a:t>
            </a:r>
            <a:r>
              <a:rPr sz="1450">
                <a:solidFill>
                  <a:srgbClr val="D1D5DB"/>
                </a:solidFill>
                <a:latin typeface="Arial"/>
              </a:rPr>
              <a:t>training data, design choices, deployment context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accountability  </a:t>
            </a:r>
            <a:r>
              <a:rPr sz="1450">
                <a:solidFill>
                  <a:srgbClr val="D1D5DB"/>
                </a:solidFill>
                <a:latin typeface="Arial"/>
              </a:rPr>
              <a:t>"the AI did it" is not a defence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Justify human oversight  </a:t>
            </a:r>
            <a:r>
              <a:rPr sz="1450">
                <a:solidFill>
                  <a:srgbClr val="D1D5DB"/>
                </a:solidFill>
                <a:latin typeface="Arial"/>
              </a:rPr>
              <a:t>automated decisions raise the risk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Judge when to disclose  </a:t>
            </a:r>
            <a:r>
              <a:rPr sz="1450">
                <a:solidFill>
                  <a:srgbClr val="D1D5DB"/>
                </a:solidFill>
                <a:latin typeface="Arial"/>
              </a:rPr>
              <a:t>required, substantial generation, or misleading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governance  </a:t>
            </a:r>
            <a:r>
              <a:rPr sz="1450">
                <a:solidFill>
                  <a:srgbClr val="D1D5DB"/>
                </a:solidFill>
                <a:latin typeface="Arial"/>
              </a:rPr>
              <a:t>AI policy, oversight, and the risk-based picture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Apply the framework  </a:t>
            </a:r>
            <a:r>
              <a:rPr sz="1450">
                <a:solidFill>
                  <a:srgbClr val="D1D5DB"/>
                </a:solidFill>
                <a:latin typeface="Arial"/>
              </a:rPr>
              <a:t>use / use with verification / escalate / do not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8.1 BIAS &amp; FAIRNESS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Where bias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Training data  </a:t>
            </a:r>
            <a:r>
              <a:rPr sz="1450">
                <a:solidFill>
                  <a:srgbClr val="D1D5DB"/>
                </a:solidFill>
                <a:latin typeface="Arial"/>
              </a:rPr>
              <a:t>the data itself reflects historical patterns and gaps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Design choices  </a:t>
            </a:r>
            <a:r>
              <a:rPr sz="1450">
                <a:solidFill>
                  <a:srgbClr val="D1D5DB"/>
                </a:solidFill>
                <a:latin typeface="Arial"/>
              </a:rPr>
              <a:t>what the model optimises, what is labelled, who is included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Deployment context  </a:t>
            </a:r>
            <a:r>
              <a:rPr sz="1450">
                <a:solidFill>
                  <a:srgbClr val="D1D5DB"/>
                </a:solidFill>
                <a:latin typeface="Arial"/>
              </a:rPr>
              <a:t>how and where the system is used changes its effects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result  </a:t>
            </a:r>
            <a:r>
              <a:rPr sz="1450">
                <a:solidFill>
                  <a:srgbClr val="D1D5DB"/>
                </a:solidFill>
                <a:latin typeface="Arial"/>
              </a:rPr>
              <a:t>systems that treat people differently without justification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8.1 BIAS &amp; FAIRNESS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Real-world impacts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8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91839"/>
                <a:gridCol w="374903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Domain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AI decision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harm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Hiring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CV screening and ranking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Qualified candidates excluded unfairly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Lending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Credit scoring and limits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Groups charged more or denied credit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Content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Moderation and recommendations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Voices suppressed, harmful content amplified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8.1 BIAS &amp; FAIRNESS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Assessment is a duty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People-affecting uses  </a:t>
            </a:r>
            <a:r>
              <a:rPr sz="1450">
                <a:solidFill>
                  <a:srgbClr val="D1D5DB"/>
                </a:solidFill>
                <a:latin typeface="Arial"/>
              </a:rPr>
              <a:t>hiring, lending, promotion, benefits — assess bias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Ask the question  </a:t>
            </a:r>
            <a:r>
              <a:rPr sz="1450">
                <a:solidFill>
                  <a:srgbClr val="D1D5DB"/>
                </a:solidFill>
                <a:latin typeface="Arial"/>
              </a:rPr>
              <a:t>does this system treat everyone fairly?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Evidence over assertion  </a:t>
            </a:r>
            <a:r>
              <a:rPr sz="1450">
                <a:solidFill>
                  <a:srgbClr val="D1D5DB"/>
                </a:solidFill>
                <a:latin typeface="Arial"/>
              </a:rPr>
              <a:t>test with data, monitor outcomes, review regularly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professional stance  </a:t>
            </a:r>
            <a:r>
              <a:rPr sz="1450">
                <a:solidFill>
                  <a:srgbClr val="D1D5DB"/>
                </a:solidFill>
                <a:latin typeface="Arial"/>
              </a:rPr>
              <a:t>bias assessment is part of the job, not an extra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Where have you seen bias in AI output?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Collect examples — from search results to image generators. For each, name the source: data, design, or deployment? What would a fairer version look like?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Recognition precedes assessment: you cannot fix bias you cannot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8.2 TRANSPARENCY, ACCOUNTABILITY &amp;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AI did it — is not a defence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Accountability stays human  </a:t>
            </a:r>
            <a:r>
              <a:rPr sz="1450">
                <a:solidFill>
                  <a:srgbClr val="D1D5DB"/>
                </a:solidFill>
                <a:latin typeface="Arial"/>
              </a:rPr>
              <a:t>the person or organisation behind the use is accountable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 transfer  </a:t>
            </a:r>
            <a:r>
              <a:rPr sz="1450">
                <a:solidFill>
                  <a:srgbClr val="D1D5DB"/>
                </a:solidFill>
                <a:latin typeface="Arial"/>
              </a:rPr>
              <a:t>"the AI decided" does not move responsibility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Decisions need owners  </a:t>
            </a:r>
            <a:r>
              <a:rPr sz="1450">
                <a:solidFill>
                  <a:srgbClr val="D1D5DB"/>
                </a:solidFill>
                <a:latin typeface="Arial"/>
              </a:rPr>
              <a:t>someone answers for every AI-assisted decision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line  </a:t>
            </a:r>
            <a:r>
              <a:rPr sz="1450">
                <a:solidFill>
                  <a:srgbClr val="D1D5DB"/>
                </a:solidFill>
                <a:latin typeface="Arial"/>
              </a:rPr>
              <a:t>the human or organisation remains accountable — always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8.2 TRANSPARENCY, ACCOUNTABILITY &amp;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Transparency and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Transparency  </a:t>
            </a:r>
            <a:r>
              <a:rPr sz="1450">
                <a:solidFill>
                  <a:srgbClr val="D1D5DB"/>
                </a:solidFill>
                <a:latin typeface="Arial"/>
              </a:rPr>
              <a:t>being open about when and how AI is used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Explainability  </a:t>
            </a:r>
            <a:r>
              <a:rPr sz="1450">
                <a:solidFill>
                  <a:srgbClr val="D1D5DB"/>
                </a:solidFill>
                <a:latin typeface="Arial"/>
              </a:rPr>
              <a:t>being able to say why an output or decision happened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Foundation level  </a:t>
            </a:r>
            <a:r>
              <a:rPr sz="1450">
                <a:solidFill>
                  <a:srgbClr val="D1D5DB"/>
                </a:solidFill>
                <a:latin typeface="Arial"/>
              </a:rPr>
              <a:t>know the principles; engineers build the mechanisms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you cannot challenge a decision you cannot explain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who is accountable?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bank uses AI to decline a loan. Who answers to the customer?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An assistant drafts a report containing a defamatory line. Who owns it?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recruiter uses AI shortlisting without review. Where does accountability sit?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what changes when the organisation adds human review?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In every case the answer lands on people: the organisation and its decision-makers.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8.3 HUMAN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Why oversight is necessary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Errors are invisible  </a:t>
            </a:r>
            <a:r>
              <a:rPr sz="1450">
                <a:solidFill>
                  <a:srgbClr val="D1D5DB"/>
                </a:solidFill>
                <a:latin typeface="Arial"/>
              </a:rPr>
              <a:t>hallucination and bias do not announce themselves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Context is human  </a:t>
            </a:r>
            <a:r>
              <a:rPr sz="1450">
                <a:solidFill>
                  <a:srgbClr val="D1D5DB"/>
                </a:solidFill>
                <a:latin typeface="Arial"/>
              </a:rPr>
              <a:t>models lack the real-world knowledge you carry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Automation scales risk  </a:t>
            </a:r>
            <a:r>
              <a:rPr sz="1450">
                <a:solidFill>
                  <a:srgbClr val="D1D5DB"/>
                </a:solidFill>
                <a:latin typeface="Arial"/>
              </a:rPr>
              <a:t>an automated error repeats thousands of times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Oversight catches both  </a:t>
            </a:r>
            <a:r>
              <a:rPr sz="1450">
                <a:solidFill>
                  <a:srgbClr val="D1D5DB"/>
                </a:solidFill>
                <a:latin typeface="Arial"/>
              </a:rPr>
              <a:t>the wrong answer and the wrong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8.3 HUMAN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AI proposes, a person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syllabus principle  </a:t>
            </a:r>
            <a:r>
              <a:rPr sz="1450">
                <a:solidFill>
                  <a:srgbClr val="D1D5DB"/>
                </a:solidFill>
                <a:latin typeface="Arial"/>
              </a:rPr>
              <a:t>AI proposes while a person decides and owns the outcome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More autonomy, more oversight  </a:t>
            </a:r>
            <a:r>
              <a:rPr sz="1450">
                <a:solidFill>
                  <a:srgbClr val="D1D5DB"/>
                </a:solidFill>
                <a:latin typeface="Arial"/>
              </a:rPr>
              <a:t>the more a system acts alone, the more it needs checking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People-affecting decisions  </a:t>
            </a:r>
            <a:r>
              <a:rPr sz="1450">
                <a:solidFill>
                  <a:srgbClr val="D1D5DB"/>
                </a:solidFill>
                <a:latin typeface="Arial"/>
              </a:rPr>
              <a:t>never fully automated without review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Your role  </a:t>
            </a:r>
            <a:r>
              <a:rPr sz="1450">
                <a:solidFill>
                  <a:srgbClr val="D1D5DB"/>
                </a:solidFill>
                <a:latin typeface="Arial"/>
              </a:rPr>
              <a:t>the person in the loop — by design, not by accident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What decisions should never be fully automated?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Collect candidates: hiring, firing, medical triage, sentencing, credit. For each, ask: what would automation scale — efficiency, or harm?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The answer is not a fixed list — it is a judgement about stakes and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Two minutes to stand and stretch — next up: disclosure, governance and the decision framework.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8.4 DISCLOSURE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When to disclose AI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Where required  </a:t>
            </a:r>
            <a:r>
              <a:rPr sz="1450">
                <a:solidFill>
                  <a:srgbClr val="D1D5DB"/>
                </a:solidFill>
                <a:latin typeface="Arial"/>
              </a:rPr>
              <a:t>law, regulation, contract, or organisational policy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Substantial generation  </a:t>
            </a:r>
            <a:r>
              <a:rPr sz="1450">
                <a:solidFill>
                  <a:srgbClr val="D1D5DB"/>
                </a:solidFill>
                <a:latin typeface="Arial"/>
              </a:rPr>
              <a:t>AI produced most of the content — say so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Non-disclosure would mislead  </a:t>
            </a:r>
            <a:r>
              <a:rPr sz="1450">
                <a:solidFill>
                  <a:srgbClr val="D1D5DB"/>
                </a:solidFill>
                <a:latin typeface="Arial"/>
              </a:rPr>
              <a:t>if silence implies a human wrote it, disclose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default  </a:t>
            </a:r>
            <a:r>
              <a:rPr sz="1450">
                <a:solidFill>
                  <a:srgbClr val="D1D5DB"/>
                </a:solidFill>
                <a:latin typeface="Arial"/>
              </a:rPr>
              <a:t>when in doubt about disclosure, disclose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8.4 DISCLOSURE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Disclosure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Light touch  </a:t>
            </a:r>
            <a:r>
              <a:rPr sz="1450">
                <a:solidFill>
                  <a:srgbClr val="D1D5DB"/>
                </a:solidFill>
                <a:latin typeface="Arial"/>
              </a:rPr>
              <a:t>AI-assisted spelling and grammar needs no disclosure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Material use  </a:t>
            </a:r>
            <a:r>
              <a:rPr sz="1450">
                <a:solidFill>
                  <a:srgbClr val="D1D5DB"/>
                </a:solidFill>
                <a:latin typeface="Arial"/>
              </a:rPr>
              <a:t>a report drafted by AI and reviewed by you — disclose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Tone matters  </a:t>
            </a:r>
            <a:r>
              <a:rPr sz="1450">
                <a:solidFill>
                  <a:srgbClr val="D1D5DB"/>
                </a:solidFill>
                <a:latin typeface="Arial"/>
              </a:rPr>
              <a:t>state it plainly: "drafted with AI assistance, reviewed by the author"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Consistency  </a:t>
            </a:r>
            <a:r>
              <a:rPr sz="1450">
                <a:solidFill>
                  <a:srgbClr val="D1D5DB"/>
                </a:solidFill>
                <a:latin typeface="Arial"/>
              </a:rPr>
              <a:t>follow your organisation's policy on labelling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disclose or not?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Spell-checked an email with AI — disclose? (No.)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Drafted a policy document with AI, then rewrote half — disclose? (Yes.)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Generated a customer-facing image — disclose? (Yes.)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Used AI to find synonyms for a sentence — disclose? (No.)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The test: did AI substantially generate the content, and would silence mislead?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8.5 POLICY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Why organisations need an AI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Purpose  </a:t>
            </a:r>
            <a:r>
              <a:rPr sz="1450">
                <a:solidFill>
                  <a:srgbClr val="D1D5DB"/>
                </a:solidFill>
                <a:latin typeface="Arial"/>
              </a:rPr>
              <a:t>rules for safe, consistent, accountable AI use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Oversight  </a:t>
            </a:r>
            <a:r>
              <a:rPr sz="1450">
                <a:solidFill>
                  <a:srgbClr val="D1D5DB"/>
                </a:solidFill>
                <a:latin typeface="Arial"/>
              </a:rPr>
              <a:t>someone is responsible for AI decisions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Accountability  </a:t>
            </a:r>
            <a:r>
              <a:rPr sz="1450">
                <a:solidFill>
                  <a:srgbClr val="D1D5DB"/>
                </a:solidFill>
                <a:latin typeface="Arial"/>
              </a:rPr>
              <a:t>roles are clear when something goes wrong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Review  </a:t>
            </a:r>
            <a:r>
              <a:rPr sz="1450">
                <a:solidFill>
                  <a:srgbClr val="D1D5DB"/>
                </a:solidFill>
                <a:latin typeface="Arial"/>
              </a:rPr>
              <a:t>policies and systems are checked and updated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8.5 POLICY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regulatory picture (awareness)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UK approach  </a:t>
            </a:r>
            <a:r>
              <a:rPr sz="1450">
                <a:solidFill>
                  <a:srgbClr val="D1D5DB"/>
                </a:solidFill>
                <a:latin typeface="Arial"/>
              </a:rPr>
              <a:t>context-based regulation through existing regulators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Five principles  </a:t>
            </a:r>
            <a:r>
              <a:rPr sz="1450">
                <a:solidFill>
                  <a:srgbClr val="D1D5DB"/>
                </a:solidFill>
                <a:latin typeface="Arial"/>
              </a:rPr>
              <a:t>safety, transparency, fairness, accountability, contestability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EU AI Act  </a:t>
            </a:r>
            <a:r>
              <a:rPr sz="1450">
                <a:solidFill>
                  <a:srgbClr val="D1D5DB"/>
                </a:solidFill>
                <a:latin typeface="Arial"/>
              </a:rPr>
              <a:t>a risk-based framework with prohibitions on high-risk uses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trend  </a:t>
            </a:r>
            <a:r>
              <a:rPr sz="1450">
                <a:solidFill>
                  <a:srgbClr val="D1D5DB"/>
                </a:solidFill>
                <a:latin typeface="Arial"/>
              </a:rPr>
              <a:t>governance expectations are rising — awareness is enough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What should an organisational AI policy cover?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Collect ideas: approved tools, data rules, verification, disclosure, escalation, review cycles. Note which items map to the domains you have studied.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A policy is the organisation's translation of this whole course into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8.6 PROFESSIONAL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four-way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low-stakes, appropriate, within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234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Use with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higher stakes — check every claim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4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7176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Escalate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uncertainty or gaps — ask before proceeding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7416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Do not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high-stakes judgement, authority-based, prohibited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4" name="Picture 23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8.6 PROFESSIONAL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Applying the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More cautious when unsure  </a:t>
            </a:r>
            <a:r>
              <a:rPr sz="1450">
                <a:solidFill>
                  <a:srgbClr val="D1D5DB"/>
                </a:solidFill>
                <a:latin typeface="Arial"/>
              </a:rPr>
              <a:t>when the answer is unclear, step down a level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Stakes first  </a:t>
            </a:r>
            <a:r>
              <a:rPr sz="1450">
                <a:solidFill>
                  <a:srgbClr val="D1D5DB"/>
                </a:solidFill>
                <a:latin typeface="Arial"/>
              </a:rPr>
              <a:t>identify the harm before choosing the path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Consistent habit  </a:t>
            </a:r>
            <a:r>
              <a:rPr sz="1450">
                <a:solidFill>
                  <a:srgbClr val="D1D5DB"/>
                </a:solidFill>
                <a:latin typeface="Arial"/>
              </a:rPr>
              <a:t>run the test on every AI use, not just the hard cases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central principle  </a:t>
            </a:r>
            <a:r>
              <a:rPr sz="1450">
                <a:solidFill>
                  <a:srgbClr val="D1D5DB"/>
                </a:solidFill>
                <a:latin typeface="Arial"/>
              </a:rPr>
              <a:t>AI can assist while humans remain accountable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apply the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Drafting a farewell email — use, verify, escalate, or do not use? (Use.)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Writing a medical leaflet — the same question. (Do not use.)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Summarising a contract you cannot fully read — where do you land? (Escalate.)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Share one decision from your work and defend your classification.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When unsure, move down a level — the framework is designed to be conservative.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Domain 8 tests (10 questions, 8%)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expects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8.1 Bias &amp; Fairness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Sources and impacts; assessment duty in people-affecting uses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8.2 Transparency &amp; Accountability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"The AI did it" is not a defence; explainability basics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8.3 Human Oversight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Why oversight is needed; AI proposes, a person decides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8.4 Disclosure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Where required, substantial generation, or misleading not to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8.5 Policy &amp; Governance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Purpose of AI policy; risk-based regulatory picture (awareness)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8.6 Decision Framework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Use / verify / escalate / do not use; cautious when unsure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Quiz_Session_08.html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domain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 —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shows the syllabus area it maps to, e.g. Domain 8.6.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Bias has three sources  </a:t>
            </a:r>
            <a:r>
              <a:rPr sz="1600">
                <a:solidFill>
                  <a:srgbClr val="FFFFFF"/>
                </a:solidFill>
                <a:latin typeface="Arial"/>
              </a:rPr>
              <a:t>training data, design choices, deployment context.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Accountability is human  </a:t>
            </a:r>
            <a:r>
              <a:rPr sz="1600">
                <a:solidFill>
                  <a:srgbClr val="FFFFFF"/>
                </a:solidFill>
                <a:latin typeface="Arial"/>
              </a:rPr>
              <a:t>"the AI did it" is not a defence — ever.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AI proposes, a person decides  </a:t>
            </a:r>
            <a:r>
              <a:rPr sz="1600">
                <a:solidFill>
                  <a:srgbClr val="FFFFFF"/>
                </a:solidFill>
                <a:latin typeface="Arial"/>
              </a:rPr>
              <a:t>oversight is a design requirement, not a courtesy.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Disclose when it matters  </a:t>
            </a:r>
            <a:r>
              <a:rPr sz="1600">
                <a:solidFill>
                  <a:srgbClr val="FFFFFF"/>
                </a:solidFill>
                <a:latin typeface="Arial"/>
              </a:rPr>
              <a:t>required, substantial generation, or silence would mislead.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Use the framework  </a:t>
            </a:r>
            <a:r>
              <a:rPr sz="1600">
                <a:solidFill>
                  <a:srgbClr val="FFFFFF"/>
                </a:solidFill>
                <a:latin typeface="Arial"/>
              </a:rPr>
              <a:t>use / use with verification / escalate / do not use — cautious when unsure.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Your route to the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all eight  </a:t>
            </a:r>
            <a:r>
              <a:rPr sz="1450">
                <a:solidFill>
                  <a:srgbClr val="D1D5DB"/>
                </a:solidFill>
                <a:latin typeface="Arial"/>
              </a:rPr>
              <a:t>revisit every session quiz in the week before the exam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Teach it back  </a:t>
            </a:r>
            <a:r>
              <a:rPr sz="1450">
                <a:solidFill>
                  <a:srgbClr val="D1D5DB"/>
                </a:solidFill>
                <a:latin typeface="Arial"/>
              </a:rPr>
              <a:t>explain the decision framework to a colleague in 60 seconds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Know the exam  </a:t>
            </a:r>
            <a:r>
              <a:rPr sz="1450">
                <a:solidFill>
                  <a:srgbClr val="D1D5DB"/>
                </a:solidFill>
                <a:latin typeface="Arial"/>
              </a:rPr>
              <a:t>120 questions, 70% pass mark, 120 minutes, closed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Exam preparation — the full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Eight domains, one professional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Re-run all session quizzes to 70%+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Use the student notes glossary as a rapid-revision list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120 questions · 70% pass mark · 120 minutes · closed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