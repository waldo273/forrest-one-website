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oc.jpg"/>
          <p:cNvPicPr>
            <a:picLocks noChangeAspect="1"/>
          </p:cNvPicPr>
          <p:nvPr/>
        </p:nvPicPr>
        <p:blipFill>
          <a:blip r:embed="rId2"/>
          <a:stretch>
            <a:fillRect/>
          </a:stretch>
        </p:blipFill>
        <p:spPr>
          <a:xfrm>
            <a:off x="0" y="0"/>
            <a:ext cx="3657600" cy="5143500"/>
          </a:xfrm>
          <a:prstGeom prst="rect">
            <a:avLst/>
          </a:prstGeom>
        </p:spPr>
      </p:pic>
      <p:sp>
        <p:nvSpPr>
          <p:cNvPr id="5" name="Rectangle 4"/>
          <p:cNvSpPr/>
          <p:nvPr/>
        </p:nvSpPr>
        <p:spPr>
          <a:xfrm>
            <a:off x="0" y="0"/>
            <a:ext cx="3657600" cy="5143500"/>
          </a:xfrm>
          <a:prstGeom prst="rect">
            <a:avLst/>
          </a:prstGeom>
          <a:solidFill>
            <a:srgbClr val="000000">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0" y="0"/>
            <a:ext cx="5486400" cy="5143500"/>
          </a:xfrm>
          <a:prstGeom prst="rect">
            <a:avLst/>
          </a:prstGeom>
          <a:solidFill>
            <a:srgbClr val="141414">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77639" y="502920"/>
            <a:ext cx="4114800" cy="274320"/>
          </a:xfrm>
          <a:prstGeom prst="rect">
            <a:avLst/>
          </a:prstGeom>
          <a:noFill/>
        </p:spPr>
        <p:txBody>
          <a:bodyPr wrap="square" anchor="t" lIns="0" rIns="0" tIns="0" bIns="0">
            <a:spAutoFit/>
          </a:bodyPr>
          <a:lstStyle/>
          <a:p>
            <a:pPr algn="l"/>
            <a:r>
              <a:rPr sz="1150" b="1" spc="300">
                <a:solidFill>
                  <a:srgbClr val="9CA3AF"/>
                </a:solidFill>
                <a:latin typeface="Arial"/>
              </a:rPr>
              <a:t>TRAINING @ FORREST.ONE</a:t>
            </a:r>
          </a:p>
        </p:txBody>
      </p:sp>
      <p:sp>
        <p:nvSpPr>
          <p:cNvPr id="8" name="TextBox 7"/>
          <p:cNvSpPr txBox="1"/>
          <p:nvPr/>
        </p:nvSpPr>
        <p:spPr>
          <a:xfrm>
            <a:off x="3977639" y="1234440"/>
            <a:ext cx="4754880" cy="320040"/>
          </a:xfrm>
          <a:prstGeom prst="rect">
            <a:avLst/>
          </a:prstGeom>
          <a:noFill/>
        </p:spPr>
        <p:txBody>
          <a:bodyPr wrap="square" anchor="t" lIns="0" rIns="0" tIns="0" bIns="0">
            <a:spAutoFit/>
          </a:bodyPr>
          <a:lstStyle/>
          <a:p>
            <a:pPr algn="l"/>
            <a:r>
              <a:rPr sz="1350" b="1" spc="300">
                <a:solidFill>
                  <a:srgbClr val="C22828"/>
                </a:solidFill>
                <a:latin typeface="Arial"/>
              </a:rPr>
              <a:t>SESSION 1 OF 12</a:t>
            </a:r>
          </a:p>
        </p:txBody>
      </p:sp>
      <p:sp>
        <p:nvSpPr>
          <p:cNvPr id="9" name="TextBox 8"/>
          <p:cNvSpPr txBox="1"/>
          <p:nvPr/>
        </p:nvSpPr>
        <p:spPr>
          <a:xfrm>
            <a:off x="3977639" y="1627632"/>
            <a:ext cx="4846320" cy="365760"/>
          </a:xfrm>
          <a:prstGeom prst="rect">
            <a:avLst/>
          </a:prstGeom>
          <a:noFill/>
        </p:spPr>
        <p:txBody>
          <a:bodyPr wrap="square" anchor="t" lIns="0" rIns="0" tIns="0" bIns="0">
            <a:spAutoFit/>
          </a:bodyPr>
          <a:lstStyle/>
          <a:p>
            <a:pPr algn="l"/>
            <a:r>
              <a:rPr sz="1400" b="0">
                <a:solidFill>
                  <a:srgbClr val="9CA3AF"/>
                </a:solidFill>
                <a:latin typeface="Arial"/>
              </a:rPr>
              <a:t>Network Fundamentals + CompTIA Security+ SY0-701</a:t>
            </a:r>
          </a:p>
        </p:txBody>
      </p:sp>
      <p:sp>
        <p:nvSpPr>
          <p:cNvPr id="10" name="TextBox 9"/>
          <p:cNvSpPr txBox="1"/>
          <p:nvPr/>
        </p:nvSpPr>
        <p:spPr>
          <a:xfrm>
            <a:off x="3977639" y="2057400"/>
            <a:ext cx="4892040" cy="1463040"/>
          </a:xfrm>
          <a:prstGeom prst="rect">
            <a:avLst/>
          </a:prstGeom>
          <a:noFill/>
        </p:spPr>
        <p:txBody>
          <a:bodyPr wrap="square" anchor="t" lIns="0" rIns="0" tIns="0" bIns="0">
            <a:spAutoFit/>
          </a:bodyPr>
          <a:lstStyle/>
          <a:p>
            <a:pPr algn="l">
              <a:lnSpc>
                <a:spcPct val="104000"/>
              </a:lnSpc>
            </a:pPr>
            <a:r>
              <a:rPr sz="3300" b="1">
                <a:solidFill>
                  <a:srgbClr val="FFFFFF"/>
                </a:solidFill>
                <a:latin typeface="Arial"/>
              </a:rPr>
              <a:t>Network Foundations: Networking Models &amp; IP Addressing</a:t>
            </a:r>
          </a:p>
        </p:txBody>
      </p:sp>
      <p:sp>
        <p:nvSpPr>
          <p:cNvPr id="11" name="TextBox 10"/>
          <p:cNvSpPr txBox="1"/>
          <p:nvPr/>
        </p:nvSpPr>
        <p:spPr>
          <a:xfrm>
            <a:off x="3977639" y="3611880"/>
            <a:ext cx="4846320" cy="502920"/>
          </a:xfrm>
          <a:prstGeom prst="rect">
            <a:avLst/>
          </a:prstGeom>
          <a:noFill/>
        </p:spPr>
        <p:txBody>
          <a:bodyPr wrap="square" anchor="t" lIns="0" rIns="0" tIns="0" bIns="0">
            <a:spAutoFit/>
          </a:bodyPr>
          <a:lstStyle/>
          <a:p>
            <a:pPr algn="l">
              <a:lnSpc>
                <a:spcPct val="110000"/>
              </a:lnSpc>
            </a:pPr>
            <a:r>
              <a:rPr sz="1350" b="0">
                <a:solidFill>
                  <a:srgbClr val="D1D5DB"/>
                </a:solidFill>
                <a:latin typeface="Arial"/>
              </a:rPr>
              <a:t>How data moves across networks, from the signal on the wire to the subnet mask, and why every security control depends on it.</a:t>
            </a:r>
          </a:p>
        </p:txBody>
      </p:sp>
      <p:sp>
        <p:nvSpPr>
          <p:cNvPr id="12" name="Rounded Rectangle 11"/>
          <p:cNvSpPr/>
          <p:nvPr/>
        </p:nvSpPr>
        <p:spPr>
          <a:xfrm>
            <a:off x="3977639" y="4224528"/>
            <a:ext cx="919886" cy="310896"/>
          </a:xfrm>
          <a:prstGeom prst="roundRect">
            <a:avLst>
              <a:gd name="adj" fmla="val 50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1" spc="100">
                <a:solidFill>
                  <a:srgbClr val="FFFFFF"/>
                </a:solidFill>
                <a:latin typeface="Arial"/>
              </a:rPr>
              <a:t>NETWORK</a:t>
            </a:r>
          </a:p>
        </p:txBody>
      </p:sp>
      <p:sp>
        <p:nvSpPr>
          <p:cNvPr id="13" name="Rounded Rectangle 12"/>
          <p:cNvSpPr/>
          <p:nvPr/>
        </p:nvSpPr>
        <p:spPr>
          <a:xfrm>
            <a:off x="5043830" y="4224528"/>
            <a:ext cx="1188720" cy="310896"/>
          </a:xfrm>
          <a:prstGeom prst="roundRect">
            <a:avLst>
              <a:gd name="adj" fmla="val 50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1" spc="100">
                <a:solidFill>
                  <a:srgbClr val="FFFFFF"/>
                </a:solidFill>
                <a:latin typeface="Arial"/>
              </a:rPr>
              <a:t>OSI/TCP-IP</a:t>
            </a:r>
          </a:p>
        </p:txBody>
      </p:sp>
      <p:sp>
        <p:nvSpPr>
          <p:cNvPr id="14" name="Rounded Rectangle 13"/>
          <p:cNvSpPr/>
          <p:nvPr/>
        </p:nvSpPr>
        <p:spPr>
          <a:xfrm>
            <a:off x="6378854" y="4224528"/>
            <a:ext cx="1188720" cy="310896"/>
          </a:xfrm>
          <a:prstGeom prst="roundRect">
            <a:avLst>
              <a:gd name="adj" fmla="val 50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1" spc="100">
                <a:solidFill>
                  <a:srgbClr val="FFFFFF"/>
                </a:solidFill>
                <a:latin typeface="Arial"/>
              </a:rPr>
              <a:t>SUBNETTING</a:t>
            </a:r>
          </a:p>
        </p:txBody>
      </p:sp>
      <p:sp>
        <p:nvSpPr>
          <p:cNvPr id="15" name="TextBox 14"/>
          <p:cNvSpPr txBox="1"/>
          <p:nvPr/>
        </p:nvSpPr>
        <p:spPr>
          <a:xfrm>
            <a:off x="3977639" y="4846320"/>
            <a:ext cx="3657600" cy="201168"/>
          </a:xfrm>
          <a:prstGeom prst="rect">
            <a:avLst/>
          </a:prstGeom>
          <a:noFill/>
        </p:spPr>
        <p:txBody>
          <a:bodyPr wrap="square" anchor="t" lIns="0" rIns="0" tIns="0" bIns="0">
            <a:spAutoFit/>
          </a:bodyPr>
          <a:lstStyle/>
          <a:p>
            <a:pPr algn="l"/>
            <a:r>
              <a:rPr sz="850" b="0">
                <a:solidFill>
                  <a:srgbClr val="6B7280"/>
                </a:solidFill>
                <a:latin typeface="Arial"/>
              </a:rPr>
              <a:t>© Billy Forrest</a:t>
            </a:r>
          </a:p>
        </p:txBody>
      </p:sp>
      <p:pic>
        <p:nvPicPr>
          <p:cNvPr id="16" name="Picture 15" descr="fozzie_fto_logo.png"/>
          <p:cNvPicPr>
            <a:picLocks noChangeAspect="1"/>
          </p:cNvPicPr>
          <p:nvPr/>
        </p:nvPicPr>
        <p:blipFill>
          <a:blip r:embed="rId3"/>
          <a:stretch>
            <a:fillRect/>
          </a:stretch>
        </p:blipFill>
        <p:spPr>
          <a:xfrm>
            <a:off x="8732520" y="4718304"/>
            <a:ext cx="301752" cy="455131"/>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WELCOME · THE JOURNEY</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Twelve sessions, two strands, one goal</a:t>
            </a:r>
          </a:p>
        </p:txBody>
      </p:sp>
      <p:graphicFrame>
        <p:nvGraphicFramePr>
          <p:cNvPr id="6" name="Table 5"/>
          <p:cNvGraphicFramePr>
            <a:graphicFrameLocks noGrp="1"/>
          </p:cNvGraphicFramePr>
          <p:nvPr/>
        </p:nvGraphicFramePr>
        <p:xfrm>
          <a:off x="502920" y="1737360"/>
          <a:ext cx="8138160" cy="1645919"/>
        </p:xfrm>
        <a:graphic>
          <a:graphicData uri="http://schemas.openxmlformats.org/drawingml/2006/table">
            <a:tbl>
              <a:tblPr firstRow="1" bandRow="1">
                <a:tableStyleId>{5C22544A-7EE6-4342-B048-85BDC9FD1C3A}</a:tableStyleId>
              </a:tblPr>
              <a:tblGrid>
                <a:gridCol w="2194560"/>
                <a:gridCol w="1280160"/>
                <a:gridCol w="4663440"/>
              </a:tblGrid>
              <a:tr h="329183">
                <a:tc>
                  <a:txBody>
                    <a:bodyPr/>
                    <a:lstStyle/>
                    <a:p>
                      <a:pPr algn="l"/>
                      <a:r>
                        <a:rPr sz="1100" b="1">
                          <a:solidFill>
                            <a:srgbClr val="FFFFFF"/>
                          </a:solidFill>
                          <a:latin typeface="Arial"/>
                        </a:rPr>
                        <a:t>Strand</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Sessions</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Focus</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3">
                <a:tc>
                  <a:txBody>
                    <a:bodyPr/>
                    <a:lstStyle/>
                    <a:p>
                      <a:pPr algn="l"/>
                      <a:r>
                        <a:rPr sz="1100" b="0">
                          <a:solidFill>
                            <a:srgbClr val="D1D5DB"/>
                          </a:solidFill>
                          <a:latin typeface="Arial"/>
                        </a:rPr>
                        <a:t>Network foundation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1–3</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Models, addressing, switching, services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3">
                <a:tc>
                  <a:txBody>
                    <a:bodyPr/>
                    <a:lstStyle/>
                    <a:p>
                      <a:pPr algn="l"/>
                      <a:r>
                        <a:rPr sz="1100" b="0">
                          <a:solidFill>
                            <a:srgbClr val="D1D5DB"/>
                          </a:solidFill>
                          <a:latin typeface="Arial"/>
                        </a:rPr>
                        <a:t>Security+ core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4–7</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Concepts, threats, crypto, IAM</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3">
                <a:tc>
                  <a:txBody>
                    <a:bodyPr/>
                    <a:lstStyle/>
                    <a:p>
                      <a:pPr algn="l"/>
                      <a:r>
                        <a:rPr sz="1100" b="0">
                          <a:solidFill>
                            <a:srgbClr val="D1D5DB"/>
                          </a:solidFill>
                          <a:latin typeface="Arial"/>
                        </a:rPr>
                        <a:t>Security architecture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8–9</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Network, endpoint, application, cloud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7">
                <a:tc>
                  <a:txBody>
                    <a:bodyPr/>
                    <a:lstStyle/>
                    <a:p>
                      <a:pPr algn="l"/>
                      <a:r>
                        <a:rPr sz="1100" b="0">
                          <a:solidFill>
                            <a:srgbClr val="D1D5DB"/>
                          </a:solidFill>
                          <a:latin typeface="Arial"/>
                        </a:rPr>
                        <a:t>Operations &amp; governance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10–12</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Vuln mgmt, IR, GRC</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bl>
          </a:graphicData>
        </a:graphic>
      </p:graphicFrame>
      <p:sp>
        <p:nvSpPr>
          <p:cNvPr id="7" name="Rounded Rectangle 6"/>
          <p:cNvSpPr/>
          <p:nvPr/>
        </p:nvSpPr>
        <p:spPr>
          <a:xfrm>
            <a:off x="502920" y="3429000"/>
            <a:ext cx="8138160" cy="114300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Why networks first, and how today is built</a:t>
            </a:r>
          </a:p>
        </p:txBody>
      </p:sp>
      <p:sp>
        <p:nvSpPr>
          <p:cNvPr id="8" name="TextBox 7"/>
          <p:cNvSpPr txBox="1"/>
          <p:nvPr/>
        </p:nvSpPr>
        <p:spPr>
          <a:xfrm>
            <a:off x="731520" y="3995928"/>
            <a:ext cx="7680960" cy="521207"/>
          </a:xfrm>
          <a:prstGeom prst="rect">
            <a:avLst/>
          </a:prstGeom>
          <a:noFill/>
        </p:spPr>
        <p:txBody>
          <a:bodyPr wrap="square" lIns="0" rIns="0" tIns="0" bIns="0">
            <a:spAutoFit/>
          </a:bodyPr>
          <a:lstStyle/>
          <a:p>
            <a:pPr>
              <a:lnSpc>
                <a:spcPct val="108000"/>
              </a:lnSpc>
            </a:pPr>
            <a:r>
              <a:rPr sz="1250">
                <a:solidFill>
                  <a:srgbClr val="F3D9D9"/>
                </a:solidFill>
                <a:latin typeface="Arial"/>
              </a:rPr>
              <a:t>Six chapters: the language of networks, the OSI model, physical and data link, network and transport, media and topologies, then IPv4 addressing and subnetting. Every firewall rule and IDS signature speaks this language, and every attack travels over it.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SESSION OBJECTIVES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By the end of this session you will be able to</a:t>
            </a:r>
          </a:p>
        </p:txBody>
      </p:sp>
      <p:sp>
        <p:nvSpPr>
          <p:cNvPr id="6" name="TextBox 5"/>
          <p:cNvSpPr txBox="1"/>
          <p:nvPr/>
        </p:nvSpPr>
        <p:spPr>
          <a:xfrm>
            <a:off x="502920" y="1691640"/>
            <a:ext cx="393192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200" b="1">
                <a:solidFill>
                  <a:srgbClr val="FFFFFF"/>
                </a:solidFill>
                <a:latin typeface="Arial"/>
              </a:rPr>
              <a:t>Seven OSI layers  </a:t>
            </a:r>
            <a:r>
              <a:rPr sz="1200">
                <a:solidFill>
                  <a:srgbClr val="D1D5DB"/>
                </a:solidFill>
                <a:latin typeface="Arial"/>
              </a:rPr>
              <a:t>name each and its job</a:t>
            </a:r>
          </a:p>
          <a:p>
            <a:pPr marL="182880" indent="137160">
              <a:lnSpc>
                <a:spcPct val="108000"/>
              </a:lnSpc>
              <a:spcAft>
                <a:spcPts val="1152"/>
              </a:spcAft>
              <a:buFont typeface="Arial"/>
              <a:buChar char="•"/>
            </a:pPr>
            <a:r>
              <a:rPr sz="1200" b="1">
                <a:solidFill>
                  <a:srgbClr val="FFFFFF"/>
                </a:solidFill>
                <a:latin typeface="Arial"/>
              </a:rPr>
              <a:t>Encapsulation  </a:t>
            </a:r>
            <a:r>
              <a:rPr sz="1200">
                <a:solidFill>
                  <a:srgbClr val="D1D5DB"/>
                </a:solidFill>
                <a:latin typeface="Arial"/>
              </a:rPr>
              <a:t>a header at every layer</a:t>
            </a:r>
          </a:p>
          <a:p>
            <a:pPr marL="182880" indent="137160">
              <a:lnSpc>
                <a:spcPct val="108000"/>
              </a:lnSpc>
              <a:spcAft>
                <a:spcPts val="1152"/>
              </a:spcAft>
              <a:buFont typeface="Arial"/>
              <a:buChar char="•"/>
            </a:pPr>
            <a:r>
              <a:rPr sz="1200" b="1">
                <a:solidFill>
                  <a:srgbClr val="FFFFFF"/>
                </a:solidFill>
                <a:latin typeface="Arial"/>
              </a:rPr>
              <a:t>Physical layer  </a:t>
            </a:r>
            <a:r>
              <a:rPr sz="1200">
                <a:solidFill>
                  <a:srgbClr val="D1D5DB"/>
                </a:solidFill>
                <a:latin typeface="Arial"/>
              </a:rPr>
              <a:t>signals and media</a:t>
            </a:r>
          </a:p>
          <a:p>
            <a:pPr marL="182880" indent="137160">
              <a:lnSpc>
                <a:spcPct val="108000"/>
              </a:lnSpc>
              <a:spcAft>
                <a:spcPts val="1152"/>
              </a:spcAft>
              <a:buFont typeface="Arial"/>
              <a:buChar char="•"/>
            </a:pPr>
            <a:r>
              <a:rPr sz="1200" b="1">
                <a:solidFill>
                  <a:srgbClr val="FFFFFF"/>
                </a:solidFill>
                <a:latin typeface="Arial"/>
              </a:rPr>
              <a:t>MAC addressing  </a:t>
            </a:r>
            <a:r>
              <a:rPr sz="1200">
                <a:solidFill>
                  <a:srgbClr val="D1D5DB"/>
                </a:solidFill>
                <a:latin typeface="Arial"/>
              </a:rPr>
              <a:t>48-bit hardware addresses</a:t>
            </a:r>
          </a:p>
          <a:p>
            <a:pPr marL="182880" indent="137160">
              <a:lnSpc>
                <a:spcPct val="108000"/>
              </a:lnSpc>
              <a:spcAft>
                <a:spcPts val="1152"/>
              </a:spcAft>
              <a:buFont typeface="Arial"/>
              <a:buChar char="•"/>
            </a:pPr>
            <a:r>
              <a:rPr sz="1200" b="1">
                <a:solidFill>
                  <a:srgbClr val="FFFFFF"/>
                </a:solidFill>
                <a:latin typeface="Arial"/>
              </a:rPr>
              <a:t>TCP against UDP  </a:t>
            </a:r>
            <a:r>
              <a:rPr sz="1200">
                <a:solidFill>
                  <a:srgbClr val="D1D5DB"/>
                </a:solidFill>
                <a:latin typeface="Arial"/>
              </a:rPr>
              <a:t>reliability or speed</a:t>
            </a:r>
          </a:p>
        </p:txBody>
      </p:sp>
      <p:sp>
        <p:nvSpPr>
          <p:cNvPr id="7" name="TextBox 6"/>
          <p:cNvSpPr txBox="1"/>
          <p:nvPr/>
        </p:nvSpPr>
        <p:spPr>
          <a:xfrm>
            <a:off x="4800600" y="1691640"/>
            <a:ext cx="393192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200" b="1">
                <a:solidFill>
                  <a:srgbClr val="FFFFFF"/>
                </a:solidFill>
                <a:latin typeface="Arial"/>
              </a:rPr>
              <a:t>Upper layers  </a:t>
            </a:r>
            <a:r>
              <a:rPr sz="1200">
                <a:solidFill>
                  <a:srgbClr val="D1D5DB"/>
                </a:solidFill>
                <a:latin typeface="Arial"/>
              </a:rPr>
              <a:t>session, presentation, app</a:t>
            </a:r>
          </a:p>
          <a:p>
            <a:pPr marL="182880" indent="137160">
              <a:lnSpc>
                <a:spcPct val="108000"/>
              </a:lnSpc>
              <a:spcAft>
                <a:spcPts val="1152"/>
              </a:spcAft>
              <a:buFont typeface="Arial"/>
              <a:buChar char="•"/>
            </a:pPr>
            <a:r>
              <a:rPr sz="1200" b="1">
                <a:solidFill>
                  <a:srgbClr val="FFFFFF"/>
                </a:solidFill>
                <a:latin typeface="Arial"/>
              </a:rPr>
              <a:t>Wired and wireless  </a:t>
            </a:r>
            <a:r>
              <a:rPr sz="1200">
                <a:solidFill>
                  <a:srgbClr val="D1D5DB"/>
                </a:solidFill>
                <a:latin typeface="Arial"/>
              </a:rPr>
              <a:t>choose suitable media</a:t>
            </a:r>
          </a:p>
          <a:p>
            <a:pPr marL="182880" indent="137160">
              <a:lnSpc>
                <a:spcPct val="108000"/>
              </a:lnSpc>
              <a:spcAft>
                <a:spcPts val="1152"/>
              </a:spcAft>
              <a:buFont typeface="Arial"/>
              <a:buChar char="•"/>
            </a:pPr>
            <a:r>
              <a:rPr sz="1200" b="1">
                <a:solidFill>
                  <a:srgbClr val="FFFFFF"/>
                </a:solidFill>
                <a:latin typeface="Arial"/>
              </a:rPr>
              <a:t>Topologies  </a:t>
            </a:r>
            <a:r>
              <a:rPr sz="1200">
                <a:solidFill>
                  <a:srgbClr val="D1D5DB"/>
                </a:solidFill>
                <a:latin typeface="Arial"/>
              </a:rPr>
              <a:t>star against mesh</a:t>
            </a:r>
          </a:p>
          <a:p>
            <a:pPr marL="182880" indent="137160">
              <a:lnSpc>
                <a:spcPct val="108000"/>
              </a:lnSpc>
              <a:spcAft>
                <a:spcPts val="1152"/>
              </a:spcAft>
              <a:buFont typeface="Arial"/>
              <a:buChar char="•"/>
            </a:pPr>
            <a:r>
              <a:rPr sz="1200" b="1">
                <a:solidFill>
                  <a:srgbClr val="FFFFFF"/>
                </a:solidFill>
                <a:latin typeface="Arial"/>
              </a:rPr>
              <a:t>An IPv4 mask  </a:t>
            </a:r>
            <a:r>
              <a:rPr sz="1200">
                <a:solidFill>
                  <a:srgbClr val="D1D5DB"/>
                </a:solidFill>
                <a:latin typeface="Arial"/>
              </a:rPr>
              <a:t>network against host</a:t>
            </a:r>
          </a:p>
          <a:p>
            <a:pPr marL="182880" indent="137160">
              <a:lnSpc>
                <a:spcPct val="108000"/>
              </a:lnSpc>
              <a:spcAft>
                <a:spcPts val="1152"/>
              </a:spcAft>
              <a:buFont typeface="Arial"/>
              <a:buChar char="•"/>
            </a:pPr>
            <a:r>
              <a:rPr sz="1200" b="1">
                <a:solidFill>
                  <a:srgbClr val="FFFFFF"/>
                </a:solidFill>
                <a:latin typeface="Arial"/>
              </a:rPr>
              <a:t>Subnets  </a:t>
            </a:r>
            <a:r>
              <a:rPr sz="1200">
                <a:solidFill>
                  <a:srgbClr val="D1D5DB"/>
                </a:solidFill>
                <a:latin typeface="Arial"/>
              </a:rPr>
              <a:t>classless prefixes</a:t>
            </a:r>
          </a:p>
        </p:txBody>
      </p:sp>
      <p:sp>
        <p:nvSpPr>
          <p:cNvPr id="8" name="Rounded Rectangle 7"/>
          <p:cNvSpPr/>
          <p:nvPr/>
        </p:nvSpPr>
        <p:spPr>
          <a:xfrm>
            <a:off x="502920" y="3520440"/>
            <a:ext cx="8138160" cy="62179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Ten objectives, one quiz</a:t>
            </a:r>
          </a:p>
        </p:txBody>
      </p:sp>
      <p:sp>
        <p:nvSpPr>
          <p:cNvPr id="9" name="TextBox 8"/>
          <p:cNvSpPr txBox="1"/>
          <p:nvPr/>
        </p:nvSpPr>
        <p:spPr>
          <a:xfrm>
            <a:off x="731520" y="4087368"/>
            <a:ext cx="7680960" cy="0"/>
          </a:xfrm>
          <a:prstGeom prst="rect">
            <a:avLst/>
          </a:prstGeom>
          <a:noFill/>
        </p:spPr>
        <p:txBody>
          <a:bodyPr wrap="square" lIns="0" rIns="0" tIns="0" bIns="0">
            <a:spAutoFit/>
          </a:bodyPr>
          <a:lstStyle/>
          <a:p>
            <a:pPr>
              <a:lnSpc>
                <a:spcPct val="108000"/>
              </a:lnSpc>
            </a:pPr>
            <a:r>
              <a:rPr sz="1250">
                <a:solidFill>
                  <a:srgbClr val="F3D9D9"/>
                </a:solidFill>
                <a:latin typeface="Arial"/>
              </a:rPr>
              <a:t>The session quiz at the end of these three hours tests every objective on this slide.</a:t>
            </a:r>
          </a:p>
        </p:txBody>
      </p:sp>
      <p:sp>
        <p:nvSpPr>
          <p:cNvPr id="10" name="TextBox 9"/>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1" name="TextBox 10"/>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2" name="Picture 11"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3" name="TextBox 12"/>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1 · THE LANGUAGE OF NETWORKS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Why layers matter at all</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250" b="1">
                <a:solidFill>
                  <a:srgbClr val="FFFFFF"/>
                </a:solidFill>
                <a:latin typeface="Arial"/>
              </a:rPr>
              <a:t>Troubleshooting without structure  </a:t>
            </a:r>
            <a:r>
              <a:rPr sz="1250">
                <a:solidFill>
                  <a:srgbClr val="D1D5DB"/>
                </a:solidFill>
                <a:latin typeface="Arial"/>
              </a:rPr>
              <a:t>a user cannot reach a website, and you have no idea whether the fault is the cable, the switch, the route or the server</a:t>
            </a:r>
          </a:p>
          <a:p>
            <a:pPr marL="182880" indent="137160">
              <a:lnSpc>
                <a:spcPct val="108000"/>
              </a:lnSpc>
              <a:spcAft>
                <a:spcPts val="1152"/>
              </a:spcAft>
              <a:buFont typeface="Arial"/>
              <a:buChar char="•"/>
            </a:pPr>
            <a:r>
              <a:rPr sz="1250" b="1">
                <a:solidFill>
                  <a:srgbClr val="FFFFFF"/>
                </a:solidFill>
                <a:latin typeface="Arial"/>
              </a:rPr>
              <a:t>Seven layers, one job each  </a:t>
            </a:r>
            <a:r>
              <a:rPr sz="1250">
                <a:solidFill>
                  <a:srgbClr val="D1D5DB"/>
                </a:solidFill>
                <a:latin typeface="Arial"/>
              </a:rPr>
              <a:t>every fault becomes findable because you can test the layers one at a time</a:t>
            </a:r>
          </a:p>
          <a:p>
            <a:pPr marL="182880" indent="137160">
              <a:lnSpc>
                <a:spcPct val="108000"/>
              </a:lnSpc>
              <a:spcAft>
                <a:spcPts val="1152"/>
              </a:spcAft>
              <a:buFont typeface="Arial"/>
              <a:buChar char="•"/>
            </a:pPr>
            <a:r>
              <a:rPr sz="1250" b="1">
                <a:solidFill>
                  <a:srgbClr val="FFFFFF"/>
                </a:solidFill>
                <a:latin typeface="Arial"/>
              </a:rPr>
              <a:t>Eliminate as you go  </a:t>
            </a:r>
            <a:r>
              <a:rPr sz="1250">
                <a:solidFill>
                  <a:srgbClr val="D1D5DB"/>
                </a:solidFill>
                <a:latin typeface="Arial"/>
              </a:rPr>
              <a:t>test each layer in turn and rule it out</a:t>
            </a:r>
          </a:p>
          <a:p>
            <a:pPr marL="182880" indent="137160">
              <a:lnSpc>
                <a:spcPct val="108000"/>
              </a:lnSpc>
              <a:spcAft>
                <a:spcPts val="1152"/>
              </a:spcAft>
              <a:buFont typeface="Arial"/>
              <a:buChar char="•"/>
            </a:pPr>
            <a:r>
              <a:rPr sz="1250" b="1">
                <a:solidFill>
                  <a:srgbClr val="FFFFFF"/>
                </a:solidFill>
                <a:latin typeface="Arial"/>
              </a:rPr>
              <a:t>A map, not a product  </a:t>
            </a:r>
            <a:r>
              <a:rPr sz="1250">
                <a:solidFill>
                  <a:srgbClr val="D1D5DB"/>
                </a:solidFill>
                <a:latin typeface="Arial"/>
              </a:rPr>
              <a:t>nobody sells you a layer five; the value is in the thinking</a:t>
            </a:r>
          </a:p>
        </p:txBody>
      </p:sp>
      <p:sp>
        <p:nvSpPr>
          <p:cNvPr id="7" name="Rounded Rectangle 6"/>
          <p:cNvSpPr/>
          <p:nvPr/>
        </p:nvSpPr>
        <p:spPr>
          <a:xfrm>
            <a:off x="502920" y="3483864"/>
            <a:ext cx="8138160" cy="740664"/>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The whole value of the model</a:t>
            </a:r>
          </a:p>
        </p:txBody>
      </p:sp>
      <p:sp>
        <p:nvSpPr>
          <p:cNvPr id="8" name="TextBox 7"/>
          <p:cNvSpPr txBox="1"/>
          <p:nvPr/>
        </p:nvSpPr>
        <p:spPr>
          <a:xfrm>
            <a:off x="731520" y="4050791"/>
            <a:ext cx="7680960" cy="118872"/>
          </a:xfrm>
          <a:prstGeom prst="rect">
            <a:avLst/>
          </a:prstGeom>
          <a:noFill/>
        </p:spPr>
        <p:txBody>
          <a:bodyPr wrap="square" lIns="0" rIns="0" tIns="0" bIns="0">
            <a:spAutoFit/>
          </a:bodyPr>
          <a:lstStyle/>
          <a:p>
            <a:pPr>
              <a:lnSpc>
                <a:spcPct val="108000"/>
              </a:lnSpc>
            </a:pPr>
            <a:r>
              <a:rPr sz="1250">
                <a:solidFill>
                  <a:srgbClr val="F3D9D9"/>
                </a:solidFill>
                <a:latin typeface="Arial"/>
              </a:rPr>
              <a:t>Split one impossible problem into seven small ones, and troubleshooting stops being guesswork.</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2 · THE OSI MODEL</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The seven layers</a:t>
            </a:r>
          </a:p>
        </p:txBody>
      </p:sp>
      <p:graphicFrame>
        <p:nvGraphicFramePr>
          <p:cNvPr id="6" name="Table 5"/>
          <p:cNvGraphicFramePr>
            <a:graphicFrameLocks noGrp="1"/>
          </p:cNvGraphicFramePr>
          <p:nvPr/>
        </p:nvGraphicFramePr>
        <p:xfrm>
          <a:off x="502920" y="1737360"/>
          <a:ext cx="8138160" cy="2633472"/>
        </p:xfrm>
        <a:graphic>
          <a:graphicData uri="http://schemas.openxmlformats.org/drawingml/2006/table">
            <a:tbl>
              <a:tblPr firstRow="1" bandRow="1">
                <a:tableStyleId>{5C22544A-7EE6-4342-B048-85BDC9FD1C3A}</a:tableStyleId>
              </a:tblPr>
              <a:tblGrid>
                <a:gridCol w="640080"/>
                <a:gridCol w="1828800"/>
                <a:gridCol w="5669280"/>
              </a:tblGrid>
              <a:tr h="329184">
                <a:tc>
                  <a:txBody>
                    <a:bodyPr/>
                    <a:lstStyle/>
                    <a:p>
                      <a:pPr algn="l"/>
                      <a:r>
                        <a:rPr sz="1100" b="1">
                          <a:solidFill>
                            <a:srgbClr val="FFFFFF"/>
                          </a:solidFill>
                          <a:latin typeface="Arial"/>
                        </a:rPr>
                        <a:t>Layer</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Name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Role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4">
                <a:tc>
                  <a:txBody>
                    <a:bodyPr/>
                    <a:lstStyle/>
                    <a:p>
                      <a:pPr algn="l"/>
                      <a:r>
                        <a:rPr sz="1100" b="0">
                          <a:solidFill>
                            <a:srgbClr val="D1D5DB"/>
                          </a:solidFill>
                          <a:latin typeface="Arial"/>
                        </a:rPr>
                        <a:t>7</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Application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The services users touch, such as web and email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6</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Presentation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Encoding, compression and encryption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5</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Session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Opens, manages and closes conversations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4</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Transport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Delivers end to end, uses port numbers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3</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Network</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Logical addressing and routing</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2</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Data Link</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Delivers frames on a local segment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1</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Physical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Bits on the wire, light in fibre, radio waves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bl>
          </a:graphicData>
        </a:graphic>
      </p:graphicFrame>
      <p:sp>
        <p:nvSpPr>
          <p:cNvPr id="7" name="TextBox 6"/>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8" name="TextBox 7"/>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9" name="Picture 8"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0" name="TextBox 9"/>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2 · THE OSI MODEL</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The journey of a message</a:t>
            </a:r>
          </a:p>
        </p:txBody>
      </p:sp>
      <p:graphicFrame>
        <p:nvGraphicFramePr>
          <p:cNvPr id="6" name="Table 5"/>
          <p:cNvGraphicFramePr>
            <a:graphicFrameLocks noGrp="1"/>
          </p:cNvGraphicFramePr>
          <p:nvPr/>
        </p:nvGraphicFramePr>
        <p:xfrm>
          <a:off x="502920" y="1737360"/>
          <a:ext cx="8138160" cy="1975104"/>
        </p:xfrm>
        <a:graphic>
          <a:graphicData uri="http://schemas.openxmlformats.org/drawingml/2006/table">
            <a:tbl>
              <a:tblPr firstRow="1" bandRow="1">
                <a:tableStyleId>{5C22544A-7EE6-4342-B048-85BDC9FD1C3A}</a:tableStyleId>
              </a:tblPr>
              <a:tblGrid>
                <a:gridCol w="2651760"/>
                <a:gridCol w="3200400"/>
                <a:gridCol w="2286000"/>
              </a:tblGrid>
              <a:tr h="329184">
                <a:tc>
                  <a:txBody>
                    <a:bodyPr/>
                    <a:lstStyle/>
                    <a:p>
                      <a:pPr algn="l"/>
                      <a:r>
                        <a:rPr sz="1100" b="1">
                          <a:solidFill>
                            <a:srgbClr val="FFFFFF"/>
                          </a:solidFill>
                          <a:latin typeface="Arial"/>
                        </a:rPr>
                        <a:t>Layer</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What it adds</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Address used</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4">
                <a:tc>
                  <a:txBody>
                    <a:bodyPr/>
                    <a:lstStyle/>
                    <a:p>
                      <a:pPr algn="l"/>
                      <a:r>
                        <a:rPr sz="1100" b="0">
                          <a:solidFill>
                            <a:srgbClr val="D1D5DB"/>
                          </a:solidFill>
                          <a:latin typeface="Arial"/>
                        </a:rPr>
                        <a:t>7 to 5 · Application to Session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The data itself</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None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4 · Transport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Segmentation and ports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Port number</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3 · Network</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Logical addressing</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IP address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2 · Data Link</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Local delivery</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Hardware address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1 · Physical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Signals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None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bl>
          </a:graphicData>
        </a:graphic>
      </p:graphicFrame>
      <p:sp>
        <p:nvSpPr>
          <p:cNvPr id="7" name="Rounded Rectangle 6"/>
          <p:cNvSpPr/>
          <p:nvPr/>
        </p:nvSpPr>
        <p:spPr>
          <a:xfrm>
            <a:off x="502920" y="3721608"/>
            <a:ext cx="8138160" cy="740664"/>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The receiver reverses the process</a:t>
            </a:r>
          </a:p>
        </p:txBody>
      </p:sp>
      <p:sp>
        <p:nvSpPr>
          <p:cNvPr id="8" name="TextBox 7"/>
          <p:cNvSpPr txBox="1"/>
          <p:nvPr/>
        </p:nvSpPr>
        <p:spPr>
          <a:xfrm>
            <a:off x="731520" y="4288536"/>
            <a:ext cx="7680960" cy="118872"/>
          </a:xfrm>
          <a:prstGeom prst="rect">
            <a:avLst/>
          </a:prstGeom>
          <a:noFill/>
        </p:spPr>
        <p:txBody>
          <a:bodyPr wrap="square" lIns="0" rIns="0" tIns="0" bIns="0">
            <a:spAutoFit/>
          </a:bodyPr>
          <a:lstStyle/>
          <a:p>
            <a:pPr>
              <a:lnSpc>
                <a:spcPct val="108000"/>
              </a:lnSpc>
            </a:pPr>
            <a:r>
              <a:rPr sz="1250">
                <a:solidFill>
                  <a:srgbClr val="F3D9D9"/>
                </a:solidFill>
                <a:latin typeface="Arial"/>
              </a:rPr>
              <a:t>Each layer peels one header off on the way up, until the application has the data it asked for.</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2 · THE OSI MODEL</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Encapsulation: same data, different name</a:t>
            </a:r>
          </a:p>
        </p:txBody>
      </p:sp>
      <p:sp>
        <p:nvSpPr>
          <p:cNvPr id="6" name="Rounded Rectangle 5"/>
          <p:cNvSpPr/>
          <p:nvPr/>
        </p:nvSpPr>
        <p:spPr>
          <a:xfrm>
            <a:off x="502920" y="1691640"/>
            <a:ext cx="1466697" cy="1371600"/>
          </a:xfrm>
          <a:prstGeom prst="roundRect">
            <a:avLst>
              <a:gd name="adj" fmla="val 8000"/>
            </a:avLst>
          </a:prstGeom>
          <a:solidFill>
            <a:srgbClr val="1C1C1C"/>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67512" y="1856232"/>
            <a:ext cx="384048" cy="384048"/>
          </a:xfrm>
          <a:prstGeom prst="ellipse">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Arial"/>
              </a:rPr>
              <a:t>1</a:t>
            </a:r>
          </a:p>
        </p:txBody>
      </p:sp>
      <p:sp>
        <p:nvSpPr>
          <p:cNvPr id="8" name="TextBox 7"/>
          <p:cNvSpPr txBox="1"/>
          <p:nvPr/>
        </p:nvSpPr>
        <p:spPr>
          <a:xfrm>
            <a:off x="612648" y="2331720"/>
            <a:ext cx="1247241" cy="384048"/>
          </a:xfrm>
          <a:prstGeom prst="rect">
            <a:avLst/>
          </a:prstGeom>
          <a:noFill/>
        </p:spPr>
        <p:txBody>
          <a:bodyPr wrap="square" anchor="t" lIns="0" rIns="0" tIns="0" bIns="0">
            <a:spAutoFit/>
          </a:bodyPr>
          <a:lstStyle/>
          <a:p>
            <a:pPr algn="l"/>
            <a:r>
              <a:rPr sz="1250" b="1">
                <a:solidFill>
                  <a:srgbClr val="FFFFFF"/>
                </a:solidFill>
                <a:latin typeface="Arial"/>
              </a:rPr>
              <a:t>Data</a:t>
            </a:r>
          </a:p>
        </p:txBody>
      </p:sp>
      <p:sp>
        <p:nvSpPr>
          <p:cNvPr id="9" name="TextBox 8"/>
          <p:cNvSpPr txBox="1"/>
          <p:nvPr/>
        </p:nvSpPr>
        <p:spPr>
          <a:xfrm>
            <a:off x="612648" y="2697480"/>
            <a:ext cx="1247241" cy="329184"/>
          </a:xfrm>
          <a:prstGeom prst="rect">
            <a:avLst/>
          </a:prstGeom>
          <a:noFill/>
        </p:spPr>
        <p:txBody>
          <a:bodyPr wrap="square" anchor="t" lIns="0" rIns="0" tIns="0" bIns="0">
            <a:spAutoFit/>
          </a:bodyPr>
          <a:lstStyle/>
          <a:p>
            <a:pPr algn="l"/>
            <a:r>
              <a:rPr sz="950" b="0">
                <a:solidFill>
                  <a:srgbClr val="9CA3AF"/>
                </a:solidFill>
                <a:latin typeface="Arial"/>
              </a:rPr>
              <a:t>from the application</a:t>
            </a:r>
          </a:p>
        </p:txBody>
      </p:sp>
      <p:sp>
        <p:nvSpPr>
          <p:cNvPr id="10" name="Rounded Rectangle 9"/>
          <p:cNvSpPr/>
          <p:nvPr/>
        </p:nvSpPr>
        <p:spPr>
          <a:xfrm>
            <a:off x="2170785" y="1691640"/>
            <a:ext cx="1466697" cy="1371600"/>
          </a:xfrm>
          <a:prstGeom prst="roundRect">
            <a:avLst>
              <a:gd name="adj" fmla="val 8000"/>
            </a:avLst>
          </a:prstGeom>
          <a:solidFill>
            <a:srgbClr val="1C1C1C"/>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335377" y="1856232"/>
            <a:ext cx="384048" cy="384048"/>
          </a:xfrm>
          <a:prstGeom prst="ellipse">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Arial"/>
              </a:rPr>
              <a:t>2</a:t>
            </a:r>
          </a:p>
        </p:txBody>
      </p:sp>
      <p:sp>
        <p:nvSpPr>
          <p:cNvPr id="12" name="TextBox 11"/>
          <p:cNvSpPr txBox="1"/>
          <p:nvPr/>
        </p:nvSpPr>
        <p:spPr>
          <a:xfrm>
            <a:off x="2280513" y="2331720"/>
            <a:ext cx="1247241" cy="384048"/>
          </a:xfrm>
          <a:prstGeom prst="rect">
            <a:avLst/>
          </a:prstGeom>
          <a:noFill/>
        </p:spPr>
        <p:txBody>
          <a:bodyPr wrap="square" anchor="t" lIns="0" rIns="0" tIns="0" bIns="0">
            <a:spAutoFit/>
          </a:bodyPr>
          <a:lstStyle/>
          <a:p>
            <a:pPr algn="l"/>
            <a:r>
              <a:rPr sz="1250" b="1">
                <a:solidFill>
                  <a:srgbClr val="FFFFFF"/>
                </a:solidFill>
                <a:latin typeface="Arial"/>
              </a:rPr>
              <a:t>Segment</a:t>
            </a:r>
          </a:p>
        </p:txBody>
      </p:sp>
      <p:sp>
        <p:nvSpPr>
          <p:cNvPr id="13" name="TextBox 12"/>
          <p:cNvSpPr txBox="1"/>
          <p:nvPr/>
        </p:nvSpPr>
        <p:spPr>
          <a:xfrm>
            <a:off x="2280513" y="2697480"/>
            <a:ext cx="1247241" cy="329184"/>
          </a:xfrm>
          <a:prstGeom prst="rect">
            <a:avLst/>
          </a:prstGeom>
          <a:noFill/>
        </p:spPr>
        <p:txBody>
          <a:bodyPr wrap="square" anchor="t" lIns="0" rIns="0" tIns="0" bIns="0">
            <a:spAutoFit/>
          </a:bodyPr>
          <a:lstStyle/>
          <a:p>
            <a:pPr algn="l"/>
            <a:r>
              <a:rPr sz="950" b="0">
                <a:solidFill>
                  <a:srgbClr val="9CA3AF"/>
                </a:solidFill>
                <a:latin typeface="Arial"/>
              </a:rPr>
              <a:t>transport adds ports</a:t>
            </a:r>
          </a:p>
        </p:txBody>
      </p:sp>
      <p:sp>
        <p:nvSpPr>
          <p:cNvPr id="14" name="Rounded Rectangle 13"/>
          <p:cNvSpPr/>
          <p:nvPr/>
        </p:nvSpPr>
        <p:spPr>
          <a:xfrm>
            <a:off x="3838651" y="1691640"/>
            <a:ext cx="1466697" cy="1371600"/>
          </a:xfrm>
          <a:prstGeom prst="roundRect">
            <a:avLst>
              <a:gd name="adj" fmla="val 8000"/>
            </a:avLst>
          </a:prstGeom>
          <a:solidFill>
            <a:srgbClr val="1C1C1C"/>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03243" y="1856232"/>
            <a:ext cx="384048" cy="384048"/>
          </a:xfrm>
          <a:prstGeom prst="ellipse">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Arial"/>
              </a:rPr>
              <a:t>3</a:t>
            </a:r>
          </a:p>
        </p:txBody>
      </p:sp>
      <p:sp>
        <p:nvSpPr>
          <p:cNvPr id="16" name="TextBox 15"/>
          <p:cNvSpPr txBox="1"/>
          <p:nvPr/>
        </p:nvSpPr>
        <p:spPr>
          <a:xfrm>
            <a:off x="3948379" y="2331720"/>
            <a:ext cx="1247241" cy="384048"/>
          </a:xfrm>
          <a:prstGeom prst="rect">
            <a:avLst/>
          </a:prstGeom>
          <a:noFill/>
        </p:spPr>
        <p:txBody>
          <a:bodyPr wrap="square" anchor="t" lIns="0" rIns="0" tIns="0" bIns="0">
            <a:spAutoFit/>
          </a:bodyPr>
          <a:lstStyle/>
          <a:p>
            <a:pPr algn="l"/>
            <a:r>
              <a:rPr sz="1250" b="1">
                <a:solidFill>
                  <a:srgbClr val="FFFFFF"/>
                </a:solidFill>
                <a:latin typeface="Arial"/>
              </a:rPr>
              <a:t>Packet</a:t>
            </a:r>
          </a:p>
        </p:txBody>
      </p:sp>
      <p:sp>
        <p:nvSpPr>
          <p:cNvPr id="17" name="TextBox 16"/>
          <p:cNvSpPr txBox="1"/>
          <p:nvPr/>
        </p:nvSpPr>
        <p:spPr>
          <a:xfrm>
            <a:off x="3948379" y="2697480"/>
            <a:ext cx="1247241" cy="329184"/>
          </a:xfrm>
          <a:prstGeom prst="rect">
            <a:avLst/>
          </a:prstGeom>
          <a:noFill/>
        </p:spPr>
        <p:txBody>
          <a:bodyPr wrap="square" anchor="t" lIns="0" rIns="0" tIns="0" bIns="0">
            <a:spAutoFit/>
          </a:bodyPr>
          <a:lstStyle/>
          <a:p>
            <a:pPr algn="l"/>
            <a:r>
              <a:rPr sz="950" b="0">
                <a:solidFill>
                  <a:srgbClr val="9CA3AF"/>
                </a:solidFill>
                <a:latin typeface="Arial"/>
              </a:rPr>
              <a:t>network adds IP addresses</a:t>
            </a:r>
          </a:p>
        </p:txBody>
      </p:sp>
      <p:sp>
        <p:nvSpPr>
          <p:cNvPr id="18" name="Rounded Rectangle 17"/>
          <p:cNvSpPr/>
          <p:nvPr/>
        </p:nvSpPr>
        <p:spPr>
          <a:xfrm>
            <a:off x="5506516" y="1691640"/>
            <a:ext cx="1466697" cy="1371600"/>
          </a:xfrm>
          <a:prstGeom prst="roundRect">
            <a:avLst>
              <a:gd name="adj" fmla="val 8000"/>
            </a:avLst>
          </a:prstGeom>
          <a:solidFill>
            <a:srgbClr val="1C1C1C"/>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71108" y="1856232"/>
            <a:ext cx="384048" cy="384048"/>
          </a:xfrm>
          <a:prstGeom prst="ellipse">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Arial"/>
              </a:rPr>
              <a:t>4</a:t>
            </a:r>
          </a:p>
        </p:txBody>
      </p:sp>
      <p:sp>
        <p:nvSpPr>
          <p:cNvPr id="20" name="TextBox 19"/>
          <p:cNvSpPr txBox="1"/>
          <p:nvPr/>
        </p:nvSpPr>
        <p:spPr>
          <a:xfrm>
            <a:off x="5616244" y="2331720"/>
            <a:ext cx="1247241" cy="384048"/>
          </a:xfrm>
          <a:prstGeom prst="rect">
            <a:avLst/>
          </a:prstGeom>
          <a:noFill/>
        </p:spPr>
        <p:txBody>
          <a:bodyPr wrap="square" anchor="t" lIns="0" rIns="0" tIns="0" bIns="0">
            <a:spAutoFit/>
          </a:bodyPr>
          <a:lstStyle/>
          <a:p>
            <a:pPr algn="l"/>
            <a:r>
              <a:rPr sz="1250" b="1">
                <a:solidFill>
                  <a:srgbClr val="FFFFFF"/>
                </a:solidFill>
                <a:latin typeface="Arial"/>
              </a:rPr>
              <a:t>Frame</a:t>
            </a:r>
          </a:p>
        </p:txBody>
      </p:sp>
      <p:sp>
        <p:nvSpPr>
          <p:cNvPr id="21" name="TextBox 20"/>
          <p:cNvSpPr txBox="1"/>
          <p:nvPr/>
        </p:nvSpPr>
        <p:spPr>
          <a:xfrm>
            <a:off x="5616244" y="2697480"/>
            <a:ext cx="1247241" cy="329184"/>
          </a:xfrm>
          <a:prstGeom prst="rect">
            <a:avLst/>
          </a:prstGeom>
          <a:noFill/>
        </p:spPr>
        <p:txBody>
          <a:bodyPr wrap="square" anchor="t" lIns="0" rIns="0" tIns="0" bIns="0">
            <a:spAutoFit/>
          </a:bodyPr>
          <a:lstStyle/>
          <a:p>
            <a:pPr algn="l"/>
            <a:r>
              <a:rPr sz="950" b="0">
                <a:solidFill>
                  <a:srgbClr val="9CA3AF"/>
                </a:solidFill>
                <a:latin typeface="Arial"/>
              </a:rPr>
              <a:t>data link adds hardware addresses</a:t>
            </a:r>
          </a:p>
        </p:txBody>
      </p:sp>
      <p:sp>
        <p:nvSpPr>
          <p:cNvPr id="22" name="Rounded Rectangle 21"/>
          <p:cNvSpPr/>
          <p:nvPr/>
        </p:nvSpPr>
        <p:spPr>
          <a:xfrm>
            <a:off x="7174382" y="1691640"/>
            <a:ext cx="1466697" cy="1371600"/>
          </a:xfrm>
          <a:prstGeom prst="roundRect">
            <a:avLst>
              <a:gd name="adj" fmla="val 8000"/>
            </a:avLst>
          </a:prstGeom>
          <a:solidFill>
            <a:srgbClr val="1C1C1C"/>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8974" y="1856232"/>
            <a:ext cx="384048" cy="384048"/>
          </a:xfrm>
          <a:prstGeom prst="ellipse">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Arial"/>
              </a:rPr>
              <a:t>5</a:t>
            </a:r>
          </a:p>
        </p:txBody>
      </p:sp>
      <p:sp>
        <p:nvSpPr>
          <p:cNvPr id="24" name="TextBox 23"/>
          <p:cNvSpPr txBox="1"/>
          <p:nvPr/>
        </p:nvSpPr>
        <p:spPr>
          <a:xfrm>
            <a:off x="7284110" y="2331720"/>
            <a:ext cx="1247241" cy="384048"/>
          </a:xfrm>
          <a:prstGeom prst="rect">
            <a:avLst/>
          </a:prstGeom>
          <a:noFill/>
        </p:spPr>
        <p:txBody>
          <a:bodyPr wrap="square" anchor="t" lIns="0" rIns="0" tIns="0" bIns="0">
            <a:spAutoFit/>
          </a:bodyPr>
          <a:lstStyle/>
          <a:p>
            <a:pPr algn="l"/>
            <a:r>
              <a:rPr sz="1250" b="1">
                <a:solidFill>
                  <a:srgbClr val="FFFFFF"/>
                </a:solidFill>
                <a:latin typeface="Arial"/>
              </a:rPr>
              <a:t>Bits</a:t>
            </a:r>
          </a:p>
        </p:txBody>
      </p:sp>
      <p:sp>
        <p:nvSpPr>
          <p:cNvPr id="25" name="TextBox 24"/>
          <p:cNvSpPr txBox="1"/>
          <p:nvPr/>
        </p:nvSpPr>
        <p:spPr>
          <a:xfrm>
            <a:off x="7284110" y="2697480"/>
            <a:ext cx="1247241" cy="329184"/>
          </a:xfrm>
          <a:prstGeom prst="rect">
            <a:avLst/>
          </a:prstGeom>
          <a:noFill/>
        </p:spPr>
        <p:txBody>
          <a:bodyPr wrap="square" anchor="t" lIns="0" rIns="0" tIns="0" bIns="0">
            <a:spAutoFit/>
          </a:bodyPr>
          <a:lstStyle/>
          <a:p>
            <a:pPr algn="l"/>
            <a:r>
              <a:rPr sz="950" b="0">
                <a:solidFill>
                  <a:srgbClr val="9CA3AF"/>
                </a:solidFill>
                <a:latin typeface="Arial"/>
              </a:rPr>
              <a:t>physical sends signals</a:t>
            </a:r>
          </a:p>
        </p:txBody>
      </p:sp>
      <p:sp>
        <p:nvSpPr>
          <p:cNvPr id="26" name="Rounded Rectangle 25"/>
          <p:cNvSpPr/>
          <p:nvPr/>
        </p:nvSpPr>
        <p:spPr>
          <a:xfrm>
            <a:off x="502920" y="3310128"/>
            <a:ext cx="8138160" cy="9418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Know the vocabulary precisely</a:t>
            </a:r>
          </a:p>
        </p:txBody>
      </p:sp>
      <p:sp>
        <p:nvSpPr>
          <p:cNvPr id="27" name="TextBox 26"/>
          <p:cNvSpPr txBox="1"/>
          <p:nvPr/>
        </p:nvSpPr>
        <p:spPr>
          <a:xfrm>
            <a:off x="731520" y="3877056"/>
            <a:ext cx="7680960" cy="320040"/>
          </a:xfrm>
          <a:prstGeom prst="rect">
            <a:avLst/>
          </a:prstGeom>
          <a:noFill/>
        </p:spPr>
        <p:txBody>
          <a:bodyPr wrap="square" lIns="0" rIns="0" tIns="0" bIns="0">
            <a:spAutoFit/>
          </a:bodyPr>
          <a:lstStyle/>
          <a:p>
            <a:pPr>
              <a:lnSpc>
                <a:spcPct val="108000"/>
              </a:lnSpc>
            </a:pPr>
            <a:r>
              <a:rPr sz="1250">
                <a:solidFill>
                  <a:srgbClr val="F3D9D9"/>
                </a:solidFill>
                <a:latin typeface="Arial"/>
              </a:rPr>
              <a:t>TCP carries segments and UDP carries datagrams; both become packets at layer 3 and frames at layer 2.</a:t>
            </a:r>
          </a:p>
        </p:txBody>
      </p:sp>
      <p:sp>
        <p:nvSpPr>
          <p:cNvPr id="28" name="TextBox 27"/>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29" name="TextBox 28"/>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30" name="Picture 29"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31" name="TextBox 30"/>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PHYSICAL AND DATA LINK</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The physical layer</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200" b="1">
                <a:solidFill>
                  <a:srgbClr val="FFFFFF"/>
                </a:solidFill>
                <a:latin typeface="Arial"/>
              </a:rPr>
              <a:t>Raw bitstream  </a:t>
            </a:r>
            <a:r>
              <a:rPr sz="1200">
                <a:solidFill>
                  <a:srgbClr val="D1D5DB"/>
                </a:solidFill>
                <a:latin typeface="Arial"/>
              </a:rPr>
              <a:t>carried between devices, with no understanding of meaning at all</a:t>
            </a:r>
          </a:p>
          <a:p>
            <a:pPr marL="182880" indent="137160">
              <a:lnSpc>
                <a:spcPct val="108000"/>
              </a:lnSpc>
              <a:spcAft>
                <a:spcPts val="1152"/>
              </a:spcAft>
              <a:buFont typeface="Arial"/>
              <a:buChar char="•"/>
            </a:pPr>
            <a:r>
              <a:rPr sz="1200" b="1">
                <a:solidFill>
                  <a:srgbClr val="FFFFFF"/>
                </a:solidFill>
                <a:latin typeface="Arial"/>
              </a:rPr>
              <a:t>Three signal types  </a:t>
            </a:r>
            <a:r>
              <a:rPr sz="1200">
                <a:solidFill>
                  <a:srgbClr val="D1D5DB"/>
                </a:solidFill>
                <a:latin typeface="Arial"/>
              </a:rPr>
              <a:t>electrical, light and radio</a:t>
            </a:r>
          </a:p>
          <a:p>
            <a:pPr marL="182880" indent="137160">
              <a:lnSpc>
                <a:spcPct val="108000"/>
              </a:lnSpc>
              <a:spcAft>
                <a:spcPts val="1152"/>
              </a:spcAft>
              <a:buFont typeface="Arial"/>
              <a:buChar char="•"/>
            </a:pPr>
            <a:r>
              <a:rPr sz="1200" b="1">
                <a:solidFill>
                  <a:srgbClr val="FFFFFF"/>
                </a:solidFill>
                <a:latin typeface="Arial"/>
              </a:rPr>
              <a:t>Copper  </a:t>
            </a:r>
            <a:r>
              <a:rPr sz="1200">
                <a:solidFill>
                  <a:srgbClr val="D1D5DB"/>
                </a:solidFill>
                <a:latin typeface="Arial"/>
              </a:rPr>
              <a:t>electrical signals, using voltage changes for ones and zeros</a:t>
            </a:r>
          </a:p>
          <a:p>
            <a:pPr marL="182880" indent="137160">
              <a:lnSpc>
                <a:spcPct val="108000"/>
              </a:lnSpc>
              <a:spcAft>
                <a:spcPts val="1152"/>
              </a:spcAft>
              <a:buFont typeface="Arial"/>
              <a:buChar char="•"/>
            </a:pPr>
            <a:r>
              <a:rPr sz="1200" b="1">
                <a:solidFill>
                  <a:srgbClr val="FFFFFF"/>
                </a:solidFill>
                <a:latin typeface="Arial"/>
              </a:rPr>
              <a:t>Fibre  </a:t>
            </a:r>
            <a:r>
              <a:rPr sz="1200">
                <a:solidFill>
                  <a:srgbClr val="D1D5DB"/>
                </a:solidFill>
                <a:latin typeface="Arial"/>
              </a:rPr>
              <a:t>light pulses, travelling further with far less interference</a:t>
            </a:r>
          </a:p>
          <a:p>
            <a:pPr marL="182880" indent="137160">
              <a:lnSpc>
                <a:spcPct val="108000"/>
              </a:lnSpc>
              <a:spcAft>
                <a:spcPts val="1152"/>
              </a:spcAft>
              <a:buFont typeface="Arial"/>
              <a:buChar char="•"/>
            </a:pPr>
            <a:r>
              <a:rPr sz="1200" b="1">
                <a:solidFill>
                  <a:srgbClr val="FFFFFF"/>
                </a:solidFill>
                <a:latin typeface="Arial"/>
              </a:rPr>
              <a:t>Wireless  </a:t>
            </a:r>
            <a:r>
              <a:rPr sz="1200">
                <a:solidFill>
                  <a:srgbClr val="D1D5DB"/>
                </a:solidFill>
                <a:latin typeface="Arial"/>
              </a:rPr>
              <a:t>radio waves through the air, which buys you mobility</a:t>
            </a:r>
          </a:p>
          <a:p>
            <a:pPr marL="182880" indent="137160">
              <a:lnSpc>
                <a:spcPct val="108000"/>
              </a:lnSpc>
              <a:spcAft>
                <a:spcPts val="1152"/>
              </a:spcAft>
              <a:buFont typeface="Arial"/>
              <a:buChar char="•"/>
            </a:pPr>
            <a:r>
              <a:rPr sz="1200" b="1">
                <a:solidFill>
                  <a:srgbClr val="FFFFFF"/>
                </a:solidFill>
                <a:latin typeface="Arial"/>
              </a:rPr>
              <a:t>This layer defines standards  </a:t>
            </a:r>
            <a:r>
              <a:rPr sz="1200">
                <a:solidFill>
                  <a:srgbClr val="D1D5DB"/>
                </a:solidFill>
                <a:latin typeface="Arial"/>
              </a:rPr>
              <a:t>cabling, connectors and signalling</a:t>
            </a:r>
          </a:p>
        </p:txBody>
      </p:sp>
      <p:sp>
        <p:nvSpPr>
          <p:cNvPr id="7" name="Rounded Rectangle 6"/>
          <p:cNvSpPr/>
          <p:nvPr/>
        </p:nvSpPr>
        <p:spPr>
          <a:xfrm>
            <a:off x="502920" y="3694176"/>
            <a:ext cx="8138160" cy="9418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First rule of troubleshooting</a:t>
            </a:r>
          </a:p>
        </p:txBody>
      </p:sp>
      <p:sp>
        <p:nvSpPr>
          <p:cNvPr id="8" name="TextBox 7"/>
          <p:cNvSpPr txBox="1"/>
          <p:nvPr/>
        </p:nvSpPr>
        <p:spPr>
          <a:xfrm>
            <a:off x="731520" y="4261104"/>
            <a:ext cx="7680960" cy="320040"/>
          </a:xfrm>
          <a:prstGeom prst="rect">
            <a:avLst/>
          </a:prstGeom>
          <a:noFill/>
        </p:spPr>
        <p:txBody>
          <a:bodyPr wrap="square" lIns="0" rIns="0" tIns="0" bIns="0">
            <a:spAutoFit/>
          </a:bodyPr>
          <a:lstStyle/>
          <a:p>
            <a:pPr>
              <a:lnSpc>
                <a:spcPct val="108000"/>
              </a:lnSpc>
            </a:pPr>
            <a:r>
              <a:rPr sz="1250">
                <a:solidFill>
                  <a:srgbClr val="F3D9D9"/>
                </a:solidFill>
                <a:latin typeface="Arial"/>
              </a:rPr>
              <a:t>If layer one fails, nothing above it can possibly work. That is why the bottom of the stack is where you start.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PHYSICAL AND DATA LINK</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Signals and their media</a:t>
            </a:r>
          </a:p>
        </p:txBody>
      </p:sp>
      <p:graphicFrame>
        <p:nvGraphicFramePr>
          <p:cNvPr id="6" name="Table 5"/>
          <p:cNvGraphicFramePr>
            <a:graphicFrameLocks noGrp="1"/>
          </p:cNvGraphicFramePr>
          <p:nvPr/>
        </p:nvGraphicFramePr>
        <p:xfrm>
          <a:off x="502920" y="1737360"/>
          <a:ext cx="8138160" cy="1316736"/>
        </p:xfrm>
        <a:graphic>
          <a:graphicData uri="http://schemas.openxmlformats.org/drawingml/2006/table">
            <a:tbl>
              <a:tblPr firstRow="1" bandRow="1">
                <a:tableStyleId>{5C22544A-7EE6-4342-B048-85BDC9FD1C3A}</a:tableStyleId>
              </a:tblPr>
              <a:tblGrid>
                <a:gridCol w="1828800"/>
                <a:gridCol w="2194560"/>
                <a:gridCol w="4114800"/>
              </a:tblGrid>
              <a:tr h="329184">
                <a:tc>
                  <a:txBody>
                    <a:bodyPr/>
                    <a:lstStyle/>
                    <a:p>
                      <a:pPr algn="l"/>
                      <a:r>
                        <a:rPr sz="1100" b="1">
                          <a:solidFill>
                            <a:srgbClr val="FFFFFF"/>
                          </a:solidFill>
                          <a:latin typeface="Arial"/>
                        </a:rPr>
                        <a:t>Signal</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Medium</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Notes</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4">
                <a:tc>
                  <a:txBody>
                    <a:bodyPr/>
                    <a:lstStyle/>
                    <a:p>
                      <a:pPr algn="l"/>
                      <a:r>
                        <a:rPr sz="1100" b="0">
                          <a:solidFill>
                            <a:srgbClr val="D1D5DB"/>
                          </a:solidFill>
                          <a:latin typeface="Arial"/>
                        </a:rPr>
                        <a:t>Electrical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Copper cable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Cheap and widely installed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Light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Fibre optic</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Long distance, no interference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Radio</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Air</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Mobile, but shared airtime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bl>
          </a:graphicData>
        </a:graphic>
      </p:graphicFrame>
      <p:sp>
        <p:nvSpPr>
          <p:cNvPr id="7" name="Rounded Rectangle 6"/>
          <p:cNvSpPr/>
          <p:nvPr/>
        </p:nvSpPr>
        <p:spPr>
          <a:xfrm>
            <a:off x="502920" y="3136392"/>
            <a:ext cx="8138160" cy="9418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Every medium is a trade</a:t>
            </a:r>
          </a:p>
        </p:txBody>
      </p:sp>
      <p:sp>
        <p:nvSpPr>
          <p:cNvPr id="8" name="TextBox 7"/>
          <p:cNvSpPr txBox="1"/>
          <p:nvPr/>
        </p:nvSpPr>
        <p:spPr>
          <a:xfrm>
            <a:off x="731520" y="3703320"/>
            <a:ext cx="7680960" cy="320040"/>
          </a:xfrm>
          <a:prstGeom prst="rect">
            <a:avLst/>
          </a:prstGeom>
          <a:noFill/>
        </p:spPr>
        <p:txBody>
          <a:bodyPr wrap="square" lIns="0" rIns="0" tIns="0" bIns="0">
            <a:spAutoFit/>
          </a:bodyPr>
          <a:lstStyle/>
          <a:p>
            <a:pPr>
              <a:lnSpc>
                <a:spcPct val="108000"/>
              </a:lnSpc>
            </a:pPr>
            <a:r>
              <a:rPr sz="1250">
                <a:solidFill>
                  <a:srgbClr val="F3D9D9"/>
                </a:solidFill>
                <a:latin typeface="Arial"/>
              </a:rPr>
              <a:t>Cost, distance and interference. Those three factors will guide almost every cabling decision you make.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PHYSICAL AND DATA LINK</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The data link layer</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200" b="1">
                <a:solidFill>
                  <a:srgbClr val="FFFFFF"/>
                </a:solidFill>
                <a:latin typeface="Arial"/>
              </a:rPr>
              <a:t>Node to node  </a:t>
            </a:r>
            <a:r>
              <a:rPr sz="1200">
                <a:solidFill>
                  <a:srgbClr val="D1D5DB"/>
                </a:solidFill>
                <a:latin typeface="Arial"/>
              </a:rPr>
              <a:t>delivers data between devices on the same local network</a:t>
            </a:r>
          </a:p>
          <a:p>
            <a:pPr marL="182880" indent="137160">
              <a:lnSpc>
                <a:spcPct val="108000"/>
              </a:lnSpc>
              <a:spcAft>
                <a:spcPts val="1152"/>
              </a:spcAft>
              <a:buFont typeface="Arial"/>
              <a:buChar char="•"/>
            </a:pPr>
            <a:r>
              <a:rPr sz="1200" b="1">
                <a:solidFill>
                  <a:srgbClr val="FFFFFF"/>
                </a:solidFill>
                <a:latin typeface="Arial"/>
              </a:rPr>
              <a:t>Media Access Control  </a:t>
            </a:r>
            <a:r>
              <a:rPr sz="1200">
                <a:solidFill>
                  <a:srgbClr val="D1D5DB"/>
                </a:solidFill>
                <a:latin typeface="Arial"/>
              </a:rPr>
              <a:t>48 bits, written in hex, such as 00 1A 2B 3C 4D 5E</a:t>
            </a:r>
          </a:p>
          <a:p>
            <a:pPr marL="182880" indent="137160">
              <a:lnSpc>
                <a:spcPct val="108000"/>
              </a:lnSpc>
              <a:spcAft>
                <a:spcPts val="1152"/>
              </a:spcAft>
              <a:buFont typeface="Arial"/>
              <a:buChar char="•"/>
            </a:pPr>
            <a:r>
              <a:rPr sz="1200" b="1">
                <a:solidFill>
                  <a:srgbClr val="FFFFFF"/>
                </a:solidFill>
                <a:latin typeface="Arial"/>
              </a:rPr>
              <a:t>The frame  </a:t>
            </a:r>
            <a:r>
              <a:rPr sz="1200">
                <a:solidFill>
                  <a:srgbClr val="D1D5DB"/>
                </a:solidFill>
                <a:latin typeface="Arial"/>
              </a:rPr>
              <a:t>the unit of data at this layer</a:t>
            </a:r>
          </a:p>
          <a:p>
            <a:pPr marL="182880" indent="137160">
              <a:lnSpc>
                <a:spcPct val="108000"/>
              </a:lnSpc>
              <a:spcAft>
                <a:spcPts val="1152"/>
              </a:spcAft>
              <a:buFont typeface="Arial"/>
              <a:buChar char="•"/>
            </a:pPr>
            <a:r>
              <a:rPr sz="1200" b="1">
                <a:solidFill>
                  <a:srgbClr val="FFFFFF"/>
                </a:solidFill>
                <a:latin typeface="Arial"/>
              </a:rPr>
              <a:t>Two sublayers  </a:t>
            </a:r>
            <a:r>
              <a:rPr sz="1200">
                <a:solidFill>
                  <a:srgbClr val="D1D5DB"/>
                </a:solidFill>
                <a:latin typeface="Arial"/>
              </a:rPr>
              <a:t>Logical Link Control and Media Access Control</a:t>
            </a:r>
          </a:p>
          <a:p>
            <a:pPr marL="182880" indent="137160">
              <a:lnSpc>
                <a:spcPct val="108000"/>
              </a:lnSpc>
              <a:spcAft>
                <a:spcPts val="1152"/>
              </a:spcAft>
              <a:buFont typeface="Arial"/>
              <a:buChar char="•"/>
            </a:pPr>
            <a:r>
              <a:rPr sz="1200" b="1">
                <a:solidFill>
                  <a:srgbClr val="FFFFFF"/>
                </a:solidFill>
                <a:latin typeface="Arial"/>
              </a:rPr>
              <a:t>Error detection  </a:t>
            </a:r>
            <a:r>
              <a:rPr sz="1200">
                <a:solidFill>
                  <a:srgbClr val="D1D5DB"/>
                </a:solidFill>
                <a:latin typeface="Arial"/>
              </a:rPr>
              <a:t>a Cyclic Redundancy Check appended to the frame</a:t>
            </a:r>
          </a:p>
          <a:p>
            <a:pPr marL="182880" indent="137160">
              <a:lnSpc>
                <a:spcPct val="108000"/>
              </a:lnSpc>
              <a:spcAft>
                <a:spcPts val="1152"/>
              </a:spcAft>
              <a:buFont typeface="Arial"/>
              <a:buChar char="•"/>
            </a:pPr>
            <a:r>
              <a:rPr sz="1200" b="1">
                <a:solidFill>
                  <a:srgbClr val="FFFFFF"/>
                </a:solidFill>
                <a:latin typeface="Arial"/>
              </a:rPr>
              <a:t>Assigned, not trusted  </a:t>
            </a:r>
            <a:r>
              <a:rPr sz="1200">
                <a:solidFill>
                  <a:srgbClr val="D1D5DB"/>
                </a:solidFill>
                <a:latin typeface="Arial"/>
              </a:rPr>
              <a:t>set by the manufacturer, but changeable in software</a:t>
            </a:r>
          </a:p>
        </p:txBody>
      </p:sp>
      <p:sp>
        <p:nvSpPr>
          <p:cNvPr id="7" name="Rounded Rectangle 6"/>
          <p:cNvSpPr/>
          <p:nvPr/>
        </p:nvSpPr>
        <p:spPr>
          <a:xfrm>
            <a:off x="502920" y="3694176"/>
            <a:ext cx="8138160" cy="9418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Security note</a:t>
            </a:r>
          </a:p>
        </p:txBody>
      </p:sp>
      <p:sp>
        <p:nvSpPr>
          <p:cNvPr id="8" name="TextBox 7"/>
          <p:cNvSpPr txBox="1"/>
          <p:nvPr/>
        </p:nvSpPr>
        <p:spPr>
          <a:xfrm>
            <a:off x="731520" y="4261104"/>
            <a:ext cx="7680960" cy="320040"/>
          </a:xfrm>
          <a:prstGeom prst="rect">
            <a:avLst/>
          </a:prstGeom>
          <a:noFill/>
        </p:spPr>
        <p:txBody>
          <a:bodyPr wrap="square" lIns="0" rIns="0" tIns="0" bIns="0">
            <a:spAutoFit/>
          </a:bodyPr>
          <a:lstStyle/>
          <a:p>
            <a:pPr>
              <a:lnSpc>
                <a:spcPct val="108000"/>
              </a:lnSpc>
            </a:pPr>
            <a:r>
              <a:rPr sz="1250">
                <a:solidFill>
                  <a:srgbClr val="F3D9D9"/>
                </a:solidFill>
                <a:latin typeface="Arial"/>
              </a:rPr>
              <a:t>Spoofing a hardware address is a software change, so layer 2 identity is never proof of identity.</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PHYSICAL AND DATA LINK</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The two data link sublayers</a:t>
            </a:r>
          </a:p>
        </p:txBody>
      </p:sp>
      <p:graphicFrame>
        <p:nvGraphicFramePr>
          <p:cNvPr id="6" name="Table 5"/>
          <p:cNvGraphicFramePr>
            <a:graphicFrameLocks noGrp="1"/>
          </p:cNvGraphicFramePr>
          <p:nvPr/>
        </p:nvGraphicFramePr>
        <p:xfrm>
          <a:off x="502920" y="1737360"/>
          <a:ext cx="8138160" cy="987552"/>
        </p:xfrm>
        <a:graphic>
          <a:graphicData uri="http://schemas.openxmlformats.org/drawingml/2006/table">
            <a:tbl>
              <a:tblPr firstRow="1" bandRow="1">
                <a:tableStyleId>{5C22544A-7EE6-4342-B048-85BDC9FD1C3A}</a:tableStyleId>
              </a:tblPr>
              <a:tblGrid>
                <a:gridCol w="2103120"/>
                <a:gridCol w="4114800"/>
                <a:gridCol w="1920240"/>
              </a:tblGrid>
              <a:tr h="329184">
                <a:tc>
                  <a:txBody>
                    <a:bodyPr/>
                    <a:lstStyle/>
                    <a:p>
                      <a:pPr algn="l"/>
                      <a:r>
                        <a:rPr sz="1100" b="1">
                          <a:solidFill>
                            <a:srgbClr val="FFFFFF"/>
                          </a:solidFill>
                          <a:latin typeface="Arial"/>
                        </a:rPr>
                        <a:t>Sublayer</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Responsibility</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Faces</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4">
                <a:tc>
                  <a:txBody>
                    <a:bodyPr/>
                    <a:lstStyle/>
                    <a:p>
                      <a:pPr algn="l"/>
                      <a:r>
                        <a:rPr sz="1100" b="0">
                          <a:solidFill>
                            <a:srgbClr val="D1D5DB"/>
                          </a:solidFill>
                          <a:latin typeface="Arial"/>
                        </a:rPr>
                        <a:t>Logical Link Control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Identifies the layer 3 protocol, error checking</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Up to Network</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Media Access Control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Shares the medium, delivers by hardware address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Down to Physical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bl>
          </a:graphicData>
        </a:graphic>
      </p:graphicFrame>
      <p:sp>
        <p:nvSpPr>
          <p:cNvPr id="7" name="Rounded Rectangle 6"/>
          <p:cNvSpPr/>
          <p:nvPr/>
        </p:nvSpPr>
        <p:spPr>
          <a:xfrm>
            <a:off x="502920" y="2834640"/>
            <a:ext cx="8138160" cy="9418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How the exam phrases it</a:t>
            </a:r>
          </a:p>
        </p:txBody>
      </p:sp>
      <p:sp>
        <p:nvSpPr>
          <p:cNvPr id="8" name="TextBox 7"/>
          <p:cNvSpPr txBox="1"/>
          <p:nvPr/>
        </p:nvSpPr>
        <p:spPr>
          <a:xfrm>
            <a:off x="731520" y="3401568"/>
            <a:ext cx="7680960" cy="320040"/>
          </a:xfrm>
          <a:prstGeom prst="rect">
            <a:avLst/>
          </a:prstGeom>
          <a:noFill/>
        </p:spPr>
        <p:txBody>
          <a:bodyPr wrap="square" lIns="0" rIns="0" tIns="0" bIns="0">
            <a:spAutoFit/>
          </a:bodyPr>
          <a:lstStyle/>
          <a:p>
            <a:pPr>
              <a:lnSpc>
                <a:spcPct val="108000"/>
              </a:lnSpc>
            </a:pPr>
            <a:r>
              <a:rPr sz="1250">
                <a:solidFill>
                  <a:srgbClr val="F3D9D9"/>
                </a:solidFill>
                <a:latin typeface="Arial"/>
              </a:rPr>
              <a:t>Logical Link Control looks up towards the network layer; Media Access Control looks down towards the physical layer.</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PHYSICAL AND DATA LINK</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A dead link is almost always layer 1</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250" b="1">
                <a:solidFill>
                  <a:srgbClr val="FFFFFF"/>
                </a:solidFill>
                <a:latin typeface="Arial"/>
              </a:rPr>
              <a:t>The report  </a:t>
            </a:r>
            <a:r>
              <a:rPr sz="1250">
                <a:solidFill>
                  <a:srgbClr val="D1D5DB"/>
                </a:solidFill>
                <a:latin typeface="Arial"/>
              </a:rPr>
              <a:t>a user has lost connectivity completely</a:t>
            </a:r>
          </a:p>
          <a:p>
            <a:pPr marL="182880" indent="137160">
              <a:lnSpc>
                <a:spcPct val="108000"/>
              </a:lnSpc>
              <a:spcAft>
                <a:spcPts val="1152"/>
              </a:spcAft>
              <a:buFont typeface="Arial"/>
              <a:buChar char="•"/>
            </a:pPr>
            <a:r>
              <a:rPr sz="1250" b="1">
                <a:solidFill>
                  <a:srgbClr val="FFFFFF"/>
                </a:solidFill>
                <a:latin typeface="Arial"/>
              </a:rPr>
              <a:t>The temptation  </a:t>
            </a:r>
            <a:r>
              <a:rPr sz="1250">
                <a:solidFill>
                  <a:srgbClr val="D1D5DB"/>
                </a:solidFill>
                <a:latin typeface="Arial"/>
              </a:rPr>
              <a:t>dive into routing tables or firewall rules, because that feels clever</a:t>
            </a:r>
          </a:p>
          <a:p>
            <a:pPr marL="182880" indent="137160">
              <a:lnSpc>
                <a:spcPct val="108000"/>
              </a:lnSpc>
              <a:spcAft>
                <a:spcPts val="1152"/>
              </a:spcAft>
              <a:buFont typeface="Arial"/>
              <a:buChar char="•"/>
            </a:pPr>
            <a:r>
              <a:rPr sz="1250" b="1">
                <a:solidFill>
                  <a:srgbClr val="FFFFFF"/>
                </a:solidFill>
                <a:latin typeface="Arial"/>
              </a:rPr>
              <a:t>The discipline  </a:t>
            </a:r>
            <a:r>
              <a:rPr sz="1250">
                <a:solidFill>
                  <a:srgbClr val="D1D5DB"/>
                </a:solidFill>
                <a:latin typeface="Arial"/>
              </a:rPr>
              <a:t>check the cable, the port indicator and the link state first</a:t>
            </a:r>
          </a:p>
          <a:p>
            <a:pPr marL="182880" indent="137160">
              <a:lnSpc>
                <a:spcPct val="108000"/>
              </a:lnSpc>
              <a:spcAft>
                <a:spcPts val="1152"/>
              </a:spcAft>
              <a:buFont typeface="Arial"/>
              <a:buChar char="•"/>
            </a:pPr>
            <a:r>
              <a:rPr sz="1250" b="1">
                <a:solidFill>
                  <a:srgbClr val="FFFFFF"/>
                </a:solidFill>
                <a:latin typeface="Arial"/>
              </a:rPr>
              <a:t>Why start low  </a:t>
            </a:r>
            <a:r>
              <a:rPr sz="1250">
                <a:solidFill>
                  <a:srgbClr val="D1D5DB"/>
                </a:solidFill>
                <a:latin typeface="Arial"/>
              </a:rPr>
              <a:t>a dead link is usually physical, and physical faults are the most common and the cheapest to repair</a:t>
            </a:r>
          </a:p>
        </p:txBody>
      </p:sp>
      <p:sp>
        <p:nvSpPr>
          <p:cNvPr id="7" name="Rounded Rectangle 6"/>
          <p:cNvSpPr/>
          <p:nvPr/>
        </p:nvSpPr>
        <p:spPr>
          <a:xfrm>
            <a:off x="502920" y="3282696"/>
            <a:ext cx="8138160" cy="740664"/>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Analyst's lens</a:t>
            </a:r>
          </a:p>
        </p:txBody>
      </p:sp>
      <p:sp>
        <p:nvSpPr>
          <p:cNvPr id="8" name="TextBox 7"/>
          <p:cNvSpPr txBox="1"/>
          <p:nvPr/>
        </p:nvSpPr>
        <p:spPr>
          <a:xfrm>
            <a:off x="731520" y="3849624"/>
            <a:ext cx="7680960" cy="118872"/>
          </a:xfrm>
          <a:prstGeom prst="rect">
            <a:avLst/>
          </a:prstGeom>
          <a:noFill/>
        </p:spPr>
        <p:txBody>
          <a:bodyPr wrap="square" lIns="0" rIns="0" tIns="0" bIns="0">
            <a:spAutoFit/>
          </a:bodyPr>
          <a:lstStyle/>
          <a:p>
            <a:pPr>
              <a:lnSpc>
                <a:spcPct val="108000"/>
              </a:lnSpc>
            </a:pPr>
            <a:r>
              <a:rPr sz="1250">
                <a:solidFill>
                  <a:srgbClr val="F3D9D9"/>
                </a:solidFill>
                <a:latin typeface="Arial"/>
              </a:rPr>
              <a:t>Only once layer one is sound does it make sense to look higher up the stack.</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NETWORK, TRANSPORT AND ABOVE</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The network layer</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200" b="1">
                <a:solidFill>
                  <a:srgbClr val="FFFFFF"/>
                </a:solidFill>
                <a:latin typeface="Arial"/>
              </a:rPr>
              <a:t>Logical addressing  </a:t>
            </a:r>
            <a:r>
              <a:rPr sz="1200">
                <a:solidFill>
                  <a:srgbClr val="D1D5DB"/>
                </a:solidFill>
                <a:latin typeface="Arial"/>
              </a:rPr>
              <a:t>IP addresses, as opposed to hardware addresses</a:t>
            </a:r>
          </a:p>
          <a:p>
            <a:pPr marL="182880" indent="137160">
              <a:lnSpc>
                <a:spcPct val="108000"/>
              </a:lnSpc>
              <a:spcAft>
                <a:spcPts val="1152"/>
              </a:spcAft>
              <a:buFont typeface="Arial"/>
              <a:buChar char="•"/>
            </a:pPr>
            <a:r>
              <a:rPr sz="1200" b="1">
                <a:solidFill>
                  <a:srgbClr val="FFFFFF"/>
                </a:solidFill>
                <a:latin typeface="Arial"/>
              </a:rPr>
              <a:t>Between networks  </a:t>
            </a:r>
            <a:r>
              <a:rPr sz="1200">
                <a:solidFill>
                  <a:srgbClr val="D1D5DB"/>
                </a:solidFill>
                <a:latin typeface="Arial"/>
              </a:rPr>
              <a:t>it moves packets from one network to another</a:t>
            </a:r>
          </a:p>
          <a:p>
            <a:pPr marL="182880" indent="137160">
              <a:lnSpc>
                <a:spcPct val="108000"/>
              </a:lnSpc>
              <a:spcAft>
                <a:spcPts val="1152"/>
              </a:spcAft>
              <a:buFont typeface="Arial"/>
              <a:buChar char="•"/>
            </a:pPr>
            <a:r>
              <a:rPr sz="1200" b="1">
                <a:solidFill>
                  <a:srgbClr val="FFFFFF"/>
                </a:solidFill>
                <a:latin typeface="Arial"/>
              </a:rPr>
              <a:t>Routers  </a:t>
            </a:r>
            <a:r>
              <a:rPr sz="1200">
                <a:solidFill>
                  <a:srgbClr val="D1D5DB"/>
                </a:solidFill>
                <a:latin typeface="Arial"/>
              </a:rPr>
              <a:t>the devices that operate at this layer</a:t>
            </a:r>
          </a:p>
          <a:p>
            <a:pPr marL="182880" indent="137160">
              <a:lnSpc>
                <a:spcPct val="108000"/>
              </a:lnSpc>
              <a:spcAft>
                <a:spcPts val="1152"/>
              </a:spcAft>
              <a:buFont typeface="Arial"/>
              <a:buChar char="•"/>
            </a:pPr>
            <a:r>
              <a:rPr sz="1200" b="1">
                <a:solidFill>
                  <a:srgbClr val="FFFFFF"/>
                </a:solidFill>
                <a:latin typeface="Arial"/>
              </a:rPr>
              <a:t>Time to Live  </a:t>
            </a:r>
            <a:r>
              <a:rPr sz="1200">
                <a:solidFill>
                  <a:srgbClr val="D1D5DB"/>
                </a:solidFill>
                <a:latin typeface="Arial"/>
              </a:rPr>
              <a:t>drops by one at each router; at zero the packet is discarded</a:t>
            </a:r>
          </a:p>
          <a:p>
            <a:pPr marL="182880" indent="137160">
              <a:lnSpc>
                <a:spcPct val="108000"/>
              </a:lnSpc>
              <a:spcAft>
                <a:spcPts val="1152"/>
              </a:spcAft>
              <a:buFont typeface="Arial"/>
              <a:buChar char="•"/>
            </a:pPr>
            <a:r>
              <a:rPr sz="1200" b="1">
                <a:solidFill>
                  <a:srgbClr val="FFFFFF"/>
                </a:solidFill>
                <a:latin typeface="Arial"/>
              </a:rPr>
              <a:t>Multiple hops  </a:t>
            </a:r>
            <a:r>
              <a:rPr sz="1200">
                <a:solidFill>
                  <a:srgbClr val="D1D5DB"/>
                </a:solidFill>
                <a:latin typeface="Arial"/>
              </a:rPr>
              <a:t>data crosses the internet one router at a time</a:t>
            </a:r>
          </a:p>
          <a:p>
            <a:pPr marL="182880" indent="137160">
              <a:lnSpc>
                <a:spcPct val="108000"/>
              </a:lnSpc>
              <a:spcAft>
                <a:spcPts val="1152"/>
              </a:spcAft>
              <a:buFont typeface="Arial"/>
              <a:buChar char="•"/>
            </a:pPr>
            <a:r>
              <a:rPr sz="1200" b="1">
                <a:solidFill>
                  <a:srgbClr val="FFFFFF"/>
                </a:solidFill>
                <a:latin typeface="Arial"/>
              </a:rPr>
              <a:t>Adapts to failure  </a:t>
            </a:r>
            <a:r>
              <a:rPr sz="1200">
                <a:solidFill>
                  <a:srgbClr val="D1D5DB"/>
                </a:solidFill>
                <a:latin typeface="Arial"/>
              </a:rPr>
              <a:t>when a link fails, this layer chooses another path</a:t>
            </a:r>
          </a:p>
        </p:txBody>
      </p:sp>
      <p:sp>
        <p:nvSpPr>
          <p:cNvPr id="7" name="Rounded Rectangle 6"/>
          <p:cNvSpPr/>
          <p:nvPr/>
        </p:nvSpPr>
        <p:spPr>
          <a:xfrm>
            <a:off x="502920" y="3694176"/>
            <a:ext cx="8138160" cy="9418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The distinction that matters most</a:t>
            </a:r>
          </a:p>
        </p:txBody>
      </p:sp>
      <p:sp>
        <p:nvSpPr>
          <p:cNvPr id="8" name="TextBox 7"/>
          <p:cNvSpPr txBox="1"/>
          <p:nvPr/>
        </p:nvSpPr>
        <p:spPr>
          <a:xfrm>
            <a:off x="731520" y="4261104"/>
            <a:ext cx="7680960" cy="320040"/>
          </a:xfrm>
          <a:prstGeom prst="rect">
            <a:avLst/>
          </a:prstGeom>
          <a:noFill/>
        </p:spPr>
        <p:txBody>
          <a:bodyPr wrap="square" lIns="0" rIns="0" tIns="0" bIns="0">
            <a:spAutoFit/>
          </a:bodyPr>
          <a:lstStyle/>
          <a:p>
            <a:pPr>
              <a:lnSpc>
                <a:spcPct val="108000"/>
              </a:lnSpc>
            </a:pPr>
            <a:r>
              <a:rPr sz="1250">
                <a:solidFill>
                  <a:srgbClr val="F3D9D9"/>
                </a:solidFill>
                <a:latin typeface="Arial"/>
              </a:rPr>
              <a:t>A hardware address identifies a device on a local segment. An IP address identifies a device across networks.</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NETWORK, TRANSPORT AND ABOVE</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The transport layer</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200" b="1">
                <a:solidFill>
                  <a:srgbClr val="FFFFFF"/>
                </a:solidFill>
                <a:latin typeface="Arial"/>
              </a:rPr>
              <a:t>Application to application  </a:t>
            </a:r>
            <a:r>
              <a:rPr sz="1200">
                <a:solidFill>
                  <a:srgbClr val="D1D5DB"/>
                </a:solidFill>
                <a:latin typeface="Arial"/>
              </a:rPr>
              <a:t>delivers data end to end between applications</a:t>
            </a:r>
          </a:p>
          <a:p>
            <a:pPr marL="182880" indent="137160">
              <a:lnSpc>
                <a:spcPct val="108000"/>
              </a:lnSpc>
              <a:spcAft>
                <a:spcPts val="1152"/>
              </a:spcAft>
              <a:buFont typeface="Arial"/>
              <a:buChar char="•"/>
            </a:pPr>
            <a:r>
              <a:rPr sz="1200" b="1">
                <a:solidFill>
                  <a:srgbClr val="FFFFFF"/>
                </a:solidFill>
                <a:latin typeface="Arial"/>
              </a:rPr>
              <a:t>Port numbers  </a:t>
            </a:r>
            <a:r>
              <a:rPr sz="1200">
                <a:solidFill>
                  <a:srgbClr val="D1D5DB"/>
                </a:solidFill>
                <a:latin typeface="Arial"/>
              </a:rPr>
              <a:t>so one machine runs web, mail and file sharing without confusion</a:t>
            </a:r>
          </a:p>
          <a:p>
            <a:pPr marL="182880" indent="137160">
              <a:lnSpc>
                <a:spcPct val="108000"/>
              </a:lnSpc>
              <a:spcAft>
                <a:spcPts val="1152"/>
              </a:spcAft>
              <a:buFont typeface="Arial"/>
              <a:buChar char="•"/>
            </a:pPr>
            <a:r>
              <a:rPr sz="1200" b="1">
                <a:solidFill>
                  <a:srgbClr val="FFFFFF"/>
                </a:solidFill>
                <a:latin typeface="Arial"/>
              </a:rPr>
              <a:t>Transmission Control Protocol  </a:t>
            </a:r>
            <a:r>
              <a:rPr sz="1200">
                <a:solidFill>
                  <a:srgbClr val="D1D5DB"/>
                </a:solidFill>
                <a:latin typeface="Arial"/>
              </a:rPr>
              <a:t>connection oriented, numbers every segment, retransmits losses</a:t>
            </a:r>
          </a:p>
          <a:p>
            <a:pPr marL="182880" indent="137160">
              <a:lnSpc>
                <a:spcPct val="108000"/>
              </a:lnSpc>
              <a:spcAft>
                <a:spcPts val="1152"/>
              </a:spcAft>
              <a:buFont typeface="Arial"/>
              <a:buChar char="•"/>
            </a:pPr>
            <a:r>
              <a:rPr sz="1200" b="1">
                <a:solidFill>
                  <a:srgbClr val="FFFFFF"/>
                </a:solidFill>
                <a:latin typeface="Arial"/>
              </a:rPr>
              <a:t>User Datagram Protocol  </a:t>
            </a:r>
            <a:r>
              <a:rPr sz="1200">
                <a:solidFill>
                  <a:srgbClr val="D1D5DB"/>
                </a:solidFill>
                <a:latin typeface="Arial"/>
              </a:rPr>
              <a:t>connectionless, no guarantee, no ordering, lower latency</a:t>
            </a:r>
          </a:p>
          <a:p>
            <a:pPr marL="182880" indent="137160">
              <a:lnSpc>
                <a:spcPct val="108000"/>
              </a:lnSpc>
              <a:spcAft>
                <a:spcPts val="1152"/>
              </a:spcAft>
              <a:buFont typeface="Arial"/>
              <a:buChar char="•"/>
            </a:pPr>
            <a:r>
              <a:rPr sz="1200" b="1">
                <a:solidFill>
                  <a:srgbClr val="FFFFFF"/>
                </a:solidFill>
                <a:latin typeface="Arial"/>
              </a:rPr>
              <a:t>The question to ask  </a:t>
            </a:r>
            <a:r>
              <a:rPr sz="1200">
                <a:solidFill>
                  <a:srgbClr val="D1D5DB"/>
                </a:solidFill>
                <a:latin typeface="Arial"/>
              </a:rPr>
              <a:t>does this application need reliability, or does it need speed?</a:t>
            </a:r>
          </a:p>
        </p:txBody>
      </p:sp>
      <p:sp>
        <p:nvSpPr>
          <p:cNvPr id="7" name="Rounded Rectangle 6"/>
          <p:cNvSpPr/>
          <p:nvPr/>
        </p:nvSpPr>
        <p:spPr>
          <a:xfrm>
            <a:off x="502920" y="3364992"/>
            <a:ext cx="8138160" cy="9418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Where each one belongs</a:t>
            </a:r>
          </a:p>
        </p:txBody>
      </p:sp>
      <p:sp>
        <p:nvSpPr>
          <p:cNvPr id="8" name="TextBox 7"/>
          <p:cNvSpPr txBox="1"/>
          <p:nvPr/>
        </p:nvSpPr>
        <p:spPr>
          <a:xfrm>
            <a:off x="731520" y="3931920"/>
            <a:ext cx="7680960" cy="320040"/>
          </a:xfrm>
          <a:prstGeom prst="rect">
            <a:avLst/>
          </a:prstGeom>
          <a:noFill/>
        </p:spPr>
        <p:txBody>
          <a:bodyPr wrap="square" lIns="0" rIns="0" tIns="0" bIns="0">
            <a:spAutoFit/>
          </a:bodyPr>
          <a:lstStyle/>
          <a:p>
            <a:pPr>
              <a:lnSpc>
                <a:spcPct val="108000"/>
              </a:lnSpc>
            </a:pPr>
            <a:r>
              <a:rPr sz="1250">
                <a:solidFill>
                  <a:srgbClr val="F3D9D9"/>
                </a:solidFill>
                <a:latin typeface="Arial"/>
              </a:rPr>
              <a:t>Reliability for web, email and file transfer, where a missing byte matters. Speed for voice, video and lookups.</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NETWORK, TRANSPORT AND ABOVE</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TCP versus UDP</a:t>
            </a:r>
          </a:p>
        </p:txBody>
      </p:sp>
      <p:graphicFrame>
        <p:nvGraphicFramePr>
          <p:cNvPr id="6" name="Table 5"/>
          <p:cNvGraphicFramePr>
            <a:graphicFrameLocks noGrp="1"/>
          </p:cNvGraphicFramePr>
          <p:nvPr/>
        </p:nvGraphicFramePr>
        <p:xfrm>
          <a:off x="502920" y="1737360"/>
          <a:ext cx="8138159" cy="1975104"/>
        </p:xfrm>
        <a:graphic>
          <a:graphicData uri="http://schemas.openxmlformats.org/drawingml/2006/table">
            <a:tbl>
              <a:tblPr firstRow="1" bandRow="1">
                <a:tableStyleId>{5C22544A-7EE6-4342-B048-85BDC9FD1C3A}</a:tableStyleId>
              </a:tblPr>
              <a:tblGrid>
                <a:gridCol w="1645919"/>
                <a:gridCol w="3246120"/>
                <a:gridCol w="3246120"/>
              </a:tblGrid>
              <a:tr h="329184">
                <a:tc>
                  <a:txBody>
                    <a:bodyPr/>
                    <a:lstStyle/>
                    <a:p>
                      <a:pPr algn="l"/>
                      <a:r>
                        <a:rPr sz="1100" b="1">
                          <a:solidFill>
                            <a:srgbClr val="FFFFFF"/>
                          </a:solidFill>
                          <a:latin typeface="Arial"/>
                        </a:rPr>
                        <a:t>Feature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Transmission Control Protocol</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User Datagram Protocol</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4">
                <a:tc>
                  <a:txBody>
                    <a:bodyPr/>
                    <a:lstStyle/>
                    <a:p>
                      <a:pPr algn="l"/>
                      <a:r>
                        <a:rPr sz="1100" b="0">
                          <a:solidFill>
                            <a:srgbClr val="D1D5DB"/>
                          </a:solidFill>
                          <a:latin typeface="Arial"/>
                        </a:rPr>
                        <a:t>Connection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Connection oriented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Connectionless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Reliability</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Guaranteed, retransmits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Best effort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Ordering</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Sequence numbered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Not guaranteed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Speed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Slower</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Faster</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Typical use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Web, email, file transfer</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Voice, video, lookups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bl>
          </a:graphicData>
        </a:graphic>
      </p:graphicFrame>
      <p:sp>
        <p:nvSpPr>
          <p:cNvPr id="7" name="Rounded Rectangle 6"/>
          <p:cNvSpPr/>
          <p:nvPr/>
        </p:nvSpPr>
        <p:spPr>
          <a:xfrm>
            <a:off x="502920" y="3721608"/>
            <a:ext cx="8138160" cy="9418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Why latency beats retransmission</a:t>
            </a:r>
          </a:p>
        </p:txBody>
      </p:sp>
      <p:sp>
        <p:nvSpPr>
          <p:cNvPr id="8" name="TextBox 7"/>
          <p:cNvSpPr txBox="1"/>
          <p:nvPr/>
        </p:nvSpPr>
        <p:spPr>
          <a:xfrm>
            <a:off x="731520" y="4288536"/>
            <a:ext cx="7680960" cy="320040"/>
          </a:xfrm>
          <a:prstGeom prst="rect">
            <a:avLst/>
          </a:prstGeom>
          <a:noFill/>
        </p:spPr>
        <p:txBody>
          <a:bodyPr wrap="square" lIns="0" rIns="0" tIns="0" bIns="0">
            <a:spAutoFit/>
          </a:bodyPr>
          <a:lstStyle/>
          <a:p>
            <a:pPr>
              <a:lnSpc>
                <a:spcPct val="108000"/>
              </a:lnSpc>
            </a:pPr>
            <a:r>
              <a:rPr sz="1250">
                <a:solidFill>
                  <a:srgbClr val="F3D9D9"/>
                </a:solidFill>
                <a:latin typeface="Arial"/>
              </a:rPr>
              <a:t>If a packet of a video call arrives too late you do not want it retransmitted. A missing byte of a file transfer, you do.</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NETWORK, TRANSPORT AND ABOVE</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The upper layers: 5, 6 and 7</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250" b="1">
                <a:solidFill>
                  <a:srgbClr val="FFFFFF"/>
                </a:solidFill>
                <a:latin typeface="Arial"/>
              </a:rPr>
              <a:t>Session  </a:t>
            </a:r>
            <a:r>
              <a:rPr sz="1250">
                <a:solidFill>
                  <a:srgbClr val="D1D5DB"/>
                </a:solidFill>
                <a:latin typeface="Arial"/>
              </a:rPr>
              <a:t>establishes, manages and terminates conversations between applications</a:t>
            </a:r>
          </a:p>
          <a:p>
            <a:pPr marL="182880" indent="137160">
              <a:lnSpc>
                <a:spcPct val="108000"/>
              </a:lnSpc>
              <a:spcAft>
                <a:spcPts val="1152"/>
              </a:spcAft>
              <a:buFont typeface="Arial"/>
              <a:buChar char="•"/>
            </a:pPr>
            <a:r>
              <a:rPr sz="1250" b="1">
                <a:solidFill>
                  <a:srgbClr val="FFFFFF"/>
                </a:solidFill>
                <a:latin typeface="Arial"/>
              </a:rPr>
              <a:t>Session: dialogue control  </a:t>
            </a:r>
            <a:r>
              <a:rPr sz="1250">
                <a:solidFill>
                  <a:srgbClr val="D1D5DB"/>
                </a:solidFill>
                <a:latin typeface="Arial"/>
              </a:rPr>
              <a:t>whose turn it is to talk, and checkpoints in long transfers</a:t>
            </a:r>
          </a:p>
          <a:p>
            <a:pPr marL="182880" indent="137160">
              <a:lnSpc>
                <a:spcPct val="108000"/>
              </a:lnSpc>
              <a:spcAft>
                <a:spcPts val="1152"/>
              </a:spcAft>
              <a:buFont typeface="Arial"/>
              <a:buChar char="•"/>
            </a:pPr>
            <a:r>
              <a:rPr sz="1250" b="1">
                <a:solidFill>
                  <a:srgbClr val="FFFFFF"/>
                </a:solidFill>
                <a:latin typeface="Arial"/>
              </a:rPr>
              <a:t>Presentation  </a:t>
            </a:r>
            <a:r>
              <a:rPr sz="1250">
                <a:solidFill>
                  <a:srgbClr val="D1D5DB"/>
                </a:solidFill>
                <a:latin typeface="Arial"/>
              </a:rPr>
              <a:t>the translator, converting between data formats</a:t>
            </a:r>
          </a:p>
          <a:p>
            <a:pPr marL="182880" indent="137160">
              <a:lnSpc>
                <a:spcPct val="108000"/>
              </a:lnSpc>
              <a:spcAft>
                <a:spcPts val="1152"/>
              </a:spcAft>
              <a:buFont typeface="Arial"/>
              <a:buChar char="•"/>
            </a:pPr>
            <a:r>
              <a:rPr sz="1250" b="1">
                <a:solidFill>
                  <a:srgbClr val="FFFFFF"/>
                </a:solidFill>
                <a:latin typeface="Arial"/>
              </a:rPr>
              <a:t>Presentation: layer 6  </a:t>
            </a:r>
            <a:r>
              <a:rPr sz="1250">
                <a:solidFill>
                  <a:srgbClr val="D1D5DB"/>
                </a:solidFill>
                <a:latin typeface="Arial"/>
              </a:rPr>
              <a:t>handles compression and encryption</a:t>
            </a:r>
          </a:p>
          <a:p>
            <a:pPr marL="182880" indent="137160">
              <a:lnSpc>
                <a:spcPct val="108000"/>
              </a:lnSpc>
              <a:spcAft>
                <a:spcPts val="1152"/>
              </a:spcAft>
              <a:buFont typeface="Arial"/>
              <a:buChar char="•"/>
            </a:pPr>
            <a:r>
              <a:rPr sz="1250" b="1">
                <a:solidFill>
                  <a:srgbClr val="FFFFFF"/>
                </a:solidFill>
                <a:latin typeface="Arial"/>
              </a:rPr>
              <a:t>Application  </a:t>
            </a:r>
            <a:r>
              <a:rPr sz="1250">
                <a:solidFill>
                  <a:srgbClr val="D1D5DB"/>
                </a:solidFill>
                <a:latin typeface="Arial"/>
              </a:rPr>
              <a:t>where HTTP for the web and DNS for name resolution live</a:t>
            </a:r>
          </a:p>
        </p:txBody>
      </p:sp>
      <p:sp>
        <p:nvSpPr>
          <p:cNvPr id="7" name="Rounded Rectangle 6"/>
          <p:cNvSpPr/>
          <p:nvPr/>
        </p:nvSpPr>
        <p:spPr>
          <a:xfrm>
            <a:off x="502920" y="3410712"/>
            <a:ext cx="8138160" cy="9418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Exam trap</a:t>
            </a:r>
          </a:p>
        </p:txBody>
      </p:sp>
      <p:sp>
        <p:nvSpPr>
          <p:cNvPr id="8" name="TextBox 7"/>
          <p:cNvSpPr txBox="1"/>
          <p:nvPr/>
        </p:nvSpPr>
        <p:spPr>
          <a:xfrm>
            <a:off x="731520" y="3977639"/>
            <a:ext cx="7680960" cy="320040"/>
          </a:xfrm>
          <a:prstGeom prst="rect">
            <a:avLst/>
          </a:prstGeom>
          <a:noFill/>
        </p:spPr>
        <p:txBody>
          <a:bodyPr wrap="square" lIns="0" rIns="0" tIns="0" bIns="0">
            <a:spAutoFit/>
          </a:bodyPr>
          <a:lstStyle/>
          <a:p>
            <a:pPr>
              <a:lnSpc>
                <a:spcPct val="108000"/>
              </a:lnSpc>
            </a:pPr>
            <a:r>
              <a:rPr sz="1250">
                <a:solidFill>
                  <a:srgbClr val="F3D9D9"/>
                </a:solidFill>
                <a:latin typeface="Arial"/>
              </a:rPr>
              <a:t>The application layer is the protocol layer, not the program itself. That distinction is examined directly.</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822960"/>
            <a:ext cx="7315200" cy="292608"/>
          </a:xfrm>
          <a:prstGeom prst="rect">
            <a:avLst/>
          </a:prstGeom>
          <a:noFill/>
        </p:spPr>
        <p:txBody>
          <a:bodyPr wrap="square" anchor="t" lIns="0" rIns="0" tIns="0" bIns="0">
            <a:spAutoFit/>
          </a:bodyPr>
          <a:lstStyle/>
          <a:p>
            <a:pPr algn="l"/>
            <a:r>
              <a:rPr sz="1300" b="1" spc="300">
                <a:solidFill>
                  <a:srgbClr val="C22828"/>
                </a:solidFill>
                <a:latin typeface="Arial"/>
              </a:rPr>
              <a:t>DISCUSSION</a:t>
            </a:r>
          </a:p>
        </p:txBody>
      </p:sp>
      <p:sp>
        <p:nvSpPr>
          <p:cNvPr id="5" name="TextBox 4"/>
          <p:cNvSpPr txBox="1"/>
          <p:nvPr/>
        </p:nvSpPr>
        <p:spPr>
          <a:xfrm>
            <a:off x="502920" y="1234440"/>
            <a:ext cx="8138160" cy="1600200"/>
          </a:xfrm>
          <a:prstGeom prst="rect">
            <a:avLst/>
          </a:prstGeom>
          <a:noFill/>
        </p:spPr>
        <p:txBody>
          <a:bodyPr wrap="square" anchor="t" lIns="0" rIns="0" tIns="0" bIns="0">
            <a:spAutoFit/>
          </a:bodyPr>
          <a:lstStyle/>
          <a:p>
            <a:pPr algn="l">
              <a:lnSpc>
                <a:spcPct val="110000"/>
              </a:lnSpc>
            </a:pPr>
            <a:r>
              <a:rPr sz="2800" b="1">
                <a:solidFill>
                  <a:srgbClr val="FFFFFF"/>
                </a:solidFill>
                <a:latin typeface="Arial"/>
              </a:rPr>
              <a:t>Name the layer first, then the control presents itself. Why does that work?</a:t>
            </a:r>
          </a:p>
        </p:txBody>
      </p:sp>
      <p:sp>
        <p:nvSpPr>
          <p:cNvPr id="6" name="Rounded Rectangle 5"/>
          <p:cNvSpPr/>
          <p:nvPr/>
        </p:nvSpPr>
        <p:spPr>
          <a:xfrm>
            <a:off x="502920" y="2971800"/>
            <a:ext cx="8138160" cy="914400"/>
          </a:xfrm>
          <a:prstGeom prst="roundRect">
            <a:avLst>
              <a:gd name="adj" fmla="val 8000"/>
            </a:avLst>
          </a:prstGeom>
          <a:solidFill>
            <a:srgbClr val="171717"/>
          </a:solidFill>
          <a:ln w="15875">
            <a:solidFill>
              <a:srgbClr val="A8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090672"/>
            <a:ext cx="7589520" cy="685800"/>
          </a:xfrm>
          <a:prstGeom prst="rect">
            <a:avLst/>
          </a:prstGeom>
          <a:noFill/>
        </p:spPr>
        <p:txBody>
          <a:bodyPr wrap="square" anchor="ctr" lIns="0" rIns="0" tIns="0" bIns="0">
            <a:spAutoFit/>
          </a:bodyPr>
          <a:lstStyle/>
          <a:p>
            <a:pPr algn="l">
              <a:lnSpc>
                <a:spcPct val="112000"/>
              </a:lnSpc>
            </a:pPr>
            <a:r>
              <a:rPr sz="1350" b="0">
                <a:solidFill>
                  <a:srgbClr val="D1D5DB"/>
                </a:solidFill>
                <a:latin typeface="Arial"/>
              </a:rPr>
              <a:t>A web attack arrives at layer 7, so the answer is a web application firewall. A spoofed packet arrives at layer 3, so filter at the router. A rogue switch or a poisoned address table is layer 2, so use port security.</a:t>
            </a:r>
          </a:p>
        </p:txBody>
      </p:sp>
      <p:sp>
        <p:nvSpPr>
          <p:cNvPr id="8" name="TextBox 7"/>
          <p:cNvSpPr txBox="1"/>
          <p:nvPr/>
        </p:nvSpPr>
        <p:spPr>
          <a:xfrm>
            <a:off x="502920" y="4114800"/>
            <a:ext cx="8138160" cy="365760"/>
          </a:xfrm>
          <a:prstGeom prst="rect">
            <a:avLst/>
          </a:prstGeom>
          <a:noFill/>
        </p:spPr>
        <p:txBody>
          <a:bodyPr wrap="square" anchor="t" lIns="0" rIns="0" tIns="0" bIns="0">
            <a:spAutoFit/>
          </a:bodyPr>
          <a:lstStyle/>
          <a:p>
            <a:pPr algn="l"/>
            <a:r>
              <a:rPr sz="1150" b="0">
                <a:solidFill>
                  <a:srgbClr val="9CA3AF"/>
                </a:solidFill>
                <a:latin typeface="Arial"/>
              </a:rPr>
              <a:t>Each layer has its own attack and its own defence, and that is a direct consequence of each layer having one job.</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828800" y="1371600"/>
            <a:ext cx="5486400" cy="2194560"/>
          </a:xfrm>
          <a:prstGeom prst="roundRect">
            <a:avLst>
              <a:gd name="adj" fmla="val 6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691640"/>
            <a:ext cx="5486400" cy="640080"/>
          </a:xfrm>
          <a:prstGeom prst="rect">
            <a:avLst/>
          </a:prstGeom>
          <a:noFill/>
        </p:spPr>
        <p:txBody>
          <a:bodyPr wrap="square" anchor="t" lIns="0" rIns="0" tIns="0" bIns="0">
            <a:spAutoFit/>
          </a:bodyPr>
          <a:lstStyle/>
          <a:p>
            <a:pPr algn="ctr"/>
            <a:r>
              <a:rPr sz="4400" b="1" spc="500">
                <a:solidFill>
                  <a:srgbClr val="FFFFFF"/>
                </a:solidFill>
                <a:latin typeface="Arial"/>
              </a:rPr>
              <a:t>BREAK</a:t>
            </a:r>
          </a:p>
        </p:txBody>
      </p:sp>
      <p:sp>
        <p:nvSpPr>
          <p:cNvPr id="6" name="TextBox 5"/>
          <p:cNvSpPr txBox="1"/>
          <p:nvPr/>
        </p:nvSpPr>
        <p:spPr>
          <a:xfrm>
            <a:off x="1828800" y="2377440"/>
            <a:ext cx="5486400" cy="457200"/>
          </a:xfrm>
          <a:prstGeom prst="rect">
            <a:avLst/>
          </a:prstGeom>
          <a:noFill/>
        </p:spPr>
        <p:txBody>
          <a:bodyPr wrap="square" anchor="t" lIns="0" rIns="0" tIns="0" bIns="0">
            <a:spAutoFit/>
          </a:bodyPr>
          <a:lstStyle/>
          <a:p>
            <a:pPr algn="ctr"/>
            <a:r>
              <a:rPr sz="2000" b="1" spc="200">
                <a:solidFill>
                  <a:srgbClr val="F3D9D9"/>
                </a:solidFill>
                <a:latin typeface="Arial"/>
              </a:rPr>
              <a:t>10 MINUTES</a:t>
            </a:r>
          </a:p>
        </p:txBody>
      </p:sp>
      <p:sp>
        <p:nvSpPr>
          <p:cNvPr id="7" name="TextBox 6"/>
          <p:cNvSpPr txBox="1"/>
          <p:nvPr/>
        </p:nvSpPr>
        <p:spPr>
          <a:xfrm>
            <a:off x="1371600" y="3794760"/>
            <a:ext cx="6400800" cy="640080"/>
          </a:xfrm>
          <a:prstGeom prst="rect">
            <a:avLst/>
          </a:prstGeom>
          <a:noFill/>
        </p:spPr>
        <p:txBody>
          <a:bodyPr wrap="square" anchor="t" lIns="0" rIns="0" tIns="0" bIns="0">
            <a:spAutoFit/>
          </a:bodyPr>
          <a:lstStyle/>
          <a:p>
            <a:pPr algn="ctr">
              <a:lnSpc>
                <a:spcPct val="115000"/>
              </a:lnSpc>
            </a:pPr>
            <a:r>
              <a:rPr sz="1300" b="0">
                <a:solidFill>
                  <a:srgbClr val="D1D5DB"/>
                </a:solidFill>
                <a:latin typeface="Arial"/>
              </a:rPr>
              <a:t>Back soon: the media your signals travel through, the topologies we arrange them in, then IPv4 addressing and subnetting.</a:t>
            </a:r>
          </a:p>
        </p:txBody>
      </p:sp>
      <p:sp>
        <p:nvSpPr>
          <p:cNvPr id="8" name="TextBox 7"/>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9" name="TextBox 8"/>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0" name="Picture 9"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1" name="TextBox 10"/>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MEDIA AND TOPOLOGIES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Wireless transmission media</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200" b="1">
                <a:solidFill>
                  <a:srgbClr val="FFFFFF"/>
                </a:solidFill>
                <a:latin typeface="Arial"/>
              </a:rPr>
              <a:t>Radio waves  </a:t>
            </a:r>
            <a:r>
              <a:rPr sz="1200">
                <a:solidFill>
                  <a:srgbClr val="D1D5DB"/>
                </a:solidFill>
                <a:latin typeface="Arial"/>
              </a:rPr>
              <a:t>carry data through the air, with no cabling to install</a:t>
            </a:r>
          </a:p>
          <a:p>
            <a:pPr marL="182880" indent="137160">
              <a:lnSpc>
                <a:spcPct val="108000"/>
              </a:lnSpc>
              <a:spcAft>
                <a:spcPts val="1152"/>
              </a:spcAft>
              <a:buFont typeface="Arial"/>
              <a:buChar char="•"/>
            </a:pPr>
            <a:r>
              <a:rPr sz="1200" b="1">
                <a:solidFill>
                  <a:srgbClr val="FFFFFF"/>
                </a:solidFill>
                <a:latin typeface="Arial"/>
              </a:rPr>
              <a:t>Mobility  </a:t>
            </a:r>
            <a:r>
              <a:rPr sz="1200">
                <a:solidFill>
                  <a:srgbClr val="D1D5DB"/>
                </a:solidFill>
                <a:latin typeface="Arial"/>
              </a:rPr>
              <a:t>the obvious benefit of the wireless medium</a:t>
            </a:r>
          </a:p>
          <a:p>
            <a:pPr marL="182880" indent="137160">
              <a:lnSpc>
                <a:spcPct val="108000"/>
              </a:lnSpc>
              <a:spcAft>
                <a:spcPts val="1152"/>
              </a:spcAft>
              <a:buFont typeface="Arial"/>
              <a:buChar char="•"/>
            </a:pPr>
            <a:r>
              <a:rPr sz="1200" b="1">
                <a:solidFill>
                  <a:srgbClr val="FFFFFF"/>
                </a:solidFill>
                <a:latin typeface="Arial"/>
              </a:rPr>
              <a:t>Frequency bands  </a:t>
            </a:r>
            <a:r>
              <a:rPr sz="1200">
                <a:solidFill>
                  <a:srgbClr val="D1D5DB"/>
                </a:solidFill>
                <a:latin typeface="Arial"/>
              </a:rPr>
              <a:t>the band you choose is a real trade-off</a:t>
            </a:r>
          </a:p>
          <a:p>
            <a:pPr marL="182880" indent="137160">
              <a:lnSpc>
                <a:spcPct val="108000"/>
              </a:lnSpc>
              <a:spcAft>
                <a:spcPts val="1152"/>
              </a:spcAft>
              <a:buFont typeface="Arial"/>
              <a:buChar char="•"/>
            </a:pPr>
            <a:r>
              <a:rPr sz="1200" b="1">
                <a:solidFill>
                  <a:srgbClr val="FFFFFF"/>
                </a:solidFill>
                <a:latin typeface="Arial"/>
              </a:rPr>
              <a:t>Lower frequencies  </a:t>
            </a:r>
            <a:r>
              <a:rPr sz="1200">
                <a:solidFill>
                  <a:srgbClr val="D1D5DB"/>
                </a:solidFill>
                <a:latin typeface="Arial"/>
              </a:rPr>
              <a:t>travel further, pass through walls, carry less data</a:t>
            </a:r>
          </a:p>
          <a:p>
            <a:pPr marL="182880" indent="137160">
              <a:lnSpc>
                <a:spcPct val="108000"/>
              </a:lnSpc>
              <a:spcAft>
                <a:spcPts val="1152"/>
              </a:spcAft>
              <a:buFont typeface="Arial"/>
              <a:buChar char="•"/>
            </a:pPr>
            <a:r>
              <a:rPr sz="1200" b="1">
                <a:solidFill>
                  <a:srgbClr val="FFFFFF"/>
                </a:solidFill>
                <a:latin typeface="Arial"/>
              </a:rPr>
              <a:t>Higher frequencies  </a:t>
            </a:r>
            <a:r>
              <a:rPr sz="1200">
                <a:solidFill>
                  <a:srgbClr val="D1D5DB"/>
                </a:solidFill>
                <a:latin typeface="Arial"/>
              </a:rPr>
              <a:t>carry much more data over shorter distances</a:t>
            </a:r>
          </a:p>
          <a:p>
            <a:pPr marL="182880" indent="137160">
              <a:lnSpc>
                <a:spcPct val="108000"/>
              </a:lnSpc>
              <a:spcAft>
                <a:spcPts val="1152"/>
              </a:spcAft>
              <a:buFont typeface="Arial"/>
              <a:buChar char="•"/>
            </a:pPr>
            <a:r>
              <a:rPr sz="1200" b="1">
                <a:solidFill>
                  <a:srgbClr val="FFFFFF"/>
                </a:solidFill>
                <a:latin typeface="Arial"/>
              </a:rPr>
              <a:t>The limitation  </a:t>
            </a:r>
            <a:r>
              <a:rPr sz="1200">
                <a:solidFill>
                  <a:srgbClr val="D1D5DB"/>
                </a:solidFill>
                <a:latin typeface="Arial"/>
              </a:rPr>
              <a:t>wireless is shared, so every device competes for airtime</a:t>
            </a:r>
          </a:p>
        </p:txBody>
      </p:sp>
      <p:sp>
        <p:nvSpPr>
          <p:cNvPr id="7" name="Rounded Rectangle 6"/>
          <p:cNvSpPr/>
          <p:nvPr/>
        </p:nvSpPr>
        <p:spPr>
          <a:xfrm>
            <a:off x="502920" y="3694176"/>
            <a:ext cx="8138160" cy="740664"/>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Design note</a:t>
            </a:r>
          </a:p>
        </p:txBody>
      </p:sp>
      <p:sp>
        <p:nvSpPr>
          <p:cNvPr id="8" name="TextBox 7"/>
          <p:cNvSpPr txBox="1"/>
          <p:nvPr/>
        </p:nvSpPr>
        <p:spPr>
          <a:xfrm>
            <a:off x="731520" y="4261104"/>
            <a:ext cx="7680960" cy="118872"/>
          </a:xfrm>
          <a:prstGeom prst="rect">
            <a:avLst/>
          </a:prstGeom>
          <a:noFill/>
        </p:spPr>
        <p:txBody>
          <a:bodyPr wrap="square" lIns="0" rIns="0" tIns="0" bIns="0">
            <a:spAutoFit/>
          </a:bodyPr>
          <a:lstStyle/>
          <a:p>
            <a:pPr>
              <a:lnSpc>
                <a:spcPct val="108000"/>
              </a:lnSpc>
            </a:pPr>
            <a:r>
              <a:rPr sz="1250">
                <a:solidFill>
                  <a:srgbClr val="F3D9D9"/>
                </a:solidFill>
                <a:latin typeface="Arial"/>
              </a:rPr>
              <a:t>Performance drops as clients join the channel, and drops further with outside interference.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MEDIA AND TOPOLOGIES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Wired transmission media</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200" b="1">
                <a:solidFill>
                  <a:srgbClr val="FFFFFF"/>
                </a:solidFill>
                <a:latin typeface="Arial"/>
              </a:rPr>
              <a:t>Twisted pair  </a:t>
            </a:r>
            <a:r>
              <a:rPr sz="1200">
                <a:solidFill>
                  <a:srgbClr val="D1D5DB"/>
                </a:solidFill>
                <a:latin typeface="Arial"/>
              </a:rPr>
              <a:t>the cheapest and easiest to install, so it fills every office</a:t>
            </a:r>
          </a:p>
          <a:p>
            <a:pPr marL="182880" indent="137160">
              <a:lnSpc>
                <a:spcPct val="108000"/>
              </a:lnSpc>
              <a:spcAft>
                <a:spcPts val="1152"/>
              </a:spcAft>
              <a:buFont typeface="Arial"/>
              <a:buChar char="•"/>
            </a:pPr>
            <a:r>
              <a:rPr sz="1200" b="1">
                <a:solidFill>
                  <a:srgbClr val="FFFFFF"/>
                </a:solidFill>
                <a:latin typeface="Arial"/>
              </a:rPr>
              <a:t>Categories  </a:t>
            </a:r>
            <a:r>
              <a:rPr sz="1200">
                <a:solidFill>
                  <a:srgbClr val="D1D5DB"/>
                </a:solidFill>
                <a:latin typeface="Arial"/>
              </a:rPr>
              <a:t>rate capability, such as Category 5e and Category 6</a:t>
            </a:r>
          </a:p>
          <a:p>
            <a:pPr marL="182880" indent="137160">
              <a:lnSpc>
                <a:spcPct val="108000"/>
              </a:lnSpc>
              <a:spcAft>
                <a:spcPts val="1152"/>
              </a:spcAft>
              <a:buFont typeface="Arial"/>
              <a:buChar char="•"/>
            </a:pPr>
            <a:r>
              <a:rPr sz="1200" b="1">
                <a:solidFill>
                  <a:srgbClr val="FFFFFF"/>
                </a:solidFill>
                <a:latin typeface="Arial"/>
              </a:rPr>
              <a:t>Shielding  </a:t>
            </a:r>
            <a:r>
              <a:rPr sz="1200">
                <a:solidFill>
                  <a:srgbClr val="D1D5DB"/>
                </a:solidFill>
                <a:latin typeface="Arial"/>
              </a:rPr>
              <a:t>reduces interference from motors, lighting and other sources</a:t>
            </a:r>
          </a:p>
          <a:p>
            <a:pPr marL="182880" indent="137160">
              <a:lnSpc>
                <a:spcPct val="108000"/>
              </a:lnSpc>
              <a:spcAft>
                <a:spcPts val="1152"/>
              </a:spcAft>
              <a:buFont typeface="Arial"/>
              <a:buChar char="•"/>
            </a:pPr>
            <a:r>
              <a:rPr sz="1200" b="1">
                <a:solidFill>
                  <a:srgbClr val="FFFFFF"/>
                </a:solidFill>
                <a:latin typeface="Arial"/>
              </a:rPr>
              <a:t>Coaxial  </a:t>
            </a:r>
            <a:r>
              <a:rPr sz="1200">
                <a:solidFill>
                  <a:srgbClr val="D1D5DB"/>
                </a:solidFill>
                <a:latin typeface="Arial"/>
              </a:rPr>
              <a:t>higher frequencies than twisted pair; legacy networks and broadband</a:t>
            </a:r>
          </a:p>
          <a:p>
            <a:pPr marL="182880" indent="137160">
              <a:lnSpc>
                <a:spcPct val="108000"/>
              </a:lnSpc>
              <a:spcAft>
                <a:spcPts val="1152"/>
              </a:spcAft>
              <a:buFont typeface="Arial"/>
              <a:buChar char="•"/>
            </a:pPr>
            <a:r>
              <a:rPr sz="1200" b="1">
                <a:solidFill>
                  <a:srgbClr val="FFFFFF"/>
                </a:solidFill>
                <a:latin typeface="Arial"/>
              </a:rPr>
              <a:t>Fibre  </a:t>
            </a:r>
            <a:r>
              <a:rPr sz="1200">
                <a:solidFill>
                  <a:srgbClr val="D1D5DB"/>
                </a:solidFill>
                <a:latin typeface="Arial"/>
              </a:rPr>
              <a:t>carries light rather than electricity, so it is immune to interference</a:t>
            </a:r>
          </a:p>
          <a:p>
            <a:pPr marL="182880" indent="137160">
              <a:lnSpc>
                <a:spcPct val="108000"/>
              </a:lnSpc>
              <a:spcAft>
                <a:spcPts val="1152"/>
              </a:spcAft>
              <a:buFont typeface="Arial"/>
              <a:buChar char="•"/>
            </a:pPr>
            <a:r>
              <a:rPr sz="1200" b="1">
                <a:solidFill>
                  <a:srgbClr val="FFFFFF"/>
                </a:solidFill>
                <a:latin typeface="Arial"/>
              </a:rPr>
              <a:t>Fibre distance  </a:t>
            </a:r>
            <a:r>
              <a:rPr sz="1200">
                <a:solidFill>
                  <a:srgbClr val="D1D5DB"/>
                </a:solidFill>
                <a:latin typeface="Arial"/>
              </a:rPr>
              <a:t>spans the longest distances at the highest bandwidth</a:t>
            </a:r>
          </a:p>
        </p:txBody>
      </p:sp>
      <p:sp>
        <p:nvSpPr>
          <p:cNvPr id="7" name="Rounded Rectangle 6"/>
          <p:cNvSpPr/>
          <p:nvPr/>
        </p:nvSpPr>
        <p:spPr>
          <a:xfrm>
            <a:off x="502920" y="3694176"/>
            <a:ext cx="8138160" cy="740664"/>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Rule of thumb</a:t>
            </a:r>
          </a:p>
        </p:txBody>
      </p:sp>
      <p:sp>
        <p:nvSpPr>
          <p:cNvPr id="8" name="TextBox 7"/>
          <p:cNvSpPr txBox="1"/>
          <p:nvPr/>
        </p:nvSpPr>
        <p:spPr>
          <a:xfrm>
            <a:off x="731520" y="4261104"/>
            <a:ext cx="7680960" cy="118872"/>
          </a:xfrm>
          <a:prstGeom prst="rect">
            <a:avLst/>
          </a:prstGeom>
          <a:noFill/>
        </p:spPr>
        <p:txBody>
          <a:bodyPr wrap="square" lIns="0" rIns="0" tIns="0" bIns="0">
            <a:spAutoFit/>
          </a:bodyPr>
          <a:lstStyle/>
          <a:p>
            <a:pPr>
              <a:lnSpc>
                <a:spcPct val="108000"/>
              </a:lnSpc>
            </a:pPr>
            <a:r>
              <a:rPr sz="1250">
                <a:solidFill>
                  <a:srgbClr val="F3D9D9"/>
                </a:solidFill>
                <a:latin typeface="Arial"/>
              </a:rPr>
              <a:t>Running a link between two buildings? Fibre is almost always the answer.</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MEDIA AND TOPOLOGIES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Choosing the right cable</a:t>
            </a:r>
          </a:p>
        </p:txBody>
      </p:sp>
      <p:graphicFrame>
        <p:nvGraphicFramePr>
          <p:cNvPr id="6" name="Table 5"/>
          <p:cNvGraphicFramePr>
            <a:graphicFrameLocks noGrp="1"/>
          </p:cNvGraphicFramePr>
          <p:nvPr/>
        </p:nvGraphicFramePr>
        <p:xfrm>
          <a:off x="502920" y="1737360"/>
          <a:ext cx="8138160" cy="1645919"/>
        </p:xfrm>
        <a:graphic>
          <a:graphicData uri="http://schemas.openxmlformats.org/drawingml/2006/table">
            <a:tbl>
              <a:tblPr firstRow="1" bandRow="1">
                <a:tableStyleId>{5C22544A-7EE6-4342-B048-85BDC9FD1C3A}</a:tableStyleId>
              </a:tblPr>
              <a:tblGrid>
                <a:gridCol w="2286000"/>
                <a:gridCol w="1554480"/>
                <a:gridCol w="4297680"/>
              </a:tblGrid>
              <a:tr h="329183">
                <a:tc>
                  <a:txBody>
                    <a:bodyPr/>
                    <a:lstStyle/>
                    <a:p>
                      <a:pPr algn="l"/>
                      <a:r>
                        <a:rPr sz="1100" b="1">
                          <a:solidFill>
                            <a:srgbClr val="FFFFFF"/>
                          </a:solidFill>
                          <a:latin typeface="Arial"/>
                        </a:rPr>
                        <a:t>Media</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Signal</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Best for</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3">
                <a:tc>
                  <a:txBody>
                    <a:bodyPr/>
                    <a:lstStyle/>
                    <a:p>
                      <a:pPr algn="l"/>
                      <a:r>
                        <a:rPr sz="1100" b="0">
                          <a:solidFill>
                            <a:srgbClr val="D1D5DB"/>
                          </a:solidFill>
                          <a:latin typeface="Arial"/>
                        </a:rPr>
                        <a:t>Twisted pair</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Electrical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Office desktops, short runs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3">
                <a:tc>
                  <a:txBody>
                    <a:bodyPr/>
                    <a:lstStyle/>
                    <a:p>
                      <a:pPr algn="l"/>
                      <a:r>
                        <a:rPr sz="1100" b="0">
                          <a:solidFill>
                            <a:srgbClr val="D1D5DB"/>
                          </a:solidFill>
                          <a:latin typeface="Arial"/>
                        </a:rPr>
                        <a:t>Shielded twisted pair</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Electrical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Electrically noisy areas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3">
                <a:tc>
                  <a:txBody>
                    <a:bodyPr/>
                    <a:lstStyle/>
                    <a:p>
                      <a:pPr algn="l"/>
                      <a:r>
                        <a:rPr sz="1100" b="0">
                          <a:solidFill>
                            <a:srgbClr val="D1D5DB"/>
                          </a:solidFill>
                          <a:latin typeface="Arial"/>
                        </a:rPr>
                        <a:t>Coaxial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Electrical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Legacy networks, broadband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7">
                <a:tc>
                  <a:txBody>
                    <a:bodyPr/>
                    <a:lstStyle/>
                    <a:p>
                      <a:pPr algn="l"/>
                      <a:r>
                        <a:rPr sz="1100" b="0">
                          <a:solidFill>
                            <a:srgbClr val="D1D5DB"/>
                          </a:solidFill>
                          <a:latin typeface="Arial"/>
                        </a:rPr>
                        <a:t>Fibre optic</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Light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Long distance, high bandwidth</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bl>
          </a:graphicData>
        </a:graphic>
      </p:graphicFrame>
      <p:sp>
        <p:nvSpPr>
          <p:cNvPr id="7" name="Rounded Rectangle 6"/>
          <p:cNvSpPr/>
          <p:nvPr/>
        </p:nvSpPr>
        <p:spPr>
          <a:xfrm>
            <a:off x="502920" y="3429000"/>
            <a:ext cx="8138160" cy="740664"/>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Three questions choose the cable</a:t>
            </a:r>
          </a:p>
        </p:txBody>
      </p:sp>
      <p:sp>
        <p:nvSpPr>
          <p:cNvPr id="8" name="TextBox 7"/>
          <p:cNvSpPr txBox="1"/>
          <p:nvPr/>
        </p:nvSpPr>
        <p:spPr>
          <a:xfrm>
            <a:off x="731520" y="3995928"/>
            <a:ext cx="7680960" cy="118872"/>
          </a:xfrm>
          <a:prstGeom prst="rect">
            <a:avLst/>
          </a:prstGeom>
          <a:noFill/>
        </p:spPr>
        <p:txBody>
          <a:bodyPr wrap="square" lIns="0" rIns="0" tIns="0" bIns="0">
            <a:spAutoFit/>
          </a:bodyPr>
          <a:lstStyle/>
          <a:p>
            <a:pPr>
              <a:lnSpc>
                <a:spcPct val="108000"/>
              </a:lnSpc>
            </a:pPr>
            <a:r>
              <a:rPr sz="1250">
                <a:solidFill>
                  <a:srgbClr val="F3D9D9"/>
                </a:solidFill>
                <a:latin typeface="Arial"/>
              </a:rPr>
              <a:t>How far? How much bandwidth? How much interference? Distance, bandwidth and interference decide.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MEDIA AND TOPOLOGIES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Connectors and transceivers</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200" b="1">
                <a:solidFill>
                  <a:srgbClr val="FFFFFF"/>
                </a:solidFill>
                <a:latin typeface="Arial"/>
              </a:rPr>
              <a:t>Transceiver  </a:t>
            </a:r>
            <a:r>
              <a:rPr sz="1200">
                <a:solidFill>
                  <a:srgbClr val="D1D5DB"/>
                </a:solidFill>
                <a:latin typeface="Arial"/>
              </a:rPr>
              <a:t>converts between signal types, so a copper port can talk to fibre</a:t>
            </a:r>
          </a:p>
          <a:p>
            <a:pPr marL="182880" indent="137160">
              <a:lnSpc>
                <a:spcPct val="108000"/>
              </a:lnSpc>
              <a:spcAft>
                <a:spcPts val="1152"/>
              </a:spcAft>
              <a:buFont typeface="Arial"/>
              <a:buChar char="•"/>
            </a:pPr>
            <a:r>
              <a:rPr sz="1200" b="1">
                <a:solidFill>
                  <a:srgbClr val="FFFFFF"/>
                </a:solidFill>
                <a:latin typeface="Arial"/>
              </a:rPr>
              <a:t>Registered Jack 45  </a:t>
            </a:r>
            <a:r>
              <a:rPr sz="1200">
                <a:solidFill>
                  <a:srgbClr val="D1D5DB"/>
                </a:solidFill>
                <a:latin typeface="Arial"/>
              </a:rPr>
              <a:t>the standard copper connector, on almost every desktop</a:t>
            </a:r>
          </a:p>
          <a:p>
            <a:pPr marL="182880" indent="137160">
              <a:lnSpc>
                <a:spcPct val="108000"/>
              </a:lnSpc>
              <a:spcAft>
                <a:spcPts val="1152"/>
              </a:spcAft>
              <a:buFont typeface="Arial"/>
              <a:buChar char="•"/>
            </a:pPr>
            <a:r>
              <a:rPr sz="1200" b="1">
                <a:solidFill>
                  <a:srgbClr val="FFFFFF"/>
                </a:solidFill>
                <a:latin typeface="Arial"/>
              </a:rPr>
              <a:t>Fibre connectors  </a:t>
            </a:r>
            <a:r>
              <a:rPr sz="1200">
                <a:solidFill>
                  <a:srgbClr val="D1D5DB"/>
                </a:solidFill>
                <a:latin typeface="Arial"/>
              </a:rPr>
              <a:t>Subscriber Connector and Lucent Connector</a:t>
            </a:r>
          </a:p>
          <a:p>
            <a:pPr marL="182880" indent="137160">
              <a:lnSpc>
                <a:spcPct val="108000"/>
              </a:lnSpc>
              <a:spcAft>
                <a:spcPts val="1152"/>
              </a:spcAft>
              <a:buFont typeface="Arial"/>
              <a:buChar char="•"/>
            </a:pPr>
            <a:r>
              <a:rPr sz="1200" b="1">
                <a:solidFill>
                  <a:srgbClr val="FFFFFF"/>
                </a:solidFill>
                <a:latin typeface="Arial"/>
              </a:rPr>
              <a:t>Small Form factor Pluggable  </a:t>
            </a:r>
            <a:r>
              <a:rPr sz="1200">
                <a:solidFill>
                  <a:srgbClr val="D1D5DB"/>
                </a:solidFill>
                <a:latin typeface="Arial"/>
              </a:rPr>
              <a:t>hot swappable, so media type changes without downtime</a:t>
            </a:r>
          </a:p>
          <a:p>
            <a:pPr marL="182880" indent="137160">
              <a:lnSpc>
                <a:spcPct val="108000"/>
              </a:lnSpc>
              <a:spcAft>
                <a:spcPts val="1152"/>
              </a:spcAft>
              <a:buFont typeface="Arial"/>
              <a:buChar char="•"/>
            </a:pPr>
            <a:r>
              <a:rPr sz="1200" b="1">
                <a:solidFill>
                  <a:srgbClr val="FFFFFF"/>
                </a:solidFill>
                <a:latin typeface="Arial"/>
              </a:rPr>
              <a:t>Media converters  </a:t>
            </a:r>
            <a:r>
              <a:rPr sz="1200">
                <a:solidFill>
                  <a:srgbClr val="D1D5DB"/>
                </a:solidFill>
                <a:latin typeface="Arial"/>
              </a:rPr>
              <a:t>bridge a copper segment to a fibre segment</a:t>
            </a:r>
          </a:p>
          <a:p>
            <a:pPr marL="182880" indent="137160">
              <a:lnSpc>
                <a:spcPct val="108000"/>
              </a:lnSpc>
              <a:spcAft>
                <a:spcPts val="1152"/>
              </a:spcAft>
              <a:buFont typeface="Arial"/>
              <a:buChar char="•"/>
            </a:pPr>
            <a:r>
              <a:rPr sz="1200" b="1">
                <a:solidFill>
                  <a:srgbClr val="FFFFFF"/>
                </a:solidFill>
                <a:latin typeface="Arial"/>
              </a:rPr>
              <a:t>A design decision  </a:t>
            </a:r>
            <a:r>
              <a:rPr sz="1200">
                <a:solidFill>
                  <a:srgbClr val="D1D5DB"/>
                </a:solidFill>
                <a:latin typeface="Arial"/>
              </a:rPr>
              <a:t>connector choice affects maintenance, not just speed</a:t>
            </a:r>
          </a:p>
        </p:txBody>
      </p:sp>
      <p:sp>
        <p:nvSpPr>
          <p:cNvPr id="7" name="Rounded Rectangle 6"/>
          <p:cNvSpPr/>
          <p:nvPr/>
        </p:nvSpPr>
        <p:spPr>
          <a:xfrm>
            <a:off x="502920" y="3694176"/>
            <a:ext cx="8138160" cy="740664"/>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Why hot-swappable matters</a:t>
            </a:r>
          </a:p>
        </p:txBody>
      </p:sp>
      <p:sp>
        <p:nvSpPr>
          <p:cNvPr id="8" name="TextBox 7"/>
          <p:cNvSpPr txBox="1"/>
          <p:nvPr/>
        </p:nvSpPr>
        <p:spPr>
          <a:xfrm>
            <a:off x="731520" y="4261104"/>
            <a:ext cx="7680960" cy="118872"/>
          </a:xfrm>
          <a:prstGeom prst="rect">
            <a:avLst/>
          </a:prstGeom>
          <a:noFill/>
        </p:spPr>
        <p:txBody>
          <a:bodyPr wrap="square" lIns="0" rIns="0" tIns="0" bIns="0">
            <a:spAutoFit/>
          </a:bodyPr>
          <a:lstStyle/>
          <a:p>
            <a:pPr>
              <a:lnSpc>
                <a:spcPct val="108000"/>
              </a:lnSpc>
            </a:pPr>
            <a:r>
              <a:rPr sz="1250">
                <a:solidFill>
                  <a:srgbClr val="F3D9D9"/>
                </a:solidFill>
                <a:latin typeface="Arial"/>
              </a:rPr>
              <a:t>You can change the media type on one port without taking the switch out of service.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MEDIA AND TOPOLOGIES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Star, mesh and hybrid</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200" b="1">
                <a:solidFill>
                  <a:srgbClr val="FFFFFF"/>
                </a:solidFill>
                <a:latin typeface="Arial"/>
              </a:rPr>
              <a:t>Star  </a:t>
            </a:r>
            <a:r>
              <a:rPr sz="1200">
                <a:solidFill>
                  <a:srgbClr val="D1D5DB"/>
                </a:solidFill>
                <a:latin typeface="Arial"/>
              </a:rPr>
              <a:t>every device connects to a central point, usually a switch</a:t>
            </a:r>
          </a:p>
          <a:p>
            <a:pPr marL="182880" indent="137160">
              <a:lnSpc>
                <a:spcPct val="108000"/>
              </a:lnSpc>
              <a:spcAft>
                <a:spcPts val="1152"/>
              </a:spcAft>
              <a:buFont typeface="Arial"/>
              <a:buChar char="•"/>
            </a:pPr>
            <a:r>
              <a:rPr sz="1200" b="1">
                <a:solidFill>
                  <a:srgbClr val="FFFFFF"/>
                </a:solidFill>
                <a:latin typeface="Arial"/>
              </a:rPr>
              <a:t>Star benefit  </a:t>
            </a:r>
            <a:r>
              <a:rPr sz="1200">
                <a:solidFill>
                  <a:srgbClr val="D1D5DB"/>
                </a:solidFill>
                <a:latin typeface="Arial"/>
              </a:rPr>
              <a:t>easy to troubleshoot, because each device has its own cable</a:t>
            </a:r>
          </a:p>
          <a:p>
            <a:pPr marL="182880" indent="137160">
              <a:lnSpc>
                <a:spcPct val="108000"/>
              </a:lnSpc>
              <a:spcAft>
                <a:spcPts val="1152"/>
              </a:spcAft>
              <a:buFont typeface="Arial"/>
              <a:buChar char="•"/>
            </a:pPr>
            <a:r>
              <a:rPr sz="1200" b="1">
                <a:solidFill>
                  <a:srgbClr val="FFFFFF"/>
                </a:solidFill>
                <a:latin typeface="Arial"/>
              </a:rPr>
              <a:t>Star weakness  </a:t>
            </a:r>
            <a:r>
              <a:rPr sz="1200">
                <a:solidFill>
                  <a:srgbClr val="D1D5DB"/>
                </a:solidFill>
                <a:latin typeface="Arial"/>
              </a:rPr>
              <a:t>the central point is a single point of failure</a:t>
            </a:r>
          </a:p>
          <a:p>
            <a:pPr marL="182880" indent="137160">
              <a:lnSpc>
                <a:spcPct val="108000"/>
              </a:lnSpc>
              <a:spcAft>
                <a:spcPts val="1152"/>
              </a:spcAft>
              <a:buFont typeface="Arial"/>
              <a:buChar char="•"/>
            </a:pPr>
            <a:r>
              <a:rPr sz="1200" b="1">
                <a:solidFill>
                  <a:srgbClr val="FFFFFF"/>
                </a:solidFill>
                <a:latin typeface="Arial"/>
              </a:rPr>
              <a:t>Full mesh  </a:t>
            </a:r>
            <a:r>
              <a:rPr sz="1200">
                <a:solidFill>
                  <a:srgbClr val="D1D5DB"/>
                </a:solidFill>
                <a:latin typeface="Arial"/>
              </a:rPr>
              <a:t>links every node to every other node, so any link can fail</a:t>
            </a:r>
          </a:p>
          <a:p>
            <a:pPr marL="182880" indent="137160">
              <a:lnSpc>
                <a:spcPct val="108000"/>
              </a:lnSpc>
              <a:spcAft>
                <a:spcPts val="1152"/>
              </a:spcAft>
              <a:buFont typeface="Arial"/>
              <a:buChar char="•"/>
            </a:pPr>
            <a:r>
              <a:rPr sz="1200" b="1">
                <a:solidFill>
                  <a:srgbClr val="FFFFFF"/>
                </a:solidFill>
                <a:latin typeface="Arial"/>
              </a:rPr>
              <a:t>Mesh trade  </a:t>
            </a:r>
            <a:r>
              <a:rPr sz="1200">
                <a:solidFill>
                  <a:srgbClr val="D1D5DB"/>
                </a:solidFill>
                <a:latin typeface="Arial"/>
              </a:rPr>
              <a:t>maximum resilience at maximum cost and complexity</a:t>
            </a:r>
          </a:p>
          <a:p>
            <a:pPr marL="182880" indent="137160">
              <a:lnSpc>
                <a:spcPct val="108000"/>
              </a:lnSpc>
              <a:spcAft>
                <a:spcPts val="1152"/>
              </a:spcAft>
              <a:buFont typeface="Arial"/>
              <a:buChar char="•"/>
            </a:pPr>
            <a:r>
              <a:rPr sz="1200" b="1">
                <a:solidFill>
                  <a:srgbClr val="FFFFFF"/>
                </a:solidFill>
                <a:latin typeface="Arial"/>
              </a:rPr>
              <a:t>Hybrid  </a:t>
            </a:r>
            <a:r>
              <a:rPr sz="1200">
                <a:solidFill>
                  <a:srgbClr val="D1D5DB"/>
                </a:solidFill>
                <a:latin typeface="Arial"/>
              </a:rPr>
              <a:t>meshes what needs resilience and stars the rest</a:t>
            </a:r>
          </a:p>
        </p:txBody>
      </p:sp>
      <p:sp>
        <p:nvSpPr>
          <p:cNvPr id="7" name="Rounded Rectangle 6"/>
          <p:cNvSpPr/>
          <p:nvPr/>
        </p:nvSpPr>
        <p:spPr>
          <a:xfrm>
            <a:off x="502920" y="3694176"/>
            <a:ext cx="8138160" cy="740664"/>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One question, every topology</a:t>
            </a:r>
          </a:p>
        </p:txBody>
      </p:sp>
      <p:sp>
        <p:nvSpPr>
          <p:cNvPr id="8" name="TextBox 7"/>
          <p:cNvSpPr txBox="1"/>
          <p:nvPr/>
        </p:nvSpPr>
        <p:spPr>
          <a:xfrm>
            <a:off x="731520" y="4261104"/>
            <a:ext cx="7680960" cy="118872"/>
          </a:xfrm>
          <a:prstGeom prst="rect">
            <a:avLst/>
          </a:prstGeom>
          <a:noFill/>
        </p:spPr>
        <p:txBody>
          <a:bodyPr wrap="square" lIns="0" rIns="0" tIns="0" bIns="0">
            <a:spAutoFit/>
          </a:bodyPr>
          <a:lstStyle/>
          <a:p>
            <a:pPr>
              <a:lnSpc>
                <a:spcPct val="108000"/>
              </a:lnSpc>
            </a:pPr>
            <a:r>
              <a:rPr sz="1250">
                <a:solidFill>
                  <a:srgbClr val="F3D9D9"/>
                </a:solidFill>
                <a:latin typeface="Arial"/>
              </a:rPr>
              <a:t>How much will you spend to survive a failure?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MEDIA AND TOPOLOGIES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Star against mesh</a:t>
            </a:r>
          </a:p>
        </p:txBody>
      </p:sp>
      <p:graphicFrame>
        <p:nvGraphicFramePr>
          <p:cNvPr id="6" name="Table 5"/>
          <p:cNvGraphicFramePr>
            <a:graphicFrameLocks noGrp="1"/>
          </p:cNvGraphicFramePr>
          <p:nvPr/>
        </p:nvGraphicFramePr>
        <p:xfrm>
          <a:off x="502920" y="1737360"/>
          <a:ext cx="8138158" cy="1645919"/>
        </p:xfrm>
        <a:graphic>
          <a:graphicData uri="http://schemas.openxmlformats.org/drawingml/2006/table">
            <a:tbl>
              <a:tblPr firstRow="1" bandRow="1">
                <a:tableStyleId>{5C22544A-7EE6-4342-B048-85BDC9FD1C3A}</a:tableStyleId>
              </a:tblPr>
              <a:tblGrid>
                <a:gridCol w="1645919"/>
                <a:gridCol w="3291839"/>
                <a:gridCol w="3200400"/>
              </a:tblGrid>
              <a:tr h="329183">
                <a:tc>
                  <a:txBody>
                    <a:bodyPr/>
                    <a:lstStyle/>
                    <a:p>
                      <a:pPr algn="l"/>
                      <a:r>
                        <a:rPr sz="1100" b="1">
                          <a:solidFill>
                            <a:srgbClr val="FFFFFF"/>
                          </a:solidFill>
                          <a:latin typeface="Arial"/>
                        </a:rPr>
                        <a:t>Topology</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Strength</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Weakness</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3">
                <a:tc>
                  <a:txBody>
                    <a:bodyPr/>
                    <a:lstStyle/>
                    <a:p>
                      <a:pPr algn="l"/>
                      <a:r>
                        <a:rPr sz="1100" b="0">
                          <a:solidFill>
                            <a:srgbClr val="D1D5DB"/>
                          </a:solidFill>
                          <a:latin typeface="Arial"/>
                        </a:rPr>
                        <a:t>Star</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Simple: one fault, one device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Central point can fail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3">
                <a:tc>
                  <a:txBody>
                    <a:bodyPr/>
                    <a:lstStyle/>
                    <a:p>
                      <a:pPr algn="l"/>
                      <a:r>
                        <a:rPr sz="1100" b="0">
                          <a:solidFill>
                            <a:srgbClr val="D1D5DB"/>
                          </a:solidFill>
                          <a:latin typeface="Arial"/>
                        </a:rPr>
                        <a:t>Full mesh</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No single point of failure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Expensive and complex</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3">
                <a:tc>
                  <a:txBody>
                    <a:bodyPr/>
                    <a:lstStyle/>
                    <a:p>
                      <a:pPr algn="l"/>
                      <a:r>
                        <a:rPr sz="1100" b="0">
                          <a:solidFill>
                            <a:srgbClr val="D1D5DB"/>
                          </a:solidFill>
                          <a:latin typeface="Arial"/>
                        </a:rPr>
                        <a:t>Hybrid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Resilience where it matters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Needs careful design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7">
                <a:tc>
                  <a:txBody>
                    <a:bodyPr/>
                    <a:lstStyle/>
                    <a:p>
                      <a:pPr algn="l"/>
                      <a:r>
                        <a:rPr sz="1100" b="0">
                          <a:solidFill>
                            <a:srgbClr val="D1D5DB"/>
                          </a:solidFill>
                          <a:latin typeface="Arial"/>
                        </a:rPr>
                        <a:t>Spine and leaf</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Predictable latency</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Requires more links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bl>
          </a:graphicData>
        </a:graphic>
      </p:graphicFrame>
      <p:sp>
        <p:nvSpPr>
          <p:cNvPr id="7" name="Rounded Rectangle 6"/>
          <p:cNvSpPr/>
          <p:nvPr/>
        </p:nvSpPr>
        <p:spPr>
          <a:xfrm>
            <a:off x="502920" y="3429000"/>
            <a:ext cx="8138160" cy="9418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Spine and leaf, the data centre pattern</a:t>
            </a:r>
          </a:p>
        </p:txBody>
      </p:sp>
      <p:sp>
        <p:nvSpPr>
          <p:cNvPr id="8" name="TextBox 7"/>
          <p:cNvSpPr txBox="1"/>
          <p:nvPr/>
        </p:nvSpPr>
        <p:spPr>
          <a:xfrm>
            <a:off x="731520" y="3995928"/>
            <a:ext cx="7680960" cy="320040"/>
          </a:xfrm>
          <a:prstGeom prst="rect">
            <a:avLst/>
          </a:prstGeom>
          <a:noFill/>
        </p:spPr>
        <p:txBody>
          <a:bodyPr wrap="square" lIns="0" rIns="0" tIns="0" bIns="0">
            <a:spAutoFit/>
          </a:bodyPr>
          <a:lstStyle/>
          <a:p>
            <a:pPr>
              <a:lnSpc>
                <a:spcPct val="108000"/>
              </a:lnSpc>
            </a:pPr>
            <a:r>
              <a:rPr sz="1250">
                <a:solidFill>
                  <a:srgbClr val="F3D9D9"/>
                </a:solidFill>
                <a:latin typeface="Arial"/>
              </a:rPr>
              <a:t>Every leaf switch connects to every spine switch, so any two devices sit the same number of hops apart.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6 · IPV4 ADDRESSING AND SUBNETTING</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IPv4 address fundamentals</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200" b="1">
                <a:solidFill>
                  <a:srgbClr val="FFFFFF"/>
                </a:solidFill>
                <a:latin typeface="Arial"/>
              </a:rPr>
              <a:t>32 bits  </a:t>
            </a:r>
            <a:r>
              <a:rPr sz="1200">
                <a:solidFill>
                  <a:srgbClr val="D1D5DB"/>
                </a:solidFill>
                <a:latin typeface="Arial"/>
              </a:rPr>
              <a:t>split into four groups of eight, and each group is an octet</a:t>
            </a:r>
          </a:p>
          <a:p>
            <a:pPr marL="182880" indent="137160">
              <a:lnSpc>
                <a:spcPct val="108000"/>
              </a:lnSpc>
              <a:spcAft>
                <a:spcPts val="1152"/>
              </a:spcAft>
              <a:buFont typeface="Arial"/>
              <a:buChar char="•"/>
            </a:pPr>
            <a:r>
              <a:rPr sz="1200" b="1">
                <a:solidFill>
                  <a:srgbClr val="FFFFFF"/>
                </a:solidFill>
                <a:latin typeface="Arial"/>
              </a:rPr>
              <a:t>Dotted decimal  </a:t>
            </a:r>
            <a:r>
              <a:rPr sz="1200">
                <a:solidFill>
                  <a:srgbClr val="D1D5DB"/>
                </a:solidFill>
                <a:latin typeface="Arial"/>
              </a:rPr>
              <a:t>192.168.1.1, because the machine sees 32 binary digits</a:t>
            </a:r>
          </a:p>
          <a:p>
            <a:pPr marL="182880" indent="137160">
              <a:lnSpc>
                <a:spcPct val="108000"/>
              </a:lnSpc>
              <a:spcAft>
                <a:spcPts val="1152"/>
              </a:spcAft>
              <a:buFont typeface="Arial"/>
              <a:buChar char="•"/>
            </a:pPr>
            <a:r>
              <a:rPr sz="1200" b="1">
                <a:solidFill>
                  <a:srgbClr val="FFFFFF"/>
                </a:solidFill>
                <a:latin typeface="Arial"/>
              </a:rPr>
              <a:t>Each octet  </a:t>
            </a:r>
            <a:r>
              <a:rPr sz="1200">
                <a:solidFill>
                  <a:srgbClr val="D1D5DB"/>
                </a:solidFill>
                <a:latin typeface="Arial"/>
              </a:rPr>
              <a:t>runs from 0 to 255</a:t>
            </a:r>
          </a:p>
          <a:p>
            <a:pPr marL="182880" indent="137160">
              <a:lnSpc>
                <a:spcPct val="108000"/>
              </a:lnSpc>
              <a:spcAft>
                <a:spcPts val="1152"/>
              </a:spcAft>
              <a:buFont typeface="Arial"/>
              <a:buChar char="•"/>
            </a:pPr>
            <a:r>
              <a:rPr sz="1200" b="1">
                <a:solidFill>
                  <a:srgbClr val="FFFFFF"/>
                </a:solidFill>
                <a:latin typeface="Arial"/>
              </a:rPr>
              <a:t>The whole space  </a:t>
            </a:r>
            <a:r>
              <a:rPr sz="1200">
                <a:solidFill>
                  <a:srgbClr val="D1D5DB"/>
                </a:solidFill>
                <a:latin typeface="Arial"/>
              </a:rPr>
              <a:t>about 4.29 billion addresses</a:t>
            </a:r>
          </a:p>
          <a:p>
            <a:pPr marL="182880" indent="137160">
              <a:lnSpc>
                <a:spcPct val="108000"/>
              </a:lnSpc>
              <a:spcAft>
                <a:spcPts val="1152"/>
              </a:spcAft>
              <a:buFont typeface="Arial"/>
              <a:buChar char="•"/>
            </a:pPr>
            <a:r>
              <a:rPr sz="1200" b="1">
                <a:solidFill>
                  <a:srgbClr val="FFFFFF"/>
                </a:solidFill>
                <a:latin typeface="Arial"/>
              </a:rPr>
              <a:t>Why subnetting exists  </a:t>
            </a:r>
            <a:r>
              <a:rPr sz="1200">
                <a:solidFill>
                  <a:srgbClr val="D1D5DB"/>
                </a:solidFill>
                <a:latin typeface="Arial"/>
              </a:rPr>
              <a:t>nobody expected to run out of that space</a:t>
            </a:r>
          </a:p>
          <a:p>
            <a:pPr marL="182880" indent="137160">
              <a:lnSpc>
                <a:spcPct val="108000"/>
              </a:lnSpc>
              <a:spcAft>
                <a:spcPts val="1152"/>
              </a:spcAft>
              <a:buFont typeface="Arial"/>
              <a:buChar char="•"/>
            </a:pPr>
            <a:r>
              <a:rPr sz="1200" b="1">
                <a:solidFill>
                  <a:srgbClr val="FFFFFF"/>
                </a:solidFill>
                <a:latin typeface="Arial"/>
              </a:rPr>
              <a:t>Reserved ranges  </a:t>
            </a:r>
            <a:r>
              <a:rPr sz="1200">
                <a:solidFill>
                  <a:srgbClr val="D1D5DB"/>
                </a:solidFill>
                <a:latin typeface="Arial"/>
              </a:rPr>
              <a:t>withheld from public use, so private ranges are reusable</a:t>
            </a:r>
          </a:p>
        </p:txBody>
      </p:sp>
      <p:sp>
        <p:nvSpPr>
          <p:cNvPr id="7" name="Rounded Rectangle 6"/>
          <p:cNvSpPr/>
          <p:nvPr/>
        </p:nvSpPr>
        <p:spPr>
          <a:xfrm>
            <a:off x="502920" y="3694176"/>
            <a:ext cx="8138160" cy="740664"/>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Start here every time</a:t>
            </a:r>
          </a:p>
        </p:txBody>
      </p:sp>
      <p:sp>
        <p:nvSpPr>
          <p:cNvPr id="8" name="TextBox 7"/>
          <p:cNvSpPr txBox="1"/>
          <p:nvPr/>
        </p:nvSpPr>
        <p:spPr>
          <a:xfrm>
            <a:off x="731520" y="4261104"/>
            <a:ext cx="7680960" cy="118872"/>
          </a:xfrm>
          <a:prstGeom prst="rect">
            <a:avLst/>
          </a:prstGeom>
          <a:noFill/>
        </p:spPr>
        <p:txBody>
          <a:bodyPr wrap="square" lIns="0" rIns="0" tIns="0" bIns="0">
            <a:spAutoFit/>
          </a:bodyPr>
          <a:lstStyle/>
          <a:p>
            <a:pPr>
              <a:lnSpc>
                <a:spcPct val="108000"/>
              </a:lnSpc>
            </a:pPr>
            <a:r>
              <a:rPr sz="1250">
                <a:solidFill>
                  <a:srgbClr val="F3D9D9"/>
                </a:solidFill>
                <a:latin typeface="Arial"/>
              </a:rPr>
              <a:t>Thirty two bits, four octets, dotted decimal. Know the structure before you touch a mask.</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6 · IPV4 ADDRESSING AND SUBNETTING</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Addresses to recognise on sight</a:t>
            </a:r>
          </a:p>
        </p:txBody>
      </p:sp>
      <p:graphicFrame>
        <p:nvGraphicFramePr>
          <p:cNvPr id="6" name="Table 5"/>
          <p:cNvGraphicFramePr>
            <a:graphicFrameLocks noGrp="1"/>
          </p:cNvGraphicFramePr>
          <p:nvPr/>
        </p:nvGraphicFramePr>
        <p:xfrm>
          <a:off x="502920" y="1737360"/>
          <a:ext cx="8138160" cy="1975104"/>
        </p:xfrm>
        <a:graphic>
          <a:graphicData uri="http://schemas.openxmlformats.org/drawingml/2006/table">
            <a:tbl>
              <a:tblPr firstRow="1" bandRow="1">
                <a:tableStyleId>{5C22544A-7EE6-4342-B048-85BDC9FD1C3A}</a:tableStyleId>
              </a:tblPr>
              <a:tblGrid>
                <a:gridCol w="1920240"/>
                <a:gridCol w="1554480"/>
                <a:gridCol w="4663440"/>
              </a:tblGrid>
              <a:tr h="329184">
                <a:tc>
                  <a:txBody>
                    <a:bodyPr/>
                    <a:lstStyle/>
                    <a:p>
                      <a:pPr algn="l"/>
                      <a:r>
                        <a:rPr sz="1100" b="1">
                          <a:solidFill>
                            <a:srgbClr val="FFFFFF"/>
                          </a:solidFill>
                          <a:latin typeface="Arial"/>
                        </a:rPr>
                        <a:t>Range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Purpose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Note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4">
                <a:tc>
                  <a:txBody>
                    <a:bodyPr/>
                    <a:lstStyle/>
                    <a:p>
                      <a:pPr algn="l"/>
                      <a:r>
                        <a:rPr sz="1100" b="0">
                          <a:solidFill>
                            <a:srgbClr val="D1D5DB"/>
                          </a:solidFill>
                          <a:latin typeface="Arial"/>
                        </a:rPr>
                        <a:t>10.0.0.0/8</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Private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Reusable inside any organisation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172.16.0.0/12</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Private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Not routable on the public internet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192.168.0.0/16</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Private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The common home and office range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127.0.0.1</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Loopback</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Always means the local machine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169.254.0.0/16</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Automatic</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Self-assigned when no server answers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bl>
          </a:graphicData>
        </a:graphic>
      </p:graphicFrame>
      <p:sp>
        <p:nvSpPr>
          <p:cNvPr id="7" name="Rounded Rectangle 6"/>
          <p:cNvSpPr/>
          <p:nvPr/>
        </p:nvSpPr>
        <p:spPr>
          <a:xfrm>
            <a:off x="502920" y="3721608"/>
            <a:ext cx="8138160" cy="9418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A symptom, not a configuration</a:t>
            </a:r>
          </a:p>
        </p:txBody>
      </p:sp>
      <p:sp>
        <p:nvSpPr>
          <p:cNvPr id="8" name="TextBox 7"/>
          <p:cNvSpPr txBox="1"/>
          <p:nvPr/>
        </p:nvSpPr>
        <p:spPr>
          <a:xfrm>
            <a:off x="731520" y="4288536"/>
            <a:ext cx="7680960" cy="320040"/>
          </a:xfrm>
          <a:prstGeom prst="rect">
            <a:avLst/>
          </a:prstGeom>
          <a:noFill/>
        </p:spPr>
        <p:txBody>
          <a:bodyPr wrap="square" lIns="0" rIns="0" tIns="0" bIns="0">
            <a:spAutoFit/>
          </a:bodyPr>
          <a:lstStyle/>
          <a:p>
            <a:pPr>
              <a:lnSpc>
                <a:spcPct val="108000"/>
              </a:lnSpc>
            </a:pPr>
            <a:r>
              <a:rPr sz="1250">
                <a:solidFill>
                  <a:srgbClr val="F3D9D9"/>
                </a:solidFill>
                <a:latin typeface="Arial"/>
              </a:rPr>
              <a:t>A 169.254 address means the machine asked for an address and nothing answered. Investigate the failure, not the address.</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6 · IPV4 ADDRESSING AND SUBNETTING</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Subnet masks</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200" b="1">
                <a:solidFill>
                  <a:srgbClr val="FFFFFF"/>
                </a:solidFill>
                <a:latin typeface="Arial"/>
              </a:rPr>
              <a:t>A mask is 32 bits  </a:t>
            </a:r>
            <a:r>
              <a:rPr sz="1200">
                <a:solidFill>
                  <a:srgbClr val="D1D5DB"/>
                </a:solidFill>
                <a:latin typeface="Arial"/>
              </a:rPr>
              <a:t>a run of ones followed by a run of zeros</a:t>
            </a:r>
          </a:p>
          <a:p>
            <a:pPr marL="182880" indent="137160">
              <a:lnSpc>
                <a:spcPct val="108000"/>
              </a:lnSpc>
              <a:spcAft>
                <a:spcPts val="1152"/>
              </a:spcAft>
              <a:buFont typeface="Arial"/>
              <a:buChar char="•"/>
            </a:pPr>
            <a:r>
              <a:rPr sz="1200" b="1">
                <a:solidFill>
                  <a:srgbClr val="FFFFFF"/>
                </a:solidFill>
                <a:latin typeface="Arial"/>
              </a:rPr>
              <a:t>The ones  </a:t>
            </a:r>
            <a:r>
              <a:rPr sz="1200">
                <a:solidFill>
                  <a:srgbClr val="D1D5DB"/>
                </a:solidFill>
                <a:latin typeface="Arial"/>
              </a:rPr>
              <a:t>mark the network portion</a:t>
            </a:r>
          </a:p>
          <a:p>
            <a:pPr marL="182880" indent="137160">
              <a:lnSpc>
                <a:spcPct val="108000"/>
              </a:lnSpc>
              <a:spcAft>
                <a:spcPts val="1152"/>
              </a:spcAft>
              <a:buFont typeface="Arial"/>
              <a:buChar char="•"/>
            </a:pPr>
            <a:r>
              <a:rPr sz="1200" b="1">
                <a:solidFill>
                  <a:srgbClr val="FFFFFF"/>
                </a:solidFill>
                <a:latin typeface="Arial"/>
              </a:rPr>
              <a:t>The zeros  </a:t>
            </a:r>
            <a:r>
              <a:rPr sz="1200">
                <a:solidFill>
                  <a:srgbClr val="D1D5DB"/>
                </a:solidFill>
                <a:latin typeface="Arial"/>
              </a:rPr>
              <a:t>mark the host portion</a:t>
            </a:r>
          </a:p>
          <a:p>
            <a:pPr marL="182880" indent="137160">
              <a:lnSpc>
                <a:spcPct val="108000"/>
              </a:lnSpc>
              <a:spcAft>
                <a:spcPts val="1152"/>
              </a:spcAft>
              <a:buFont typeface="Arial"/>
              <a:buChar char="•"/>
            </a:pPr>
            <a:r>
              <a:rPr sz="1200" b="1">
                <a:solidFill>
                  <a:srgbClr val="FFFFFF"/>
                </a:solidFill>
                <a:latin typeface="Arial"/>
              </a:rPr>
              <a:t>255.255.255.0  </a:t>
            </a:r>
            <a:r>
              <a:rPr sz="1200">
                <a:solidFill>
                  <a:srgbClr val="D1D5DB"/>
                </a:solidFill>
                <a:latin typeface="Arial"/>
              </a:rPr>
              <a:t>means the first three octets are the network</a:t>
            </a:r>
          </a:p>
          <a:p>
            <a:pPr marL="182880" indent="137160">
              <a:lnSpc>
                <a:spcPct val="108000"/>
              </a:lnSpc>
              <a:spcAft>
                <a:spcPts val="1152"/>
              </a:spcAft>
              <a:buFont typeface="Arial"/>
              <a:buChar char="•"/>
            </a:pPr>
            <a:r>
              <a:rPr sz="1200" b="1">
                <a:solidFill>
                  <a:srgbClr val="FFFFFF"/>
                </a:solidFill>
                <a:latin typeface="Arial"/>
              </a:rPr>
              <a:t>Two addresses are reserved  </a:t>
            </a:r>
            <a:r>
              <a:rPr sz="1200">
                <a:solidFill>
                  <a:srgbClr val="D1D5DB"/>
                </a:solidFill>
                <a:latin typeface="Arial"/>
              </a:rPr>
              <a:t>the lowest is the network, the highest is the broadcast</a:t>
            </a:r>
          </a:p>
          <a:p>
            <a:pPr marL="182880" indent="137160">
              <a:lnSpc>
                <a:spcPct val="108000"/>
              </a:lnSpc>
              <a:spcAft>
                <a:spcPts val="1152"/>
              </a:spcAft>
              <a:buFont typeface="Arial"/>
              <a:buChar char="•"/>
            </a:pPr>
            <a:r>
              <a:rPr sz="1200" b="1">
                <a:solidFill>
                  <a:srgbClr val="FFFFFF"/>
                </a:solidFill>
                <a:latin typeface="Arial"/>
              </a:rPr>
              <a:t>Subnetting  </a:t>
            </a:r>
            <a:r>
              <a:rPr sz="1200">
                <a:solidFill>
                  <a:srgbClr val="D1D5DB"/>
                </a:solidFill>
                <a:latin typeface="Arial"/>
              </a:rPr>
              <a:t>divides one network into smaller segments</a:t>
            </a:r>
          </a:p>
        </p:txBody>
      </p:sp>
      <p:sp>
        <p:nvSpPr>
          <p:cNvPr id="7" name="Rounded Rectangle 6"/>
          <p:cNvSpPr/>
          <p:nvPr/>
        </p:nvSpPr>
        <p:spPr>
          <a:xfrm>
            <a:off x="502920" y="3694176"/>
            <a:ext cx="8138160" cy="9418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Count carefully here</a:t>
            </a:r>
          </a:p>
        </p:txBody>
      </p:sp>
      <p:sp>
        <p:nvSpPr>
          <p:cNvPr id="8" name="TextBox 7"/>
          <p:cNvSpPr txBox="1"/>
          <p:nvPr/>
        </p:nvSpPr>
        <p:spPr>
          <a:xfrm>
            <a:off x="731520" y="4261104"/>
            <a:ext cx="7680960" cy="320040"/>
          </a:xfrm>
          <a:prstGeom prst="rect">
            <a:avLst/>
          </a:prstGeom>
          <a:noFill/>
        </p:spPr>
        <p:txBody>
          <a:bodyPr wrap="square" lIns="0" rIns="0" tIns="0" bIns="0">
            <a:spAutoFit/>
          </a:bodyPr>
          <a:lstStyle/>
          <a:p>
            <a:pPr>
              <a:lnSpc>
                <a:spcPct val="108000"/>
              </a:lnSpc>
            </a:pPr>
            <a:r>
              <a:rPr sz="1250">
                <a:solidFill>
                  <a:srgbClr val="F3D9D9"/>
                </a:solidFill>
                <a:latin typeface="Arial"/>
              </a:rPr>
              <a:t>Eight host bits give 256 values, minus the network and the broadcast: 254 usable hosts, in every subnet.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6 · IPV4 ADDRESSING AND SUBNETTING</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Worked example: reading a subnet mask</a:t>
            </a:r>
          </a:p>
        </p:txBody>
      </p:sp>
      <p:sp>
        <p:nvSpPr>
          <p:cNvPr id="6" name="Rounded Rectangle 5"/>
          <p:cNvSpPr/>
          <p:nvPr/>
        </p:nvSpPr>
        <p:spPr>
          <a:xfrm>
            <a:off x="502920" y="1691640"/>
            <a:ext cx="1466697" cy="1371600"/>
          </a:xfrm>
          <a:prstGeom prst="roundRect">
            <a:avLst>
              <a:gd name="adj" fmla="val 8000"/>
            </a:avLst>
          </a:prstGeom>
          <a:solidFill>
            <a:srgbClr val="1C1C1C"/>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67512" y="1856232"/>
            <a:ext cx="384048" cy="384048"/>
          </a:xfrm>
          <a:prstGeom prst="ellipse">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Arial"/>
              </a:rPr>
              <a:t>1</a:t>
            </a:r>
          </a:p>
        </p:txBody>
      </p:sp>
      <p:sp>
        <p:nvSpPr>
          <p:cNvPr id="8" name="TextBox 7"/>
          <p:cNvSpPr txBox="1"/>
          <p:nvPr/>
        </p:nvSpPr>
        <p:spPr>
          <a:xfrm>
            <a:off x="612648" y="2331720"/>
            <a:ext cx="1247241" cy="384048"/>
          </a:xfrm>
          <a:prstGeom prst="rect">
            <a:avLst/>
          </a:prstGeom>
          <a:noFill/>
        </p:spPr>
        <p:txBody>
          <a:bodyPr wrap="square" anchor="t" lIns="0" rIns="0" tIns="0" bIns="0">
            <a:spAutoFit/>
          </a:bodyPr>
          <a:lstStyle/>
          <a:p>
            <a:pPr algn="l"/>
            <a:r>
              <a:rPr sz="1250" b="1">
                <a:solidFill>
                  <a:srgbClr val="FFFFFF"/>
                </a:solidFill>
                <a:latin typeface="Arial"/>
              </a:rPr>
              <a:t>The address</a:t>
            </a:r>
          </a:p>
        </p:txBody>
      </p:sp>
      <p:sp>
        <p:nvSpPr>
          <p:cNvPr id="9" name="TextBox 8"/>
          <p:cNvSpPr txBox="1"/>
          <p:nvPr/>
        </p:nvSpPr>
        <p:spPr>
          <a:xfrm>
            <a:off x="612648" y="2697480"/>
            <a:ext cx="1247241" cy="329184"/>
          </a:xfrm>
          <a:prstGeom prst="rect">
            <a:avLst/>
          </a:prstGeom>
          <a:noFill/>
        </p:spPr>
        <p:txBody>
          <a:bodyPr wrap="square" anchor="t" lIns="0" rIns="0" tIns="0" bIns="0">
            <a:spAutoFit/>
          </a:bodyPr>
          <a:lstStyle/>
          <a:p>
            <a:pPr algn="l"/>
            <a:r>
              <a:rPr sz="950" b="0">
                <a:solidFill>
                  <a:srgbClr val="9CA3AF"/>
                </a:solidFill>
                <a:latin typeface="Arial"/>
              </a:rPr>
              <a:t>192.168.1.50</a:t>
            </a:r>
          </a:p>
        </p:txBody>
      </p:sp>
      <p:sp>
        <p:nvSpPr>
          <p:cNvPr id="10" name="Rounded Rectangle 9"/>
          <p:cNvSpPr/>
          <p:nvPr/>
        </p:nvSpPr>
        <p:spPr>
          <a:xfrm>
            <a:off x="2170785" y="1691640"/>
            <a:ext cx="1466697" cy="1371600"/>
          </a:xfrm>
          <a:prstGeom prst="roundRect">
            <a:avLst>
              <a:gd name="adj" fmla="val 8000"/>
            </a:avLst>
          </a:prstGeom>
          <a:solidFill>
            <a:srgbClr val="1C1C1C"/>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335377" y="1856232"/>
            <a:ext cx="384048" cy="384048"/>
          </a:xfrm>
          <a:prstGeom prst="ellipse">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Arial"/>
              </a:rPr>
              <a:t>2</a:t>
            </a:r>
          </a:p>
        </p:txBody>
      </p:sp>
      <p:sp>
        <p:nvSpPr>
          <p:cNvPr id="12" name="TextBox 11"/>
          <p:cNvSpPr txBox="1"/>
          <p:nvPr/>
        </p:nvSpPr>
        <p:spPr>
          <a:xfrm>
            <a:off x="2280513" y="2331720"/>
            <a:ext cx="1247241" cy="384048"/>
          </a:xfrm>
          <a:prstGeom prst="rect">
            <a:avLst/>
          </a:prstGeom>
          <a:noFill/>
        </p:spPr>
        <p:txBody>
          <a:bodyPr wrap="square" anchor="t" lIns="0" rIns="0" tIns="0" bIns="0">
            <a:spAutoFit/>
          </a:bodyPr>
          <a:lstStyle/>
          <a:p>
            <a:pPr algn="l"/>
            <a:r>
              <a:rPr sz="1250" b="1">
                <a:solidFill>
                  <a:srgbClr val="FFFFFF"/>
                </a:solidFill>
                <a:latin typeface="Arial"/>
              </a:rPr>
              <a:t>The mask</a:t>
            </a:r>
          </a:p>
        </p:txBody>
      </p:sp>
      <p:sp>
        <p:nvSpPr>
          <p:cNvPr id="13" name="TextBox 12"/>
          <p:cNvSpPr txBox="1"/>
          <p:nvPr/>
        </p:nvSpPr>
        <p:spPr>
          <a:xfrm>
            <a:off x="2280513" y="2697480"/>
            <a:ext cx="1247241" cy="329184"/>
          </a:xfrm>
          <a:prstGeom prst="rect">
            <a:avLst/>
          </a:prstGeom>
          <a:noFill/>
        </p:spPr>
        <p:txBody>
          <a:bodyPr wrap="square" anchor="t" lIns="0" rIns="0" tIns="0" bIns="0">
            <a:spAutoFit/>
          </a:bodyPr>
          <a:lstStyle/>
          <a:p>
            <a:pPr algn="l"/>
            <a:r>
              <a:rPr sz="950" b="0">
                <a:solidFill>
                  <a:srgbClr val="9CA3AF"/>
                </a:solidFill>
                <a:latin typeface="Arial"/>
              </a:rPr>
              <a:t>255.255.255.0</a:t>
            </a:r>
          </a:p>
        </p:txBody>
      </p:sp>
      <p:sp>
        <p:nvSpPr>
          <p:cNvPr id="14" name="Rounded Rectangle 13"/>
          <p:cNvSpPr/>
          <p:nvPr/>
        </p:nvSpPr>
        <p:spPr>
          <a:xfrm>
            <a:off x="3838651" y="1691640"/>
            <a:ext cx="1466697" cy="1371600"/>
          </a:xfrm>
          <a:prstGeom prst="roundRect">
            <a:avLst>
              <a:gd name="adj" fmla="val 8000"/>
            </a:avLst>
          </a:prstGeom>
          <a:solidFill>
            <a:srgbClr val="1C1C1C"/>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03243" y="1856232"/>
            <a:ext cx="384048" cy="384048"/>
          </a:xfrm>
          <a:prstGeom prst="ellipse">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Arial"/>
              </a:rPr>
              <a:t>3</a:t>
            </a:r>
          </a:p>
        </p:txBody>
      </p:sp>
      <p:sp>
        <p:nvSpPr>
          <p:cNvPr id="16" name="TextBox 15"/>
          <p:cNvSpPr txBox="1"/>
          <p:nvPr/>
        </p:nvSpPr>
        <p:spPr>
          <a:xfrm>
            <a:off x="3948379" y="2331720"/>
            <a:ext cx="1247241" cy="384048"/>
          </a:xfrm>
          <a:prstGeom prst="rect">
            <a:avLst/>
          </a:prstGeom>
          <a:noFill/>
        </p:spPr>
        <p:txBody>
          <a:bodyPr wrap="square" anchor="t" lIns="0" rIns="0" tIns="0" bIns="0">
            <a:spAutoFit/>
          </a:bodyPr>
          <a:lstStyle/>
          <a:p>
            <a:pPr algn="l"/>
            <a:r>
              <a:rPr sz="1250" b="1">
                <a:solidFill>
                  <a:srgbClr val="FFFFFF"/>
                </a:solidFill>
                <a:latin typeface="Arial"/>
              </a:rPr>
              <a:t>The network</a:t>
            </a:r>
          </a:p>
        </p:txBody>
      </p:sp>
      <p:sp>
        <p:nvSpPr>
          <p:cNvPr id="17" name="TextBox 16"/>
          <p:cNvSpPr txBox="1"/>
          <p:nvPr/>
        </p:nvSpPr>
        <p:spPr>
          <a:xfrm>
            <a:off x="3948379" y="2697480"/>
            <a:ext cx="1247241" cy="329184"/>
          </a:xfrm>
          <a:prstGeom prst="rect">
            <a:avLst/>
          </a:prstGeom>
          <a:noFill/>
        </p:spPr>
        <p:txBody>
          <a:bodyPr wrap="square" anchor="t" lIns="0" rIns="0" tIns="0" bIns="0">
            <a:spAutoFit/>
          </a:bodyPr>
          <a:lstStyle/>
          <a:p>
            <a:pPr algn="l"/>
            <a:r>
              <a:rPr sz="950" b="0">
                <a:solidFill>
                  <a:srgbClr val="9CA3AF"/>
                </a:solidFill>
                <a:latin typeface="Arial"/>
              </a:rPr>
              <a:t>192.168.1.0</a:t>
            </a:r>
          </a:p>
        </p:txBody>
      </p:sp>
      <p:sp>
        <p:nvSpPr>
          <p:cNvPr id="18" name="Rounded Rectangle 17"/>
          <p:cNvSpPr/>
          <p:nvPr/>
        </p:nvSpPr>
        <p:spPr>
          <a:xfrm>
            <a:off x="5506516" y="1691640"/>
            <a:ext cx="1466697" cy="1371600"/>
          </a:xfrm>
          <a:prstGeom prst="roundRect">
            <a:avLst>
              <a:gd name="adj" fmla="val 8000"/>
            </a:avLst>
          </a:prstGeom>
          <a:solidFill>
            <a:srgbClr val="1C1C1C"/>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71108" y="1856232"/>
            <a:ext cx="384048" cy="384048"/>
          </a:xfrm>
          <a:prstGeom prst="ellipse">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Arial"/>
              </a:rPr>
              <a:t>4</a:t>
            </a:r>
          </a:p>
        </p:txBody>
      </p:sp>
      <p:sp>
        <p:nvSpPr>
          <p:cNvPr id="20" name="TextBox 19"/>
          <p:cNvSpPr txBox="1"/>
          <p:nvPr/>
        </p:nvSpPr>
        <p:spPr>
          <a:xfrm>
            <a:off x="5616244" y="2331720"/>
            <a:ext cx="1247241" cy="384048"/>
          </a:xfrm>
          <a:prstGeom prst="rect">
            <a:avLst/>
          </a:prstGeom>
          <a:noFill/>
        </p:spPr>
        <p:txBody>
          <a:bodyPr wrap="square" anchor="t" lIns="0" rIns="0" tIns="0" bIns="0">
            <a:spAutoFit/>
          </a:bodyPr>
          <a:lstStyle/>
          <a:p>
            <a:pPr algn="l"/>
            <a:r>
              <a:rPr sz="1250" b="1">
                <a:solidFill>
                  <a:srgbClr val="FFFFFF"/>
                </a:solidFill>
                <a:latin typeface="Arial"/>
              </a:rPr>
              <a:t>The host range</a:t>
            </a:r>
          </a:p>
        </p:txBody>
      </p:sp>
      <p:sp>
        <p:nvSpPr>
          <p:cNvPr id="21" name="TextBox 20"/>
          <p:cNvSpPr txBox="1"/>
          <p:nvPr/>
        </p:nvSpPr>
        <p:spPr>
          <a:xfrm>
            <a:off x="5616244" y="2697480"/>
            <a:ext cx="1247241" cy="329184"/>
          </a:xfrm>
          <a:prstGeom prst="rect">
            <a:avLst/>
          </a:prstGeom>
          <a:noFill/>
        </p:spPr>
        <p:txBody>
          <a:bodyPr wrap="square" anchor="t" lIns="0" rIns="0" tIns="0" bIns="0">
            <a:spAutoFit/>
          </a:bodyPr>
          <a:lstStyle/>
          <a:p>
            <a:pPr algn="l"/>
            <a:r>
              <a:rPr sz="950" b="0">
                <a:solidFill>
                  <a:srgbClr val="9CA3AF"/>
                </a:solidFill>
                <a:latin typeface="Arial"/>
              </a:rPr>
              <a:t>192.168.1.1 to .254</a:t>
            </a:r>
          </a:p>
        </p:txBody>
      </p:sp>
      <p:sp>
        <p:nvSpPr>
          <p:cNvPr id="22" name="Rounded Rectangle 21"/>
          <p:cNvSpPr/>
          <p:nvPr/>
        </p:nvSpPr>
        <p:spPr>
          <a:xfrm>
            <a:off x="7174382" y="1691640"/>
            <a:ext cx="1466697" cy="1371600"/>
          </a:xfrm>
          <a:prstGeom prst="roundRect">
            <a:avLst>
              <a:gd name="adj" fmla="val 8000"/>
            </a:avLst>
          </a:prstGeom>
          <a:solidFill>
            <a:srgbClr val="1C1C1C"/>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8974" y="1856232"/>
            <a:ext cx="384048" cy="384048"/>
          </a:xfrm>
          <a:prstGeom prst="ellipse">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Arial"/>
              </a:rPr>
              <a:t>5</a:t>
            </a:r>
          </a:p>
        </p:txBody>
      </p:sp>
      <p:sp>
        <p:nvSpPr>
          <p:cNvPr id="24" name="TextBox 23"/>
          <p:cNvSpPr txBox="1"/>
          <p:nvPr/>
        </p:nvSpPr>
        <p:spPr>
          <a:xfrm>
            <a:off x="7284110" y="2331720"/>
            <a:ext cx="1247241" cy="384048"/>
          </a:xfrm>
          <a:prstGeom prst="rect">
            <a:avLst/>
          </a:prstGeom>
          <a:noFill/>
        </p:spPr>
        <p:txBody>
          <a:bodyPr wrap="square" anchor="t" lIns="0" rIns="0" tIns="0" bIns="0">
            <a:spAutoFit/>
          </a:bodyPr>
          <a:lstStyle/>
          <a:p>
            <a:pPr algn="l"/>
            <a:r>
              <a:rPr sz="1250" b="1">
                <a:solidFill>
                  <a:srgbClr val="FFFFFF"/>
                </a:solidFill>
                <a:latin typeface="Arial"/>
              </a:rPr>
              <a:t>The broadcast</a:t>
            </a:r>
          </a:p>
        </p:txBody>
      </p:sp>
      <p:sp>
        <p:nvSpPr>
          <p:cNvPr id="25" name="TextBox 24"/>
          <p:cNvSpPr txBox="1"/>
          <p:nvPr/>
        </p:nvSpPr>
        <p:spPr>
          <a:xfrm>
            <a:off x="7284110" y="2697480"/>
            <a:ext cx="1247241" cy="329184"/>
          </a:xfrm>
          <a:prstGeom prst="rect">
            <a:avLst/>
          </a:prstGeom>
          <a:noFill/>
        </p:spPr>
        <p:txBody>
          <a:bodyPr wrap="square" anchor="t" lIns="0" rIns="0" tIns="0" bIns="0">
            <a:spAutoFit/>
          </a:bodyPr>
          <a:lstStyle/>
          <a:p>
            <a:pPr algn="l"/>
            <a:r>
              <a:rPr sz="950" b="0">
                <a:solidFill>
                  <a:srgbClr val="9CA3AF"/>
                </a:solidFill>
                <a:latin typeface="Arial"/>
              </a:rPr>
              <a:t>192.168.1.255</a:t>
            </a:r>
          </a:p>
        </p:txBody>
      </p:sp>
      <p:sp>
        <p:nvSpPr>
          <p:cNvPr id="26" name="Rounded Rectangle 25"/>
          <p:cNvSpPr/>
          <p:nvPr/>
        </p:nvSpPr>
        <p:spPr>
          <a:xfrm>
            <a:off x="502920" y="3310128"/>
            <a:ext cx="8138160" cy="9418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The pattern never changes</a:t>
            </a:r>
          </a:p>
        </p:txBody>
      </p:sp>
      <p:sp>
        <p:nvSpPr>
          <p:cNvPr id="27" name="TextBox 26"/>
          <p:cNvSpPr txBox="1"/>
          <p:nvPr/>
        </p:nvSpPr>
        <p:spPr>
          <a:xfrm>
            <a:off x="731520" y="3877056"/>
            <a:ext cx="7680960" cy="320040"/>
          </a:xfrm>
          <a:prstGeom prst="rect">
            <a:avLst/>
          </a:prstGeom>
          <a:noFill/>
        </p:spPr>
        <p:txBody>
          <a:bodyPr wrap="square" lIns="0" rIns="0" tIns="0" bIns="0">
            <a:spAutoFit/>
          </a:bodyPr>
          <a:lstStyle/>
          <a:p>
            <a:pPr>
              <a:lnSpc>
                <a:spcPct val="108000"/>
              </a:lnSpc>
            </a:pPr>
            <a:r>
              <a:rPr sz="1250">
                <a:solidFill>
                  <a:srgbClr val="F3D9D9"/>
                </a:solidFill>
                <a:latin typeface="Arial"/>
              </a:rPr>
              <a:t>Find the network, count up from one, and stop one short of the broadcast. Do that quickly and you have the foundation.</a:t>
            </a:r>
          </a:p>
        </p:txBody>
      </p:sp>
      <p:sp>
        <p:nvSpPr>
          <p:cNvPr id="28" name="TextBox 27"/>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29" name="TextBox 28"/>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30" name="Picture 29"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31" name="TextBox 30"/>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6 · IPV4 ADDRESSING AND SUBNETTING</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Classless addressing</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200" b="1">
                <a:solidFill>
                  <a:srgbClr val="FFFFFF"/>
                </a:solidFill>
                <a:latin typeface="Arial"/>
              </a:rPr>
              <a:t>Classless Inter-Domain Routing  </a:t>
            </a:r>
            <a:r>
              <a:rPr sz="1200">
                <a:solidFill>
                  <a:srgbClr val="D1D5DB"/>
                </a:solidFill>
                <a:latin typeface="Arial"/>
              </a:rPr>
              <a:t>replaced the rigid class system</a:t>
            </a:r>
          </a:p>
          <a:p>
            <a:pPr marL="182880" indent="137160">
              <a:lnSpc>
                <a:spcPct val="108000"/>
              </a:lnSpc>
              <a:spcAft>
                <a:spcPts val="1152"/>
              </a:spcAft>
              <a:buFont typeface="Arial"/>
              <a:buChar char="•"/>
            </a:pPr>
            <a:r>
              <a:rPr sz="1200" b="1">
                <a:solidFill>
                  <a:srgbClr val="FFFFFF"/>
                </a:solidFill>
                <a:latin typeface="Arial"/>
              </a:rPr>
              <a:t>The slash  </a:t>
            </a:r>
            <a:r>
              <a:rPr sz="1200">
                <a:solidFill>
                  <a:srgbClr val="D1D5DB"/>
                </a:solidFill>
                <a:latin typeface="Arial"/>
              </a:rPr>
              <a:t>states how many bits are the network</a:t>
            </a:r>
          </a:p>
          <a:p>
            <a:pPr marL="182880" indent="137160">
              <a:lnSpc>
                <a:spcPct val="108000"/>
              </a:lnSpc>
              <a:spcAft>
                <a:spcPts val="1152"/>
              </a:spcAft>
              <a:buFont typeface="Arial"/>
              <a:buChar char="•"/>
            </a:pPr>
            <a:r>
              <a:rPr sz="1200" b="1">
                <a:solidFill>
                  <a:srgbClr val="FFFFFF"/>
                </a:solidFill>
                <a:latin typeface="Arial"/>
              </a:rPr>
              <a:t>/24  </a:t>
            </a:r>
            <a:r>
              <a:rPr sz="1200">
                <a:solidFill>
                  <a:srgbClr val="D1D5DB"/>
                </a:solidFill>
                <a:latin typeface="Arial"/>
              </a:rPr>
              <a:t>equals the mask 255.255.255.0</a:t>
            </a:r>
          </a:p>
          <a:p>
            <a:pPr marL="182880" indent="137160">
              <a:lnSpc>
                <a:spcPct val="108000"/>
              </a:lnSpc>
              <a:spcAft>
                <a:spcPts val="1152"/>
              </a:spcAft>
              <a:buFont typeface="Arial"/>
              <a:buChar char="•"/>
            </a:pPr>
            <a:r>
              <a:rPr sz="1200" b="1">
                <a:solidFill>
                  <a:srgbClr val="FFFFFF"/>
                </a:solidFill>
                <a:latin typeface="Arial"/>
              </a:rPr>
              <a:t>Counter-intuitive  </a:t>
            </a:r>
            <a:r>
              <a:rPr sz="1200">
                <a:solidFill>
                  <a:srgbClr val="D1D5DB"/>
                </a:solidFill>
                <a:latin typeface="Arial"/>
              </a:rPr>
              <a:t>a larger slash number means a smaller network</a:t>
            </a:r>
          </a:p>
          <a:p>
            <a:pPr marL="182880" indent="137160">
              <a:lnSpc>
                <a:spcPct val="108000"/>
              </a:lnSpc>
              <a:spcAft>
                <a:spcPts val="1152"/>
              </a:spcAft>
              <a:buFont typeface="Arial"/>
              <a:buChar char="•"/>
            </a:pPr>
            <a:r>
              <a:rPr sz="1200" b="1">
                <a:solidFill>
                  <a:srgbClr val="FFFFFF"/>
                </a:solidFill>
                <a:latin typeface="Arial"/>
              </a:rPr>
              <a:t>/30  </a:t>
            </a:r>
            <a:r>
              <a:rPr sz="1200">
                <a:solidFill>
                  <a:srgbClr val="D1D5DB"/>
                </a:solidFill>
                <a:latin typeface="Arial"/>
              </a:rPr>
              <a:t>gives just two addresses, which is why it links two routers</a:t>
            </a:r>
          </a:p>
          <a:p>
            <a:pPr marL="182880" indent="137160">
              <a:lnSpc>
                <a:spcPct val="108000"/>
              </a:lnSpc>
              <a:spcAft>
                <a:spcPts val="1152"/>
              </a:spcAft>
              <a:buFont typeface="Arial"/>
              <a:buChar char="•"/>
            </a:pPr>
            <a:r>
              <a:rPr sz="1200" b="1">
                <a:solidFill>
                  <a:srgbClr val="FFFFFF"/>
                </a:solidFill>
                <a:latin typeface="Arial"/>
              </a:rPr>
              <a:t>Variable Length Subnet Masking  </a:t>
            </a:r>
            <a:r>
              <a:rPr sz="1200">
                <a:solidFill>
                  <a:srgbClr val="D1D5DB"/>
                </a:solidFill>
                <a:latin typeface="Arial"/>
              </a:rPr>
              <a:t>lets each subnet differ in size, largest first</a:t>
            </a:r>
          </a:p>
        </p:txBody>
      </p:sp>
      <p:sp>
        <p:nvSpPr>
          <p:cNvPr id="7" name="Rounded Rectangle 6"/>
          <p:cNvSpPr/>
          <p:nvPr/>
        </p:nvSpPr>
        <p:spPr>
          <a:xfrm>
            <a:off x="502920" y="3694176"/>
            <a:ext cx="8138160" cy="9418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Why classless won</a:t>
            </a:r>
          </a:p>
        </p:txBody>
      </p:sp>
      <p:sp>
        <p:nvSpPr>
          <p:cNvPr id="8" name="TextBox 7"/>
          <p:cNvSpPr txBox="1"/>
          <p:nvPr/>
        </p:nvSpPr>
        <p:spPr>
          <a:xfrm>
            <a:off x="731520" y="4261104"/>
            <a:ext cx="7680960" cy="320040"/>
          </a:xfrm>
          <a:prstGeom prst="rect">
            <a:avLst/>
          </a:prstGeom>
          <a:noFill/>
        </p:spPr>
        <p:txBody>
          <a:bodyPr wrap="square" lIns="0" rIns="0" tIns="0" bIns="0">
            <a:spAutoFit/>
          </a:bodyPr>
          <a:lstStyle/>
          <a:p>
            <a:pPr>
              <a:lnSpc>
                <a:spcPct val="108000"/>
              </a:lnSpc>
            </a:pPr>
            <a:r>
              <a:rPr sz="1250">
                <a:solidFill>
                  <a:srgbClr val="F3D9D9"/>
                </a:solidFill>
                <a:latin typeface="Arial"/>
              </a:rPr>
              <a:t>Classful addressing wasted whole blocks. CIDR lets the boundary fall at any bit, so the space you have is the space you use.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6 · IPV4 ADDRESSING AND SUBNETTING</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Prefix notation at a glance</a:t>
            </a:r>
          </a:p>
        </p:txBody>
      </p:sp>
      <p:graphicFrame>
        <p:nvGraphicFramePr>
          <p:cNvPr id="6" name="Table 5"/>
          <p:cNvGraphicFramePr>
            <a:graphicFrameLocks noGrp="1"/>
          </p:cNvGraphicFramePr>
          <p:nvPr/>
        </p:nvGraphicFramePr>
        <p:xfrm>
          <a:off x="502920" y="1737360"/>
          <a:ext cx="8138158" cy="1975104"/>
        </p:xfrm>
        <a:graphic>
          <a:graphicData uri="http://schemas.openxmlformats.org/drawingml/2006/table">
            <a:tbl>
              <a:tblPr firstRow="1" bandRow="1">
                <a:tableStyleId>{5C22544A-7EE6-4342-B048-85BDC9FD1C3A}</a:tableStyleId>
              </a:tblPr>
              <a:tblGrid>
                <a:gridCol w="1645919"/>
                <a:gridCol w="3291839"/>
                <a:gridCol w="3200400"/>
              </a:tblGrid>
              <a:tr h="329184">
                <a:tc>
                  <a:txBody>
                    <a:bodyPr/>
                    <a:lstStyle/>
                    <a:p>
                      <a:pPr algn="l"/>
                      <a:r>
                        <a:rPr sz="1100" b="1">
                          <a:solidFill>
                            <a:srgbClr val="FFFFFF"/>
                          </a:solidFill>
                          <a:latin typeface="Arial"/>
                        </a:rPr>
                        <a:t>Prefix</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Subnet mask</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Usable hosts</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4">
                <a:tc>
                  <a:txBody>
                    <a:bodyPr/>
                    <a:lstStyle/>
                    <a:p>
                      <a:pPr algn="l"/>
                      <a:r>
                        <a:rPr sz="1100" b="0">
                          <a:solidFill>
                            <a:srgbClr val="D1D5DB"/>
                          </a:solidFill>
                          <a:latin typeface="Arial"/>
                        </a:rPr>
                        <a:t>/24</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255.255.255.0</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254</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/25</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255.255.255.128</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126</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/26</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255.255.255.192</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62</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/27</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255.255.255.224</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30</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/30</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255.255.255.252</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2</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bl>
          </a:graphicData>
        </a:graphic>
      </p:graphicFrame>
      <p:sp>
        <p:nvSpPr>
          <p:cNvPr id="7" name="Rounded Rectangle 6"/>
          <p:cNvSpPr/>
          <p:nvPr/>
        </p:nvSpPr>
        <p:spPr>
          <a:xfrm>
            <a:off x="502920" y="3721608"/>
            <a:ext cx="8138160" cy="9418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550" b="1">
                <a:solidFill>
                  <a:srgbClr val="FFFFFF"/>
                </a:solidFill>
                <a:latin typeface="Arial"/>
              </a:rPr>
              <a:t>The pattern to remember</a:t>
            </a:r>
          </a:p>
        </p:txBody>
      </p:sp>
      <p:sp>
        <p:nvSpPr>
          <p:cNvPr id="8" name="TextBox 7"/>
          <p:cNvSpPr txBox="1"/>
          <p:nvPr/>
        </p:nvSpPr>
        <p:spPr>
          <a:xfrm>
            <a:off x="731520" y="4288536"/>
            <a:ext cx="7680960" cy="320040"/>
          </a:xfrm>
          <a:prstGeom prst="rect">
            <a:avLst/>
          </a:prstGeom>
          <a:noFill/>
        </p:spPr>
        <p:txBody>
          <a:bodyPr wrap="square" lIns="0" rIns="0" tIns="0" bIns="0">
            <a:spAutoFit/>
          </a:bodyPr>
          <a:lstStyle/>
          <a:p>
            <a:pPr>
              <a:lnSpc>
                <a:spcPct val="108000"/>
              </a:lnSpc>
            </a:pPr>
            <a:r>
              <a:rPr sz="1250">
                <a:solidFill>
                  <a:srgbClr val="F3D9D9"/>
                </a:solidFill>
                <a:latin typeface="Arial"/>
              </a:rPr>
              <a:t>Every extra prefix bit halves the addresses available, and two are always lost to the network and the broadcast.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7315200" cy="320040"/>
          </a:xfrm>
          <a:prstGeom prst="rect">
            <a:avLst/>
          </a:prstGeom>
          <a:noFill/>
        </p:spPr>
        <p:txBody>
          <a:bodyPr wrap="square" anchor="t" lIns="0" rIns="0" tIns="0" bIns="0">
            <a:spAutoFit/>
          </a:bodyPr>
          <a:lstStyle/>
          <a:p>
            <a:pPr algn="l"/>
            <a:r>
              <a:rPr sz="1300" b="1" spc="300">
                <a:solidFill>
                  <a:srgbClr val="C22828"/>
                </a:solidFill>
                <a:latin typeface="Arial"/>
              </a:rPr>
              <a:t>QUIZ</a:t>
            </a:r>
          </a:p>
        </p:txBody>
      </p:sp>
      <p:sp>
        <p:nvSpPr>
          <p:cNvPr id="5" name="TextBox 4"/>
          <p:cNvSpPr txBox="1"/>
          <p:nvPr/>
        </p:nvSpPr>
        <p:spPr>
          <a:xfrm>
            <a:off x="502920" y="914400"/>
            <a:ext cx="8138160" cy="640080"/>
          </a:xfrm>
          <a:prstGeom prst="rect">
            <a:avLst/>
          </a:prstGeom>
          <a:noFill/>
        </p:spPr>
        <p:txBody>
          <a:bodyPr wrap="square" anchor="t" lIns="0" rIns="0" tIns="0" bIns="0">
            <a:spAutoFit/>
          </a:bodyPr>
          <a:lstStyle/>
          <a:p>
            <a:pPr algn="l"/>
            <a:r>
              <a:rPr sz="2400" b="1">
                <a:solidFill>
                  <a:srgbClr val="FFFFFF"/>
                </a:solidFill>
                <a:latin typeface="Arial"/>
              </a:rPr>
              <a:t>Activity: quick subnet arithmetic</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00">
                <a:solidFill>
                  <a:srgbClr val="D1D5DB"/>
                </a:solidFill>
                <a:latin typeface="Arial"/>
              </a:rPr>
              <a:t>What is the network address of 192.168.10.50/28?</a:t>
            </a:r>
          </a:p>
          <a:p>
            <a:pPr marL="182880" indent="137160">
              <a:lnSpc>
                <a:spcPct val="108000"/>
              </a:lnSpc>
              <a:spcAft>
                <a:spcPts val="1152"/>
              </a:spcAft>
              <a:buFont typeface="Arial"/>
              <a:buChar char="•"/>
            </a:pPr>
            <a:r>
              <a:rPr sz="1400">
                <a:solidFill>
                  <a:srgbClr val="D1D5DB"/>
                </a:solidFill>
                <a:latin typeface="Arial"/>
              </a:rPr>
              <a:t>How many usable hosts in a /29 subnet?</a:t>
            </a:r>
          </a:p>
          <a:p>
            <a:pPr marL="182880" indent="137160">
              <a:lnSpc>
                <a:spcPct val="108000"/>
              </a:lnSpc>
              <a:spcAft>
                <a:spcPts val="1152"/>
              </a:spcAft>
              <a:buFont typeface="Arial"/>
              <a:buChar char="•"/>
            </a:pPr>
            <a:r>
              <a:rPr sz="1400">
                <a:solidFill>
                  <a:srgbClr val="D1D5DB"/>
                </a:solidFill>
                <a:latin typeface="Arial"/>
              </a:rPr>
              <a:t>What is the CIDR notation for mask 255.255.255.240?</a:t>
            </a:r>
          </a:p>
          <a:p>
            <a:pPr marL="182880" indent="137160">
              <a:lnSpc>
                <a:spcPct val="108000"/>
              </a:lnSpc>
              <a:spcAft>
                <a:spcPts val="1152"/>
              </a:spcAft>
              <a:buFont typeface="Arial"/>
              <a:buChar char="•"/>
            </a:pPr>
            <a:r>
              <a:rPr sz="1400">
                <a:solidFill>
                  <a:srgbClr val="D1D5DB"/>
                </a:solidFill>
                <a:latin typeface="Arial"/>
              </a:rPr>
              <a:t>Borrow 2 bits from a /24: how many subnets of what size?</a:t>
            </a:r>
          </a:p>
          <a:p>
            <a:pPr marL="182880" indent="137160">
              <a:lnSpc>
                <a:spcPct val="108000"/>
              </a:lnSpc>
              <a:spcAft>
                <a:spcPts val="1152"/>
              </a:spcAft>
              <a:buFont typeface="Arial"/>
              <a:buChar char="•"/>
            </a:pPr>
            <a:r>
              <a:rPr sz="1400">
                <a:solidFill>
                  <a:srgbClr val="D1D5DB"/>
                </a:solidFill>
                <a:latin typeface="Arial"/>
              </a:rPr>
              <a:t>Which address can never be assigned to a host?</a:t>
            </a:r>
          </a:p>
        </p:txBody>
      </p:sp>
      <p:sp>
        <p:nvSpPr>
          <p:cNvPr id="7" name="Rounded Rectangle 6"/>
          <p:cNvSpPr/>
          <p:nvPr/>
        </p:nvSpPr>
        <p:spPr>
          <a:xfrm>
            <a:off x="502920" y="3931920"/>
            <a:ext cx="8138160" cy="56692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041648"/>
            <a:ext cx="7680960" cy="402336"/>
          </a:xfrm>
          <a:prstGeom prst="rect">
            <a:avLst/>
          </a:prstGeom>
          <a:noFill/>
        </p:spPr>
        <p:txBody>
          <a:bodyPr wrap="square" lIns="0" rIns="0" tIns="0" bIns="0">
            <a:spAutoFit/>
          </a:bodyPr>
          <a:lstStyle/>
          <a:p>
            <a:pPr>
              <a:lnSpc>
                <a:spcPct val="108000"/>
              </a:lnSpc>
            </a:pPr>
            <a:r>
              <a:rPr sz="1150">
                <a:solidFill>
                  <a:srgbClr val="F3D9D9"/>
                </a:solidFill>
                <a:latin typeface="Arial"/>
              </a:rPr>
              <a:t>Block size shortcut: for /28 the block is 16, so 50 falls in the .48 to .63 range.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7315200" cy="320040"/>
          </a:xfrm>
          <a:prstGeom prst="rect">
            <a:avLst/>
          </a:prstGeom>
          <a:noFill/>
        </p:spPr>
        <p:txBody>
          <a:bodyPr wrap="square" anchor="t" lIns="0" rIns="0" tIns="0" bIns="0">
            <a:spAutoFit/>
          </a:bodyPr>
          <a:lstStyle/>
          <a:p>
            <a:pPr algn="l"/>
            <a:r>
              <a:rPr sz="1300" b="1" spc="300">
                <a:solidFill>
                  <a:srgbClr val="C22828"/>
                </a:solidFill>
                <a:latin typeface="Arial"/>
              </a:rPr>
              <a:t>QUIZ</a:t>
            </a:r>
          </a:p>
        </p:txBody>
      </p:sp>
      <p:sp>
        <p:nvSpPr>
          <p:cNvPr id="5" name="TextBox 4"/>
          <p:cNvSpPr txBox="1"/>
          <p:nvPr/>
        </p:nvSpPr>
        <p:spPr>
          <a:xfrm>
            <a:off x="502920" y="914400"/>
            <a:ext cx="8138160" cy="640080"/>
          </a:xfrm>
          <a:prstGeom prst="rect">
            <a:avLst/>
          </a:prstGeom>
          <a:noFill/>
        </p:spPr>
        <p:txBody>
          <a:bodyPr wrap="square" anchor="t" lIns="0" rIns="0" tIns="0" bIns="0">
            <a:spAutoFit/>
          </a:bodyPr>
          <a:lstStyle/>
          <a:p>
            <a:pPr algn="l"/>
            <a:r>
              <a:rPr sz="2400" b="1">
                <a:solidFill>
                  <a:srgbClr val="FFFFFF"/>
                </a:solidFill>
                <a:latin typeface="Arial"/>
              </a:rPr>
              <a:t>Check your understanding</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00">
                <a:solidFill>
                  <a:srgbClr val="D1D5DB"/>
                </a:solidFill>
                <a:latin typeface="Arial"/>
              </a:rPr>
              <a:t>Open Quiz_Session_01.html in your browser.</a:t>
            </a:r>
          </a:p>
          <a:p>
            <a:pPr marL="182880" indent="137160">
              <a:lnSpc>
                <a:spcPct val="108000"/>
              </a:lnSpc>
              <a:spcAft>
                <a:spcPts val="1152"/>
              </a:spcAft>
              <a:buFont typeface="Arial"/>
              <a:buChar char="•"/>
            </a:pPr>
            <a:r>
              <a:rPr sz="1400">
                <a:solidFill>
                  <a:srgbClr val="D1D5DB"/>
                </a:solidFill>
                <a:latin typeface="Arial"/>
              </a:rPr>
              <a:t>20 questions, immediate feedback, and a topic tag on every question.</a:t>
            </a:r>
          </a:p>
          <a:p>
            <a:pPr marL="182880" indent="137160">
              <a:lnSpc>
                <a:spcPct val="108000"/>
              </a:lnSpc>
              <a:spcAft>
                <a:spcPts val="1152"/>
              </a:spcAft>
              <a:buFont typeface="Arial"/>
              <a:buChar char="•"/>
            </a:pPr>
            <a:r>
              <a:rPr sz="1400">
                <a:solidFill>
                  <a:srgbClr val="D1D5DB"/>
                </a:solidFill>
                <a:latin typeface="Arial"/>
              </a:rPr>
              <a:t>Read each explanation: the distractors teach as much as the answer.</a:t>
            </a:r>
          </a:p>
          <a:p>
            <a:pPr marL="182880" indent="137160">
              <a:lnSpc>
                <a:spcPct val="108000"/>
              </a:lnSpc>
              <a:spcAft>
                <a:spcPts val="1152"/>
              </a:spcAft>
              <a:buFont typeface="Arial"/>
              <a:buChar char="•"/>
            </a:pPr>
            <a:r>
              <a:rPr sz="1400">
                <a:solidFill>
                  <a:srgbClr val="D1D5DB"/>
                </a:solidFill>
                <a:latin typeface="Arial"/>
              </a:rPr>
              <a:t>Score 70% or better before moving on.</a:t>
            </a:r>
          </a:p>
        </p:txBody>
      </p:sp>
      <p:sp>
        <p:nvSpPr>
          <p:cNvPr id="7" name="Rounded Rectangle 6"/>
          <p:cNvSpPr/>
          <p:nvPr/>
        </p:nvSpPr>
        <p:spPr>
          <a:xfrm>
            <a:off x="502920" y="3931920"/>
            <a:ext cx="8138160" cy="56692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041648"/>
            <a:ext cx="7680960" cy="402336"/>
          </a:xfrm>
          <a:prstGeom prst="rect">
            <a:avLst/>
          </a:prstGeom>
          <a:noFill/>
        </p:spPr>
        <p:txBody>
          <a:bodyPr wrap="square" lIns="0" rIns="0" tIns="0" bIns="0">
            <a:spAutoFit/>
          </a:bodyPr>
          <a:lstStyle/>
          <a:p>
            <a:pPr>
              <a:lnSpc>
                <a:spcPct val="108000"/>
              </a:lnSpc>
            </a:pPr>
            <a:r>
              <a:rPr sz="1150">
                <a:solidFill>
                  <a:srgbClr val="F3D9D9"/>
                </a:solidFill>
                <a:latin typeface="Arial"/>
              </a:rPr>
              <a:t>Every question maps to a session topic area, for example 1B IPv4 Addressing.</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7315200" cy="320040"/>
          </a:xfrm>
          <a:prstGeom prst="rect">
            <a:avLst/>
          </a:prstGeom>
          <a:noFill/>
        </p:spPr>
        <p:txBody>
          <a:bodyPr wrap="square" anchor="t" lIns="0" rIns="0" tIns="0" bIns="0">
            <a:spAutoFit/>
          </a:bodyPr>
          <a:lstStyle/>
          <a:p>
            <a:pPr algn="l"/>
            <a:r>
              <a:rPr sz="1300" b="1" spc="300">
                <a:solidFill>
                  <a:srgbClr val="C22828"/>
                </a:solidFill>
                <a:latin typeface="Arial"/>
              </a:rPr>
              <a:t>KEY TAKEAWAYS</a:t>
            </a:r>
          </a:p>
        </p:txBody>
      </p:sp>
      <p:sp>
        <p:nvSpPr>
          <p:cNvPr id="5" name="TextBox 4"/>
          <p:cNvSpPr txBox="1"/>
          <p:nvPr/>
        </p:nvSpPr>
        <p:spPr>
          <a:xfrm>
            <a:off x="502920" y="1051560"/>
            <a:ext cx="8138160" cy="3474720"/>
          </a:xfrm>
          <a:prstGeom prst="rect">
            <a:avLst/>
          </a:prstGeom>
          <a:noFill/>
        </p:spPr>
        <p:txBody>
          <a:bodyPr wrap="square" lIns="0" rIns="0" tIns="0" bIns="0">
            <a:spAutoFit/>
          </a:bodyPr>
          <a:lstStyle/>
          <a:p>
            <a:pPr marL="182880" indent="137160">
              <a:lnSpc>
                <a:spcPct val="110000"/>
              </a:lnSpc>
              <a:spcAft>
                <a:spcPts val="1872"/>
              </a:spcAft>
              <a:buFont typeface="Arial"/>
              <a:buChar char="•"/>
            </a:pPr>
            <a:r>
              <a:rPr sz="1600" b="1">
                <a:solidFill>
                  <a:srgbClr val="C22828"/>
                </a:solidFill>
                <a:latin typeface="Arial"/>
              </a:rPr>
              <a:t>Seven layers, one job each  </a:t>
            </a:r>
            <a:r>
              <a:rPr sz="1600">
                <a:solidFill>
                  <a:srgbClr val="FFFFFF"/>
                </a:solidFill>
                <a:latin typeface="Arial"/>
              </a:rPr>
              <a:t>which is what makes every fault findable by testing one layer at a time.</a:t>
            </a:r>
          </a:p>
          <a:p>
            <a:pPr marL="182880" indent="137160">
              <a:lnSpc>
                <a:spcPct val="110000"/>
              </a:lnSpc>
              <a:spcAft>
                <a:spcPts val="1872"/>
              </a:spcAft>
              <a:buFont typeface="Arial"/>
              <a:buChar char="•"/>
            </a:pPr>
            <a:r>
              <a:rPr sz="1600" b="1">
                <a:solidFill>
                  <a:srgbClr val="C22828"/>
                </a:solidFill>
                <a:latin typeface="Arial"/>
              </a:rPr>
              <a:t>Encapsulation changes the name  </a:t>
            </a:r>
            <a:r>
              <a:rPr sz="1600">
                <a:solidFill>
                  <a:srgbClr val="FFFFFF"/>
                </a:solidFill>
                <a:latin typeface="Arial"/>
              </a:rPr>
              <a:t>data, segment, packet, frame, then bits on the medium.</a:t>
            </a:r>
          </a:p>
          <a:p>
            <a:pPr marL="182880" indent="137160">
              <a:lnSpc>
                <a:spcPct val="110000"/>
              </a:lnSpc>
              <a:spcAft>
                <a:spcPts val="1872"/>
              </a:spcAft>
              <a:buFont typeface="Arial"/>
              <a:buChar char="•"/>
            </a:pPr>
            <a:r>
              <a:rPr sz="1600" b="1">
                <a:solidFill>
                  <a:srgbClr val="C22828"/>
                </a:solidFill>
                <a:latin typeface="Arial"/>
              </a:rPr>
              <a:t>Layer 2 is local  </a:t>
            </a:r>
            <a:r>
              <a:rPr sz="1600">
                <a:solidFill>
                  <a:srgbClr val="FFFFFF"/>
                </a:solidFill>
                <a:latin typeface="Arial"/>
              </a:rPr>
              <a:t>48-bit hardware addresses deliver frames on one segment.</a:t>
            </a:r>
          </a:p>
          <a:p>
            <a:pPr marL="182880" indent="137160">
              <a:lnSpc>
                <a:spcPct val="110000"/>
              </a:lnSpc>
              <a:spcAft>
                <a:spcPts val="1872"/>
              </a:spcAft>
              <a:buFont typeface="Arial"/>
              <a:buChar char="•"/>
            </a:pPr>
            <a:r>
              <a:rPr sz="1600" b="1">
                <a:solidFill>
                  <a:srgbClr val="C22828"/>
                </a:solidFill>
                <a:latin typeface="Arial"/>
              </a:rPr>
              <a:t>Layer 3 routes  </a:t>
            </a:r>
            <a:r>
              <a:rPr sz="1600">
                <a:solidFill>
                  <a:srgbClr val="FFFFFF"/>
                </a:solidFill>
                <a:latin typeface="Arial"/>
              </a:rPr>
              <a:t>IP addresses carry packets between networks, and Time to Live stops loops.</a:t>
            </a:r>
          </a:p>
          <a:p>
            <a:pPr marL="182880" indent="137160">
              <a:lnSpc>
                <a:spcPct val="110000"/>
              </a:lnSpc>
              <a:spcAft>
                <a:spcPts val="1872"/>
              </a:spcAft>
              <a:buFont typeface="Arial"/>
              <a:buChar char="•"/>
            </a:pPr>
            <a:r>
              <a:rPr sz="1600" b="1">
                <a:solidFill>
                  <a:srgbClr val="C22828"/>
                </a:solidFill>
                <a:latin typeface="Arial"/>
              </a:rPr>
              <a:t>TCP guarantees, UDP is fast  </a:t>
            </a:r>
            <a:r>
              <a:rPr sz="1600">
                <a:solidFill>
                  <a:srgbClr val="FFFFFF"/>
                </a:solidFill>
                <a:latin typeface="Arial"/>
              </a:rPr>
              <a:t>choose reliability or latency for the application.</a:t>
            </a:r>
          </a:p>
          <a:p>
            <a:pPr marL="182880" indent="137160">
              <a:lnSpc>
                <a:spcPct val="110000"/>
              </a:lnSpc>
              <a:spcAft>
                <a:spcPts val="1872"/>
              </a:spcAft>
              <a:buFont typeface="Arial"/>
              <a:buChar char="•"/>
            </a:pPr>
            <a:r>
              <a:rPr sz="1600" b="1">
                <a:solidFill>
                  <a:srgbClr val="C22828"/>
                </a:solidFill>
                <a:latin typeface="Arial"/>
              </a:rPr>
              <a:t>Media is a trade  </a:t>
            </a:r>
            <a:r>
              <a:rPr sz="1600">
                <a:solidFill>
                  <a:srgbClr val="FFFFFF"/>
                </a:solidFill>
                <a:latin typeface="Arial"/>
              </a:rPr>
              <a:t>distance, bandwidth and interference choose the cable.</a:t>
            </a:r>
          </a:p>
          <a:p>
            <a:pPr marL="182880" indent="137160">
              <a:lnSpc>
                <a:spcPct val="110000"/>
              </a:lnSpc>
              <a:spcAft>
                <a:spcPts val="1872"/>
              </a:spcAft>
              <a:buFont typeface="Arial"/>
              <a:buChar char="•"/>
            </a:pPr>
            <a:r>
              <a:rPr sz="1600" b="1">
                <a:solidFill>
                  <a:srgbClr val="C22828"/>
                </a:solidFill>
                <a:latin typeface="Arial"/>
              </a:rPr>
              <a:t>Topology trades cost for resilience  </a:t>
            </a:r>
            <a:r>
              <a:rPr sz="1600">
                <a:solidFill>
                  <a:srgbClr val="FFFFFF"/>
                </a:solidFill>
                <a:latin typeface="Arial"/>
              </a:rPr>
              <a:t>decide where you can afford to fail.</a:t>
            </a:r>
          </a:p>
          <a:p>
            <a:pPr marL="182880" indent="137160">
              <a:lnSpc>
                <a:spcPct val="110000"/>
              </a:lnSpc>
              <a:spcAft>
                <a:spcPts val="1872"/>
              </a:spcAft>
              <a:buFont typeface="Arial"/>
              <a:buChar char="•"/>
            </a:pPr>
            <a:r>
              <a:rPr sz="1600" b="1">
                <a:solidFill>
                  <a:srgbClr val="C22828"/>
                </a:solidFill>
                <a:latin typeface="Arial"/>
              </a:rPr>
              <a:t>The mask splits network from host  </a:t>
            </a:r>
            <a:r>
              <a:rPr sz="1600">
                <a:solidFill>
                  <a:srgbClr val="FFFFFF"/>
                </a:solidFill>
                <a:latin typeface="Arial"/>
              </a:rPr>
              <a:t>so a /24 gives 254 usable hosts, not 256.</a:t>
            </a:r>
          </a:p>
        </p:txBody>
      </p:sp>
      <p:sp>
        <p:nvSpPr>
          <p:cNvPr id="6" name="TextBox 5"/>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7" name="TextBox 6"/>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8" name="Picture 7"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9" name="TextBox 8"/>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REVISION CHECKLIST</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Before next session</a:t>
            </a:r>
          </a:p>
        </p:txBody>
      </p:sp>
      <p:sp>
        <p:nvSpPr>
          <p:cNvPr id="6" name="TextBox 5"/>
          <p:cNvSpPr txBox="1"/>
          <p:nvPr/>
        </p:nvSpPr>
        <p:spPr>
          <a:xfrm>
            <a:off x="502920" y="1737360"/>
            <a:ext cx="8138160" cy="29489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350" b="1">
                <a:solidFill>
                  <a:srgbClr val="FFFFFF"/>
                </a:solidFill>
                <a:latin typeface="Arial"/>
              </a:rPr>
              <a:t>Retake the quiz  </a:t>
            </a:r>
            <a:r>
              <a:rPr sz="1350">
                <a:solidFill>
                  <a:srgbClr val="D1D5DB"/>
                </a:solidFill>
                <a:latin typeface="Arial"/>
              </a:rPr>
              <a:t>until you score 70% or better without guessing</a:t>
            </a:r>
          </a:p>
          <a:p>
            <a:pPr marL="182880" indent="137160">
              <a:lnSpc>
                <a:spcPct val="108000"/>
              </a:lnSpc>
              <a:spcAft>
                <a:spcPts val="1152"/>
              </a:spcAft>
              <a:buFont typeface="Arial"/>
              <a:buChar char="•"/>
            </a:pPr>
            <a:r>
              <a:rPr sz="1350" b="1">
                <a:solidFill>
                  <a:srgbClr val="FFFFFF"/>
                </a:solidFill>
                <a:latin typeface="Arial"/>
              </a:rPr>
              <a:t>Practise subnetting  </a:t>
            </a:r>
            <a:r>
              <a:rPr sz="1350">
                <a:solidFill>
                  <a:srgbClr val="D1D5DB"/>
                </a:solidFill>
                <a:latin typeface="Arial"/>
              </a:rPr>
              <a:t>ten /24 to /30 calculations by hand</a:t>
            </a:r>
          </a:p>
          <a:p>
            <a:pPr marL="182880" indent="137160">
              <a:lnSpc>
                <a:spcPct val="108000"/>
              </a:lnSpc>
              <a:spcAft>
                <a:spcPts val="1152"/>
              </a:spcAft>
              <a:buFont typeface="Arial"/>
              <a:buChar char="•"/>
            </a:pPr>
            <a:r>
              <a:rPr sz="1350" b="1">
                <a:solidFill>
                  <a:srgbClr val="FFFFFF"/>
                </a:solidFill>
                <a:latin typeface="Arial"/>
              </a:rPr>
              <a:t>Walk the stack  </a:t>
            </a:r>
            <a:r>
              <a:rPr sz="1350">
                <a:solidFill>
                  <a:srgbClr val="D1D5DB"/>
                </a:solidFill>
                <a:latin typeface="Arial"/>
              </a:rPr>
              <a:t>name each layer, its job and one protocol, out loud</a:t>
            </a:r>
          </a:p>
          <a:p>
            <a:pPr marL="182880" indent="137160">
              <a:lnSpc>
                <a:spcPct val="108000"/>
              </a:lnSpc>
              <a:spcAft>
                <a:spcPts val="1152"/>
              </a:spcAft>
              <a:buFont typeface="Arial"/>
              <a:buChar char="•"/>
            </a:pPr>
            <a:r>
              <a:rPr sz="1350" b="1">
                <a:solidFill>
                  <a:srgbClr val="FFFFFF"/>
                </a:solidFill>
                <a:latin typeface="Arial"/>
              </a:rPr>
              <a:t>Choose three cables  </a:t>
            </a:r>
            <a:r>
              <a:rPr sz="1350">
                <a:solidFill>
                  <a:srgbClr val="D1D5DB"/>
                </a:solidFill>
                <a:latin typeface="Arial"/>
              </a:rPr>
              <a:t>justify each with distance, bandwidth and interference</a:t>
            </a:r>
          </a:p>
          <a:p>
            <a:pPr marL="182880" indent="137160">
              <a:lnSpc>
                <a:spcPct val="108000"/>
              </a:lnSpc>
              <a:spcAft>
                <a:spcPts val="1152"/>
              </a:spcAft>
              <a:buFont typeface="Arial"/>
              <a:buChar char="•"/>
            </a:pPr>
            <a:r>
              <a:rPr sz="1350" b="1">
                <a:solidFill>
                  <a:srgbClr val="FFFFFF"/>
                </a:solidFill>
                <a:latin typeface="Arial"/>
              </a:rPr>
              <a:t>Read ahead  </a:t>
            </a:r>
            <a:r>
              <a:rPr sz="1350">
                <a:solidFill>
                  <a:srgbClr val="D1D5DB"/>
                </a:solidFill>
                <a:latin typeface="Arial"/>
              </a:rPr>
              <a:t>Session 2: switching, VLANs and spanning tree</a:t>
            </a:r>
          </a:p>
        </p:txBody>
      </p:sp>
      <p:sp>
        <p:nvSpPr>
          <p:cNvPr id="7" name="TextBox 6"/>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8" name="TextBox 7"/>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9" name="Picture 8"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0" name="TextBox 9"/>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7315200" cy="320040"/>
          </a:xfrm>
          <a:prstGeom prst="rect">
            <a:avLst/>
          </a:prstGeom>
          <a:noFill/>
        </p:spPr>
        <p:txBody>
          <a:bodyPr wrap="square" anchor="t" lIns="0" rIns="0" tIns="0" bIns="0">
            <a:spAutoFit/>
          </a:bodyPr>
          <a:lstStyle/>
          <a:p>
            <a:pPr algn="l"/>
            <a:r>
              <a:rPr sz="1300" b="1" spc="300">
                <a:solidFill>
                  <a:srgbClr val="C22828"/>
                </a:solidFill>
                <a:latin typeface="Arial"/>
              </a:rPr>
              <a:t>NEXT SESSION</a:t>
            </a:r>
          </a:p>
        </p:txBody>
      </p:sp>
      <p:sp>
        <p:nvSpPr>
          <p:cNvPr id="5" name="TextBox 4"/>
          <p:cNvSpPr txBox="1"/>
          <p:nvPr/>
        </p:nvSpPr>
        <p:spPr>
          <a:xfrm>
            <a:off x="502920" y="914400"/>
            <a:ext cx="8138160" cy="685800"/>
          </a:xfrm>
          <a:prstGeom prst="rect">
            <a:avLst/>
          </a:prstGeom>
          <a:noFill/>
        </p:spPr>
        <p:txBody>
          <a:bodyPr wrap="square" anchor="t" lIns="0" rIns="0" tIns="0" bIns="0">
            <a:spAutoFit/>
          </a:bodyPr>
          <a:lstStyle/>
          <a:p>
            <a:pPr algn="l"/>
            <a:r>
              <a:rPr sz="2400" b="1">
                <a:solidFill>
                  <a:srgbClr val="FFFFFF"/>
                </a:solidFill>
                <a:latin typeface="Arial"/>
              </a:rPr>
              <a:t>Session 2 — Switching, VLANs &amp; Network Architectures</a:t>
            </a:r>
          </a:p>
        </p:txBody>
      </p:sp>
      <p:sp>
        <p:nvSpPr>
          <p:cNvPr id="6" name="TextBox 5"/>
          <p:cNvSpPr txBox="1"/>
          <p:nvPr/>
        </p:nvSpPr>
        <p:spPr>
          <a:xfrm>
            <a:off x="502920" y="1600200"/>
            <a:ext cx="8138160" cy="457200"/>
          </a:xfrm>
          <a:prstGeom prst="rect">
            <a:avLst/>
          </a:prstGeom>
          <a:noFill/>
        </p:spPr>
        <p:txBody>
          <a:bodyPr wrap="square" anchor="t" lIns="0" rIns="0" tIns="0" bIns="0">
            <a:spAutoFit/>
          </a:bodyPr>
          <a:lstStyle/>
          <a:p>
            <a:pPr algn="l"/>
            <a:r>
              <a:rPr sz="1400" b="0">
                <a:solidFill>
                  <a:srgbClr val="9CA3AF"/>
                </a:solidFill>
                <a:latin typeface="Arial"/>
              </a:rPr>
              <a:t>Layer 2 forwarding, virtual LANs and the topologies that segment a campus</a:t>
            </a:r>
          </a:p>
        </p:txBody>
      </p:sp>
      <p:sp>
        <p:nvSpPr>
          <p:cNvPr id="7" name="TextBox 6"/>
          <p:cNvSpPr txBox="1"/>
          <p:nvPr/>
        </p:nvSpPr>
        <p:spPr>
          <a:xfrm>
            <a:off x="502920" y="2194560"/>
            <a:ext cx="8138160" cy="24917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350">
                <a:solidFill>
                  <a:srgbClr val="D1D5DB"/>
                </a:solidFill>
                <a:latin typeface="Arial"/>
              </a:rPr>
              <a:t>MAC addresses and the switch forwarding table</a:t>
            </a:r>
          </a:p>
          <a:p>
            <a:pPr marL="182880" indent="137160">
              <a:lnSpc>
                <a:spcPct val="108000"/>
              </a:lnSpc>
              <a:spcAft>
                <a:spcPts val="1152"/>
              </a:spcAft>
              <a:buFont typeface="Arial"/>
              <a:buChar char="•"/>
            </a:pPr>
            <a:r>
              <a:rPr sz="1350">
                <a:solidFill>
                  <a:srgbClr val="D1D5DB"/>
                </a:solidFill>
                <a:latin typeface="Arial"/>
              </a:rPr>
              <a:t>VLANs, trunking and 802.1Q tagging</a:t>
            </a:r>
          </a:p>
          <a:p>
            <a:pPr marL="182880" indent="137160">
              <a:lnSpc>
                <a:spcPct val="108000"/>
              </a:lnSpc>
              <a:spcAft>
                <a:spcPts val="1152"/>
              </a:spcAft>
              <a:buFont typeface="Arial"/>
              <a:buChar char="•"/>
            </a:pPr>
            <a:r>
              <a:rPr sz="1350">
                <a:solidFill>
                  <a:srgbClr val="D1D5DB"/>
                </a:solidFill>
                <a:latin typeface="Arial"/>
              </a:rPr>
              <a:t>Spanning Tree Protocol and loop prevention</a:t>
            </a:r>
          </a:p>
        </p:txBody>
      </p:sp>
      <p:sp>
        <p:nvSpPr>
          <p:cNvPr id="8" name="TextBox 7"/>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1</a:t>
            </a:r>
          </a:p>
        </p:txBody>
      </p:sp>
      <p:sp>
        <p:nvSpPr>
          <p:cNvPr id="9" name="TextBox 8"/>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0" name="Picture 9"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1" name="TextBox 10"/>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