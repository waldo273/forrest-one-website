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oc.jpg"/>
          <p:cNvPicPr>
            <a:picLocks noChangeAspect="1"/>
          </p:cNvPicPr>
          <p:nvPr/>
        </p:nvPicPr>
        <p:blipFill>
          <a:blip r:embed="rId2"/>
          <a:stretch>
            <a:fillRect/>
          </a:stretch>
        </p:blipFill>
        <p:spPr>
          <a:xfrm>
            <a:off x="0" y="0"/>
            <a:ext cx="3657600" cy="5143500"/>
          </a:xfrm>
          <a:prstGeom prst="rect">
            <a:avLst/>
          </a:prstGeom>
        </p:spPr>
      </p:pic>
      <p:sp>
        <p:nvSpPr>
          <p:cNvPr id="5" name="Rectangle 4"/>
          <p:cNvSpPr/>
          <p:nvPr/>
        </p:nvSpPr>
        <p:spPr>
          <a:xfrm>
            <a:off x="0" y="0"/>
            <a:ext cx="3657600" cy="5143500"/>
          </a:xfrm>
          <a:prstGeom prst="rect">
            <a:avLst/>
          </a:prstGeom>
          <a:solidFill>
            <a:srgbClr val="000000">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0" y="0"/>
            <a:ext cx="5486400" cy="5143500"/>
          </a:xfrm>
          <a:prstGeom prst="rect">
            <a:avLst/>
          </a:prstGeom>
          <a:solidFill>
            <a:srgbClr val="141414">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77639" y="502920"/>
            <a:ext cx="4114800" cy="274320"/>
          </a:xfrm>
          <a:prstGeom prst="rect">
            <a:avLst/>
          </a:prstGeom>
          <a:noFill/>
        </p:spPr>
        <p:txBody>
          <a:bodyPr wrap="square" anchor="t" lIns="0" rIns="0" tIns="0" bIns="0">
            <a:spAutoFit/>
          </a:bodyPr>
          <a:lstStyle/>
          <a:p>
            <a:pPr algn="l"/>
            <a:r>
              <a:rPr sz="1150" b="1" spc="300">
                <a:solidFill>
                  <a:srgbClr val="9CA3AF"/>
                </a:solidFill>
                <a:latin typeface="Arial"/>
              </a:rPr>
              <a:t>TRAINING @ FORREST.ONE</a:t>
            </a:r>
          </a:p>
        </p:txBody>
      </p:sp>
      <p:sp>
        <p:nvSpPr>
          <p:cNvPr id="8" name="TextBox 7"/>
          <p:cNvSpPr txBox="1"/>
          <p:nvPr/>
        </p:nvSpPr>
        <p:spPr>
          <a:xfrm>
            <a:off x="3977639" y="1234440"/>
            <a:ext cx="4754880" cy="320040"/>
          </a:xfrm>
          <a:prstGeom prst="rect">
            <a:avLst/>
          </a:prstGeom>
          <a:noFill/>
        </p:spPr>
        <p:txBody>
          <a:bodyPr wrap="square" anchor="t" lIns="0" rIns="0" tIns="0" bIns="0">
            <a:spAutoFit/>
          </a:bodyPr>
          <a:lstStyle/>
          <a:p>
            <a:pPr algn="l"/>
            <a:r>
              <a:rPr sz="1350" b="1" spc="300">
                <a:solidFill>
                  <a:srgbClr val="C22828"/>
                </a:solidFill>
                <a:latin typeface="Arial"/>
              </a:rPr>
              <a:t>SESSION 2 OF 12</a:t>
            </a:r>
          </a:p>
        </p:txBody>
      </p:sp>
      <p:sp>
        <p:nvSpPr>
          <p:cNvPr id="9" name="TextBox 8"/>
          <p:cNvSpPr txBox="1"/>
          <p:nvPr/>
        </p:nvSpPr>
        <p:spPr>
          <a:xfrm>
            <a:off x="3977639" y="1627632"/>
            <a:ext cx="4846320" cy="365760"/>
          </a:xfrm>
          <a:prstGeom prst="rect">
            <a:avLst/>
          </a:prstGeom>
          <a:noFill/>
        </p:spPr>
        <p:txBody>
          <a:bodyPr wrap="square" anchor="t" lIns="0" rIns="0" tIns="0" bIns="0">
            <a:spAutoFit/>
          </a:bodyPr>
          <a:lstStyle/>
          <a:p>
            <a:pPr algn="l"/>
            <a:r>
              <a:rPr sz="1400" b="0">
                <a:solidFill>
                  <a:srgbClr val="9CA3AF"/>
                </a:solidFill>
                <a:latin typeface="Arial"/>
              </a:rPr>
              <a:t>Network Fundamentals + CompTIA Security+ SY0-701</a:t>
            </a:r>
          </a:p>
        </p:txBody>
      </p:sp>
      <p:sp>
        <p:nvSpPr>
          <p:cNvPr id="10" name="TextBox 9"/>
          <p:cNvSpPr txBox="1"/>
          <p:nvPr/>
        </p:nvSpPr>
        <p:spPr>
          <a:xfrm>
            <a:off x="3977639" y="2057400"/>
            <a:ext cx="4892040" cy="1463040"/>
          </a:xfrm>
          <a:prstGeom prst="rect">
            <a:avLst/>
          </a:prstGeom>
          <a:noFill/>
        </p:spPr>
        <p:txBody>
          <a:bodyPr wrap="square" anchor="t" lIns="0" rIns="0" tIns="0" bIns="0">
            <a:spAutoFit/>
          </a:bodyPr>
          <a:lstStyle/>
          <a:p>
            <a:pPr algn="l">
              <a:lnSpc>
                <a:spcPct val="104000"/>
              </a:lnSpc>
            </a:pPr>
            <a:r>
              <a:rPr sz="3300" b="1">
                <a:solidFill>
                  <a:srgbClr val="FFFFFF"/>
                </a:solidFill>
                <a:latin typeface="Arial"/>
              </a:rPr>
              <a:t>Switching, VLANs &amp; Network Architectures</a:t>
            </a:r>
          </a:p>
        </p:txBody>
      </p:sp>
      <p:sp>
        <p:nvSpPr>
          <p:cNvPr id="11" name="TextBox 10"/>
          <p:cNvSpPr txBox="1"/>
          <p:nvPr/>
        </p:nvSpPr>
        <p:spPr>
          <a:xfrm>
            <a:off x="3977639" y="3611880"/>
            <a:ext cx="4846320" cy="502920"/>
          </a:xfrm>
          <a:prstGeom prst="rect">
            <a:avLst/>
          </a:prstGeom>
          <a:noFill/>
        </p:spPr>
        <p:txBody>
          <a:bodyPr wrap="square" anchor="t" lIns="0" rIns="0" tIns="0" bIns="0">
            <a:spAutoFit/>
          </a:bodyPr>
          <a:lstStyle/>
          <a:p>
            <a:pPr algn="l">
              <a:lnSpc>
                <a:spcPct val="110000"/>
              </a:lnSpc>
            </a:pPr>
            <a:r>
              <a:rPr sz="1350" b="0">
                <a:solidFill>
                  <a:srgbClr val="D1D5DB"/>
                </a:solidFill>
                <a:latin typeface="Arial"/>
              </a:rPr>
              <a:t>Devices, routes and segments: how switches and routers move traffic, how routing protocols and address translation choose paths, how VLANs, trunks and spanning tree segment a campus, and how wireless and physical design decide what an attacker can reach.</a:t>
            </a:r>
          </a:p>
        </p:txBody>
      </p:sp>
      <p:sp>
        <p:nvSpPr>
          <p:cNvPr id="12" name="Rounded Rectangle 11"/>
          <p:cNvSpPr/>
          <p:nvPr/>
        </p:nvSpPr>
        <p:spPr>
          <a:xfrm>
            <a:off x="3977639" y="4224528"/>
            <a:ext cx="919886" cy="310896"/>
          </a:xfrm>
          <a:prstGeom prst="roundRect">
            <a:avLst>
              <a:gd name="adj" fmla="val 50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spc="100">
                <a:solidFill>
                  <a:srgbClr val="FFFFFF"/>
                </a:solidFill>
                <a:latin typeface="Arial"/>
              </a:rPr>
              <a:t>NETWORK</a:t>
            </a:r>
          </a:p>
        </p:txBody>
      </p:sp>
      <p:sp>
        <p:nvSpPr>
          <p:cNvPr id="13" name="Rounded Rectangle 12"/>
          <p:cNvSpPr/>
          <p:nvPr/>
        </p:nvSpPr>
        <p:spPr>
          <a:xfrm>
            <a:off x="5043830" y="4224528"/>
            <a:ext cx="1099108" cy="310896"/>
          </a:xfrm>
          <a:prstGeom prst="roundRect">
            <a:avLst>
              <a:gd name="adj" fmla="val 50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spc="100">
                <a:solidFill>
                  <a:srgbClr val="FFFFFF"/>
                </a:solidFill>
                <a:latin typeface="Arial"/>
              </a:rPr>
              <a:t>SWITCHING</a:t>
            </a:r>
          </a:p>
        </p:txBody>
      </p:sp>
      <p:sp>
        <p:nvSpPr>
          <p:cNvPr id="14" name="Rounded Rectangle 13"/>
          <p:cNvSpPr/>
          <p:nvPr/>
        </p:nvSpPr>
        <p:spPr>
          <a:xfrm>
            <a:off x="6289243" y="4224528"/>
            <a:ext cx="919886" cy="310896"/>
          </a:xfrm>
          <a:prstGeom prst="roundRect">
            <a:avLst>
              <a:gd name="adj" fmla="val 50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spc="100">
                <a:solidFill>
                  <a:srgbClr val="FFFFFF"/>
                </a:solidFill>
                <a:latin typeface="Arial"/>
              </a:rPr>
              <a:t>ROUTING</a:t>
            </a:r>
          </a:p>
        </p:txBody>
      </p:sp>
      <p:sp>
        <p:nvSpPr>
          <p:cNvPr id="15" name="Rounded Rectangle 14"/>
          <p:cNvSpPr/>
          <p:nvPr/>
        </p:nvSpPr>
        <p:spPr>
          <a:xfrm>
            <a:off x="7355433" y="4224528"/>
            <a:ext cx="740664" cy="310896"/>
          </a:xfrm>
          <a:prstGeom prst="roundRect">
            <a:avLst>
              <a:gd name="adj" fmla="val 50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spc="100">
                <a:solidFill>
                  <a:srgbClr val="FFFFFF"/>
                </a:solidFill>
                <a:latin typeface="Arial"/>
              </a:rPr>
              <a:t>VLANS</a:t>
            </a:r>
          </a:p>
        </p:txBody>
      </p:sp>
      <p:sp>
        <p:nvSpPr>
          <p:cNvPr id="16" name="TextBox 15"/>
          <p:cNvSpPr txBox="1"/>
          <p:nvPr/>
        </p:nvSpPr>
        <p:spPr>
          <a:xfrm>
            <a:off x="3977639" y="4846320"/>
            <a:ext cx="3657600" cy="201168"/>
          </a:xfrm>
          <a:prstGeom prst="rect">
            <a:avLst/>
          </a:prstGeom>
          <a:noFill/>
        </p:spPr>
        <p:txBody>
          <a:bodyPr wrap="square" anchor="t" lIns="0" rIns="0" tIns="0" bIns="0">
            <a:spAutoFit/>
          </a:bodyPr>
          <a:lstStyle/>
          <a:p>
            <a:pPr algn="l"/>
            <a:r>
              <a:rPr sz="850" b="0">
                <a:solidFill>
                  <a:srgbClr val="6B7280"/>
                </a:solidFill>
                <a:latin typeface="Arial"/>
              </a:rPr>
              <a:t>© Billy Forrest</a:t>
            </a:r>
          </a:p>
        </p:txBody>
      </p:sp>
      <p:pic>
        <p:nvPicPr>
          <p:cNvPr id="17" name="Picture 16" descr="fozzie_fto_logo.png"/>
          <p:cNvPicPr>
            <a:picLocks noChangeAspect="1"/>
          </p:cNvPicPr>
          <p:nvPr/>
        </p:nvPicPr>
        <p:blipFill>
          <a:blip r:embed="rId3"/>
          <a:stretch>
            <a:fillRect/>
          </a:stretch>
        </p:blipFill>
        <p:spPr>
          <a:xfrm>
            <a:off x="8732520" y="4718304"/>
            <a:ext cx="301752" cy="45513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SESSION OBJECTIVES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By the end of this session you will be able to</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Compare switching with routing  </a:t>
            </a:r>
            <a:r>
              <a:rPr sz="1450">
                <a:solidFill>
                  <a:srgbClr val="D1D5DB"/>
                </a:solidFill>
                <a:latin typeface="Arial"/>
              </a:rPr>
              <a:t>frames by MAC address against packets by IP address</a:t>
            </a:r>
          </a:p>
          <a:p>
            <a:pPr marL="182880" indent="137160">
              <a:lnSpc>
                <a:spcPct val="108000"/>
              </a:lnSpc>
              <a:spcAft>
                <a:spcPts val="1152"/>
              </a:spcAft>
              <a:buFont typeface="Arial"/>
              <a:buChar char="•"/>
            </a:pPr>
            <a:r>
              <a:rPr sz="1450" b="1">
                <a:solidFill>
                  <a:srgbClr val="FFFFFF"/>
                </a:solidFill>
                <a:latin typeface="Arial"/>
              </a:rPr>
              <a:t>Describe the security appliances  </a:t>
            </a:r>
            <a:r>
              <a:rPr sz="1450">
                <a:solidFill>
                  <a:srgbClr val="D1D5DB"/>
                </a:solidFill>
                <a:latin typeface="Arial"/>
              </a:rPr>
              <a:t>firewalls, intrusion detection and intrusion prevention</a:t>
            </a:r>
          </a:p>
          <a:p>
            <a:pPr marL="182880" indent="137160">
              <a:lnSpc>
                <a:spcPct val="108000"/>
              </a:lnSpc>
              <a:spcAft>
                <a:spcPts val="1152"/>
              </a:spcAft>
              <a:buFont typeface="Arial"/>
              <a:buChar char="•"/>
            </a:pPr>
            <a:r>
              <a:rPr sz="1450" b="1">
                <a:solidFill>
                  <a:srgbClr val="FFFFFF"/>
                </a:solidFill>
                <a:latin typeface="Arial"/>
              </a:rPr>
              <a:t>Explain the traffic shapers  </a:t>
            </a:r>
            <a:r>
              <a:rPr sz="1450">
                <a:solidFill>
                  <a:srgbClr val="D1D5DB"/>
                </a:solidFill>
                <a:latin typeface="Arial"/>
              </a:rPr>
              <a:t>load balancers, forward proxies and reverse proxies</a:t>
            </a:r>
          </a:p>
          <a:p>
            <a:pPr marL="182880" indent="137160">
              <a:lnSpc>
                <a:spcPct val="108000"/>
              </a:lnSpc>
              <a:spcAft>
                <a:spcPts val="1152"/>
              </a:spcAft>
              <a:buFont typeface="Arial"/>
              <a:buChar char="•"/>
            </a:pPr>
            <a:r>
              <a:rPr sz="1450" b="1">
                <a:solidFill>
                  <a:srgbClr val="FFFFFF"/>
                </a:solidFill>
                <a:latin typeface="Arial"/>
              </a:rPr>
              <a:t>Compare the storage models  </a:t>
            </a:r>
            <a:r>
              <a:rPr sz="1450">
                <a:solidFill>
                  <a:srgbClr val="D1D5DB"/>
                </a:solidFill>
                <a:latin typeface="Arial"/>
              </a:rPr>
              <a:t>network attached storage against a storage area network</a:t>
            </a:r>
          </a:p>
          <a:p>
            <a:pPr marL="182880" indent="137160">
              <a:lnSpc>
                <a:spcPct val="108000"/>
              </a:lnSpc>
              <a:spcAft>
                <a:spcPts val="1152"/>
              </a:spcAft>
              <a:buFont typeface="Arial"/>
              <a:buChar char="•"/>
            </a:pPr>
            <a:r>
              <a:rPr sz="1450" b="1">
                <a:solidFill>
                  <a:srgbClr val="FFFFFF"/>
                </a:solidFill>
                <a:latin typeface="Arial"/>
              </a:rPr>
              <a:t>Define the cloud terms and models  </a:t>
            </a:r>
            <a:r>
              <a:rPr sz="1450">
                <a:solidFill>
                  <a:srgbClr val="D1D5DB"/>
                </a:solidFill>
                <a:latin typeface="Arial"/>
              </a:rPr>
              <a:t>virtualisation, private networks, security groups, gateways</a:t>
            </a:r>
          </a:p>
          <a:p>
            <a:pPr marL="182880" indent="137160">
              <a:lnSpc>
                <a:spcPct val="108000"/>
              </a:lnSpc>
              <a:spcAft>
                <a:spcPts val="1152"/>
              </a:spcAft>
              <a:buFont typeface="Arial"/>
              <a:buChar char="•"/>
            </a:pPr>
            <a:r>
              <a:rPr sz="1450" b="1">
                <a:solidFill>
                  <a:srgbClr val="FFFFFF"/>
                </a:solidFill>
                <a:latin typeface="Arial"/>
              </a:rPr>
              <a:t>Compare the routing protocols  </a:t>
            </a:r>
            <a:r>
              <a:rPr sz="1450">
                <a:solidFill>
                  <a:srgbClr val="D1D5DB"/>
                </a:solidFill>
                <a:latin typeface="Arial"/>
              </a:rPr>
              <a:t>static, distance vector, link state and path vector</a:t>
            </a:r>
          </a:p>
          <a:p>
            <a:pPr marL="182880" indent="137160">
              <a:lnSpc>
                <a:spcPct val="108000"/>
              </a:lnSpc>
              <a:spcAft>
                <a:spcPts val="1152"/>
              </a:spcAft>
              <a:buFont typeface="Arial"/>
              <a:buChar char="•"/>
            </a:pPr>
            <a:r>
              <a:rPr sz="1450" b="1">
                <a:solidFill>
                  <a:srgbClr val="FFFFFF"/>
                </a:solidFill>
                <a:latin typeface="Arial"/>
              </a:rPr>
              <a:t>Explain route selection  </a:t>
            </a:r>
            <a:r>
              <a:rPr sz="1450">
                <a:solidFill>
                  <a:srgbClr val="D1D5DB"/>
                </a:solidFill>
                <a:latin typeface="Arial"/>
              </a:rPr>
              <a:t>administrative distance, then the metric, then the longest match</a:t>
            </a:r>
          </a:p>
          <a:p>
            <a:pPr marL="182880" indent="137160">
              <a:lnSpc>
                <a:spcPct val="108000"/>
              </a:lnSpc>
              <a:spcAft>
                <a:spcPts val="1152"/>
              </a:spcAft>
              <a:buFont typeface="Arial"/>
              <a:buChar char="•"/>
            </a:pPr>
            <a:r>
              <a:rPr sz="1450" b="1">
                <a:solidFill>
                  <a:srgbClr val="FFFFFF"/>
                </a:solidFill>
                <a:latin typeface="Arial"/>
              </a:rPr>
              <a:t>Describe translation and redundancy  </a:t>
            </a:r>
            <a:r>
              <a:rPr sz="1450">
                <a:solidFill>
                  <a:srgbClr val="D1D5DB"/>
                </a:solidFill>
                <a:latin typeface="Arial"/>
              </a:rPr>
              <a:t>NAT, PAT, first hop redundancy, VLANs and trunks</a:t>
            </a:r>
          </a:p>
        </p:txBody>
      </p:sp>
      <p:sp>
        <p:nvSpPr>
          <p:cNvPr id="7" name="TextBox 6"/>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8" name="TextBox 7"/>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9" name="Picture 8"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0" name="TextBox 9"/>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1 · INFRASTRUCTURE DEVICES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Network Infrastructure Devices</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Switches and routers  </a:t>
            </a:r>
            <a:r>
              <a:rPr sz="1450">
                <a:solidFill>
                  <a:srgbClr val="D1D5DB"/>
                </a:solidFill>
                <a:latin typeface="Arial"/>
              </a:rPr>
              <a:t>layer 2 frame forwarding against layer 3 path selection</a:t>
            </a:r>
          </a:p>
          <a:p>
            <a:pPr marL="182880" indent="137160">
              <a:lnSpc>
                <a:spcPct val="108000"/>
              </a:lnSpc>
              <a:spcAft>
                <a:spcPts val="1152"/>
              </a:spcAft>
              <a:buFont typeface="Arial"/>
              <a:buChar char="•"/>
            </a:pPr>
            <a:r>
              <a:rPr sz="1450" b="1">
                <a:solidFill>
                  <a:srgbClr val="FFFFFF"/>
                </a:solidFill>
                <a:latin typeface="Arial"/>
              </a:rPr>
              <a:t>Security appliances  </a:t>
            </a:r>
            <a:r>
              <a:rPr sz="1450">
                <a:solidFill>
                  <a:srgbClr val="D1D5DB"/>
                </a:solidFill>
                <a:latin typeface="Arial"/>
              </a:rPr>
              <a:t>firewalls, intrusion detection and intrusion prevention</a:t>
            </a:r>
          </a:p>
          <a:p>
            <a:pPr marL="182880" indent="137160">
              <a:lnSpc>
                <a:spcPct val="108000"/>
              </a:lnSpc>
              <a:spcAft>
                <a:spcPts val="1152"/>
              </a:spcAft>
              <a:buFont typeface="Arial"/>
              <a:buChar char="•"/>
            </a:pPr>
            <a:r>
              <a:rPr sz="1450" b="1">
                <a:solidFill>
                  <a:srgbClr val="FFFFFF"/>
                </a:solidFill>
                <a:latin typeface="Arial"/>
              </a:rPr>
              <a:t>Traffic shaping devices  </a:t>
            </a:r>
            <a:r>
              <a:rPr sz="1450">
                <a:solidFill>
                  <a:srgbClr val="D1D5DB"/>
                </a:solidFill>
                <a:latin typeface="Arial"/>
              </a:rPr>
              <a:t>load balancers, forward proxies and reverse proxies</a:t>
            </a:r>
          </a:p>
          <a:p>
            <a:pPr marL="182880" indent="137160">
              <a:lnSpc>
                <a:spcPct val="108000"/>
              </a:lnSpc>
              <a:spcAft>
                <a:spcPts val="1152"/>
              </a:spcAft>
              <a:buFont typeface="Arial"/>
              <a:buChar char="•"/>
            </a:pPr>
            <a:r>
              <a:rPr sz="1450" b="1">
                <a:solidFill>
                  <a:srgbClr val="FFFFFF"/>
                </a:solidFill>
                <a:latin typeface="Arial"/>
              </a:rPr>
              <a:t>Storage and wireless  </a:t>
            </a:r>
            <a:r>
              <a:rPr sz="1450">
                <a:solidFill>
                  <a:srgbClr val="D1D5DB"/>
                </a:solidFill>
                <a:latin typeface="Arial"/>
              </a:rPr>
              <a:t>network attached storage, storage area networks, access points</a:t>
            </a:r>
          </a:p>
          <a:p>
            <a:pPr marL="182880" indent="137160">
              <a:lnSpc>
                <a:spcPct val="108000"/>
              </a:lnSpc>
              <a:spcAft>
                <a:spcPts val="1152"/>
              </a:spcAft>
              <a:buFont typeface="Arial"/>
              <a:buChar char="•"/>
            </a:pPr>
            <a:r>
              <a:rPr sz="1450" b="1">
                <a:solidFill>
                  <a:srgbClr val="FFFFFF"/>
                </a:solidFill>
                <a:latin typeface="Arial"/>
              </a:rPr>
              <a:t>Cloud networking  </a:t>
            </a:r>
            <a:r>
              <a:rPr sz="1450">
                <a:solidFill>
                  <a:srgbClr val="D1D5DB"/>
                </a:solidFill>
                <a:latin typeface="Arial"/>
              </a:rPr>
              <a:t>virtualised network functions, private clouds, service models</a:t>
            </a:r>
          </a:p>
        </p:txBody>
      </p:sp>
      <p:sp>
        <p:nvSpPr>
          <p:cNvPr id="7" name="Rounded Rectangle 6"/>
          <p:cNvSpPr/>
          <p:nvPr/>
        </p:nvSpPr>
        <p:spPr>
          <a:xfrm>
            <a:off x="502920" y="3483864"/>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thread</a:t>
            </a:r>
          </a:p>
        </p:txBody>
      </p:sp>
      <p:sp>
        <p:nvSpPr>
          <p:cNvPr id="8" name="TextBox 7"/>
          <p:cNvSpPr txBox="1"/>
          <p:nvPr/>
        </p:nvSpPr>
        <p:spPr>
          <a:xfrm>
            <a:off x="731520" y="4050791"/>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Every device is also a security boundary. Ask of each one, who does this protect, and from whom? Detection alone is not defence.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1 · INFRASTRUCTURE DEVICES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Switches forward frames, routers forward packets</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Switch  </a:t>
            </a:r>
            <a:r>
              <a:rPr sz="1450">
                <a:solidFill>
                  <a:srgbClr val="D1D5DB"/>
                </a:solidFill>
                <a:latin typeface="Arial"/>
              </a:rPr>
              <a:t>a layer 2 device, forwarding frames by MAC address</a:t>
            </a:r>
          </a:p>
          <a:p>
            <a:pPr marL="182880" indent="137160">
              <a:lnSpc>
                <a:spcPct val="108000"/>
              </a:lnSpc>
              <a:spcAft>
                <a:spcPts val="1152"/>
              </a:spcAft>
              <a:buFont typeface="Arial"/>
              <a:buChar char="•"/>
            </a:pPr>
            <a:r>
              <a:rPr sz="1450" b="1">
                <a:solidFill>
                  <a:srgbClr val="FFFFFF"/>
                </a:solidFill>
                <a:latin typeface="Arial"/>
              </a:rPr>
              <a:t>MAC address  </a:t>
            </a:r>
            <a:r>
              <a:rPr sz="1450">
                <a:solidFill>
                  <a:srgbClr val="D1D5DB"/>
                </a:solidFill>
                <a:latin typeface="Arial"/>
              </a:rPr>
              <a:t>48 bits as six hex pairs; the first three octets are the OUI</a:t>
            </a:r>
          </a:p>
          <a:p>
            <a:pPr marL="182880" indent="137160">
              <a:lnSpc>
                <a:spcPct val="108000"/>
              </a:lnSpc>
              <a:spcAft>
                <a:spcPts val="1152"/>
              </a:spcAft>
              <a:buFont typeface="Arial"/>
              <a:buChar char="•"/>
            </a:pPr>
            <a:r>
              <a:rPr sz="1450" b="1">
                <a:solidFill>
                  <a:srgbClr val="FFFFFF"/>
                </a:solidFill>
                <a:latin typeface="Arial"/>
              </a:rPr>
              <a:t>Learning  </a:t>
            </a:r>
            <a:r>
              <a:rPr sz="1450">
                <a:solidFill>
                  <a:srgbClr val="D1D5DB"/>
                </a:solidFill>
                <a:latin typeface="Arial"/>
              </a:rPr>
              <a:t>the table is built from the source address on every arriving frame</a:t>
            </a:r>
          </a:p>
          <a:p>
            <a:pPr marL="182880" indent="137160">
              <a:lnSpc>
                <a:spcPct val="108000"/>
              </a:lnSpc>
              <a:spcAft>
                <a:spcPts val="1152"/>
              </a:spcAft>
              <a:buFont typeface="Arial"/>
              <a:buChar char="•"/>
            </a:pPr>
            <a:r>
              <a:rPr sz="1450" b="1">
                <a:solidFill>
                  <a:srgbClr val="FFFFFF"/>
                </a:solidFill>
                <a:latin typeface="Arial"/>
              </a:rPr>
              <a:t>Scope  </a:t>
            </a:r>
            <a:r>
              <a:rPr sz="1450">
                <a:solidFill>
                  <a:srgbClr val="D1D5DB"/>
                </a:solidFill>
                <a:latin typeface="Arial"/>
              </a:rPr>
              <a:t>a switching decision stays inside one network or broadcast domain</a:t>
            </a:r>
          </a:p>
          <a:p>
            <a:pPr marL="182880" indent="137160">
              <a:lnSpc>
                <a:spcPct val="108000"/>
              </a:lnSpc>
              <a:spcAft>
                <a:spcPts val="1152"/>
              </a:spcAft>
              <a:buFont typeface="Arial"/>
              <a:buChar char="•"/>
            </a:pPr>
            <a:r>
              <a:rPr sz="1450" b="1">
                <a:solidFill>
                  <a:srgbClr val="FFFFFF"/>
                </a:solidFill>
                <a:latin typeface="Arial"/>
              </a:rPr>
              <a:t>Router  </a:t>
            </a:r>
            <a:r>
              <a:rPr sz="1450">
                <a:solidFill>
                  <a:srgbClr val="D1D5DB"/>
                </a:solidFill>
                <a:latin typeface="Arial"/>
              </a:rPr>
              <a:t>a layer 3 device, forwarding packets by IP address between networks</a:t>
            </a:r>
          </a:p>
          <a:p>
            <a:pPr marL="182880" indent="137160">
              <a:lnSpc>
                <a:spcPct val="108000"/>
              </a:lnSpc>
              <a:spcAft>
                <a:spcPts val="1152"/>
              </a:spcAft>
              <a:buFont typeface="Arial"/>
              <a:buChar char="•"/>
            </a:pPr>
            <a:r>
              <a:rPr sz="1450" b="1">
                <a:solidFill>
                  <a:srgbClr val="FFFFFF"/>
                </a:solidFill>
                <a:latin typeface="Arial"/>
              </a:rPr>
              <a:t>Routing table  </a:t>
            </a:r>
            <a:r>
              <a:rPr sz="1450">
                <a:solidFill>
                  <a:srgbClr val="D1D5DB"/>
                </a:solidFill>
                <a:latin typeface="Arial"/>
              </a:rPr>
              <a:t>a next hop per destination, learned by protocols such as OSPF and BGP</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distinction that matters</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Switching is local and joins devices; routing joins networks. A capture shows the hardware addresses of the devices that spoke on that segment, even when the traffic later crossed a router.</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1 · INFRASTRUCTURE DEVICES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The switch forwarding table</a:t>
            </a:r>
          </a:p>
        </p:txBody>
      </p:sp>
      <p:sp>
        <p:nvSpPr>
          <p:cNvPr id="6" name="Rounded Rectangle 5"/>
          <p:cNvSpPr/>
          <p:nvPr/>
        </p:nvSpPr>
        <p:spPr>
          <a:xfrm>
            <a:off x="502920" y="173736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67512" y="190195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1</a:t>
            </a:r>
          </a:p>
        </p:txBody>
      </p:sp>
      <p:sp>
        <p:nvSpPr>
          <p:cNvPr id="8" name="TextBox 7"/>
          <p:cNvSpPr txBox="1"/>
          <p:nvPr/>
        </p:nvSpPr>
        <p:spPr>
          <a:xfrm>
            <a:off x="612648" y="2377439"/>
            <a:ext cx="1247241" cy="384048"/>
          </a:xfrm>
          <a:prstGeom prst="rect">
            <a:avLst/>
          </a:prstGeom>
          <a:noFill/>
        </p:spPr>
        <p:txBody>
          <a:bodyPr wrap="square" anchor="t" lIns="0" rIns="0" tIns="0" bIns="0">
            <a:spAutoFit/>
          </a:bodyPr>
          <a:lstStyle/>
          <a:p>
            <a:pPr algn="l"/>
            <a:r>
              <a:rPr sz="1250" b="1">
                <a:solidFill>
                  <a:srgbClr val="FFFFFF"/>
                </a:solidFill>
                <a:latin typeface="Arial"/>
              </a:rPr>
              <a:t>Learn</a:t>
            </a:r>
          </a:p>
        </p:txBody>
      </p:sp>
      <p:sp>
        <p:nvSpPr>
          <p:cNvPr id="9" name="TextBox 8"/>
          <p:cNvSpPr txBox="1"/>
          <p:nvPr/>
        </p:nvSpPr>
        <p:spPr>
          <a:xfrm>
            <a:off x="612648" y="2743200"/>
            <a:ext cx="1247241" cy="329184"/>
          </a:xfrm>
          <a:prstGeom prst="rect">
            <a:avLst/>
          </a:prstGeom>
          <a:noFill/>
        </p:spPr>
        <p:txBody>
          <a:bodyPr wrap="square" anchor="t" lIns="0" rIns="0" tIns="0" bIns="0">
            <a:spAutoFit/>
          </a:bodyPr>
          <a:lstStyle/>
          <a:p>
            <a:pPr algn="l"/>
            <a:r>
              <a:rPr sz="950" b="0">
                <a:solidFill>
                  <a:srgbClr val="9CA3AF"/>
                </a:solidFill>
                <a:latin typeface="Arial"/>
              </a:rPr>
              <a:t>record the source MAC and the port it arrived on</a:t>
            </a:r>
          </a:p>
        </p:txBody>
      </p:sp>
      <p:sp>
        <p:nvSpPr>
          <p:cNvPr id="10" name="Rounded Rectangle 9"/>
          <p:cNvSpPr/>
          <p:nvPr/>
        </p:nvSpPr>
        <p:spPr>
          <a:xfrm>
            <a:off x="2170785" y="173736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335377" y="190195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2</a:t>
            </a:r>
          </a:p>
        </p:txBody>
      </p:sp>
      <p:sp>
        <p:nvSpPr>
          <p:cNvPr id="12" name="TextBox 11"/>
          <p:cNvSpPr txBox="1"/>
          <p:nvPr/>
        </p:nvSpPr>
        <p:spPr>
          <a:xfrm>
            <a:off x="2280513" y="2377439"/>
            <a:ext cx="1247241" cy="384048"/>
          </a:xfrm>
          <a:prstGeom prst="rect">
            <a:avLst/>
          </a:prstGeom>
          <a:noFill/>
        </p:spPr>
        <p:txBody>
          <a:bodyPr wrap="square" anchor="t" lIns="0" rIns="0" tIns="0" bIns="0">
            <a:spAutoFit/>
          </a:bodyPr>
          <a:lstStyle/>
          <a:p>
            <a:pPr algn="l"/>
            <a:r>
              <a:rPr sz="1250" b="1">
                <a:solidFill>
                  <a:srgbClr val="FFFFFF"/>
                </a:solidFill>
                <a:latin typeface="Arial"/>
              </a:rPr>
              <a:t>Look up</a:t>
            </a:r>
          </a:p>
        </p:txBody>
      </p:sp>
      <p:sp>
        <p:nvSpPr>
          <p:cNvPr id="13" name="TextBox 12"/>
          <p:cNvSpPr txBox="1"/>
          <p:nvPr/>
        </p:nvSpPr>
        <p:spPr>
          <a:xfrm>
            <a:off x="2280513" y="2743200"/>
            <a:ext cx="1247241" cy="329184"/>
          </a:xfrm>
          <a:prstGeom prst="rect">
            <a:avLst/>
          </a:prstGeom>
          <a:noFill/>
        </p:spPr>
        <p:txBody>
          <a:bodyPr wrap="square" anchor="t" lIns="0" rIns="0" tIns="0" bIns="0">
            <a:spAutoFit/>
          </a:bodyPr>
          <a:lstStyle/>
          <a:p>
            <a:pPr algn="l"/>
            <a:r>
              <a:rPr sz="950" b="0">
                <a:solidFill>
                  <a:srgbClr val="9CA3AF"/>
                </a:solidFill>
                <a:latin typeface="Arial"/>
              </a:rPr>
              <a:t>find the destination MAC in the table</a:t>
            </a:r>
          </a:p>
        </p:txBody>
      </p:sp>
      <p:sp>
        <p:nvSpPr>
          <p:cNvPr id="14" name="Rounded Rectangle 13"/>
          <p:cNvSpPr/>
          <p:nvPr/>
        </p:nvSpPr>
        <p:spPr>
          <a:xfrm>
            <a:off x="3838651" y="173736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03243" y="190195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3</a:t>
            </a:r>
          </a:p>
        </p:txBody>
      </p:sp>
      <p:sp>
        <p:nvSpPr>
          <p:cNvPr id="16" name="TextBox 15"/>
          <p:cNvSpPr txBox="1"/>
          <p:nvPr/>
        </p:nvSpPr>
        <p:spPr>
          <a:xfrm>
            <a:off x="3948379" y="2377439"/>
            <a:ext cx="1247241" cy="384048"/>
          </a:xfrm>
          <a:prstGeom prst="rect">
            <a:avLst/>
          </a:prstGeom>
          <a:noFill/>
        </p:spPr>
        <p:txBody>
          <a:bodyPr wrap="square" anchor="t" lIns="0" rIns="0" tIns="0" bIns="0">
            <a:spAutoFit/>
          </a:bodyPr>
          <a:lstStyle/>
          <a:p>
            <a:pPr algn="l"/>
            <a:r>
              <a:rPr sz="1250" b="1">
                <a:solidFill>
                  <a:srgbClr val="FFFFFF"/>
                </a:solidFill>
                <a:latin typeface="Arial"/>
              </a:rPr>
              <a:t>Forward</a:t>
            </a:r>
          </a:p>
        </p:txBody>
      </p:sp>
      <p:sp>
        <p:nvSpPr>
          <p:cNvPr id="17" name="TextBox 16"/>
          <p:cNvSpPr txBox="1"/>
          <p:nvPr/>
        </p:nvSpPr>
        <p:spPr>
          <a:xfrm>
            <a:off x="3948379" y="2743200"/>
            <a:ext cx="1247241" cy="329184"/>
          </a:xfrm>
          <a:prstGeom prst="rect">
            <a:avLst/>
          </a:prstGeom>
          <a:noFill/>
        </p:spPr>
        <p:txBody>
          <a:bodyPr wrap="square" anchor="t" lIns="0" rIns="0" tIns="0" bIns="0">
            <a:spAutoFit/>
          </a:bodyPr>
          <a:lstStyle/>
          <a:p>
            <a:pPr algn="l"/>
            <a:r>
              <a:rPr sz="950" b="0">
                <a:solidFill>
                  <a:srgbClr val="9CA3AF"/>
                </a:solidFill>
                <a:latin typeface="Arial"/>
              </a:rPr>
              <a:t>out of the one port that holds the destination</a:t>
            </a:r>
          </a:p>
        </p:txBody>
      </p:sp>
      <p:sp>
        <p:nvSpPr>
          <p:cNvPr id="18" name="Rounded Rectangle 17"/>
          <p:cNvSpPr/>
          <p:nvPr/>
        </p:nvSpPr>
        <p:spPr>
          <a:xfrm>
            <a:off x="5506516" y="173736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71108" y="190195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4</a:t>
            </a:r>
          </a:p>
        </p:txBody>
      </p:sp>
      <p:sp>
        <p:nvSpPr>
          <p:cNvPr id="20" name="TextBox 19"/>
          <p:cNvSpPr txBox="1"/>
          <p:nvPr/>
        </p:nvSpPr>
        <p:spPr>
          <a:xfrm>
            <a:off x="5616244" y="2377439"/>
            <a:ext cx="1247241" cy="384048"/>
          </a:xfrm>
          <a:prstGeom prst="rect">
            <a:avLst/>
          </a:prstGeom>
          <a:noFill/>
        </p:spPr>
        <p:txBody>
          <a:bodyPr wrap="square" anchor="t" lIns="0" rIns="0" tIns="0" bIns="0">
            <a:spAutoFit/>
          </a:bodyPr>
          <a:lstStyle/>
          <a:p>
            <a:pPr algn="l"/>
            <a:r>
              <a:rPr sz="1250" b="1">
                <a:solidFill>
                  <a:srgbClr val="FFFFFF"/>
                </a:solidFill>
                <a:latin typeface="Arial"/>
              </a:rPr>
              <a:t>Flood</a:t>
            </a:r>
          </a:p>
        </p:txBody>
      </p:sp>
      <p:sp>
        <p:nvSpPr>
          <p:cNvPr id="21" name="TextBox 20"/>
          <p:cNvSpPr txBox="1"/>
          <p:nvPr/>
        </p:nvSpPr>
        <p:spPr>
          <a:xfrm>
            <a:off x="5616244" y="2743200"/>
            <a:ext cx="1247241" cy="329184"/>
          </a:xfrm>
          <a:prstGeom prst="rect">
            <a:avLst/>
          </a:prstGeom>
          <a:noFill/>
        </p:spPr>
        <p:txBody>
          <a:bodyPr wrap="square" anchor="t" lIns="0" rIns="0" tIns="0" bIns="0">
            <a:spAutoFit/>
          </a:bodyPr>
          <a:lstStyle/>
          <a:p>
            <a:pPr algn="l"/>
            <a:r>
              <a:rPr sz="950" b="0">
                <a:solidFill>
                  <a:srgbClr val="9CA3AF"/>
                </a:solidFill>
                <a:latin typeface="Arial"/>
              </a:rPr>
              <a:t>unknown unicast goes to every port but the source</a:t>
            </a:r>
          </a:p>
        </p:txBody>
      </p:sp>
      <p:sp>
        <p:nvSpPr>
          <p:cNvPr id="22" name="Rounded Rectangle 21"/>
          <p:cNvSpPr/>
          <p:nvPr/>
        </p:nvSpPr>
        <p:spPr>
          <a:xfrm>
            <a:off x="7174382" y="173736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8974" y="190195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5</a:t>
            </a:r>
          </a:p>
        </p:txBody>
      </p:sp>
      <p:sp>
        <p:nvSpPr>
          <p:cNvPr id="24" name="TextBox 23"/>
          <p:cNvSpPr txBox="1"/>
          <p:nvPr/>
        </p:nvSpPr>
        <p:spPr>
          <a:xfrm>
            <a:off x="7284110" y="2377439"/>
            <a:ext cx="1247241" cy="384048"/>
          </a:xfrm>
          <a:prstGeom prst="rect">
            <a:avLst/>
          </a:prstGeom>
          <a:noFill/>
        </p:spPr>
        <p:txBody>
          <a:bodyPr wrap="square" anchor="t" lIns="0" rIns="0" tIns="0" bIns="0">
            <a:spAutoFit/>
          </a:bodyPr>
          <a:lstStyle/>
          <a:p>
            <a:pPr algn="l"/>
            <a:r>
              <a:rPr sz="1250" b="1">
                <a:solidFill>
                  <a:srgbClr val="FFFFFF"/>
                </a:solidFill>
                <a:latin typeface="Arial"/>
              </a:rPr>
              <a:t>Broadcast</a:t>
            </a:r>
          </a:p>
        </p:txBody>
      </p:sp>
      <p:sp>
        <p:nvSpPr>
          <p:cNvPr id="25" name="TextBox 24"/>
          <p:cNvSpPr txBox="1"/>
          <p:nvPr/>
        </p:nvSpPr>
        <p:spPr>
          <a:xfrm>
            <a:off x="7284110" y="2743200"/>
            <a:ext cx="1247241" cy="329184"/>
          </a:xfrm>
          <a:prstGeom prst="rect">
            <a:avLst/>
          </a:prstGeom>
          <a:noFill/>
        </p:spPr>
        <p:txBody>
          <a:bodyPr wrap="square" anchor="t" lIns="0" rIns="0" tIns="0" bIns="0">
            <a:spAutoFit/>
          </a:bodyPr>
          <a:lstStyle/>
          <a:p>
            <a:pPr algn="l"/>
            <a:r>
              <a:rPr sz="950" b="0">
                <a:solidFill>
                  <a:srgbClr val="9CA3AF"/>
                </a:solidFill>
                <a:latin typeface="Arial"/>
              </a:rPr>
              <a:t>always flooded, which is why a loop is fatal</a:t>
            </a:r>
          </a:p>
        </p:txBody>
      </p:sp>
      <p:sp>
        <p:nvSpPr>
          <p:cNvPr id="26" name="Rounded Rectangle 25"/>
          <p:cNvSpPr/>
          <p:nvPr/>
        </p:nvSpPr>
        <p:spPr>
          <a:xfrm>
            <a:off x="502920" y="3264408"/>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MAC flooding</a:t>
            </a:r>
          </a:p>
        </p:txBody>
      </p:sp>
      <p:sp>
        <p:nvSpPr>
          <p:cNvPr id="27" name="TextBox 26"/>
          <p:cNvSpPr txBox="1"/>
          <p:nvPr/>
        </p:nvSpPr>
        <p:spPr>
          <a:xfrm>
            <a:off x="731520" y="3831335"/>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Fill the table with bogus source addresses and the switch degrades to hub mode, so every frame becomes visible to the attacker. That is why port security limits how many addresses may appear on one port.</a:t>
            </a:r>
          </a:p>
        </p:txBody>
      </p:sp>
      <p:sp>
        <p:nvSpPr>
          <p:cNvPr id="28" name="TextBox 27"/>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29" name="TextBox 28"/>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30" name="Picture 29"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31" name="TextBox 30"/>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1 · INFRASTRUCTURE DEVICES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Security appliances: detect, prevent, filter</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Firewall  </a:t>
            </a:r>
            <a:r>
              <a:rPr sz="1450">
                <a:solidFill>
                  <a:srgbClr val="D1D5DB"/>
                </a:solidFill>
                <a:latin typeface="Arial"/>
              </a:rPr>
              <a:t>filters on rules built from addresses, ports, protocols and content</a:t>
            </a:r>
          </a:p>
          <a:p>
            <a:pPr marL="182880" indent="137160">
              <a:lnSpc>
                <a:spcPct val="108000"/>
              </a:lnSpc>
              <a:spcAft>
                <a:spcPts val="1152"/>
              </a:spcAft>
              <a:buFont typeface="Arial"/>
              <a:buChar char="•"/>
            </a:pPr>
            <a:r>
              <a:rPr sz="1450" b="1">
                <a:solidFill>
                  <a:srgbClr val="FFFFFF"/>
                </a:solidFill>
                <a:latin typeface="Arial"/>
              </a:rPr>
              <a:t>Placement  </a:t>
            </a:r>
            <a:r>
              <a:rPr sz="1450">
                <a:solidFill>
                  <a:srgbClr val="D1D5DB"/>
                </a:solidFill>
                <a:latin typeface="Arial"/>
              </a:rPr>
              <a:t>at the perimeter, and internally between zones</a:t>
            </a:r>
          </a:p>
          <a:p>
            <a:pPr marL="182880" indent="137160">
              <a:lnSpc>
                <a:spcPct val="108000"/>
              </a:lnSpc>
              <a:spcAft>
                <a:spcPts val="1152"/>
              </a:spcAft>
              <a:buFont typeface="Arial"/>
              <a:buChar char="•"/>
            </a:pPr>
            <a:r>
              <a:rPr sz="1450" b="1">
                <a:solidFill>
                  <a:srgbClr val="FFFFFF"/>
                </a:solidFill>
                <a:latin typeface="Arial"/>
              </a:rPr>
              <a:t>Intrusion detection  </a:t>
            </a:r>
            <a:r>
              <a:rPr sz="1450">
                <a:solidFill>
                  <a:srgbClr val="D1D5DB"/>
                </a:solidFill>
                <a:latin typeface="Arial"/>
              </a:rPr>
              <a:t>monitors passively and raises an alert, but never blocks</a:t>
            </a:r>
          </a:p>
          <a:p>
            <a:pPr marL="182880" indent="137160">
              <a:lnSpc>
                <a:spcPct val="108000"/>
              </a:lnSpc>
              <a:spcAft>
                <a:spcPts val="1152"/>
              </a:spcAft>
              <a:buFont typeface="Arial"/>
              <a:buChar char="•"/>
            </a:pPr>
            <a:r>
              <a:rPr sz="1450" b="1">
                <a:solidFill>
                  <a:srgbClr val="FFFFFF"/>
                </a:solidFill>
                <a:latin typeface="Arial"/>
              </a:rPr>
              <a:t>Intrusion prevention  </a:t>
            </a:r>
            <a:r>
              <a:rPr sz="1450">
                <a:solidFill>
                  <a:srgbClr val="D1D5DB"/>
                </a:solidFill>
                <a:latin typeface="Arial"/>
              </a:rPr>
              <a:t>sits inline and can drop the packet or reset the connection</a:t>
            </a:r>
          </a:p>
          <a:p>
            <a:pPr marL="182880" indent="137160">
              <a:lnSpc>
                <a:spcPct val="108000"/>
              </a:lnSpc>
              <a:spcAft>
                <a:spcPts val="1152"/>
              </a:spcAft>
              <a:buFont typeface="Arial"/>
              <a:buChar char="•"/>
            </a:pPr>
            <a:r>
              <a:rPr sz="1450" b="1">
                <a:solidFill>
                  <a:srgbClr val="FFFFFF"/>
                </a:solidFill>
                <a:latin typeface="Arial"/>
              </a:rPr>
              <a:t>Sensors  </a:t>
            </a:r>
            <a:r>
              <a:rPr sz="1450">
                <a:solidFill>
                  <a:srgbClr val="D1D5DB"/>
                </a:solidFill>
                <a:latin typeface="Arial"/>
              </a:rPr>
              <a:t>a network sensor watches a segment; a host sensor watches one machine</a:t>
            </a:r>
          </a:p>
          <a:p>
            <a:pPr marL="182880" indent="137160">
              <a:lnSpc>
                <a:spcPct val="108000"/>
              </a:lnSpc>
              <a:spcAft>
                <a:spcPts val="1152"/>
              </a:spcAft>
              <a:buFont typeface="Arial"/>
              <a:buChar char="•"/>
            </a:pPr>
            <a:r>
              <a:rPr sz="1450" b="1">
                <a:solidFill>
                  <a:srgbClr val="FFFFFF"/>
                </a:solidFill>
                <a:latin typeface="Arial"/>
              </a:rPr>
              <a:t>Defence in depth  </a:t>
            </a:r>
            <a:r>
              <a:rPr sz="1450">
                <a:solidFill>
                  <a:srgbClr val="D1D5DB"/>
                </a:solidFill>
                <a:latin typeface="Arial"/>
              </a:rPr>
              <a:t>all three layers together, because one will be bypassed</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Say it plainly</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The firewall refuses by rule, detection reports after the fact, and prevention stops it in line. An alert with nobody watching it is not a control.</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1 · INFRASTRUCTURE DEVICES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Load balancers and proxies</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Load balancer  </a:t>
            </a:r>
            <a:r>
              <a:rPr sz="1450">
                <a:solidFill>
                  <a:srgbClr val="D1D5DB"/>
                </a:solidFill>
                <a:latin typeface="Arial"/>
              </a:rPr>
              <a:t>spreads requests across a pool so no server is overwhelmed</a:t>
            </a:r>
          </a:p>
          <a:p>
            <a:pPr marL="182880" indent="137160">
              <a:lnSpc>
                <a:spcPct val="108000"/>
              </a:lnSpc>
              <a:spcAft>
                <a:spcPts val="1152"/>
              </a:spcAft>
              <a:buFont typeface="Arial"/>
              <a:buChar char="•"/>
            </a:pPr>
            <a:r>
              <a:rPr sz="1450" b="1">
                <a:solidFill>
                  <a:srgbClr val="FFFFFF"/>
                </a:solidFill>
                <a:latin typeface="Arial"/>
              </a:rPr>
              <a:t>Round robin  </a:t>
            </a:r>
            <a:r>
              <a:rPr sz="1450">
                <a:solidFill>
                  <a:srgbClr val="D1D5DB"/>
                </a:solidFill>
                <a:latin typeface="Arial"/>
              </a:rPr>
              <a:t>each request goes to the next server in turn</a:t>
            </a:r>
          </a:p>
          <a:p>
            <a:pPr marL="182880" indent="137160">
              <a:lnSpc>
                <a:spcPct val="108000"/>
              </a:lnSpc>
              <a:spcAft>
                <a:spcPts val="1152"/>
              </a:spcAft>
              <a:buFont typeface="Arial"/>
              <a:buChar char="•"/>
            </a:pPr>
            <a:r>
              <a:rPr sz="1450" b="1">
                <a:solidFill>
                  <a:srgbClr val="FFFFFF"/>
                </a:solidFill>
                <a:latin typeface="Arial"/>
              </a:rPr>
              <a:t>Least connections  </a:t>
            </a:r>
            <a:r>
              <a:rPr sz="1450">
                <a:solidFill>
                  <a:srgbClr val="D1D5DB"/>
                </a:solidFill>
                <a:latin typeface="Arial"/>
              </a:rPr>
              <a:t>each request goes to the server with the fewest active sessions</a:t>
            </a:r>
          </a:p>
          <a:p>
            <a:pPr marL="182880" indent="137160">
              <a:lnSpc>
                <a:spcPct val="108000"/>
              </a:lnSpc>
              <a:spcAft>
                <a:spcPts val="1152"/>
              </a:spcAft>
              <a:buFont typeface="Arial"/>
              <a:buChar char="•"/>
            </a:pPr>
            <a:r>
              <a:rPr sz="1450" b="1">
                <a:solidFill>
                  <a:srgbClr val="FFFFFF"/>
                </a:solidFill>
                <a:latin typeface="Arial"/>
              </a:rPr>
              <a:t>Forward proxy  </a:t>
            </a:r>
            <a:r>
              <a:rPr sz="1450">
                <a:solidFill>
                  <a:srgbClr val="D1D5DB"/>
                </a:solidFill>
                <a:latin typeface="Arial"/>
              </a:rPr>
              <a:t>sits in front of the clients, hides them and filters outbound requests</a:t>
            </a:r>
          </a:p>
          <a:p>
            <a:pPr marL="182880" indent="137160">
              <a:lnSpc>
                <a:spcPct val="108000"/>
              </a:lnSpc>
              <a:spcAft>
                <a:spcPts val="1152"/>
              </a:spcAft>
              <a:buFont typeface="Arial"/>
              <a:buChar char="•"/>
            </a:pPr>
            <a:r>
              <a:rPr sz="1450" b="1">
                <a:solidFill>
                  <a:srgbClr val="FFFFFF"/>
                </a:solidFill>
                <a:latin typeface="Arial"/>
              </a:rPr>
              <a:t>Reverse proxy  </a:t>
            </a:r>
            <a:r>
              <a:rPr sz="1450">
                <a:solidFill>
                  <a:srgbClr val="D1D5DB"/>
                </a:solidFill>
                <a:latin typeface="Arial"/>
              </a:rPr>
              <a:t>sits in front of the servers, caches content and terminates TLS</a:t>
            </a:r>
          </a:p>
          <a:p>
            <a:pPr marL="182880" indent="137160">
              <a:lnSpc>
                <a:spcPct val="108000"/>
              </a:lnSpc>
              <a:spcAft>
                <a:spcPts val="1152"/>
              </a:spcAft>
              <a:buFont typeface="Arial"/>
              <a:buChar char="•"/>
            </a:pPr>
            <a:r>
              <a:rPr sz="1450" b="1">
                <a:solidFill>
                  <a:srgbClr val="FFFFFF"/>
                </a:solidFill>
                <a:latin typeface="Arial"/>
              </a:rPr>
              <a:t>Availability  </a:t>
            </a:r>
            <a:r>
              <a:rPr sz="1450">
                <a:solidFill>
                  <a:srgbClr val="D1D5DB"/>
                </a:solidFill>
                <a:latin typeface="Arial"/>
              </a:rPr>
              <a:t>one failed server no longer takes the service down</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Which side is protected</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A forward proxy protects the client side of the conversation and a reverse proxy protects the server side. Both hide one side from the other.</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1 · INFRASTRUCTURE DEVICES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Storage and wireless hardware</a:t>
            </a:r>
          </a:p>
        </p:txBody>
      </p:sp>
      <p:graphicFrame>
        <p:nvGraphicFramePr>
          <p:cNvPr id="6" name="Table 5"/>
          <p:cNvGraphicFramePr>
            <a:graphicFrameLocks noGrp="1"/>
          </p:cNvGraphicFramePr>
          <p:nvPr/>
        </p:nvGraphicFramePr>
        <p:xfrm>
          <a:off x="502920" y="1691640"/>
          <a:ext cx="8138160" cy="1975104"/>
        </p:xfrm>
        <a:graphic>
          <a:graphicData uri="http://schemas.openxmlformats.org/drawingml/2006/table">
            <a:tbl>
              <a:tblPr firstRow="1" bandRow="1">
                <a:tableStyleId>{5C22544A-7EE6-4342-B048-85BDC9FD1C3A}</a:tableStyleId>
              </a:tblPr>
              <a:tblGrid>
                <a:gridCol w="2468880"/>
                <a:gridCol w="3566160"/>
                <a:gridCol w="2103120"/>
              </a:tblGrid>
              <a:tr h="329184">
                <a:tc>
                  <a:txBody>
                    <a:bodyPr/>
                    <a:lstStyle/>
                    <a:p>
                      <a:pPr algn="l"/>
                      <a:r>
                        <a:rPr sz="1100" b="1">
                          <a:solidFill>
                            <a:srgbClr val="FFFFFF"/>
                          </a:solidFill>
                          <a:latin typeface="Arial"/>
                        </a:rPr>
                        <a:t>Device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Role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Protocol or standard</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Network attached storage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File level sharing over the network</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NFS and SMB</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Storage area network</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Block level storage for servers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Fibre Channel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Access point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Bridges wireless clients onto the wired network</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802.11ac and 802.11ax</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Wireless controller</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Configures many access points centrally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One policy interface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Wireless bridge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Joins two segments with no cable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Point to point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Rounded Rectangle 6"/>
          <p:cNvSpPr/>
          <p:nvPr/>
        </p:nvSpPr>
        <p:spPr>
          <a:xfrm>
            <a:off x="502920" y="3374136"/>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Pairing rule</a:t>
            </a:r>
          </a:p>
        </p:txBody>
      </p:sp>
      <p:sp>
        <p:nvSpPr>
          <p:cNvPr id="8" name="TextBox 7"/>
          <p:cNvSpPr txBox="1"/>
          <p:nvPr/>
        </p:nvSpPr>
        <p:spPr>
          <a:xfrm>
            <a:off x="731520" y="3941063"/>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NAS is file level over the network with NFS and SMB; a SAN is block level with Fibre Channel and looks to the server like a local disk. Learn the pairings, because the exam asks which one a server actually needs.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822960"/>
            <a:ext cx="7315200" cy="292608"/>
          </a:xfrm>
          <a:prstGeom prst="rect">
            <a:avLst/>
          </a:prstGeom>
          <a:noFill/>
        </p:spPr>
        <p:txBody>
          <a:bodyPr wrap="square" anchor="t" lIns="0" rIns="0" tIns="0" bIns="0">
            <a:spAutoFit/>
          </a:bodyPr>
          <a:lstStyle/>
          <a:p>
            <a:pPr algn="l"/>
            <a:r>
              <a:rPr sz="1300" b="1" spc="300">
                <a:solidFill>
                  <a:srgbClr val="C22828"/>
                </a:solidFill>
                <a:latin typeface="Arial"/>
              </a:rPr>
              <a:t>DISCUSSION</a:t>
            </a:r>
          </a:p>
        </p:txBody>
      </p:sp>
      <p:sp>
        <p:nvSpPr>
          <p:cNvPr id="5" name="TextBox 4"/>
          <p:cNvSpPr txBox="1"/>
          <p:nvPr/>
        </p:nvSpPr>
        <p:spPr>
          <a:xfrm>
            <a:off x="502920" y="1234440"/>
            <a:ext cx="8138160" cy="1600200"/>
          </a:xfrm>
          <a:prstGeom prst="rect">
            <a:avLst/>
          </a:prstGeom>
          <a:noFill/>
        </p:spPr>
        <p:txBody>
          <a:bodyPr wrap="square" anchor="t" lIns="0" rIns="0" tIns="0" bIns="0">
            <a:spAutoFit/>
          </a:bodyPr>
          <a:lstStyle/>
          <a:p>
            <a:pPr algn="l">
              <a:lnSpc>
                <a:spcPct val="110000"/>
              </a:lnSpc>
            </a:pPr>
            <a:r>
              <a:rPr sz="2800" b="1">
                <a:solidFill>
                  <a:srgbClr val="FFFFFF"/>
                </a:solidFill>
                <a:latin typeface="Arial"/>
              </a:rPr>
              <a:t>A firewall, an intrusion detection system and an intrusion prevention system all see the same traffic. Which one stops an attack, and why can you not rely on it alone?</a:t>
            </a:r>
          </a:p>
        </p:txBody>
      </p:sp>
      <p:sp>
        <p:nvSpPr>
          <p:cNvPr id="6" name="Rounded Rectangle 5"/>
          <p:cNvSpPr/>
          <p:nvPr/>
        </p:nvSpPr>
        <p:spPr>
          <a:xfrm>
            <a:off x="502920" y="2971800"/>
            <a:ext cx="8138160" cy="914400"/>
          </a:xfrm>
          <a:prstGeom prst="roundRect">
            <a:avLst>
              <a:gd name="adj" fmla="val 8000"/>
            </a:avLst>
          </a:prstGeom>
          <a:solidFill>
            <a:srgbClr val="171717"/>
          </a:solidFill>
          <a:ln w="15875">
            <a:solidFill>
              <a:srgbClr val="A8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090672"/>
            <a:ext cx="7589520" cy="685800"/>
          </a:xfrm>
          <a:prstGeom prst="rect">
            <a:avLst/>
          </a:prstGeom>
          <a:noFill/>
        </p:spPr>
        <p:txBody>
          <a:bodyPr wrap="square" anchor="ctr" lIns="0" rIns="0" tIns="0" bIns="0">
            <a:spAutoFit/>
          </a:bodyPr>
          <a:lstStyle/>
          <a:p>
            <a:pPr algn="l">
              <a:lnSpc>
                <a:spcPct val="112000"/>
              </a:lnSpc>
            </a:pPr>
            <a:r>
              <a:rPr sz="1350" b="0">
                <a:solidFill>
                  <a:srgbClr val="D1D5DB"/>
                </a:solidFill>
                <a:latin typeface="Arial"/>
              </a:rPr>
              <a:t>Prevention blocks inline, detection only reports, and the firewall refuses by rule. Defence in depth assumes one of the three will be bypassed or misconfigured.</a:t>
            </a:r>
          </a:p>
        </p:txBody>
      </p:sp>
      <p:sp>
        <p:nvSpPr>
          <p:cNvPr id="8" name="TextBox 7"/>
          <p:cNvSpPr txBox="1"/>
          <p:nvPr/>
        </p:nvSpPr>
        <p:spPr>
          <a:xfrm>
            <a:off x="502920" y="4114800"/>
            <a:ext cx="8138160" cy="365760"/>
          </a:xfrm>
          <a:prstGeom prst="rect">
            <a:avLst/>
          </a:prstGeom>
          <a:noFill/>
        </p:spPr>
        <p:txBody>
          <a:bodyPr wrap="square" anchor="t" lIns="0" rIns="0" tIns="0" bIns="0">
            <a:spAutoFit/>
          </a:bodyPr>
          <a:lstStyle/>
          <a:p>
            <a:pPr algn="l"/>
            <a:r>
              <a:rPr sz="1150" b="0">
                <a:solidFill>
                  <a:srgbClr val="9CA3AF"/>
                </a:solidFill>
                <a:latin typeface="Arial"/>
              </a:rPr>
              <a:t>An IPS is only as good as its signatures and its tuning; a firewall rule set is only as good as its last review. Ask the room who actually reads the alerts.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CLOUD &amp; ROUTING</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Cloud Networking and Routing Foundations</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Cloud computing  </a:t>
            </a:r>
            <a:r>
              <a:rPr sz="1450">
                <a:solidFill>
                  <a:srgbClr val="D1D5DB"/>
                </a:solidFill>
                <a:latin typeface="Arial"/>
              </a:rPr>
              <a:t>replaces dedicated appliances with software, and moves the boundary</a:t>
            </a:r>
          </a:p>
          <a:p>
            <a:pPr marL="182880" indent="137160">
              <a:lnSpc>
                <a:spcPct val="108000"/>
              </a:lnSpc>
              <a:spcAft>
                <a:spcPts val="1152"/>
              </a:spcAft>
              <a:buFont typeface="Arial"/>
              <a:buChar char="•"/>
            </a:pPr>
            <a:r>
              <a:rPr sz="1450" b="1">
                <a:solidFill>
                  <a:srgbClr val="FFFFFF"/>
                </a:solidFill>
                <a:latin typeface="Arial"/>
              </a:rPr>
              <a:t>Routing  </a:t>
            </a:r>
            <a:r>
              <a:rPr sz="1450">
                <a:solidFill>
                  <a:srgbClr val="D1D5DB"/>
                </a:solidFill>
                <a:latin typeface="Arial"/>
              </a:rPr>
              <a:t>begins with a static route typed by hand</a:t>
            </a:r>
          </a:p>
          <a:p>
            <a:pPr marL="182880" indent="137160">
              <a:lnSpc>
                <a:spcPct val="108000"/>
              </a:lnSpc>
              <a:spcAft>
                <a:spcPts val="1152"/>
              </a:spcAft>
              <a:buFont typeface="Arial"/>
              <a:buChar char="•"/>
            </a:pPr>
            <a:r>
              <a:rPr sz="1450" b="1">
                <a:solidFill>
                  <a:srgbClr val="FFFFFF"/>
                </a:solidFill>
                <a:latin typeface="Arial"/>
              </a:rPr>
              <a:t>Then  </a:t>
            </a:r>
            <a:r>
              <a:rPr sz="1450">
                <a:solidFill>
                  <a:srgbClr val="D1D5DB"/>
                </a:solidFill>
                <a:latin typeface="Arial"/>
              </a:rPr>
              <a:t>a dynamic protocol that learns the topology for itself</a:t>
            </a:r>
          </a:p>
          <a:p>
            <a:pPr marL="182880" indent="137160">
              <a:lnSpc>
                <a:spcPct val="108000"/>
              </a:lnSpc>
              <a:spcAft>
                <a:spcPts val="1152"/>
              </a:spcAft>
              <a:buFont typeface="Arial"/>
              <a:buChar char="•"/>
            </a:pPr>
            <a:r>
              <a:rPr sz="1450" b="1">
                <a:solidFill>
                  <a:srgbClr val="FFFFFF"/>
                </a:solidFill>
                <a:latin typeface="Arial"/>
              </a:rPr>
              <a:t>The question to keep asking  </a:t>
            </a:r>
            <a:r>
              <a:rPr sz="1450">
                <a:solidFill>
                  <a:srgbClr val="D1D5DB"/>
                </a:solidFill>
                <a:latin typeface="Arial"/>
              </a:rPr>
              <a:t>what breaks if this mechanism is misconfigured?</a:t>
            </a:r>
          </a:p>
        </p:txBody>
      </p:sp>
      <p:sp>
        <p:nvSpPr>
          <p:cNvPr id="7" name="Rounded Rectangle 6"/>
          <p:cNvSpPr/>
          <p:nvPr/>
        </p:nvSpPr>
        <p:spPr>
          <a:xfrm>
            <a:off x="502920" y="3154680"/>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thread continues</a:t>
            </a:r>
          </a:p>
        </p:txBody>
      </p:sp>
      <p:sp>
        <p:nvSpPr>
          <p:cNvPr id="8" name="TextBox 7"/>
          <p:cNvSpPr txBox="1"/>
          <p:nvPr/>
        </p:nvSpPr>
        <p:spPr>
          <a:xfrm>
            <a:off x="731520" y="372160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Watch where the attack surface sits, because it moves with every design choice. Virtual appliances put the management plane and the hypervisor in the attacker's sights, and every routing option decides who reaches what.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CLOUD &amp; ROUTING</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Network functions virtualisation</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Virtualisation  </a:t>
            </a:r>
            <a:r>
              <a:rPr sz="1450">
                <a:solidFill>
                  <a:srgbClr val="D1D5DB"/>
                </a:solidFill>
                <a:latin typeface="Arial"/>
              </a:rPr>
              <a:t>firewalls, routers and load balancers become software</a:t>
            </a:r>
          </a:p>
          <a:p>
            <a:pPr marL="182880" indent="137160">
              <a:lnSpc>
                <a:spcPct val="108000"/>
              </a:lnSpc>
              <a:spcAft>
                <a:spcPts val="1152"/>
              </a:spcAft>
              <a:buFont typeface="Arial"/>
              <a:buChar char="•"/>
            </a:pPr>
            <a:r>
              <a:rPr sz="1450" b="1">
                <a:solidFill>
                  <a:srgbClr val="FFFFFF"/>
                </a:solidFill>
                <a:latin typeface="Arial"/>
              </a:rPr>
              <a:t>Platform  </a:t>
            </a:r>
            <a:r>
              <a:rPr sz="1450">
                <a:solidFill>
                  <a:srgbClr val="D1D5DB"/>
                </a:solidFill>
                <a:latin typeface="Arial"/>
              </a:rPr>
              <a:t>they run on ordinary servers or virtual machines</a:t>
            </a:r>
          </a:p>
          <a:p>
            <a:pPr marL="182880" indent="137160">
              <a:lnSpc>
                <a:spcPct val="108000"/>
              </a:lnSpc>
              <a:spcAft>
                <a:spcPts val="1152"/>
              </a:spcAft>
              <a:buFont typeface="Arial"/>
              <a:buChar char="•"/>
            </a:pPr>
            <a:r>
              <a:rPr sz="1450" b="1">
                <a:solidFill>
                  <a:srgbClr val="FFFFFF"/>
                </a:solidFill>
                <a:latin typeface="Arial"/>
              </a:rPr>
              <a:t>Benefits  </a:t>
            </a:r>
            <a:r>
              <a:rPr sz="1450">
                <a:solidFill>
                  <a:srgbClr val="D1D5DB"/>
                </a:solidFill>
                <a:latin typeface="Arial"/>
              </a:rPr>
              <a:t>lower cost, faster deployment and easy scaling</a:t>
            </a:r>
          </a:p>
          <a:p>
            <a:pPr marL="182880" indent="137160">
              <a:lnSpc>
                <a:spcPct val="108000"/>
              </a:lnSpc>
              <a:spcAft>
                <a:spcPts val="1152"/>
              </a:spcAft>
              <a:buFont typeface="Arial"/>
              <a:buChar char="•"/>
            </a:pPr>
            <a:r>
              <a:rPr sz="1450" b="1">
                <a:solidFill>
                  <a:srgbClr val="FFFFFF"/>
                </a:solidFill>
                <a:latin typeface="Arial"/>
              </a:rPr>
              <a:t>Speed  </a:t>
            </a:r>
            <a:r>
              <a:rPr sz="1450">
                <a:solidFill>
                  <a:srgbClr val="D1D5DB"/>
                </a:solidFill>
                <a:latin typeface="Arial"/>
              </a:rPr>
              <a:t>a virtual firewall deploys in a moment, not after a procurement cycle</a:t>
            </a:r>
          </a:p>
          <a:p>
            <a:pPr marL="182880" indent="137160">
              <a:lnSpc>
                <a:spcPct val="108000"/>
              </a:lnSpc>
              <a:spcAft>
                <a:spcPts val="1152"/>
              </a:spcAft>
              <a:buFont typeface="Arial"/>
              <a:buChar char="•"/>
            </a:pPr>
            <a:r>
              <a:rPr sz="1450" b="1">
                <a:solidFill>
                  <a:srgbClr val="FFFFFF"/>
                </a:solidFill>
                <a:latin typeface="Arial"/>
              </a:rPr>
              <a:t>New targets  </a:t>
            </a:r>
            <a:r>
              <a:rPr sz="1450">
                <a:solidFill>
                  <a:srgbClr val="D1D5DB"/>
                </a:solidFill>
                <a:latin typeface="Arial"/>
              </a:rPr>
              <a:t>the management plane and the hypervisor</a:t>
            </a:r>
          </a:p>
          <a:p>
            <a:pPr marL="182880" indent="137160">
              <a:lnSpc>
                <a:spcPct val="108000"/>
              </a:lnSpc>
              <a:spcAft>
                <a:spcPts val="1152"/>
              </a:spcAft>
              <a:buFont typeface="Arial"/>
              <a:buChar char="•"/>
            </a:pPr>
            <a:r>
              <a:rPr sz="1450" b="1">
                <a:solidFill>
                  <a:srgbClr val="FFFFFF"/>
                </a:solidFill>
                <a:latin typeface="Arial"/>
              </a:rPr>
              <a:t>The trade  </a:t>
            </a:r>
            <a:r>
              <a:rPr sz="1450">
                <a:solidFill>
                  <a:srgbClr val="D1D5DB"/>
                </a:solidFill>
                <a:latin typeface="Arial"/>
              </a:rPr>
              <a:t>the same function, but the security boundary has moved</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What moved</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The appliance left the rack, so the patch cycle, the console access and the configuration file are now software problems that somebody must own.</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CLOUD &amp; ROUTING</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Private clouds, security groups and gateways</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Virtual private cloud  </a:t>
            </a:r>
            <a:r>
              <a:rPr sz="1450">
                <a:solidFill>
                  <a:srgbClr val="D1D5DB"/>
                </a:solidFill>
                <a:latin typeface="Arial"/>
              </a:rPr>
              <a:t>a logically isolated network inside a public cloud</a:t>
            </a:r>
          </a:p>
          <a:p>
            <a:pPr marL="182880" indent="137160">
              <a:lnSpc>
                <a:spcPct val="108000"/>
              </a:lnSpc>
              <a:spcAft>
                <a:spcPts val="1152"/>
              </a:spcAft>
              <a:buFont typeface="Arial"/>
              <a:buChar char="•"/>
            </a:pPr>
            <a:r>
              <a:rPr sz="1450" b="1">
                <a:solidFill>
                  <a:srgbClr val="FFFFFF"/>
                </a:solidFill>
                <a:latin typeface="Arial"/>
              </a:rPr>
              <a:t>You define  </a:t>
            </a:r>
            <a:r>
              <a:rPr sz="1450">
                <a:solidFill>
                  <a:srgbClr val="D1D5DB"/>
                </a:solidFill>
                <a:latin typeface="Arial"/>
              </a:rPr>
              <a:t>the address ranges, the subnets and the route tables</a:t>
            </a:r>
          </a:p>
          <a:p>
            <a:pPr marL="182880" indent="137160">
              <a:lnSpc>
                <a:spcPct val="108000"/>
              </a:lnSpc>
              <a:spcAft>
                <a:spcPts val="1152"/>
              </a:spcAft>
              <a:buFont typeface="Arial"/>
              <a:buChar char="•"/>
            </a:pPr>
            <a:r>
              <a:rPr sz="1450" b="1">
                <a:solidFill>
                  <a:srgbClr val="FFFFFF"/>
                </a:solidFill>
                <a:latin typeface="Arial"/>
              </a:rPr>
              <a:t>Security groups  </a:t>
            </a:r>
            <a:r>
              <a:rPr sz="1450">
                <a:solidFill>
                  <a:srgbClr val="D1D5DB"/>
                </a:solidFill>
                <a:latin typeface="Arial"/>
              </a:rPr>
              <a:t>stateful firewalls on a resource, so replies are allowed automatically</a:t>
            </a:r>
          </a:p>
          <a:p>
            <a:pPr marL="182880" indent="137160">
              <a:lnSpc>
                <a:spcPct val="108000"/>
              </a:lnSpc>
              <a:spcAft>
                <a:spcPts val="1152"/>
              </a:spcAft>
              <a:buFont typeface="Arial"/>
              <a:buChar char="•"/>
            </a:pPr>
            <a:r>
              <a:rPr sz="1450" b="1">
                <a:solidFill>
                  <a:srgbClr val="FFFFFF"/>
                </a:solidFill>
                <a:latin typeface="Arial"/>
              </a:rPr>
              <a:t>Network ACLs  </a:t>
            </a:r>
            <a:r>
              <a:rPr sz="1450">
                <a:solidFill>
                  <a:srgbClr val="D1D5DB"/>
                </a:solidFill>
                <a:latin typeface="Arial"/>
              </a:rPr>
              <a:t>instead filter at the subnet boundary</a:t>
            </a:r>
          </a:p>
          <a:p>
            <a:pPr marL="182880" indent="137160">
              <a:lnSpc>
                <a:spcPct val="108000"/>
              </a:lnSpc>
              <a:spcAft>
                <a:spcPts val="1152"/>
              </a:spcAft>
              <a:buFont typeface="Arial"/>
              <a:buChar char="•"/>
            </a:pPr>
            <a:r>
              <a:rPr sz="1450" b="1">
                <a:solidFill>
                  <a:srgbClr val="FFFFFF"/>
                </a:solidFill>
                <a:latin typeface="Arial"/>
              </a:rPr>
              <a:t>VPN gateway  </a:t>
            </a:r>
            <a:r>
              <a:rPr sz="1450">
                <a:solidFill>
                  <a:srgbClr val="D1D5DB"/>
                </a:solidFill>
                <a:latin typeface="Arial"/>
              </a:rPr>
              <a:t>an encrypted tunnel back to the office</a:t>
            </a:r>
          </a:p>
          <a:p>
            <a:pPr marL="182880" indent="137160">
              <a:lnSpc>
                <a:spcPct val="108000"/>
              </a:lnSpc>
              <a:spcAft>
                <a:spcPts val="1152"/>
              </a:spcAft>
              <a:buFont typeface="Arial"/>
              <a:buChar char="•"/>
            </a:pPr>
            <a:r>
              <a:rPr sz="1450" b="1">
                <a:solidFill>
                  <a:srgbClr val="FFFFFF"/>
                </a:solidFill>
                <a:latin typeface="Arial"/>
              </a:rPr>
              <a:t>Direct connection  </a:t>
            </a:r>
            <a:r>
              <a:rPr sz="1450">
                <a:solidFill>
                  <a:srgbClr val="D1D5DB"/>
                </a:solidFill>
                <a:latin typeface="Arial"/>
              </a:rPr>
              <a:t>private, and avoids the public internet entirely</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Design rule</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Default to deny, then open only what the service actually needs. Every open rule is a decision somebody will have to justify later.</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CLOUD &amp; ROUTING</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Deployment and service models</a:t>
            </a:r>
          </a:p>
        </p:txBody>
      </p:sp>
      <p:graphicFrame>
        <p:nvGraphicFramePr>
          <p:cNvPr id="6" name="Table 5"/>
          <p:cNvGraphicFramePr>
            <a:graphicFrameLocks noGrp="1"/>
          </p:cNvGraphicFramePr>
          <p:nvPr/>
        </p:nvGraphicFramePr>
        <p:xfrm>
          <a:off x="502920" y="1645920"/>
          <a:ext cx="8138160" cy="2304288"/>
        </p:xfrm>
        <a:graphic>
          <a:graphicData uri="http://schemas.openxmlformats.org/drawingml/2006/table">
            <a:tbl>
              <a:tblPr firstRow="1" bandRow="1">
                <a:tableStyleId>{5C22544A-7EE6-4342-B048-85BDC9FD1C3A}</a:tableStyleId>
              </a:tblPr>
              <a:tblGrid>
                <a:gridCol w="2377440"/>
                <a:gridCol w="3566160"/>
                <a:gridCol w="2194560"/>
              </a:tblGrid>
              <a:tr h="329184">
                <a:tc>
                  <a:txBody>
                    <a:bodyPr/>
                    <a:lstStyle/>
                    <a:p>
                      <a:pPr algn="l"/>
                      <a:r>
                        <a:rPr sz="1100" b="1">
                          <a:solidFill>
                            <a:srgbClr val="FFFFFF"/>
                          </a:solidFill>
                          <a:latin typeface="Arial"/>
                        </a:rPr>
                        <a:t>Model</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Who manages what</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Typical use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Public cloud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Provider owns the infrastructure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Scale, pay as you go</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Private cloud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One organisation, on site or hosted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Strict compliance needs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Hybrid cloud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Sensitive data private, the rest public</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Control with lower cost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Software as a service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Provider runs the whole application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Mail and office suites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Infrastructure as a service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You run operating systems and data</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Rented compute and storage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Platform as a service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You build only the application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Application development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bl>
          </a:graphicData>
        </a:graphic>
      </p:graphicFrame>
      <p:sp>
        <p:nvSpPr>
          <p:cNvPr id="7" name="Rounded Rectangle 6"/>
          <p:cNvSpPr/>
          <p:nvPr/>
        </p:nvSpPr>
        <p:spPr>
          <a:xfrm>
            <a:off x="502920" y="3584448"/>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Where the responsibility stops</a:t>
            </a:r>
          </a:p>
        </p:txBody>
      </p:sp>
      <p:sp>
        <p:nvSpPr>
          <p:cNvPr id="8" name="TextBox 7"/>
          <p:cNvSpPr txBox="1"/>
          <p:nvPr/>
        </p:nvSpPr>
        <p:spPr>
          <a:xfrm>
            <a:off x="731520" y="4151376"/>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Service models shift the boundary of responsibility, never the whole of it. On software as a service you still manage your data and your users; on infrastructure as a service you also patch the operating system.</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CLOUD &amp; ROUTING</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Static routing</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Static route  </a:t>
            </a:r>
            <a:r>
              <a:rPr sz="1450">
                <a:solidFill>
                  <a:srgbClr val="D1D5DB"/>
                </a:solidFill>
                <a:latin typeface="Arial"/>
              </a:rPr>
              <a:t>typed by an administrator and never changed on its own</a:t>
            </a:r>
          </a:p>
          <a:p>
            <a:pPr marL="182880" indent="137160">
              <a:lnSpc>
                <a:spcPct val="108000"/>
              </a:lnSpc>
              <a:spcAft>
                <a:spcPts val="1152"/>
              </a:spcAft>
              <a:buFont typeface="Arial"/>
              <a:buChar char="•"/>
            </a:pPr>
            <a:r>
              <a:rPr sz="1450" b="1">
                <a:solidFill>
                  <a:srgbClr val="FFFFFF"/>
                </a:solidFill>
                <a:latin typeface="Arial"/>
              </a:rPr>
              <a:t>Good for  </a:t>
            </a:r>
            <a:r>
              <a:rPr sz="1450">
                <a:solidFill>
                  <a:srgbClr val="D1D5DB"/>
                </a:solidFill>
                <a:latin typeface="Arial"/>
              </a:rPr>
              <a:t>small networks, stub networks and default routes</a:t>
            </a:r>
          </a:p>
          <a:p>
            <a:pPr marL="182880" indent="137160">
              <a:lnSpc>
                <a:spcPct val="108000"/>
              </a:lnSpc>
              <a:spcAft>
                <a:spcPts val="1152"/>
              </a:spcAft>
              <a:buFont typeface="Arial"/>
              <a:buChar char="•"/>
            </a:pPr>
            <a:r>
              <a:rPr sz="1450" b="1">
                <a:solidFill>
                  <a:srgbClr val="FFFFFF"/>
                </a:solidFill>
                <a:latin typeface="Arial"/>
              </a:rPr>
              <a:t>Stub network  </a:t>
            </a:r>
            <a:r>
              <a:rPr sz="1450">
                <a:solidFill>
                  <a:srgbClr val="D1D5DB"/>
                </a:solidFill>
                <a:latin typeface="Arial"/>
              </a:rPr>
              <a:t>one way in and one way out</a:t>
            </a:r>
          </a:p>
          <a:p>
            <a:pPr marL="182880" indent="137160">
              <a:lnSpc>
                <a:spcPct val="108000"/>
              </a:lnSpc>
              <a:spcAft>
                <a:spcPts val="1152"/>
              </a:spcAft>
              <a:buFont typeface="Arial"/>
              <a:buChar char="•"/>
            </a:pPr>
            <a:r>
              <a:rPr sz="1450" b="1">
                <a:solidFill>
                  <a:srgbClr val="FFFFFF"/>
                </a:solidFill>
                <a:latin typeface="Arial"/>
              </a:rPr>
              <a:t>Default route  </a:t>
            </a:r>
            <a:r>
              <a:rPr sz="1450">
                <a:solidFill>
                  <a:srgbClr val="D1D5DB"/>
                </a:solidFill>
                <a:latin typeface="Arial"/>
              </a:rPr>
              <a:t>catches every destination the table does not list</a:t>
            </a:r>
          </a:p>
          <a:p>
            <a:pPr marL="182880" indent="137160">
              <a:lnSpc>
                <a:spcPct val="108000"/>
              </a:lnSpc>
              <a:spcAft>
                <a:spcPts val="1152"/>
              </a:spcAft>
              <a:buFont typeface="Arial"/>
              <a:buChar char="•"/>
            </a:pPr>
            <a:r>
              <a:rPr sz="1450" b="1">
                <a:solidFill>
                  <a:srgbClr val="FFFFFF"/>
                </a:solidFill>
                <a:latin typeface="Arial"/>
              </a:rPr>
              <a:t>Administrative distance  </a:t>
            </a:r>
            <a:r>
              <a:rPr sz="1450">
                <a:solidFill>
                  <a:srgbClr val="D1D5DB"/>
                </a:solidFill>
                <a:latin typeface="Arial"/>
              </a:rPr>
              <a:t>1, so it is trusted above anything learned dynamically</a:t>
            </a:r>
          </a:p>
          <a:p>
            <a:pPr marL="182880" indent="137160">
              <a:lnSpc>
                <a:spcPct val="108000"/>
              </a:lnSpc>
              <a:spcAft>
                <a:spcPts val="1152"/>
              </a:spcAft>
              <a:buFont typeface="Arial"/>
              <a:buChar char="•"/>
            </a:pPr>
            <a:r>
              <a:rPr sz="1450" b="1">
                <a:solidFill>
                  <a:srgbClr val="FFFFFF"/>
                </a:solidFill>
                <a:latin typeface="Arial"/>
              </a:rPr>
              <a:t>The cost  </a:t>
            </a:r>
            <a:r>
              <a:rPr sz="1450">
                <a:solidFill>
                  <a:srgbClr val="D1D5DB"/>
                </a:solidFill>
                <a:latin typeface="Arial"/>
              </a:rPr>
              <a:t>it does not adapt, so a failed link stays in the table</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Predictable, until it is not</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A static route gives control and no surprises until the topology moves, and then traffic is sent into a dead end that the table still believes in.</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CLOUD &amp; ROUTING</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Dynamic routing and distance vector</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Dynamic protocol  </a:t>
            </a:r>
            <a:r>
              <a:rPr sz="1450">
                <a:solidFill>
                  <a:srgbClr val="D1D5DB"/>
                </a:solidFill>
                <a:latin typeface="Arial"/>
              </a:rPr>
              <a:t>learns by exchanging information with its neighbours</a:t>
            </a:r>
          </a:p>
          <a:p>
            <a:pPr marL="182880" indent="137160">
              <a:lnSpc>
                <a:spcPct val="108000"/>
              </a:lnSpc>
              <a:spcAft>
                <a:spcPts val="1152"/>
              </a:spcAft>
              <a:buFont typeface="Arial"/>
              <a:buChar char="•"/>
            </a:pPr>
            <a:r>
              <a:rPr sz="1450" b="1">
                <a:solidFill>
                  <a:srgbClr val="FFFFFF"/>
                </a:solidFill>
                <a:latin typeface="Arial"/>
              </a:rPr>
              <a:t>Distance vector  </a:t>
            </a:r>
            <a:r>
              <a:rPr sz="1450">
                <a:solidFill>
                  <a:srgbClr val="D1D5DB"/>
                </a:solidFill>
                <a:latin typeface="Arial"/>
              </a:rPr>
              <a:t>a router advertises its whole table: routing by rumour</a:t>
            </a:r>
          </a:p>
          <a:p>
            <a:pPr marL="182880" indent="137160">
              <a:lnSpc>
                <a:spcPct val="108000"/>
              </a:lnSpc>
              <a:spcAft>
                <a:spcPts val="1152"/>
              </a:spcAft>
              <a:buFont typeface="Arial"/>
              <a:buChar char="•"/>
            </a:pPr>
            <a:r>
              <a:rPr sz="1450" b="1">
                <a:solidFill>
                  <a:srgbClr val="FFFFFF"/>
                </a:solidFill>
                <a:latin typeface="Arial"/>
              </a:rPr>
              <a:t>RIP  </a:t>
            </a:r>
            <a:r>
              <a:rPr sz="1450">
                <a:solidFill>
                  <a:srgbClr val="D1D5DB"/>
                </a:solidFill>
                <a:latin typeface="Arial"/>
              </a:rPr>
              <a:t>Routing Information Protocol measures a path in hop count</a:t>
            </a:r>
          </a:p>
          <a:p>
            <a:pPr marL="182880" indent="137160">
              <a:lnSpc>
                <a:spcPct val="108000"/>
              </a:lnSpc>
              <a:spcAft>
                <a:spcPts val="1152"/>
              </a:spcAft>
              <a:buFont typeface="Arial"/>
              <a:buChar char="•"/>
            </a:pPr>
            <a:r>
              <a:rPr sz="1450" b="1">
                <a:solidFill>
                  <a:srgbClr val="FFFFFF"/>
                </a:solidFill>
                <a:latin typeface="Arial"/>
              </a:rPr>
              <a:t>The limits  </a:t>
            </a:r>
            <a:r>
              <a:rPr sz="1450">
                <a:solidFill>
                  <a:srgbClr val="D1D5DB"/>
                </a:solidFill>
                <a:latin typeface="Arial"/>
              </a:rPr>
              <a:t>15 hops is the maximum usable count, and 16 means unreachable</a:t>
            </a:r>
          </a:p>
          <a:p>
            <a:pPr marL="182880" indent="137160">
              <a:lnSpc>
                <a:spcPct val="108000"/>
              </a:lnSpc>
              <a:spcAft>
                <a:spcPts val="1152"/>
              </a:spcAft>
              <a:buFont typeface="Arial"/>
              <a:buChar char="•"/>
            </a:pPr>
            <a:r>
              <a:rPr sz="1450" b="1">
                <a:solidFill>
                  <a:srgbClr val="FFFFFF"/>
                </a:solidFill>
                <a:latin typeface="Arial"/>
              </a:rPr>
              <a:t>Convergence  </a:t>
            </a:r>
            <a:r>
              <a:rPr sz="1450">
                <a:solidFill>
                  <a:srgbClr val="D1D5DB"/>
                </a:solidFill>
                <a:latin typeface="Arial"/>
              </a:rPr>
              <a:t>slow convergence brings routing loops and black holes</a:t>
            </a:r>
          </a:p>
          <a:p>
            <a:pPr marL="182880" indent="137160">
              <a:lnSpc>
                <a:spcPct val="108000"/>
              </a:lnSpc>
              <a:spcAft>
                <a:spcPts val="1152"/>
              </a:spcAft>
              <a:buFont typeface="Arial"/>
              <a:buChar char="•"/>
            </a:pPr>
            <a:r>
              <a:rPr sz="1450" b="1">
                <a:solidFill>
                  <a:srgbClr val="FFFFFF"/>
                </a:solidFill>
                <a:latin typeface="Arial"/>
              </a:rPr>
              <a:t>Defences  </a:t>
            </a:r>
            <a:r>
              <a:rPr sz="1450">
                <a:solidFill>
                  <a:srgbClr val="D1D5DB"/>
                </a:solidFill>
                <a:latin typeface="Arial"/>
              </a:rPr>
              <a:t>split horizon, route poisoning and hold down timers</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Why 16 exists</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The hop limit is how RIP stops a route circling for ever. Neighbours share what they know until the network converges, and while they disagree, traffic disappears.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CLOUD &amp; ROUTING</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Open Shortest Path First</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OSPF  </a:t>
            </a:r>
            <a:r>
              <a:rPr sz="1450">
                <a:solidFill>
                  <a:srgbClr val="D1D5DB"/>
                </a:solidFill>
                <a:latin typeface="Arial"/>
              </a:rPr>
              <a:t>the open standard link state protocol</a:t>
            </a:r>
          </a:p>
          <a:p>
            <a:pPr marL="182880" indent="137160">
              <a:lnSpc>
                <a:spcPct val="108000"/>
              </a:lnSpc>
              <a:spcAft>
                <a:spcPts val="1152"/>
              </a:spcAft>
              <a:buFont typeface="Arial"/>
              <a:buChar char="•"/>
            </a:pPr>
            <a:r>
              <a:rPr sz="1450" b="1">
                <a:solidFill>
                  <a:srgbClr val="FFFFFF"/>
                </a:solidFill>
                <a:latin typeface="Arial"/>
              </a:rPr>
              <a:t>Link state advertisement  </a:t>
            </a:r>
            <a:r>
              <a:rPr sz="1450">
                <a:solidFill>
                  <a:srgbClr val="D1D5DB"/>
                </a:solidFill>
                <a:latin typeface="Arial"/>
              </a:rPr>
              <a:t>each router describes its own links to every other router</a:t>
            </a:r>
          </a:p>
          <a:p>
            <a:pPr marL="182880" indent="137160">
              <a:lnSpc>
                <a:spcPct val="108000"/>
              </a:lnSpc>
              <a:spcAft>
                <a:spcPts val="1152"/>
              </a:spcAft>
              <a:buFont typeface="Arial"/>
              <a:buChar char="•"/>
            </a:pPr>
            <a:r>
              <a:rPr sz="1450" b="1">
                <a:solidFill>
                  <a:srgbClr val="FFFFFF"/>
                </a:solidFill>
                <a:latin typeface="Arial"/>
              </a:rPr>
              <a:t>Link state database  </a:t>
            </a:r>
            <a:r>
              <a:rPr sz="1450">
                <a:solidFill>
                  <a:srgbClr val="D1D5DB"/>
                </a:solidFill>
                <a:latin typeface="Arial"/>
              </a:rPr>
              <a:t>every router holds the same one, so the same map of the network</a:t>
            </a:r>
          </a:p>
          <a:p>
            <a:pPr marL="182880" indent="137160">
              <a:lnSpc>
                <a:spcPct val="108000"/>
              </a:lnSpc>
              <a:spcAft>
                <a:spcPts val="1152"/>
              </a:spcAft>
              <a:buFont typeface="Arial"/>
              <a:buChar char="•"/>
            </a:pPr>
            <a:r>
              <a:rPr sz="1450" b="1">
                <a:solidFill>
                  <a:srgbClr val="FFFFFF"/>
                </a:solidFill>
                <a:latin typeface="Arial"/>
              </a:rPr>
              <a:t>Shortest path first  </a:t>
            </a:r>
            <a:r>
              <a:rPr sz="1450">
                <a:solidFill>
                  <a:srgbClr val="D1D5DB"/>
                </a:solidFill>
                <a:latin typeface="Arial"/>
              </a:rPr>
              <a:t>each router runs the calculation with itself as the root</a:t>
            </a:r>
          </a:p>
          <a:p>
            <a:pPr marL="182880" indent="137160">
              <a:lnSpc>
                <a:spcPct val="108000"/>
              </a:lnSpc>
              <a:spcAft>
                <a:spcPts val="1152"/>
              </a:spcAft>
              <a:buFont typeface="Arial"/>
              <a:buChar char="•"/>
            </a:pPr>
            <a:r>
              <a:rPr sz="1450" b="1">
                <a:solidFill>
                  <a:srgbClr val="FFFFFF"/>
                </a:solidFill>
                <a:latin typeface="Arial"/>
              </a:rPr>
              <a:t>Cost  </a:t>
            </a:r>
            <a:r>
              <a:rPr sz="1450">
                <a:solidFill>
                  <a:srgbClr val="D1D5DB"/>
                </a:solidFill>
                <a:latin typeface="Arial"/>
              </a:rPr>
              <a:t>follows bandwidth, so a lower cost is the preferred link</a:t>
            </a:r>
          </a:p>
          <a:p>
            <a:pPr marL="182880" indent="137160">
              <a:lnSpc>
                <a:spcPct val="108000"/>
              </a:lnSpc>
              <a:spcAft>
                <a:spcPts val="1152"/>
              </a:spcAft>
              <a:buFont typeface="Arial"/>
              <a:buChar char="•"/>
            </a:pPr>
            <a:r>
              <a:rPr sz="1450" b="1">
                <a:solidFill>
                  <a:srgbClr val="FFFFFF"/>
                </a:solidFill>
                <a:latin typeface="Arial"/>
              </a:rPr>
              <a:t>Areas  </a:t>
            </a:r>
            <a:r>
              <a:rPr sz="1450">
                <a:solidFill>
                  <a:srgbClr val="D1D5DB"/>
                </a:solidFill>
                <a:latin typeface="Arial"/>
              </a:rPr>
              <a:t>area 0 is the backbone, and every other area attaches to it</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link state idea</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Distance vector routers trust rumour; link state routers each hold the whole map and then work out their own best path from it.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ROUTE SELECTION &amp; TRANSLATION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Route Selection, Translation and Inter-VLAN Routing</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Choosing  </a:t>
            </a:r>
            <a:r>
              <a:rPr sz="1450">
                <a:solidFill>
                  <a:srgbClr val="D1D5DB"/>
                </a:solidFill>
                <a:latin typeface="Arial"/>
              </a:rPr>
              <a:t>administrative distance ranks the source a route came from</a:t>
            </a:r>
          </a:p>
          <a:p>
            <a:pPr marL="182880" indent="137160">
              <a:lnSpc>
                <a:spcPct val="108000"/>
              </a:lnSpc>
              <a:spcAft>
                <a:spcPts val="1152"/>
              </a:spcAft>
              <a:buFont typeface="Arial"/>
              <a:buChar char="•"/>
            </a:pPr>
            <a:r>
              <a:rPr sz="1450" b="1">
                <a:solidFill>
                  <a:srgbClr val="FFFFFF"/>
                </a:solidFill>
                <a:latin typeface="Arial"/>
              </a:rPr>
              <a:t>Translating  </a:t>
            </a:r>
            <a:r>
              <a:rPr sz="1450">
                <a:solidFill>
                  <a:srgbClr val="D1D5DB"/>
                </a:solidFill>
                <a:latin typeface="Arial"/>
              </a:rPr>
              <a:t>we rewrite the addresses themselves as traffic crosses a boundary</a:t>
            </a:r>
          </a:p>
          <a:p>
            <a:pPr marL="182880" indent="137160">
              <a:lnSpc>
                <a:spcPct val="108000"/>
              </a:lnSpc>
              <a:spcAft>
                <a:spcPts val="1152"/>
              </a:spcAft>
              <a:buFont typeface="Arial"/>
              <a:buChar char="•"/>
            </a:pPr>
            <a:r>
              <a:rPr sz="1450" b="1">
                <a:solidFill>
                  <a:srgbClr val="FFFFFF"/>
                </a:solidFill>
                <a:latin typeface="Arial"/>
              </a:rPr>
              <a:t>Protecting  </a:t>
            </a:r>
            <a:r>
              <a:rPr sz="1450">
                <a:solidFill>
                  <a:srgbClr val="D1D5DB"/>
                </a:solidFill>
                <a:latin typeface="Arial"/>
              </a:rPr>
              <a:t>first hop redundancy makes the default gateway survive a failure</a:t>
            </a:r>
          </a:p>
          <a:p>
            <a:pPr marL="182880" indent="137160">
              <a:lnSpc>
                <a:spcPct val="108000"/>
              </a:lnSpc>
              <a:spcAft>
                <a:spcPts val="1152"/>
              </a:spcAft>
              <a:buFont typeface="Arial"/>
              <a:buChar char="•"/>
            </a:pPr>
            <a:r>
              <a:rPr sz="1450" b="1">
                <a:solidFill>
                  <a:srgbClr val="FFFFFF"/>
                </a:solidFill>
                <a:latin typeface="Arial"/>
              </a:rPr>
              <a:t>Carrying  </a:t>
            </a:r>
            <a:r>
              <a:rPr sz="1450">
                <a:solidFill>
                  <a:srgbClr val="D1D5DB"/>
                </a:solidFill>
                <a:latin typeface="Arial"/>
              </a:rPr>
              <a:t>one physical link carries every VLAN: router on a stick</a:t>
            </a:r>
          </a:p>
        </p:txBody>
      </p:sp>
      <p:sp>
        <p:nvSpPr>
          <p:cNvPr id="7" name="Rounded Rectangle 6"/>
          <p:cNvSpPr/>
          <p:nvPr/>
        </p:nvSpPr>
        <p:spPr>
          <a:xfrm>
            <a:off x="502920" y="3154680"/>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Why this chapter exists</a:t>
            </a:r>
          </a:p>
        </p:txBody>
      </p:sp>
      <p:sp>
        <p:nvSpPr>
          <p:cNvPr id="8" name="TextBox 7"/>
          <p:cNvSpPr txBox="1"/>
          <p:nvPr/>
        </p:nvSpPr>
        <p:spPr>
          <a:xfrm>
            <a:off x="731520" y="372160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Each of these is a control you may be asked to justify, and each fails in a way that looks like something else at first. Misconfiguration here is one of the most common causes of a real outage.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ROUTE SELECTION &amp; TRANSLATION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EIGRP and BGP</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EIGRP  </a:t>
            </a:r>
            <a:r>
              <a:rPr sz="1450">
                <a:solidFill>
                  <a:srgbClr val="D1D5DB"/>
                </a:solidFill>
                <a:latin typeface="Arial"/>
              </a:rPr>
              <a:t>advanced distance vector, and Cisco proprietary in origin</a:t>
            </a:r>
          </a:p>
          <a:p>
            <a:pPr marL="182880" indent="137160">
              <a:lnSpc>
                <a:spcPct val="108000"/>
              </a:lnSpc>
              <a:spcAft>
                <a:spcPts val="1152"/>
              </a:spcAft>
              <a:buFont typeface="Arial"/>
              <a:buChar char="•"/>
            </a:pPr>
            <a:r>
              <a:rPr sz="1450" b="1">
                <a:solidFill>
                  <a:srgbClr val="FFFFFF"/>
                </a:solidFill>
                <a:latin typeface="Arial"/>
              </a:rPr>
              <a:t>Feasible successor  </a:t>
            </a:r>
            <a:r>
              <a:rPr sz="1450">
                <a:solidFill>
                  <a:srgbClr val="D1D5DB"/>
                </a:solidFill>
                <a:latin typeface="Arial"/>
              </a:rPr>
              <a:t>the diffusing update algorithm keeps a backup path ready</a:t>
            </a:r>
          </a:p>
          <a:p>
            <a:pPr marL="182880" indent="137160">
              <a:lnSpc>
                <a:spcPct val="108000"/>
              </a:lnSpc>
              <a:spcAft>
                <a:spcPts val="1152"/>
              </a:spcAft>
              <a:buFont typeface="Arial"/>
              <a:buChar char="•"/>
            </a:pPr>
            <a:r>
              <a:rPr sz="1450" b="1">
                <a:solidFill>
                  <a:srgbClr val="FFFFFF"/>
                </a:solidFill>
                <a:latin typeface="Arial"/>
              </a:rPr>
              <a:t>Recovery  </a:t>
            </a:r>
            <a:r>
              <a:rPr sz="1450">
                <a:solidFill>
                  <a:srgbClr val="D1D5DB"/>
                </a:solidFill>
                <a:latin typeface="Arial"/>
              </a:rPr>
              <a:t>failover to that backup needs no recalculation of the network</a:t>
            </a:r>
          </a:p>
          <a:p>
            <a:pPr marL="182880" indent="137160">
              <a:lnSpc>
                <a:spcPct val="108000"/>
              </a:lnSpc>
              <a:spcAft>
                <a:spcPts val="1152"/>
              </a:spcAft>
              <a:buFont typeface="Arial"/>
              <a:buChar char="•"/>
            </a:pPr>
            <a:r>
              <a:rPr sz="1450" b="1">
                <a:solidFill>
                  <a:srgbClr val="FFFFFF"/>
                </a:solidFill>
                <a:latin typeface="Arial"/>
              </a:rPr>
              <a:t>Metrics  </a:t>
            </a:r>
            <a:r>
              <a:rPr sz="1450">
                <a:solidFill>
                  <a:srgbClr val="D1D5DB"/>
                </a:solidFill>
                <a:latin typeface="Arial"/>
              </a:rPr>
              <a:t>bandwidth, delay, load and reliability, not hop count alone</a:t>
            </a:r>
          </a:p>
          <a:p>
            <a:pPr marL="182880" indent="137160">
              <a:lnSpc>
                <a:spcPct val="108000"/>
              </a:lnSpc>
              <a:spcAft>
                <a:spcPts val="1152"/>
              </a:spcAft>
              <a:buFont typeface="Arial"/>
              <a:buChar char="•"/>
            </a:pPr>
            <a:r>
              <a:rPr sz="1450" b="1">
                <a:solidFill>
                  <a:srgbClr val="FFFFFF"/>
                </a:solidFill>
                <a:latin typeface="Arial"/>
              </a:rPr>
              <a:t>BGP  </a:t>
            </a:r>
            <a:r>
              <a:rPr sz="1450">
                <a:solidFill>
                  <a:srgbClr val="D1D5DB"/>
                </a:solidFill>
                <a:latin typeface="Arial"/>
              </a:rPr>
              <a:t>the path vector protocol of the internet</a:t>
            </a:r>
          </a:p>
          <a:p>
            <a:pPr marL="182880" indent="137160">
              <a:lnSpc>
                <a:spcPct val="108000"/>
              </a:lnSpc>
              <a:spcAft>
                <a:spcPts val="1152"/>
              </a:spcAft>
              <a:buFont typeface="Arial"/>
              <a:buChar char="•"/>
            </a:pPr>
            <a:r>
              <a:rPr sz="1450" b="1">
                <a:solidFill>
                  <a:srgbClr val="FFFFFF"/>
                </a:solidFill>
                <a:latin typeface="Arial"/>
              </a:rPr>
              <a:t>Selection  </a:t>
            </a:r>
            <a:r>
              <a:rPr sz="1450">
                <a:solidFill>
                  <a:srgbClr val="D1D5DB"/>
                </a:solidFill>
                <a:latin typeface="Arial"/>
              </a:rPr>
              <a:t>attributes and policy, such as the autonomous system path length</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Two worlds</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EIGRP is fast inside the enterprise; BGP carries the internet and is the protocol behind route hijacks. Both must be secured and monitored.</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ROUTE SELECTION &amp; TRANSLATION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Administrative distance decides, then the metric</a:t>
            </a:r>
          </a:p>
        </p:txBody>
      </p:sp>
      <p:graphicFrame>
        <p:nvGraphicFramePr>
          <p:cNvPr id="6" name="Table 5"/>
          <p:cNvGraphicFramePr>
            <a:graphicFrameLocks noGrp="1"/>
          </p:cNvGraphicFramePr>
          <p:nvPr/>
        </p:nvGraphicFramePr>
        <p:xfrm>
          <a:off x="502920" y="1783080"/>
          <a:ext cx="8138160" cy="1975104"/>
        </p:xfrm>
        <a:graphic>
          <a:graphicData uri="http://schemas.openxmlformats.org/drawingml/2006/table">
            <a:tbl>
              <a:tblPr firstRow="1" bandRow="1">
                <a:tableStyleId>{5C22544A-7EE6-4342-B048-85BDC9FD1C3A}</a:tableStyleId>
              </a:tblPr>
              <a:tblGrid>
                <a:gridCol w="2651760"/>
                <a:gridCol w="2743200"/>
                <a:gridCol w="2743200"/>
              </a:tblGrid>
              <a:tr h="329184">
                <a:tc>
                  <a:txBody>
                    <a:bodyPr/>
                    <a:lstStyle/>
                    <a:p>
                      <a:pPr algn="l"/>
                      <a:r>
                        <a:rPr sz="1100" b="1">
                          <a:solidFill>
                            <a:srgbClr val="FFFFFF"/>
                          </a:solidFill>
                          <a:latin typeface="Arial"/>
                        </a:rPr>
                        <a:t>Route source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Administrative distance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Trust</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Connected route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0</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Highest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Static route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1</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Very high</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EIGRP</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90</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High</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OSPF</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110</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Medium</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RIP</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120</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Low</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Rounded Rectangle 6"/>
          <p:cNvSpPr/>
          <p:nvPr/>
        </p:nvSpPr>
        <p:spPr>
          <a:xfrm>
            <a:off x="502920" y="3465576"/>
            <a:ext cx="8138160" cy="105156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Distances first, then the metric</a:t>
            </a:r>
          </a:p>
        </p:txBody>
      </p:sp>
      <p:sp>
        <p:nvSpPr>
          <p:cNvPr id="8" name="TextBox 7"/>
          <p:cNvSpPr txBox="1"/>
          <p:nvPr/>
        </p:nvSpPr>
        <p:spPr>
          <a:xfrm>
            <a:off x="731520" y="4032504"/>
            <a:ext cx="7680960" cy="429767"/>
          </a:xfrm>
          <a:prstGeom prst="rect">
            <a:avLst/>
          </a:prstGeom>
          <a:noFill/>
        </p:spPr>
        <p:txBody>
          <a:bodyPr wrap="square" lIns="0" rIns="0" tIns="0" bIns="0">
            <a:spAutoFit/>
          </a:bodyPr>
          <a:lstStyle/>
          <a:p>
            <a:pPr>
              <a:lnSpc>
                <a:spcPct val="108000"/>
              </a:lnSpc>
            </a:pPr>
            <a:r>
              <a:rPr sz="1250">
                <a:solidFill>
                  <a:srgbClr val="F3D9D9"/>
                </a:solidFill>
                <a:latin typeface="Arial"/>
              </a:rPr>
              <a:t>A router often learns the same destination from more than one source, and administrative distance settles the argument because the lowest value wins. Once the source is chosen, its metrics pick between paths, and the longest match rule means the most specific route wins overall.</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ROUTE SELECTION &amp; TRANSLATION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Network address translation</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NAT  </a:t>
            </a:r>
            <a:r>
              <a:rPr sz="1450">
                <a:solidFill>
                  <a:srgbClr val="D1D5DB"/>
                </a:solidFill>
                <a:latin typeface="Arial"/>
              </a:rPr>
              <a:t>rewrites addresses in the packet header as traffic crosses a boundary</a:t>
            </a:r>
          </a:p>
          <a:p>
            <a:pPr marL="182880" indent="137160">
              <a:lnSpc>
                <a:spcPct val="108000"/>
              </a:lnSpc>
              <a:spcAft>
                <a:spcPts val="1152"/>
              </a:spcAft>
              <a:buFont typeface="Arial"/>
              <a:buChar char="•"/>
            </a:pPr>
            <a:r>
              <a:rPr sz="1450" b="1">
                <a:solidFill>
                  <a:srgbClr val="FFFFFF"/>
                </a:solidFill>
                <a:latin typeface="Arial"/>
              </a:rPr>
              <a:t>Reason one  </a:t>
            </a:r>
            <a:r>
              <a:rPr sz="1450">
                <a:solidFill>
                  <a:srgbClr val="D1D5DB"/>
                </a:solidFill>
                <a:latin typeface="Arial"/>
              </a:rPr>
              <a:t>to slow the exhaustion of the IPv4 address pool</a:t>
            </a:r>
          </a:p>
          <a:p>
            <a:pPr marL="182880" indent="137160">
              <a:lnSpc>
                <a:spcPct val="108000"/>
              </a:lnSpc>
              <a:spcAft>
                <a:spcPts val="1152"/>
              </a:spcAft>
              <a:buFont typeface="Arial"/>
              <a:buChar char="•"/>
            </a:pPr>
            <a:r>
              <a:rPr sz="1450" b="1">
                <a:solidFill>
                  <a:srgbClr val="FFFFFF"/>
                </a:solidFill>
                <a:latin typeface="Arial"/>
              </a:rPr>
              <a:t>Reason two  </a:t>
            </a:r>
            <a:r>
              <a:rPr sz="1450">
                <a:solidFill>
                  <a:srgbClr val="D1D5DB"/>
                </a:solidFill>
                <a:latin typeface="Arial"/>
              </a:rPr>
              <a:t>to hide the internal layout from the outside</a:t>
            </a:r>
          </a:p>
          <a:p>
            <a:pPr marL="182880" indent="137160">
              <a:lnSpc>
                <a:spcPct val="108000"/>
              </a:lnSpc>
              <a:spcAft>
                <a:spcPts val="1152"/>
              </a:spcAft>
              <a:buFont typeface="Arial"/>
              <a:buChar char="•"/>
            </a:pPr>
            <a:r>
              <a:rPr sz="1450" b="1">
                <a:solidFill>
                  <a:srgbClr val="FFFFFF"/>
                </a:solidFill>
                <a:latin typeface="Arial"/>
              </a:rPr>
              <a:t>Static NAT  </a:t>
            </a:r>
            <a:r>
              <a:rPr sz="1450">
                <a:solidFill>
                  <a:srgbClr val="D1D5DB"/>
                </a:solidFill>
                <a:latin typeface="Arial"/>
              </a:rPr>
              <a:t>one private address to one public address, for a published server</a:t>
            </a:r>
          </a:p>
          <a:p>
            <a:pPr marL="182880" indent="137160">
              <a:lnSpc>
                <a:spcPct val="108000"/>
              </a:lnSpc>
              <a:spcAft>
                <a:spcPts val="1152"/>
              </a:spcAft>
              <a:buFont typeface="Arial"/>
              <a:buChar char="•"/>
            </a:pPr>
            <a:r>
              <a:rPr sz="1450" b="1">
                <a:solidFill>
                  <a:srgbClr val="FFFFFF"/>
                </a:solidFill>
                <a:latin typeface="Arial"/>
              </a:rPr>
              <a:t>Dynamic NAT  </a:t>
            </a:r>
            <a:r>
              <a:rPr sz="1450">
                <a:solidFill>
                  <a:srgbClr val="D1D5DB"/>
                </a:solidFill>
                <a:latin typeface="Arial"/>
              </a:rPr>
              <a:t>an address taken from a pool, first come first served</a:t>
            </a:r>
          </a:p>
          <a:p>
            <a:pPr marL="182880" indent="137160">
              <a:lnSpc>
                <a:spcPct val="108000"/>
              </a:lnSpc>
              <a:spcAft>
                <a:spcPts val="1152"/>
              </a:spcAft>
              <a:buFont typeface="Arial"/>
              <a:buChar char="•"/>
            </a:pPr>
            <a:r>
              <a:rPr sz="1450" b="1">
                <a:solidFill>
                  <a:srgbClr val="FFFFFF"/>
                </a:solidFill>
                <a:latin typeface="Arial"/>
              </a:rPr>
              <a:t>Vocabulary  </a:t>
            </a:r>
            <a:r>
              <a:rPr sz="1450">
                <a:solidFill>
                  <a:srgbClr val="D1D5DB"/>
                </a:solidFill>
                <a:latin typeface="Arial"/>
              </a:rPr>
              <a:t>inside and outside give position; local and global give scope</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Log the translations</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A translation table is evidence and a troubleshooting tool at the same time. Without it, an outbound connection cannot be traced back to a workstation.</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ROUTE SELECTION &amp; TRANSLATION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Port address translation</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PAT  </a:t>
            </a:r>
            <a:r>
              <a:rPr sz="1450">
                <a:solidFill>
                  <a:srgbClr val="D1D5DB"/>
                </a:solidFill>
                <a:latin typeface="Arial"/>
              </a:rPr>
              <a:t>maps many private addresses onto one public address</a:t>
            </a:r>
          </a:p>
          <a:p>
            <a:pPr marL="182880" indent="137160">
              <a:lnSpc>
                <a:spcPct val="108000"/>
              </a:lnSpc>
              <a:spcAft>
                <a:spcPts val="1152"/>
              </a:spcAft>
              <a:buFont typeface="Arial"/>
              <a:buChar char="•"/>
            </a:pPr>
            <a:r>
              <a:rPr sz="1450" b="1">
                <a:solidFill>
                  <a:srgbClr val="FFFFFF"/>
                </a:solidFill>
                <a:latin typeface="Arial"/>
              </a:rPr>
              <a:t>The trick  </a:t>
            </a:r>
            <a:r>
              <a:rPr sz="1450">
                <a:solidFill>
                  <a:srgbClr val="D1D5DB"/>
                </a:solidFill>
                <a:latin typeface="Arial"/>
              </a:rPr>
              <a:t>every session is given a unique port number</a:t>
            </a:r>
          </a:p>
          <a:p>
            <a:pPr marL="182880" indent="137160">
              <a:lnSpc>
                <a:spcPct val="108000"/>
              </a:lnSpc>
              <a:spcAft>
                <a:spcPts val="1152"/>
              </a:spcAft>
              <a:buFont typeface="Arial"/>
              <a:buChar char="•"/>
            </a:pPr>
            <a:r>
              <a:rPr sz="1450" b="1">
                <a:solidFill>
                  <a:srgbClr val="FFFFFF"/>
                </a:solidFill>
                <a:latin typeface="Arial"/>
              </a:rPr>
              <a:t>Translation table  </a:t>
            </a:r>
            <a:r>
              <a:rPr sz="1450">
                <a:solidFill>
                  <a:srgbClr val="D1D5DB"/>
                </a:solidFill>
                <a:latin typeface="Arial"/>
              </a:rPr>
              <a:t>tracks every active connection</a:t>
            </a:r>
          </a:p>
          <a:p>
            <a:pPr marL="182880" indent="137160">
              <a:lnSpc>
                <a:spcPct val="108000"/>
              </a:lnSpc>
              <a:spcAft>
                <a:spcPts val="1152"/>
              </a:spcAft>
              <a:buFont typeface="Arial"/>
              <a:buChar char="•"/>
            </a:pPr>
            <a:r>
              <a:rPr sz="1450" b="1">
                <a:solidFill>
                  <a:srgbClr val="FFFFFF"/>
                </a:solidFill>
                <a:latin typeface="Arial"/>
              </a:rPr>
              <a:t>The result  </a:t>
            </a:r>
            <a:r>
              <a:rPr sz="1450">
                <a:solidFill>
                  <a:srgbClr val="D1D5DB"/>
                </a:solidFill>
                <a:latin typeface="Arial"/>
              </a:rPr>
              <a:t>two hosts appear as one public address on two different ports</a:t>
            </a:r>
          </a:p>
          <a:p>
            <a:pPr marL="182880" indent="137160">
              <a:lnSpc>
                <a:spcPct val="108000"/>
              </a:lnSpc>
              <a:spcAft>
                <a:spcPts val="1152"/>
              </a:spcAft>
              <a:buFont typeface="Arial"/>
              <a:buChar char="•"/>
            </a:pPr>
            <a:r>
              <a:rPr sz="1450" b="1">
                <a:solidFill>
                  <a:srgbClr val="FFFFFF"/>
                </a:solidFill>
                <a:latin typeface="Arial"/>
              </a:rPr>
              <a:t>Inbound services  </a:t>
            </a:r>
            <a:r>
              <a:rPr sz="1450">
                <a:solidFill>
                  <a:srgbClr val="D1D5DB"/>
                </a:solidFill>
                <a:latin typeface="Arial"/>
              </a:rPr>
              <a:t>need a port forwarding rule, because the router cannot know who asked</a:t>
            </a:r>
          </a:p>
          <a:p>
            <a:pPr marL="182880" indent="137160">
              <a:lnSpc>
                <a:spcPct val="108000"/>
              </a:lnSpc>
              <a:spcAft>
                <a:spcPts val="1152"/>
              </a:spcAft>
              <a:buFont typeface="Arial"/>
              <a:buChar char="•"/>
            </a:pPr>
            <a:r>
              <a:rPr sz="1450" b="1">
                <a:solidFill>
                  <a:srgbClr val="FFFFFF"/>
                </a:solidFill>
                <a:latin typeface="Arial"/>
              </a:rPr>
              <a:t>In the wild  </a:t>
            </a:r>
            <a:r>
              <a:rPr sz="1450">
                <a:solidFill>
                  <a:srgbClr val="D1D5DB"/>
                </a:solidFill>
                <a:latin typeface="Arial"/>
              </a:rPr>
              <a:t>most home routers run PAT by default</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everyday form</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Port address translation is the version of NAT that hides a whole office behind a single public address, told apart by port number alone.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ROUTE SELECTION &amp; TRANSLATION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First hop redundancy protocols</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The problem  </a:t>
            </a:r>
            <a:r>
              <a:rPr sz="1450">
                <a:solidFill>
                  <a:srgbClr val="D1D5DB"/>
                </a:solidFill>
                <a:latin typeface="Arial"/>
              </a:rPr>
              <a:t>if the default gateway dies, everything behind it loses the outside world</a:t>
            </a:r>
          </a:p>
          <a:p>
            <a:pPr marL="182880" indent="137160">
              <a:lnSpc>
                <a:spcPct val="108000"/>
              </a:lnSpc>
              <a:spcAft>
                <a:spcPts val="1152"/>
              </a:spcAft>
              <a:buFont typeface="Arial"/>
              <a:buChar char="•"/>
            </a:pPr>
            <a:r>
              <a:rPr sz="1450" b="1">
                <a:solidFill>
                  <a:srgbClr val="FFFFFF"/>
                </a:solidFill>
                <a:latin typeface="Arial"/>
              </a:rPr>
              <a:t>The fix  </a:t>
            </a:r>
            <a:r>
              <a:rPr sz="1450">
                <a:solidFill>
                  <a:srgbClr val="D1D5DB"/>
                </a:solidFill>
                <a:latin typeface="Arial"/>
              </a:rPr>
              <a:t>a shared virtual IP address that floats between routers</a:t>
            </a:r>
          </a:p>
          <a:p>
            <a:pPr marL="182880" indent="137160">
              <a:lnSpc>
                <a:spcPct val="108000"/>
              </a:lnSpc>
              <a:spcAft>
                <a:spcPts val="1152"/>
              </a:spcAft>
              <a:buFont typeface="Arial"/>
              <a:buChar char="•"/>
            </a:pPr>
            <a:r>
              <a:rPr sz="1450" b="1">
                <a:solidFill>
                  <a:srgbClr val="FFFFFF"/>
                </a:solidFill>
                <a:latin typeface="Arial"/>
              </a:rPr>
              <a:t>HSRP  </a:t>
            </a:r>
            <a:r>
              <a:rPr sz="1450">
                <a:solidFill>
                  <a:srgbClr val="D1D5DB"/>
                </a:solidFill>
                <a:latin typeface="Arial"/>
              </a:rPr>
              <a:t>Hot Standby Router Protocol keeps one active router and one standby</a:t>
            </a:r>
          </a:p>
          <a:p>
            <a:pPr marL="182880" indent="137160">
              <a:lnSpc>
                <a:spcPct val="108000"/>
              </a:lnSpc>
              <a:spcAft>
                <a:spcPts val="1152"/>
              </a:spcAft>
              <a:buFont typeface="Arial"/>
              <a:buChar char="•"/>
            </a:pPr>
            <a:r>
              <a:rPr sz="1450" b="1">
                <a:solidFill>
                  <a:srgbClr val="FFFFFF"/>
                </a:solidFill>
                <a:latin typeface="Arial"/>
              </a:rPr>
              <a:t>VRRP  </a:t>
            </a:r>
            <a:r>
              <a:rPr sz="1450">
                <a:solidFill>
                  <a:srgbClr val="D1D5DB"/>
                </a:solidFill>
                <a:latin typeface="Arial"/>
              </a:rPr>
              <a:t>the open standard version, with a master and several backups</a:t>
            </a:r>
          </a:p>
          <a:p>
            <a:pPr marL="182880" indent="137160">
              <a:lnSpc>
                <a:spcPct val="108000"/>
              </a:lnSpc>
              <a:spcAft>
                <a:spcPts val="1152"/>
              </a:spcAft>
              <a:buFont typeface="Arial"/>
              <a:buChar char="•"/>
            </a:pPr>
            <a:r>
              <a:rPr sz="1450" b="1">
                <a:solidFill>
                  <a:srgbClr val="FFFFFF"/>
                </a:solidFill>
                <a:latin typeface="Arial"/>
              </a:rPr>
              <a:t>GLBP  </a:t>
            </a:r>
            <a:r>
              <a:rPr sz="1450">
                <a:solidFill>
                  <a:srgbClr val="D1D5DB"/>
                </a:solidFill>
                <a:latin typeface="Arial"/>
              </a:rPr>
              <a:t>goes further and shares the forwarding load between routers</a:t>
            </a:r>
          </a:p>
          <a:p>
            <a:pPr marL="182880" indent="137160">
              <a:lnSpc>
                <a:spcPct val="108000"/>
              </a:lnSpc>
              <a:spcAft>
                <a:spcPts val="1152"/>
              </a:spcAft>
              <a:buFont typeface="Arial"/>
              <a:buChar char="•"/>
            </a:pPr>
            <a:r>
              <a:rPr sz="1450" b="1">
                <a:solidFill>
                  <a:srgbClr val="FFFFFF"/>
                </a:solidFill>
                <a:latin typeface="Arial"/>
              </a:rPr>
              <a:t>Preemption  </a:t>
            </a:r>
            <a:r>
              <a:rPr sz="1450">
                <a:solidFill>
                  <a:srgbClr val="D1D5DB"/>
                </a:solidFill>
                <a:latin typeface="Arial"/>
              </a:rPr>
              <a:t>hands the role back to the best router</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Transparent failover</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Clients never learn that the gateway changed underneath them, because the address they were configured with is still answering. Test the failover before you need it.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ROUTE SELECTION &amp; TRANSLATION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Subinterfaces and router on a stick</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Subinterface  </a:t>
            </a:r>
            <a:r>
              <a:rPr sz="1450">
                <a:solidFill>
                  <a:srgbClr val="D1D5DB"/>
                </a:solidFill>
                <a:latin typeface="Arial"/>
              </a:rPr>
              <a:t>a logical interface built on one physical router port</a:t>
            </a:r>
          </a:p>
          <a:p>
            <a:pPr marL="182880" indent="137160">
              <a:lnSpc>
                <a:spcPct val="108000"/>
              </a:lnSpc>
              <a:spcAft>
                <a:spcPts val="1152"/>
              </a:spcAft>
              <a:buFont typeface="Arial"/>
              <a:buChar char="•"/>
            </a:pPr>
            <a:r>
              <a:rPr sz="1450" b="1">
                <a:solidFill>
                  <a:srgbClr val="FFFFFF"/>
                </a:solidFill>
                <a:latin typeface="Arial"/>
              </a:rPr>
              <a:t>Each one  </a:t>
            </a:r>
            <a:r>
              <a:rPr sz="1450">
                <a:solidFill>
                  <a:srgbClr val="D1D5DB"/>
                </a:solidFill>
                <a:latin typeface="Arial"/>
              </a:rPr>
              <a:t>serves a single VLAN</a:t>
            </a:r>
          </a:p>
          <a:p>
            <a:pPr marL="182880" indent="137160">
              <a:lnSpc>
                <a:spcPct val="108000"/>
              </a:lnSpc>
              <a:spcAft>
                <a:spcPts val="1152"/>
              </a:spcAft>
              <a:buFont typeface="Arial"/>
              <a:buChar char="•"/>
            </a:pPr>
            <a:r>
              <a:rPr sz="1450" b="1">
                <a:solidFill>
                  <a:srgbClr val="FFFFFF"/>
                </a:solidFill>
                <a:latin typeface="Arial"/>
              </a:rPr>
              <a:t>The design  </a:t>
            </a:r>
            <a:r>
              <a:rPr sz="1450">
                <a:solidFill>
                  <a:srgbClr val="D1D5DB"/>
                </a:solidFill>
                <a:latin typeface="Arial"/>
              </a:rPr>
              <a:t>the router reaches every VLAN over one shared trunk</a:t>
            </a:r>
          </a:p>
          <a:p>
            <a:pPr marL="182880" indent="137160">
              <a:lnSpc>
                <a:spcPct val="108000"/>
              </a:lnSpc>
              <a:spcAft>
                <a:spcPts val="1152"/>
              </a:spcAft>
              <a:buFont typeface="Arial"/>
              <a:buChar char="•"/>
            </a:pPr>
            <a:r>
              <a:rPr sz="1450" b="1">
                <a:solidFill>
                  <a:srgbClr val="FFFFFF"/>
                </a:solidFill>
                <a:latin typeface="Arial"/>
              </a:rPr>
              <a:t>Tagging  </a:t>
            </a:r>
            <a:r>
              <a:rPr sz="1450">
                <a:solidFill>
                  <a:srgbClr val="D1D5DB"/>
                </a:solidFill>
                <a:latin typeface="Arial"/>
              </a:rPr>
              <a:t>each subinterface carries the 802.1Q tag for its own VLAN</a:t>
            </a:r>
          </a:p>
          <a:p>
            <a:pPr marL="182880" indent="137160">
              <a:lnSpc>
                <a:spcPct val="108000"/>
              </a:lnSpc>
              <a:spcAft>
                <a:spcPts val="1152"/>
              </a:spcAft>
              <a:buFont typeface="Arial"/>
              <a:buChar char="•"/>
            </a:pPr>
            <a:r>
              <a:rPr sz="1450" b="1">
                <a:solidFill>
                  <a:srgbClr val="FFFFFF"/>
                </a:solidFill>
                <a:latin typeface="Arial"/>
              </a:rPr>
              <a:t>Result  </a:t>
            </a:r>
            <a:r>
              <a:rPr sz="1450">
                <a:solidFill>
                  <a:srgbClr val="D1D5DB"/>
                </a:solidFill>
                <a:latin typeface="Arial"/>
              </a:rPr>
              <a:t>the router routes between the VLANs and each gets a gateway address</a:t>
            </a:r>
          </a:p>
          <a:p>
            <a:pPr marL="182880" indent="137160">
              <a:lnSpc>
                <a:spcPct val="108000"/>
              </a:lnSpc>
              <a:spcAft>
                <a:spcPts val="1152"/>
              </a:spcAft>
              <a:buFont typeface="Arial"/>
              <a:buChar char="•"/>
            </a:pPr>
            <a:r>
              <a:rPr sz="1450" b="1">
                <a:solidFill>
                  <a:srgbClr val="FFFFFF"/>
                </a:solidFill>
                <a:latin typeface="Arial"/>
              </a:rPr>
              <a:t>The cost  </a:t>
            </a:r>
            <a:r>
              <a:rPr sz="1450">
                <a:solidFill>
                  <a:srgbClr val="D1D5DB"/>
                </a:solidFill>
                <a:latin typeface="Arial"/>
              </a:rPr>
              <a:t>all VLANs share one physical link, so it can become the bottleneck</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One link, several gateways</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Router on a stick is cheap and easy to draw, and it puts every VLAN on one conversation. A busy campus will feel that link.</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828800" y="1371600"/>
            <a:ext cx="5486400" cy="2194560"/>
          </a:xfrm>
          <a:prstGeom prst="roundRect">
            <a:avLst>
              <a:gd name="adj" fmla="val 6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691640"/>
            <a:ext cx="5486400" cy="640080"/>
          </a:xfrm>
          <a:prstGeom prst="rect">
            <a:avLst/>
          </a:prstGeom>
          <a:noFill/>
        </p:spPr>
        <p:txBody>
          <a:bodyPr wrap="square" anchor="t" lIns="0" rIns="0" tIns="0" bIns="0">
            <a:spAutoFit/>
          </a:bodyPr>
          <a:lstStyle/>
          <a:p>
            <a:pPr algn="ctr"/>
            <a:r>
              <a:rPr sz="4400" b="1" spc="500">
                <a:solidFill>
                  <a:srgbClr val="FFFFFF"/>
                </a:solidFill>
                <a:latin typeface="Arial"/>
              </a:rPr>
              <a:t>BREAK</a:t>
            </a:r>
          </a:p>
        </p:txBody>
      </p:sp>
      <p:sp>
        <p:nvSpPr>
          <p:cNvPr id="6" name="TextBox 5"/>
          <p:cNvSpPr txBox="1"/>
          <p:nvPr/>
        </p:nvSpPr>
        <p:spPr>
          <a:xfrm>
            <a:off x="1828800" y="2377440"/>
            <a:ext cx="5486400" cy="457200"/>
          </a:xfrm>
          <a:prstGeom prst="rect">
            <a:avLst/>
          </a:prstGeom>
          <a:noFill/>
        </p:spPr>
        <p:txBody>
          <a:bodyPr wrap="square" anchor="t" lIns="0" rIns="0" tIns="0" bIns="0">
            <a:spAutoFit/>
          </a:bodyPr>
          <a:lstStyle/>
          <a:p>
            <a:pPr algn="ctr"/>
            <a:r>
              <a:rPr sz="2000" b="1" spc="200">
                <a:solidFill>
                  <a:srgbClr val="F3D9D9"/>
                </a:solidFill>
                <a:latin typeface="Arial"/>
              </a:rPr>
              <a:t>10 MINUTES</a:t>
            </a:r>
          </a:p>
        </p:txBody>
      </p:sp>
      <p:sp>
        <p:nvSpPr>
          <p:cNvPr id="7" name="TextBox 6"/>
          <p:cNvSpPr txBox="1"/>
          <p:nvPr/>
        </p:nvSpPr>
        <p:spPr>
          <a:xfrm>
            <a:off x="1371600" y="3794760"/>
            <a:ext cx="6400800" cy="640080"/>
          </a:xfrm>
          <a:prstGeom prst="rect">
            <a:avLst/>
          </a:prstGeom>
          <a:noFill/>
        </p:spPr>
        <p:txBody>
          <a:bodyPr wrap="square" anchor="t" lIns="0" rIns="0" tIns="0" bIns="0">
            <a:spAutoFit/>
          </a:bodyPr>
          <a:lstStyle/>
          <a:p>
            <a:pPr algn="ctr">
              <a:lnSpc>
                <a:spcPct val="115000"/>
              </a:lnSpc>
            </a:pPr>
            <a:r>
              <a:rPr sz="1300" b="0">
                <a:solidFill>
                  <a:srgbClr val="D1D5DB"/>
                </a:solidFill>
                <a:latin typeface="Arial"/>
              </a:rPr>
              <a:t>Back soon: VLANs, trunking, spanning tree, wireless deployment and the room itself.</a:t>
            </a:r>
          </a:p>
        </p:txBody>
      </p:sp>
      <p:sp>
        <p:nvSpPr>
          <p:cNvPr id="8" name="TextBox 7"/>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9" name="TextBox 8"/>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0" name="Picture 9"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1" name="TextBox 10"/>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VLANS &amp; SPANNING TREE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VLANs, Switching and Spanning Tree</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VLANs  </a:t>
            </a:r>
            <a:r>
              <a:rPr sz="1450">
                <a:solidFill>
                  <a:srgbClr val="D1D5DB"/>
                </a:solidFill>
                <a:latin typeface="Arial"/>
              </a:rPr>
              <a:t>split one switch into logical broadcast domains, the core containment control</a:t>
            </a:r>
          </a:p>
          <a:p>
            <a:pPr marL="182880" indent="137160">
              <a:lnSpc>
                <a:spcPct val="108000"/>
              </a:lnSpc>
              <a:spcAft>
                <a:spcPts val="1152"/>
              </a:spcAft>
              <a:buFont typeface="Arial"/>
              <a:buChar char="•"/>
            </a:pPr>
            <a:r>
              <a:rPr sz="1450" b="1">
                <a:solidFill>
                  <a:srgbClr val="FFFFFF"/>
                </a:solidFill>
                <a:latin typeface="Arial"/>
              </a:rPr>
              <a:t>Trunks and tags  </a:t>
            </a:r>
            <a:r>
              <a:rPr sz="1450">
                <a:solidFill>
                  <a:srgbClr val="D1D5DB"/>
                </a:solidFill>
                <a:latin typeface="Arial"/>
              </a:rPr>
              <a:t>how many VLANs cross one link, and how they stay apart</a:t>
            </a:r>
          </a:p>
          <a:p>
            <a:pPr marL="182880" indent="137160">
              <a:lnSpc>
                <a:spcPct val="108000"/>
              </a:lnSpc>
              <a:spcAft>
                <a:spcPts val="1152"/>
              </a:spcAft>
              <a:buFont typeface="Arial"/>
              <a:buChar char="•"/>
            </a:pPr>
            <a:r>
              <a:rPr sz="1450" b="1">
                <a:solidFill>
                  <a:srgbClr val="FFFFFF"/>
                </a:solidFill>
                <a:latin typeface="Arial"/>
              </a:rPr>
              <a:t>Port security  </a:t>
            </a:r>
            <a:r>
              <a:rPr sz="1450">
                <a:solidFill>
                  <a:srgbClr val="D1D5DB"/>
                </a:solidFill>
                <a:latin typeface="Arial"/>
              </a:rPr>
              <a:t>and the guard features that protect an access port</a:t>
            </a:r>
          </a:p>
          <a:p>
            <a:pPr marL="182880" indent="137160">
              <a:lnSpc>
                <a:spcPct val="108000"/>
              </a:lnSpc>
              <a:spcAft>
                <a:spcPts val="1152"/>
              </a:spcAft>
              <a:buFont typeface="Arial"/>
              <a:buChar char="•"/>
            </a:pPr>
            <a:r>
              <a:rPr sz="1450" b="1">
                <a:solidFill>
                  <a:srgbClr val="FFFFFF"/>
                </a:solidFill>
                <a:latin typeface="Arial"/>
              </a:rPr>
              <a:t>Spanning tree  </a:t>
            </a:r>
            <a:r>
              <a:rPr sz="1450">
                <a:solidFill>
                  <a:srgbClr val="D1D5DB"/>
                </a:solidFill>
                <a:latin typeface="Arial"/>
              </a:rPr>
              <a:t>one loop free path, with redundancy held in reserve</a:t>
            </a:r>
          </a:p>
          <a:p>
            <a:pPr marL="182880" indent="137160">
              <a:lnSpc>
                <a:spcPct val="108000"/>
              </a:lnSpc>
              <a:spcAft>
                <a:spcPts val="1152"/>
              </a:spcAft>
              <a:buFont typeface="Arial"/>
              <a:buChar char="•"/>
            </a:pPr>
            <a:r>
              <a:rPr sz="1450" b="1">
                <a:solidFill>
                  <a:srgbClr val="FFFFFF"/>
                </a:solidFill>
                <a:latin typeface="Arial"/>
              </a:rPr>
              <a:t>Frames  </a:t>
            </a:r>
            <a:r>
              <a:rPr sz="1450">
                <a:solidFill>
                  <a:srgbClr val="D1D5DB"/>
                </a:solidFill>
                <a:latin typeface="Arial"/>
              </a:rPr>
              <a:t>why the maximum size breaks networks quietly when it is wrong</a:t>
            </a:r>
          </a:p>
        </p:txBody>
      </p:sp>
      <p:sp>
        <p:nvSpPr>
          <p:cNvPr id="7" name="Rounded Rectangle 6"/>
          <p:cNvSpPr/>
          <p:nvPr/>
        </p:nvSpPr>
        <p:spPr>
          <a:xfrm>
            <a:off x="502920" y="3483864"/>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Why these five</a:t>
            </a:r>
          </a:p>
        </p:txBody>
      </p:sp>
      <p:sp>
        <p:nvSpPr>
          <p:cNvPr id="8" name="TextBox 7"/>
          <p:cNvSpPr txBox="1"/>
          <p:nvPr/>
        </p:nvSpPr>
        <p:spPr>
          <a:xfrm>
            <a:off x="731520" y="4050791"/>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Every mechanism in this chapter exists for availability or for containment, and every one of them fails in a way that looks like something else at first. That is what makes this chapter worth your attention.</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VLANS &amp; SPANNING TREE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VLAN fundamentals</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VLAN  </a:t>
            </a:r>
            <a:r>
              <a:rPr sz="1450">
                <a:solidFill>
                  <a:srgbClr val="D1D5DB"/>
                </a:solidFill>
                <a:latin typeface="Arial"/>
              </a:rPr>
              <a:t>a logical broadcast domain built inside the switching hardware</a:t>
            </a:r>
          </a:p>
          <a:p>
            <a:pPr marL="182880" indent="137160">
              <a:lnSpc>
                <a:spcPct val="108000"/>
              </a:lnSpc>
              <a:spcAft>
                <a:spcPts val="1152"/>
              </a:spcAft>
              <a:buFont typeface="Arial"/>
              <a:buChar char="•"/>
            </a:pPr>
            <a:r>
              <a:rPr sz="1450" b="1">
                <a:solidFill>
                  <a:srgbClr val="FFFFFF"/>
                </a:solidFill>
                <a:latin typeface="Arial"/>
              </a:rPr>
              <a:t>Without one  </a:t>
            </a:r>
            <a:r>
              <a:rPr sz="1450">
                <a:solidFill>
                  <a:srgbClr val="D1D5DB"/>
                </a:solidFill>
                <a:latin typeface="Arial"/>
              </a:rPr>
              <a:t>every device on the switch hears every broadcast</a:t>
            </a:r>
          </a:p>
          <a:p>
            <a:pPr marL="182880" indent="137160">
              <a:lnSpc>
                <a:spcPct val="108000"/>
              </a:lnSpc>
              <a:spcAft>
                <a:spcPts val="1152"/>
              </a:spcAft>
              <a:buFont typeface="Arial"/>
              <a:buChar char="•"/>
            </a:pPr>
            <a:r>
              <a:rPr sz="1450" b="1">
                <a:solidFill>
                  <a:srgbClr val="FFFFFF"/>
                </a:solidFill>
                <a:latin typeface="Arial"/>
              </a:rPr>
              <a:t>Membership  </a:t>
            </a:r>
            <a:r>
              <a:rPr sz="1450">
                <a:solidFill>
                  <a:srgbClr val="D1D5DB"/>
                </a:solidFill>
                <a:latin typeface="Arial"/>
              </a:rPr>
              <a:t>by port, by hardware address or by protocol</a:t>
            </a:r>
          </a:p>
          <a:p>
            <a:pPr marL="182880" indent="137160">
              <a:lnSpc>
                <a:spcPct val="108000"/>
              </a:lnSpc>
              <a:spcAft>
                <a:spcPts val="1152"/>
              </a:spcAft>
              <a:buFont typeface="Arial"/>
              <a:buChar char="•"/>
            </a:pPr>
            <a:r>
              <a:rPr sz="1450" b="1">
                <a:solidFill>
                  <a:srgbClr val="FFFFFF"/>
                </a:solidFill>
                <a:latin typeface="Arial"/>
              </a:rPr>
              <a:t>VLAN 1  </a:t>
            </a:r>
            <a:r>
              <a:rPr sz="1450">
                <a:solidFill>
                  <a:srgbClr val="D1D5DB"/>
                </a:solidFill>
                <a:latin typeface="Arial"/>
              </a:rPr>
              <a:t>the default; the native VLAN is the one carrying untagged frames</a:t>
            </a:r>
          </a:p>
          <a:p>
            <a:pPr marL="182880" indent="137160">
              <a:lnSpc>
                <a:spcPct val="108000"/>
              </a:lnSpc>
              <a:spcAft>
                <a:spcPts val="1152"/>
              </a:spcAft>
              <a:buFont typeface="Arial"/>
              <a:buChar char="•"/>
            </a:pPr>
            <a:r>
              <a:rPr sz="1450" b="1">
                <a:solidFill>
                  <a:srgbClr val="FFFFFF"/>
                </a:solidFill>
                <a:latin typeface="Arial"/>
              </a:rPr>
              <a:t>Management VLAN  </a:t>
            </a:r>
            <a:r>
              <a:rPr sz="1450">
                <a:solidFill>
                  <a:srgbClr val="D1D5DB"/>
                </a:solidFill>
                <a:latin typeface="Arial"/>
              </a:rPr>
              <a:t>keeps administration traffic away from users</a:t>
            </a:r>
          </a:p>
          <a:p>
            <a:pPr marL="182880" indent="137160">
              <a:lnSpc>
                <a:spcPct val="108000"/>
              </a:lnSpc>
              <a:spcAft>
                <a:spcPts val="1152"/>
              </a:spcAft>
              <a:buFont typeface="Arial"/>
              <a:buChar char="•"/>
            </a:pPr>
            <a:r>
              <a:rPr sz="1450" b="1">
                <a:solidFill>
                  <a:srgbClr val="FFFFFF"/>
                </a:solidFill>
                <a:latin typeface="Arial"/>
              </a:rPr>
              <a:t>The payoff  </a:t>
            </a:r>
            <a:r>
              <a:rPr sz="1450">
                <a:solidFill>
                  <a:srgbClr val="D1D5DB"/>
                </a:solidFill>
                <a:latin typeface="Arial"/>
              </a:rPr>
              <a:t>fewer broadcasts, a smaller blast radius, no easy lateral movement</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Segmentation is a control</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A guest VLAN keeps visitors away from internal resources, and naming your VLANs properly makes the design document itself.</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VLANS &amp; SPANNING TREE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Trunking and tagging</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Trunk port  </a:t>
            </a:r>
            <a:r>
              <a:rPr sz="1450">
                <a:solidFill>
                  <a:srgbClr val="D1D5DB"/>
                </a:solidFill>
                <a:latin typeface="Arial"/>
              </a:rPr>
              <a:t>carries many VLANs between switches</a:t>
            </a:r>
          </a:p>
          <a:p>
            <a:pPr marL="182880" indent="137160">
              <a:lnSpc>
                <a:spcPct val="108000"/>
              </a:lnSpc>
              <a:spcAft>
                <a:spcPts val="1152"/>
              </a:spcAft>
              <a:buFont typeface="Arial"/>
              <a:buChar char="•"/>
            </a:pPr>
            <a:r>
              <a:rPr sz="1450" b="1">
                <a:solidFill>
                  <a:srgbClr val="FFFFFF"/>
                </a:solidFill>
                <a:latin typeface="Arial"/>
              </a:rPr>
              <a:t>802.1Q  </a:t>
            </a:r>
            <a:r>
              <a:rPr sz="1450">
                <a:solidFill>
                  <a:srgbClr val="D1D5DB"/>
                </a:solidFill>
                <a:latin typeface="Arial"/>
              </a:rPr>
              <a:t>inserts a four byte tag into the Ethernet frame</a:t>
            </a:r>
          </a:p>
          <a:p>
            <a:pPr marL="182880" indent="137160">
              <a:lnSpc>
                <a:spcPct val="108000"/>
              </a:lnSpc>
              <a:spcAft>
                <a:spcPts val="1152"/>
              </a:spcAft>
              <a:buFont typeface="Arial"/>
              <a:buChar char="•"/>
            </a:pPr>
            <a:r>
              <a:rPr sz="1450" b="1">
                <a:solidFill>
                  <a:srgbClr val="FFFFFF"/>
                </a:solidFill>
                <a:latin typeface="Arial"/>
              </a:rPr>
              <a:t>The VID  </a:t>
            </a:r>
            <a:r>
              <a:rPr sz="1450">
                <a:solidFill>
                  <a:srgbClr val="D1D5DB"/>
                </a:solidFill>
                <a:latin typeface="Arial"/>
              </a:rPr>
              <a:t>12 bits, giving just over four thousand usable VLANs</a:t>
            </a:r>
          </a:p>
          <a:p>
            <a:pPr marL="182880" indent="137160">
              <a:lnSpc>
                <a:spcPct val="108000"/>
              </a:lnSpc>
              <a:spcAft>
                <a:spcPts val="1152"/>
              </a:spcAft>
              <a:buFont typeface="Arial"/>
              <a:buChar char="•"/>
            </a:pPr>
            <a:r>
              <a:rPr sz="1450" b="1">
                <a:solidFill>
                  <a:srgbClr val="FFFFFF"/>
                </a:solidFill>
                <a:latin typeface="Arial"/>
              </a:rPr>
              <a:t>Receiving switch  </a:t>
            </a:r>
            <a:r>
              <a:rPr sz="1450">
                <a:solidFill>
                  <a:srgbClr val="D1D5DB"/>
                </a:solidFill>
                <a:latin typeface="Arial"/>
              </a:rPr>
              <a:t>reads the tag and keeps the traffic in the right VLAN</a:t>
            </a:r>
          </a:p>
          <a:p>
            <a:pPr marL="182880" indent="137160">
              <a:lnSpc>
                <a:spcPct val="108000"/>
              </a:lnSpc>
              <a:spcAft>
                <a:spcPts val="1152"/>
              </a:spcAft>
              <a:buFont typeface="Arial"/>
              <a:buChar char="•"/>
            </a:pPr>
            <a:r>
              <a:rPr sz="1450" b="1">
                <a:solidFill>
                  <a:srgbClr val="FFFFFF"/>
                </a:solidFill>
                <a:latin typeface="Arial"/>
              </a:rPr>
              <a:t>Native VLAN  </a:t>
            </a:r>
            <a:r>
              <a:rPr sz="1450">
                <a:solidFill>
                  <a:srgbClr val="D1D5DB"/>
                </a:solidFill>
                <a:latin typeface="Arial"/>
              </a:rPr>
              <a:t>crosses the trunk untagged, so a mismatch can leak between VLANs</a:t>
            </a:r>
          </a:p>
          <a:p>
            <a:pPr marL="182880" indent="137160">
              <a:lnSpc>
                <a:spcPct val="108000"/>
              </a:lnSpc>
              <a:spcAft>
                <a:spcPts val="1152"/>
              </a:spcAft>
              <a:buFont typeface="Arial"/>
              <a:buChar char="•"/>
            </a:pPr>
            <a:r>
              <a:rPr sz="1450" b="1">
                <a:solidFill>
                  <a:srgbClr val="FFFFFF"/>
                </a:solidFill>
                <a:latin typeface="Arial"/>
              </a:rPr>
              <a:t>Access port  </a:t>
            </a:r>
            <a:r>
              <a:rPr sz="1450">
                <a:solidFill>
                  <a:srgbClr val="D1D5DB"/>
                </a:solidFill>
                <a:latin typeface="Arial"/>
              </a:rPr>
              <a:t>carries a single VLAN to one endpoint</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VLAN hopping</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Two methods: switch spoofing, where the attacker negotiates a trunk, and double tagging, where the native VLAN is spoofed. Tag every trunk consistently and treat an access port as access only.</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VLANS &amp; SPANNING TREE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A practical VLAN design</a:t>
            </a:r>
          </a:p>
        </p:txBody>
      </p:sp>
      <p:graphicFrame>
        <p:nvGraphicFramePr>
          <p:cNvPr id="6" name="Table 5"/>
          <p:cNvGraphicFramePr>
            <a:graphicFrameLocks noGrp="1"/>
          </p:cNvGraphicFramePr>
          <p:nvPr/>
        </p:nvGraphicFramePr>
        <p:xfrm>
          <a:off x="502920" y="1737360"/>
          <a:ext cx="8138160" cy="1975104"/>
        </p:xfrm>
        <a:graphic>
          <a:graphicData uri="http://schemas.openxmlformats.org/drawingml/2006/table">
            <a:tbl>
              <a:tblPr firstRow="1" bandRow="1">
                <a:tableStyleId>{5C22544A-7EE6-4342-B048-85BDC9FD1C3A}</a:tableStyleId>
              </a:tblPr>
              <a:tblGrid>
                <a:gridCol w="914400"/>
                <a:gridCol w="2011680"/>
                <a:gridCol w="5212080"/>
              </a:tblGrid>
              <a:tr h="329184">
                <a:tc>
                  <a:txBody>
                    <a:bodyPr/>
                    <a:lstStyle/>
                    <a:p>
                      <a:pPr algn="l"/>
                      <a:r>
                        <a:rPr sz="1100" b="1">
                          <a:solidFill>
                            <a:srgbClr val="FFFFFF"/>
                          </a:solidFill>
                          <a:latin typeface="Arial"/>
                        </a:rPr>
                        <a:t>VLAN</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Name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Purpose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10</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MANAGEMENT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Switch and infrastructure administration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20</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SERVERS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Internal servers, never user traffic</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30</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WORKSTATIONS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User workstations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40</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DMZ</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Public facing services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999</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BLACKHOLE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Unused quarantine VLAN for dead ports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Rounded Rectangle 6"/>
          <p:cNvSpPr/>
          <p:nvPr/>
        </p:nvSpPr>
        <p:spPr>
          <a:xfrm>
            <a:off x="502920" y="3419856"/>
            <a:ext cx="8138160" cy="105156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Key rule</a:t>
            </a:r>
          </a:p>
        </p:txBody>
      </p:sp>
      <p:sp>
        <p:nvSpPr>
          <p:cNvPr id="8" name="TextBox 7"/>
          <p:cNvSpPr txBox="1"/>
          <p:nvPr/>
        </p:nvSpPr>
        <p:spPr>
          <a:xfrm>
            <a:off x="731520" y="3986784"/>
            <a:ext cx="7680960" cy="429767"/>
          </a:xfrm>
          <a:prstGeom prst="rect">
            <a:avLst/>
          </a:prstGeom>
          <a:noFill/>
        </p:spPr>
        <p:txBody>
          <a:bodyPr wrap="square" lIns="0" rIns="0" tIns="0" bIns="0">
            <a:spAutoFit/>
          </a:bodyPr>
          <a:lstStyle/>
          <a:p>
            <a:pPr>
              <a:lnSpc>
                <a:spcPct val="108000"/>
              </a:lnSpc>
            </a:pPr>
            <a:r>
              <a:rPr sz="1250">
                <a:solidFill>
                  <a:srgbClr val="F3D9D9"/>
                </a:solidFill>
                <a:latin typeface="Arial"/>
              </a:rPr>
              <a:t>VLAN 1 is the default native VLAN and a known attack surface. Move it to an unused ID, prune unused VLANs from every trunk, and set trunks to explicit allowed lists. That is what blunts VLAN hopping, where an attacker spoofs a trunk or double tags a frame on the native VLAN to jump segments.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VLANS &amp; SPANNING TREE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Switch interface configuration</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Speed and duplex  </a:t>
            </a:r>
            <a:r>
              <a:rPr sz="1450">
                <a:solidFill>
                  <a:srgbClr val="D1D5DB"/>
                </a:solidFill>
                <a:latin typeface="Arial"/>
              </a:rPr>
              <a:t>must agree at both ends of a link</a:t>
            </a:r>
          </a:p>
          <a:p>
            <a:pPr marL="182880" indent="137160">
              <a:lnSpc>
                <a:spcPct val="108000"/>
              </a:lnSpc>
              <a:spcAft>
                <a:spcPts val="1152"/>
              </a:spcAft>
              <a:buFont typeface="Arial"/>
              <a:buChar char="•"/>
            </a:pPr>
            <a:r>
              <a:rPr sz="1450" b="1">
                <a:solidFill>
                  <a:srgbClr val="FFFFFF"/>
                </a:solidFill>
                <a:latin typeface="Arial"/>
              </a:rPr>
              <a:t>A mismatch  </a:t>
            </a:r>
            <a:r>
              <a:rPr sz="1450">
                <a:solidFill>
                  <a:srgbClr val="D1D5DB"/>
                </a:solidFill>
                <a:latin typeface="Arial"/>
              </a:rPr>
              <a:t>brings collisions and very poor throughput</a:t>
            </a:r>
          </a:p>
          <a:p>
            <a:pPr marL="182880" indent="137160">
              <a:lnSpc>
                <a:spcPct val="108000"/>
              </a:lnSpc>
              <a:spcAft>
                <a:spcPts val="1152"/>
              </a:spcAft>
              <a:buFont typeface="Arial"/>
              <a:buChar char="•"/>
            </a:pPr>
            <a:r>
              <a:rPr sz="1450" b="1">
                <a:solidFill>
                  <a:srgbClr val="FFFFFF"/>
                </a:solidFill>
                <a:latin typeface="Arial"/>
              </a:rPr>
              <a:t>Port security  </a:t>
            </a:r>
            <a:r>
              <a:rPr sz="1450">
                <a:solidFill>
                  <a:srgbClr val="D1D5DB"/>
                </a:solidFill>
                <a:latin typeface="Arial"/>
              </a:rPr>
              <a:t>limits how many hardware addresses may appear on a port</a:t>
            </a:r>
          </a:p>
          <a:p>
            <a:pPr marL="182880" indent="137160">
              <a:lnSpc>
                <a:spcPct val="108000"/>
              </a:lnSpc>
              <a:spcAft>
                <a:spcPts val="1152"/>
              </a:spcAft>
              <a:buFont typeface="Arial"/>
              <a:buChar char="•"/>
            </a:pPr>
            <a:r>
              <a:rPr sz="1450" b="1">
                <a:solidFill>
                  <a:srgbClr val="FFFFFF"/>
                </a:solidFill>
                <a:latin typeface="Arial"/>
              </a:rPr>
              <a:t>Violations  </a:t>
            </a:r>
            <a:r>
              <a:rPr sz="1450">
                <a:solidFill>
                  <a:srgbClr val="D1D5DB"/>
                </a:solidFill>
                <a:latin typeface="Arial"/>
              </a:rPr>
              <a:t>can drop the traffic, log it, or shut the port down</a:t>
            </a:r>
          </a:p>
          <a:p>
            <a:pPr marL="182880" indent="137160">
              <a:lnSpc>
                <a:spcPct val="108000"/>
              </a:lnSpc>
              <a:spcAft>
                <a:spcPts val="1152"/>
              </a:spcAft>
              <a:buFont typeface="Arial"/>
              <a:buChar char="•"/>
            </a:pPr>
            <a:r>
              <a:rPr sz="1450" b="1">
                <a:solidFill>
                  <a:srgbClr val="FFFFFF"/>
                </a:solidFill>
                <a:latin typeface="Arial"/>
              </a:rPr>
              <a:t>PortFast  </a:t>
            </a:r>
            <a:r>
              <a:rPr sz="1450">
                <a:solidFill>
                  <a:srgbClr val="D1D5DB"/>
                </a:solidFill>
                <a:latin typeface="Arial"/>
              </a:rPr>
              <a:t>skips the listening states on a port that leads to one endpoint</a:t>
            </a:r>
          </a:p>
          <a:p>
            <a:pPr marL="182880" indent="137160">
              <a:lnSpc>
                <a:spcPct val="108000"/>
              </a:lnSpc>
              <a:spcAft>
                <a:spcPts val="1152"/>
              </a:spcAft>
              <a:buFont typeface="Arial"/>
              <a:buChar char="•"/>
            </a:pPr>
            <a:r>
              <a:rPr sz="1450" b="1">
                <a:solidFill>
                  <a:srgbClr val="FFFFFF"/>
                </a:solidFill>
                <a:latin typeface="Arial"/>
              </a:rPr>
              <a:t>BPDU Guard  </a:t>
            </a:r>
            <a:r>
              <a:rPr sz="1450">
                <a:solidFill>
                  <a:srgbClr val="D1D5DB"/>
                </a:solidFill>
                <a:latin typeface="Arial"/>
              </a:rPr>
              <a:t>shuts a port that receives a bridge protocol data unit</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quiet access port</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A port that leads to one workstation should never speak spanning tree. BPDU Guard is how you find out that somebody plugged a switch into it.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VLANS &amp; SPANNING TREE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Loops and the root bridge</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Redundancy  </a:t>
            </a:r>
            <a:r>
              <a:rPr sz="1450">
                <a:solidFill>
                  <a:srgbClr val="D1D5DB"/>
                </a:solidFill>
                <a:latin typeface="Arial"/>
              </a:rPr>
              <a:t>two links between switches create a layer 2 loop</a:t>
            </a:r>
          </a:p>
          <a:p>
            <a:pPr marL="182880" indent="137160">
              <a:lnSpc>
                <a:spcPct val="108000"/>
              </a:lnSpc>
              <a:spcAft>
                <a:spcPts val="1152"/>
              </a:spcAft>
              <a:buFont typeface="Arial"/>
              <a:buChar char="•"/>
            </a:pPr>
            <a:r>
              <a:rPr sz="1450" b="1">
                <a:solidFill>
                  <a:srgbClr val="FFFFFF"/>
                </a:solidFill>
                <a:latin typeface="Arial"/>
              </a:rPr>
              <a:t>Broadcast storm  </a:t>
            </a:r>
            <a:r>
              <a:rPr sz="1450">
                <a:solidFill>
                  <a:srgbClr val="D1D5DB"/>
                </a:solidFill>
                <a:latin typeface="Arial"/>
              </a:rPr>
              <a:t>frames circulate, and the network is consumed in seconds</a:t>
            </a:r>
          </a:p>
          <a:p>
            <a:pPr marL="182880" indent="137160">
              <a:lnSpc>
                <a:spcPct val="108000"/>
              </a:lnSpc>
              <a:spcAft>
                <a:spcPts val="1152"/>
              </a:spcAft>
              <a:buFont typeface="Arial"/>
              <a:buChar char="•"/>
            </a:pPr>
            <a:r>
              <a:rPr sz="1450" b="1">
                <a:solidFill>
                  <a:srgbClr val="FFFFFF"/>
                </a:solidFill>
                <a:latin typeface="Arial"/>
              </a:rPr>
              <a:t>The MAC table  </a:t>
            </a:r>
            <a:r>
              <a:rPr sz="1450">
                <a:solidFill>
                  <a:srgbClr val="D1D5DB"/>
                </a:solidFill>
                <a:latin typeface="Arial"/>
              </a:rPr>
              <a:t>destabilises as one address appears on two ports</a:t>
            </a:r>
          </a:p>
          <a:p>
            <a:pPr marL="182880" indent="137160">
              <a:lnSpc>
                <a:spcPct val="108000"/>
              </a:lnSpc>
              <a:spcAft>
                <a:spcPts val="1152"/>
              </a:spcAft>
              <a:buFont typeface="Arial"/>
              <a:buChar char="•"/>
            </a:pPr>
            <a:r>
              <a:rPr sz="1450" b="1">
                <a:solidFill>
                  <a:srgbClr val="FFFFFF"/>
                </a:solidFill>
                <a:latin typeface="Arial"/>
              </a:rPr>
              <a:t>STP  </a:t>
            </a:r>
            <a:r>
              <a:rPr sz="1450">
                <a:solidFill>
                  <a:srgbClr val="D1D5DB"/>
                </a:solidFill>
                <a:latin typeface="Arial"/>
              </a:rPr>
              <a:t>builds one loop free logical topology by blocking redundant ports</a:t>
            </a:r>
          </a:p>
          <a:p>
            <a:pPr marL="182880" indent="137160">
              <a:lnSpc>
                <a:spcPct val="108000"/>
              </a:lnSpc>
              <a:spcAft>
                <a:spcPts val="1152"/>
              </a:spcAft>
              <a:buFont typeface="Arial"/>
              <a:buChar char="•"/>
            </a:pPr>
            <a:r>
              <a:rPr sz="1450" b="1">
                <a:solidFill>
                  <a:srgbClr val="FFFFFF"/>
                </a:solidFill>
                <a:latin typeface="Arial"/>
              </a:rPr>
              <a:t>Root bridge  </a:t>
            </a:r>
            <a:r>
              <a:rPr sz="1450">
                <a:solidFill>
                  <a:srgbClr val="D1D5DB"/>
                </a:solidFill>
                <a:latin typeface="Arial"/>
              </a:rPr>
              <a:t>the lowest bridge identifier wins: priority plus MAC address</a:t>
            </a:r>
          </a:p>
          <a:p>
            <a:pPr marL="182880" indent="137160">
              <a:lnSpc>
                <a:spcPct val="108000"/>
              </a:lnSpc>
              <a:spcAft>
                <a:spcPts val="1152"/>
              </a:spcAft>
              <a:buFont typeface="Arial"/>
              <a:buChar char="•"/>
            </a:pPr>
            <a:r>
              <a:rPr sz="1450" b="1">
                <a:solidFill>
                  <a:srgbClr val="FFFFFF"/>
                </a:solidFill>
                <a:latin typeface="Arial"/>
              </a:rPr>
              <a:t>Root port  </a:t>
            </a:r>
            <a:r>
              <a:rPr sz="1450">
                <a:solidFill>
                  <a:srgbClr val="D1D5DB"/>
                </a:solidFill>
                <a:latin typeface="Arial"/>
              </a:rPr>
              <a:t>each switch picks its best port toward the root; the rest block</a:t>
            </a:r>
          </a:p>
        </p:txBody>
      </p:sp>
      <p:sp>
        <p:nvSpPr>
          <p:cNvPr id="7" name="Rounded Rectangle 6"/>
          <p:cNvSpPr/>
          <p:nvPr/>
        </p:nvSpPr>
        <p:spPr>
          <a:xfrm>
            <a:off x="502920" y="3813048"/>
            <a:ext cx="8138160" cy="68580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One logical path</a:t>
            </a:r>
          </a:p>
        </p:txBody>
      </p:sp>
      <p:sp>
        <p:nvSpPr>
          <p:cNvPr id="8" name="TextBox 7"/>
          <p:cNvSpPr txBox="1"/>
          <p:nvPr/>
        </p:nvSpPr>
        <p:spPr>
          <a:xfrm>
            <a:off x="731520" y="4379976"/>
            <a:ext cx="7680960" cy="64007"/>
          </a:xfrm>
          <a:prstGeom prst="rect">
            <a:avLst/>
          </a:prstGeom>
          <a:noFill/>
        </p:spPr>
        <p:txBody>
          <a:bodyPr wrap="square" lIns="0" rIns="0" tIns="0" bIns="0">
            <a:spAutoFit/>
          </a:bodyPr>
          <a:lstStyle/>
          <a:p>
            <a:pPr>
              <a:lnSpc>
                <a:spcPct val="108000"/>
              </a:lnSpc>
            </a:pPr>
            <a:r>
              <a:rPr sz="1250">
                <a:solidFill>
                  <a:srgbClr val="F3D9D9"/>
                </a:solidFill>
                <a:latin typeface="Arial"/>
              </a:rPr>
              <a:t>One logical path, no loops, with the redundant link held in reserve until the forwarding path fails.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VLANS &amp; SPANNING TREE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STP port states and convergence</a:t>
            </a:r>
          </a:p>
        </p:txBody>
      </p:sp>
      <p:graphicFrame>
        <p:nvGraphicFramePr>
          <p:cNvPr id="6" name="Table 5"/>
          <p:cNvGraphicFramePr>
            <a:graphicFrameLocks noGrp="1"/>
          </p:cNvGraphicFramePr>
          <p:nvPr/>
        </p:nvGraphicFramePr>
        <p:xfrm>
          <a:off x="502920" y="1783080"/>
          <a:ext cx="8138160" cy="1975104"/>
        </p:xfrm>
        <a:graphic>
          <a:graphicData uri="http://schemas.openxmlformats.org/drawingml/2006/table">
            <a:tbl>
              <a:tblPr firstRow="1" bandRow="1">
                <a:tableStyleId>{5C22544A-7EE6-4342-B048-85BDC9FD1C3A}</a:tableStyleId>
              </a:tblPr>
              <a:tblGrid>
                <a:gridCol w="1463040"/>
                <a:gridCol w="1280160"/>
                <a:gridCol w="5394960"/>
              </a:tblGrid>
              <a:tr h="329184">
                <a:tc>
                  <a:txBody>
                    <a:bodyPr/>
                    <a:lstStyle/>
                    <a:p>
                      <a:pPr algn="l"/>
                      <a:r>
                        <a:rPr sz="1100" b="1">
                          <a:solidFill>
                            <a:srgbClr val="FFFFFF"/>
                          </a:solidFill>
                          <a:latin typeface="Arial"/>
                        </a:rPr>
                        <a:t>State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Forwards?</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Role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Blocking</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No</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Listens for BPDUs only, holds the link in reserve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Listening</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No</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Transitional, still learning the topology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Learning</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No</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Builds the MAC table but forwards nothing</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Forwarding</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Yes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Normal operation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Disabled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No</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Administratively down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Rounded Rectangle 6"/>
          <p:cNvSpPr/>
          <p:nvPr/>
        </p:nvSpPr>
        <p:spPr>
          <a:xfrm>
            <a:off x="502920" y="3465576"/>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Convergence</a:t>
            </a:r>
          </a:p>
        </p:txBody>
      </p:sp>
      <p:sp>
        <p:nvSpPr>
          <p:cNvPr id="8" name="TextBox 7"/>
          <p:cNvSpPr txBox="1"/>
          <p:nvPr/>
        </p:nvSpPr>
        <p:spPr>
          <a:xfrm>
            <a:off x="731520" y="4032504"/>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Blocking, listening and learning all mean no data. Traditional STP takes thirty to fifty seconds to converge after a topology change; rapid spanning tree does it in seconds. Know which one your campus runs.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VLANS &amp; SPANNING TREE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Rapid and multiple spanning tree</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RSTP  </a:t>
            </a:r>
            <a:r>
              <a:rPr sz="1450">
                <a:solidFill>
                  <a:srgbClr val="D1D5DB"/>
                </a:solidFill>
                <a:latin typeface="Arial"/>
              </a:rPr>
              <a:t>802.1w converges in seconds rather than tens of seconds</a:t>
            </a:r>
          </a:p>
          <a:p>
            <a:pPr marL="182880" indent="137160">
              <a:lnSpc>
                <a:spcPct val="108000"/>
              </a:lnSpc>
              <a:spcAft>
                <a:spcPts val="1152"/>
              </a:spcAft>
              <a:buFont typeface="Arial"/>
              <a:buChar char="•"/>
            </a:pPr>
            <a:r>
              <a:rPr sz="1450" b="1">
                <a:solidFill>
                  <a:srgbClr val="FFFFFF"/>
                </a:solidFill>
                <a:latin typeface="Arial"/>
              </a:rPr>
              <a:t>New roles  </a:t>
            </a:r>
            <a:r>
              <a:rPr sz="1450">
                <a:solidFill>
                  <a:srgbClr val="D1D5DB"/>
                </a:solidFill>
                <a:latin typeface="Arial"/>
              </a:rPr>
              <a:t>it adds the alternate and backup port roles</a:t>
            </a:r>
          </a:p>
          <a:p>
            <a:pPr marL="182880" indent="137160">
              <a:lnSpc>
                <a:spcPct val="108000"/>
              </a:lnSpc>
              <a:spcAft>
                <a:spcPts val="1152"/>
              </a:spcAft>
              <a:buFont typeface="Arial"/>
              <a:buChar char="•"/>
            </a:pPr>
            <a:r>
              <a:rPr sz="1450" b="1">
                <a:solidFill>
                  <a:srgbClr val="FFFFFF"/>
                </a:solidFill>
                <a:latin typeface="Arial"/>
              </a:rPr>
              <a:t>New states  </a:t>
            </a:r>
            <a:r>
              <a:rPr sz="1450">
                <a:solidFill>
                  <a:srgbClr val="D1D5DB"/>
                </a:solidFill>
                <a:latin typeface="Arial"/>
              </a:rPr>
              <a:t>discarding replaces the blocking and listening states</a:t>
            </a:r>
          </a:p>
          <a:p>
            <a:pPr marL="182880" indent="137160">
              <a:lnSpc>
                <a:spcPct val="108000"/>
              </a:lnSpc>
              <a:spcAft>
                <a:spcPts val="1152"/>
              </a:spcAft>
              <a:buFont typeface="Arial"/>
              <a:buChar char="•"/>
            </a:pPr>
            <a:r>
              <a:rPr sz="1450" b="1">
                <a:solidFill>
                  <a:srgbClr val="FFFFFF"/>
                </a:solidFill>
                <a:latin typeface="Arial"/>
              </a:rPr>
              <a:t>MSTP  </a:t>
            </a:r>
            <a:r>
              <a:rPr sz="1450">
                <a:solidFill>
                  <a:srgbClr val="D1D5DB"/>
                </a:solidFill>
                <a:latin typeface="Arial"/>
              </a:rPr>
              <a:t>802.1s maps groups of VLANs to instances, so redundant links get used</a:t>
            </a:r>
          </a:p>
          <a:p>
            <a:pPr marL="182880" indent="137160">
              <a:lnSpc>
                <a:spcPct val="108000"/>
              </a:lnSpc>
              <a:spcAft>
                <a:spcPts val="1152"/>
              </a:spcAft>
              <a:buFont typeface="Arial"/>
              <a:buChar char="•"/>
            </a:pPr>
            <a:r>
              <a:rPr sz="1450" b="1">
                <a:solidFill>
                  <a:srgbClr val="FFFFFF"/>
                </a:solidFill>
                <a:latin typeface="Arial"/>
              </a:rPr>
              <a:t>Per VLAN STP  </a:t>
            </a:r>
            <a:r>
              <a:rPr sz="1450">
                <a:solidFill>
                  <a:srgbClr val="D1D5DB"/>
                </a:solidFill>
                <a:latin typeface="Arial"/>
              </a:rPr>
              <a:t>instead gives every VLAN its own tree</a:t>
            </a:r>
          </a:p>
          <a:p>
            <a:pPr marL="182880" indent="137160">
              <a:lnSpc>
                <a:spcPct val="108000"/>
              </a:lnSpc>
              <a:spcAft>
                <a:spcPts val="1152"/>
              </a:spcAft>
              <a:buFont typeface="Arial"/>
              <a:buChar char="•"/>
            </a:pPr>
            <a:r>
              <a:rPr sz="1450" b="1">
                <a:solidFill>
                  <a:srgbClr val="FFFFFF"/>
                </a:solidFill>
                <a:latin typeface="Arial"/>
              </a:rPr>
              <a:t>Root placement  </a:t>
            </a:r>
            <a:r>
              <a:rPr sz="1450">
                <a:solidFill>
                  <a:srgbClr val="D1D5DB"/>
                </a:solidFill>
                <a:latin typeface="Arial"/>
              </a:rPr>
              <a:t>choose the root bridge deliberately, never leave it to chance</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Where you want the root</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The root bridge should be the switch at the centre of your design, not the one that happened to have the lowest hardware address on the day.</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VLANS &amp; SPANNING TREE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STP attacks and the guard features</a:t>
            </a:r>
          </a:p>
        </p:txBody>
      </p:sp>
      <p:graphicFrame>
        <p:nvGraphicFramePr>
          <p:cNvPr id="6" name="Table 5"/>
          <p:cNvGraphicFramePr>
            <a:graphicFrameLocks noGrp="1"/>
          </p:cNvGraphicFramePr>
          <p:nvPr/>
        </p:nvGraphicFramePr>
        <p:xfrm>
          <a:off x="502920" y="1783080"/>
          <a:ext cx="8138158" cy="1645919"/>
        </p:xfrm>
        <a:graphic>
          <a:graphicData uri="http://schemas.openxmlformats.org/drawingml/2006/table">
            <a:tbl>
              <a:tblPr firstRow="1" bandRow="1">
                <a:tableStyleId>{5C22544A-7EE6-4342-B048-85BDC9FD1C3A}</a:tableStyleId>
              </a:tblPr>
              <a:tblGrid>
                <a:gridCol w="2743200"/>
                <a:gridCol w="1645919"/>
                <a:gridCol w="3749039"/>
              </a:tblGrid>
              <a:tr h="329183">
                <a:tc>
                  <a:txBody>
                    <a:bodyPr/>
                    <a:lstStyle/>
                    <a:p>
                      <a:pPr algn="l"/>
                      <a:r>
                        <a:rPr sz="1100" b="1">
                          <a:solidFill>
                            <a:srgbClr val="FFFFFF"/>
                          </a:solidFill>
                          <a:latin typeface="Arial"/>
                        </a:rPr>
                        <a:t>Threat</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Feature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Effect</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3">
                <a:tc>
                  <a:txBody>
                    <a:bodyPr/>
                    <a:lstStyle/>
                    <a:p>
                      <a:pPr algn="l"/>
                      <a:r>
                        <a:rPr sz="1100" b="0">
                          <a:solidFill>
                            <a:srgbClr val="D1D5DB"/>
                          </a:solidFill>
                          <a:latin typeface="Arial"/>
                        </a:rPr>
                        <a:t>Attacker becomes the root bridge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Root Guard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Port cannot become a root port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3">
                <a:tc>
                  <a:txBody>
                    <a:bodyPr/>
                    <a:lstStyle/>
                    <a:p>
                      <a:pPr algn="l"/>
                      <a:r>
                        <a:rPr sz="1100" b="0">
                          <a:solidFill>
                            <a:srgbClr val="D1D5DB"/>
                          </a:solidFill>
                          <a:latin typeface="Arial"/>
                        </a:rPr>
                        <a:t>BPDUs on an access port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BPDU Guard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Port shuts down on receipt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3">
                <a:tc>
                  <a:txBody>
                    <a:bodyPr/>
                    <a:lstStyle/>
                    <a:p>
                      <a:pPr algn="l"/>
                      <a:r>
                        <a:rPr sz="1100" b="0">
                          <a:solidFill>
                            <a:srgbClr val="D1D5DB"/>
                          </a:solidFill>
                          <a:latin typeface="Arial"/>
                        </a:rPr>
                        <a:t>Rogue switch insertion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Port security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Limits the MACs allowed per port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7">
                <a:tc>
                  <a:txBody>
                    <a:bodyPr/>
                    <a:lstStyle/>
                    <a:p>
                      <a:pPr algn="l"/>
                      <a:r>
                        <a:rPr sz="1100" b="0">
                          <a:solidFill>
                            <a:srgbClr val="D1D5DB"/>
                          </a:solidFill>
                          <a:latin typeface="Arial"/>
                        </a:rPr>
                        <a:t>Flooding the MAC table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Port security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Stops the switch degrading to hub mode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bl>
          </a:graphicData>
        </a:graphic>
      </p:graphicFrame>
      <p:sp>
        <p:nvSpPr>
          <p:cNvPr id="7" name="Rounded Rectangle 6"/>
          <p:cNvSpPr/>
          <p:nvPr/>
        </p:nvSpPr>
        <p:spPr>
          <a:xfrm>
            <a:off x="502920" y="3209544"/>
            <a:ext cx="8138160" cy="105156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Why it matters</a:t>
            </a:r>
          </a:p>
        </p:txBody>
      </p:sp>
      <p:sp>
        <p:nvSpPr>
          <p:cNvPr id="8" name="TextBox 7"/>
          <p:cNvSpPr txBox="1"/>
          <p:nvPr/>
        </p:nvSpPr>
        <p:spPr>
          <a:xfrm>
            <a:off x="731520" y="3776472"/>
            <a:ext cx="7680960" cy="429767"/>
          </a:xfrm>
          <a:prstGeom prst="rect">
            <a:avLst/>
          </a:prstGeom>
          <a:noFill/>
        </p:spPr>
        <p:txBody>
          <a:bodyPr wrap="square" lIns="0" rIns="0" tIns="0" bIns="0">
            <a:spAutoFit/>
          </a:bodyPr>
          <a:lstStyle/>
          <a:p>
            <a:pPr>
              <a:lnSpc>
                <a:spcPct val="108000"/>
              </a:lnSpc>
            </a:pPr>
            <a:r>
              <a:rPr sz="1250">
                <a:solidFill>
                  <a:srgbClr val="F3D9D9"/>
                </a:solidFill>
                <a:latin typeface="Arial"/>
              </a:rPr>
              <a:t>A rogue root bridge forces all traffic through the attacker's switch, which is invisible interception rather than an outage. Root Guard and BPDU Guard are the two lines of defence, and port security blunts MAC flooding at the same time.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822960"/>
            <a:ext cx="7315200" cy="292608"/>
          </a:xfrm>
          <a:prstGeom prst="rect">
            <a:avLst/>
          </a:prstGeom>
          <a:noFill/>
        </p:spPr>
        <p:txBody>
          <a:bodyPr wrap="square" anchor="t" lIns="0" rIns="0" tIns="0" bIns="0">
            <a:spAutoFit/>
          </a:bodyPr>
          <a:lstStyle/>
          <a:p>
            <a:pPr algn="l"/>
            <a:r>
              <a:rPr sz="1300" b="1" spc="300">
                <a:solidFill>
                  <a:srgbClr val="C22828"/>
                </a:solidFill>
                <a:latin typeface="Arial"/>
              </a:rPr>
              <a:t>DISCUSSION</a:t>
            </a:r>
          </a:p>
        </p:txBody>
      </p:sp>
      <p:sp>
        <p:nvSpPr>
          <p:cNvPr id="5" name="TextBox 4"/>
          <p:cNvSpPr txBox="1"/>
          <p:nvPr/>
        </p:nvSpPr>
        <p:spPr>
          <a:xfrm>
            <a:off x="502920" y="1234440"/>
            <a:ext cx="8138160" cy="1600200"/>
          </a:xfrm>
          <a:prstGeom prst="rect">
            <a:avLst/>
          </a:prstGeom>
          <a:noFill/>
        </p:spPr>
        <p:txBody>
          <a:bodyPr wrap="square" anchor="t" lIns="0" rIns="0" tIns="0" bIns="0">
            <a:spAutoFit/>
          </a:bodyPr>
          <a:lstStyle/>
          <a:p>
            <a:pPr algn="l">
              <a:lnSpc>
                <a:spcPct val="110000"/>
              </a:lnSpc>
            </a:pPr>
            <a:r>
              <a:rPr sz="2800" b="1">
                <a:solidFill>
                  <a:srgbClr val="FFFFFF"/>
                </a:solidFill>
                <a:latin typeface="Arial"/>
              </a:rPr>
              <a:t>Two switches, equal priority. Which becomes root, and what converges?</a:t>
            </a:r>
          </a:p>
        </p:txBody>
      </p:sp>
      <p:sp>
        <p:nvSpPr>
          <p:cNvPr id="6" name="Rounded Rectangle 5"/>
          <p:cNvSpPr/>
          <p:nvPr/>
        </p:nvSpPr>
        <p:spPr>
          <a:xfrm>
            <a:off x="502920" y="2971800"/>
            <a:ext cx="8138160" cy="914400"/>
          </a:xfrm>
          <a:prstGeom prst="roundRect">
            <a:avLst>
              <a:gd name="adj" fmla="val 8000"/>
            </a:avLst>
          </a:prstGeom>
          <a:solidFill>
            <a:srgbClr val="171717"/>
          </a:solidFill>
          <a:ln w="15875">
            <a:solidFill>
              <a:srgbClr val="A8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090672"/>
            <a:ext cx="7589520" cy="685800"/>
          </a:xfrm>
          <a:prstGeom prst="rect">
            <a:avLst/>
          </a:prstGeom>
          <a:noFill/>
        </p:spPr>
        <p:txBody>
          <a:bodyPr wrap="square" anchor="ctr" lIns="0" rIns="0" tIns="0" bIns="0">
            <a:spAutoFit/>
          </a:bodyPr>
          <a:lstStyle/>
          <a:p>
            <a:pPr algn="l">
              <a:lnSpc>
                <a:spcPct val="112000"/>
              </a:lnSpc>
            </a:pPr>
            <a:r>
              <a:rPr sz="1350" b="0">
                <a:solidFill>
                  <a:srgbClr val="D1D5DB"/>
                </a:solidFill>
                <a:latin typeface="Arial"/>
              </a:rPr>
              <a:t>The tiebreaker is the MAC address: the lower one wins. Then each non-root switch picks its root port by path cost to the root.</a:t>
            </a:r>
          </a:p>
        </p:txBody>
      </p:sp>
      <p:sp>
        <p:nvSpPr>
          <p:cNvPr id="8" name="TextBox 7"/>
          <p:cNvSpPr txBox="1"/>
          <p:nvPr/>
        </p:nvSpPr>
        <p:spPr>
          <a:xfrm>
            <a:off x="502920" y="4114800"/>
            <a:ext cx="8138160" cy="365760"/>
          </a:xfrm>
          <a:prstGeom prst="rect">
            <a:avLst/>
          </a:prstGeom>
          <a:noFill/>
        </p:spPr>
        <p:txBody>
          <a:bodyPr wrap="square" anchor="t" lIns="0" rIns="0" tIns="0" bIns="0">
            <a:spAutoFit/>
          </a:bodyPr>
          <a:lstStyle/>
          <a:p>
            <a:pPr algn="l"/>
            <a:r>
              <a:rPr sz="1150" b="0">
                <a:solidFill>
                  <a:srgbClr val="9CA3AF"/>
                </a:solidFill>
                <a:latin typeface="Arial"/>
              </a:rPr>
              <a:t>The gigabit link at cost four forwards and the hundred megabit link at cost nineteen blocks. If the gigabit link fails, the blocked port transitions and the network reconverges: seconds on RSTP, thirty to fifty seconds on classic STP.</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VLANS &amp; SPANNING TREE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Maximum transmission unit and jumbo frames</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Standard MTU  </a:t>
            </a:r>
            <a:r>
              <a:rPr sz="1450">
                <a:solidFill>
                  <a:srgbClr val="D1D5DB"/>
                </a:solidFill>
                <a:latin typeface="Arial"/>
              </a:rPr>
              <a:t>1500 bytes for Ethernet</a:t>
            </a:r>
          </a:p>
          <a:p>
            <a:pPr marL="182880" indent="137160">
              <a:lnSpc>
                <a:spcPct val="108000"/>
              </a:lnSpc>
              <a:spcAft>
                <a:spcPts val="1152"/>
              </a:spcAft>
              <a:buFont typeface="Arial"/>
              <a:buChar char="•"/>
            </a:pPr>
            <a:r>
              <a:rPr sz="1450" b="1">
                <a:solidFill>
                  <a:srgbClr val="FFFFFF"/>
                </a:solidFill>
                <a:latin typeface="Arial"/>
              </a:rPr>
              <a:t>Larger packet  </a:t>
            </a:r>
            <a:r>
              <a:rPr sz="1450">
                <a:solidFill>
                  <a:srgbClr val="D1D5DB"/>
                </a:solidFill>
                <a:latin typeface="Arial"/>
              </a:rPr>
              <a:t>must be fragmented, or dropped if fragmentation is refused</a:t>
            </a:r>
          </a:p>
          <a:p>
            <a:pPr marL="182880" indent="137160">
              <a:lnSpc>
                <a:spcPct val="108000"/>
              </a:lnSpc>
              <a:spcAft>
                <a:spcPts val="1152"/>
              </a:spcAft>
              <a:buFont typeface="Arial"/>
              <a:buChar char="•"/>
            </a:pPr>
            <a:r>
              <a:rPr sz="1450" b="1">
                <a:solidFill>
                  <a:srgbClr val="FFFFFF"/>
                </a:solidFill>
                <a:latin typeface="Arial"/>
              </a:rPr>
              <a:t>The signal  </a:t>
            </a:r>
            <a:r>
              <a:rPr sz="1450">
                <a:solidFill>
                  <a:srgbClr val="D1D5DB"/>
                </a:solidFill>
                <a:latin typeface="Arial"/>
              </a:rPr>
              <a:t>an ICMP message returns to the sender when a fragment is refused</a:t>
            </a:r>
          </a:p>
          <a:p>
            <a:pPr marL="182880" indent="137160">
              <a:lnSpc>
                <a:spcPct val="108000"/>
              </a:lnSpc>
              <a:spcAft>
                <a:spcPts val="1152"/>
              </a:spcAft>
              <a:buFont typeface="Arial"/>
              <a:buChar char="•"/>
            </a:pPr>
            <a:r>
              <a:rPr sz="1450" b="1">
                <a:solidFill>
                  <a:srgbClr val="FFFFFF"/>
                </a:solidFill>
                <a:latin typeface="Arial"/>
              </a:rPr>
              <a:t>Jumbo frames  </a:t>
            </a:r>
            <a:r>
              <a:rPr sz="1450">
                <a:solidFill>
                  <a:srgbClr val="D1D5DB"/>
                </a:solidFill>
                <a:latin typeface="Arial"/>
              </a:rPr>
              <a:t>raise the limit to about 9000 bytes</a:t>
            </a:r>
          </a:p>
          <a:p>
            <a:pPr marL="182880" indent="137160">
              <a:lnSpc>
                <a:spcPct val="108000"/>
              </a:lnSpc>
              <a:spcAft>
                <a:spcPts val="1152"/>
              </a:spcAft>
              <a:buFont typeface="Arial"/>
              <a:buChar char="•"/>
            </a:pPr>
            <a:r>
              <a:rPr sz="1450" b="1">
                <a:solidFill>
                  <a:srgbClr val="FFFFFF"/>
                </a:solidFill>
                <a:latin typeface="Arial"/>
              </a:rPr>
              <a:t>Why bother  </a:t>
            </a:r>
            <a:r>
              <a:rPr sz="1450">
                <a:solidFill>
                  <a:srgbClr val="D1D5DB"/>
                </a:solidFill>
                <a:latin typeface="Arial"/>
              </a:rPr>
              <a:t>they cut header overhead in data centres and storage networks</a:t>
            </a:r>
          </a:p>
          <a:p>
            <a:pPr marL="182880" indent="137160">
              <a:lnSpc>
                <a:spcPct val="108000"/>
              </a:lnSpc>
              <a:spcAft>
                <a:spcPts val="1152"/>
              </a:spcAft>
              <a:buFont typeface="Arial"/>
              <a:buChar char="•"/>
            </a:pPr>
            <a:r>
              <a:rPr sz="1450" b="1">
                <a:solidFill>
                  <a:srgbClr val="FFFFFF"/>
                </a:solidFill>
                <a:latin typeface="Arial"/>
              </a:rPr>
              <a:t>The trap  </a:t>
            </a:r>
            <a:r>
              <a:rPr sz="1450">
                <a:solidFill>
                  <a:srgbClr val="D1D5DB"/>
                </a:solidFill>
                <a:latin typeface="Arial"/>
              </a:rPr>
              <a:t>every device in the path must agree, or packets simply vanish</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A quiet failure</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An MTU mismatch is a classic cause of strange, partial failures: small requests that work, large transfers that stall, and no obvious error anywhere.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7315200" cy="320040"/>
          </a:xfrm>
          <a:prstGeom prst="rect">
            <a:avLst/>
          </a:prstGeom>
          <a:noFill/>
        </p:spPr>
        <p:txBody>
          <a:bodyPr wrap="square" anchor="t" lIns="0" rIns="0" tIns="0" bIns="0">
            <a:spAutoFit/>
          </a:bodyPr>
          <a:lstStyle/>
          <a:p>
            <a:pPr algn="l"/>
            <a:r>
              <a:rPr sz="1300" b="1" spc="300">
                <a:solidFill>
                  <a:srgbClr val="C22828"/>
                </a:solidFill>
                <a:latin typeface="Arial"/>
              </a:rPr>
              <a:t>QUIZ</a:t>
            </a:r>
          </a:p>
        </p:txBody>
      </p:sp>
      <p:sp>
        <p:nvSpPr>
          <p:cNvPr id="5" name="TextBox 4"/>
          <p:cNvSpPr txBox="1"/>
          <p:nvPr/>
        </p:nvSpPr>
        <p:spPr>
          <a:xfrm>
            <a:off x="502920" y="914400"/>
            <a:ext cx="8138160" cy="640080"/>
          </a:xfrm>
          <a:prstGeom prst="rect">
            <a:avLst/>
          </a:prstGeom>
          <a:noFill/>
        </p:spPr>
        <p:txBody>
          <a:bodyPr wrap="square" anchor="t" lIns="0" rIns="0" tIns="0" bIns="0">
            <a:spAutoFit/>
          </a:bodyPr>
          <a:lstStyle/>
          <a:p>
            <a:pPr algn="l"/>
            <a:r>
              <a:rPr sz="2400" b="1">
                <a:solidFill>
                  <a:srgbClr val="FFFFFF"/>
                </a:solidFill>
                <a:latin typeface="Arial"/>
              </a:rPr>
              <a:t>Activity: design the segmentation</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00">
                <a:solidFill>
                  <a:srgbClr val="D1D5DB"/>
                </a:solidFill>
                <a:latin typeface="Arial"/>
              </a:rPr>
              <a:t>Which VLAN should host the web server facing the internet?</a:t>
            </a:r>
          </a:p>
          <a:p>
            <a:pPr marL="182880" indent="137160">
              <a:lnSpc>
                <a:spcPct val="108000"/>
              </a:lnSpc>
              <a:spcAft>
                <a:spcPts val="1152"/>
              </a:spcAft>
              <a:buFont typeface="Arial"/>
              <a:buChar char="•"/>
            </a:pPr>
            <a:r>
              <a:rPr sz="1400">
                <a:solidFill>
                  <a:srgbClr val="D1D5DB"/>
                </a:solidFill>
                <a:latin typeface="Arial"/>
              </a:rPr>
              <a:t>Which VLAN should never carry user traffic?</a:t>
            </a:r>
          </a:p>
          <a:p>
            <a:pPr marL="182880" indent="137160">
              <a:lnSpc>
                <a:spcPct val="108000"/>
              </a:lnSpc>
              <a:spcAft>
                <a:spcPts val="1152"/>
              </a:spcAft>
              <a:buFont typeface="Arial"/>
              <a:buChar char="•"/>
            </a:pPr>
            <a:r>
              <a:rPr sz="1400">
                <a:solidFill>
                  <a:srgbClr val="D1D5DB"/>
                </a:solidFill>
                <a:latin typeface="Arial"/>
              </a:rPr>
              <a:t>Why isolate management traffic from workstations?</a:t>
            </a:r>
          </a:p>
          <a:p>
            <a:pPr marL="182880" indent="137160">
              <a:lnSpc>
                <a:spcPct val="108000"/>
              </a:lnSpc>
              <a:spcAft>
                <a:spcPts val="1152"/>
              </a:spcAft>
              <a:buFont typeface="Arial"/>
              <a:buChar char="•"/>
            </a:pPr>
            <a:r>
              <a:rPr sz="1400">
                <a:solidFill>
                  <a:srgbClr val="D1D5DB"/>
                </a:solidFill>
                <a:latin typeface="Arial"/>
              </a:rPr>
              <a:t>What risk does the default native VLAN create?</a:t>
            </a:r>
          </a:p>
          <a:p>
            <a:pPr marL="182880" indent="137160">
              <a:lnSpc>
                <a:spcPct val="108000"/>
              </a:lnSpc>
              <a:spcAft>
                <a:spcPts val="1152"/>
              </a:spcAft>
              <a:buFont typeface="Arial"/>
              <a:buChar char="•"/>
            </a:pPr>
            <a:r>
              <a:rPr sz="1400">
                <a:solidFill>
                  <a:srgbClr val="D1D5DB"/>
                </a:solidFill>
                <a:latin typeface="Arial"/>
              </a:rPr>
              <a:t>Name two attacks VLAN segmentation prevents.</a:t>
            </a:r>
          </a:p>
        </p:txBody>
      </p:sp>
      <p:sp>
        <p:nvSpPr>
          <p:cNvPr id="7" name="Rounded Rectangle 6"/>
          <p:cNvSpPr/>
          <p:nvPr/>
        </p:nvSpPr>
        <p:spPr>
          <a:xfrm>
            <a:off x="502920" y="3931920"/>
            <a:ext cx="8138160" cy="56692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041648"/>
            <a:ext cx="7680960" cy="402336"/>
          </a:xfrm>
          <a:prstGeom prst="rect">
            <a:avLst/>
          </a:prstGeom>
          <a:noFill/>
        </p:spPr>
        <p:txBody>
          <a:bodyPr wrap="square" lIns="0" rIns="0" tIns="0" bIns="0">
            <a:spAutoFit/>
          </a:bodyPr>
          <a:lstStyle/>
          <a:p>
            <a:pPr>
              <a:lnSpc>
                <a:spcPct val="108000"/>
              </a:lnSpc>
            </a:pPr>
            <a:r>
              <a:rPr sz="1150">
                <a:solidFill>
                  <a:srgbClr val="F3D9D9"/>
                </a:solidFill>
                <a:latin typeface="Arial"/>
              </a:rPr>
              <a:t>The DMZ hosts public services, the blackhole swallows unused access ports, and management should never share a domain with users. Think microsegmentation: isolate the sensitive workloads, not just whole departments.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SESSION 2 · SEGMENTATION &amp; ZONES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From segments to security zones</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Segmentation  </a:t>
            </a:r>
            <a:r>
              <a:rPr sz="1450">
                <a:solidFill>
                  <a:srgbClr val="D1D5DB"/>
                </a:solidFill>
                <a:latin typeface="Arial"/>
              </a:rPr>
              <a:t>VLANs and subnets become security zones</a:t>
            </a:r>
          </a:p>
          <a:p>
            <a:pPr marL="182880" indent="137160">
              <a:lnSpc>
                <a:spcPct val="108000"/>
              </a:lnSpc>
              <a:spcAft>
                <a:spcPts val="1152"/>
              </a:spcAft>
              <a:buFont typeface="Arial"/>
              <a:buChar char="•"/>
            </a:pPr>
            <a:r>
              <a:rPr sz="1450" b="1">
                <a:solidFill>
                  <a:srgbClr val="FFFFFF"/>
                </a:solidFill>
                <a:latin typeface="Arial"/>
              </a:rPr>
              <a:t>DMZ  </a:t>
            </a:r>
            <a:r>
              <a:rPr sz="1450">
                <a:solidFill>
                  <a:srgbClr val="D1D5DB"/>
                </a:solidFill>
                <a:latin typeface="Arial"/>
              </a:rPr>
              <a:t>public facing services, isolated from the internal network</a:t>
            </a:r>
          </a:p>
          <a:p>
            <a:pPr marL="182880" indent="137160">
              <a:lnSpc>
                <a:spcPct val="108000"/>
              </a:lnSpc>
              <a:spcAft>
                <a:spcPts val="1152"/>
              </a:spcAft>
              <a:buFont typeface="Arial"/>
              <a:buChar char="•"/>
            </a:pPr>
            <a:r>
              <a:rPr sz="1450" b="1">
                <a:solidFill>
                  <a:srgbClr val="FFFFFF"/>
                </a:solidFill>
                <a:latin typeface="Arial"/>
              </a:rPr>
              <a:t>DMZ firewalls  </a:t>
            </a:r>
            <a:r>
              <a:rPr sz="1450">
                <a:solidFill>
                  <a:srgbClr val="D1D5DB"/>
                </a:solidFill>
                <a:latin typeface="Arial"/>
              </a:rPr>
              <a:t>an external and an internal firewall, often with a proxy between</a:t>
            </a:r>
          </a:p>
          <a:p>
            <a:pPr marL="182880" indent="137160">
              <a:lnSpc>
                <a:spcPct val="108000"/>
              </a:lnSpc>
              <a:spcAft>
                <a:spcPts val="1152"/>
              </a:spcAft>
              <a:buFont typeface="Arial"/>
              <a:buChar char="•"/>
            </a:pPr>
            <a:r>
              <a:rPr sz="1450" b="1">
                <a:solidFill>
                  <a:srgbClr val="FFFFFF"/>
                </a:solidFill>
                <a:latin typeface="Arial"/>
              </a:rPr>
              <a:t>Blast radius  </a:t>
            </a:r>
            <a:r>
              <a:rPr sz="1450">
                <a:solidFill>
                  <a:srgbClr val="D1D5DB"/>
                </a:solidFill>
                <a:latin typeface="Arial"/>
              </a:rPr>
              <a:t>a compromise stays inside its own segment</a:t>
            </a:r>
          </a:p>
          <a:p>
            <a:pPr marL="182880" indent="137160">
              <a:lnSpc>
                <a:spcPct val="108000"/>
              </a:lnSpc>
              <a:spcAft>
                <a:spcPts val="1152"/>
              </a:spcAft>
              <a:buFont typeface="Arial"/>
              <a:buChar char="•"/>
            </a:pPr>
            <a:r>
              <a:rPr sz="1450" b="1">
                <a:solidFill>
                  <a:srgbClr val="FFFFFF"/>
                </a:solidFill>
                <a:latin typeface="Arial"/>
              </a:rPr>
              <a:t>Lateral movement  </a:t>
            </a:r>
            <a:r>
              <a:rPr sz="1450">
                <a:solidFill>
                  <a:srgbClr val="D1D5DB"/>
                </a:solidFill>
                <a:latin typeface="Arial"/>
              </a:rPr>
              <a:t>zones block east-west spread across the campus</a:t>
            </a:r>
          </a:p>
          <a:p>
            <a:pPr marL="182880" indent="137160">
              <a:lnSpc>
                <a:spcPct val="108000"/>
              </a:lnSpc>
              <a:spcAft>
                <a:spcPts val="1152"/>
              </a:spcAft>
              <a:buFont typeface="Arial"/>
              <a:buChar char="•"/>
            </a:pPr>
            <a:r>
              <a:rPr sz="1450" b="1">
                <a:solidFill>
                  <a:srgbClr val="FFFFFF"/>
                </a:solidFill>
                <a:latin typeface="Arial"/>
              </a:rPr>
              <a:t>Campus and IoT  </a:t>
            </a:r>
            <a:r>
              <a:rPr sz="1450">
                <a:solidFill>
                  <a:srgbClr val="D1D5DB"/>
                </a:solidFill>
                <a:latin typeface="Arial"/>
              </a:rPr>
              <a:t>access connects, distribution enforces policy, unmanaged devices isolated</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exam line</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Architecture is a control, not plumbing. When a question asks how to contain a breach, the answer is nearly always segmentation.</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WIRELESS &amp; PHYSICAL</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Wireless and Physical Deployment</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Frequencies  </a:t>
            </a:r>
            <a:r>
              <a:rPr sz="1450">
                <a:solidFill>
                  <a:srgbClr val="D1D5DB"/>
                </a:solidFill>
                <a:latin typeface="Arial"/>
              </a:rPr>
              <a:t>the bands and channel widths, and what each one is good for</a:t>
            </a:r>
          </a:p>
          <a:p>
            <a:pPr marL="182880" indent="137160">
              <a:lnSpc>
                <a:spcPct val="108000"/>
              </a:lnSpc>
              <a:spcAft>
                <a:spcPts val="1152"/>
              </a:spcAft>
              <a:buFont typeface="Arial"/>
              <a:buChar char="•"/>
            </a:pPr>
            <a:r>
              <a:rPr sz="1450" b="1">
                <a:solidFill>
                  <a:srgbClr val="FFFFFF"/>
                </a:solidFill>
                <a:latin typeface="Arial"/>
              </a:rPr>
              <a:t>Names and modes  </a:t>
            </a:r>
            <a:r>
              <a:rPr sz="1450">
                <a:solidFill>
                  <a:srgbClr val="D1D5DB"/>
                </a:solidFill>
                <a:latin typeface="Arial"/>
              </a:rPr>
              <a:t>the identifiers a wireless network uses</a:t>
            </a:r>
          </a:p>
          <a:p>
            <a:pPr marL="182880" indent="137160">
              <a:lnSpc>
                <a:spcPct val="108000"/>
              </a:lnSpc>
              <a:spcAft>
                <a:spcPts val="1152"/>
              </a:spcAft>
              <a:buFont typeface="Arial"/>
              <a:buChar char="•"/>
            </a:pPr>
            <a:r>
              <a:rPr sz="1450" b="1">
                <a:solidFill>
                  <a:srgbClr val="FFFFFF"/>
                </a:solidFill>
                <a:latin typeface="Arial"/>
              </a:rPr>
              <a:t>Encryption  </a:t>
            </a:r>
            <a:r>
              <a:rPr sz="1450">
                <a:solidFill>
                  <a:srgbClr val="D1D5DB"/>
                </a:solidFill>
                <a:latin typeface="Arial"/>
              </a:rPr>
              <a:t>a history of what happens when a control is broken early</a:t>
            </a:r>
          </a:p>
          <a:p>
            <a:pPr marL="182880" indent="137160">
              <a:lnSpc>
                <a:spcPct val="108000"/>
              </a:lnSpc>
              <a:spcAft>
                <a:spcPts val="1152"/>
              </a:spcAft>
              <a:buFont typeface="Arial"/>
              <a:buChar char="•"/>
            </a:pPr>
            <a:r>
              <a:rPr sz="1450" b="1">
                <a:solidFill>
                  <a:srgbClr val="FFFFFF"/>
                </a:solidFill>
                <a:latin typeface="Arial"/>
              </a:rPr>
              <a:t>Authentication  </a:t>
            </a:r>
            <a:r>
              <a:rPr sz="1450">
                <a:solidFill>
                  <a:srgbClr val="D1D5DB"/>
                </a:solidFill>
                <a:latin typeface="Arial"/>
              </a:rPr>
              <a:t>enterprise sign in, and guest design</a:t>
            </a:r>
          </a:p>
          <a:p>
            <a:pPr marL="182880" indent="137160">
              <a:lnSpc>
                <a:spcPct val="108000"/>
              </a:lnSpc>
              <a:spcAft>
                <a:spcPts val="1152"/>
              </a:spcAft>
              <a:buFont typeface="Arial"/>
              <a:buChar char="•"/>
            </a:pPr>
            <a:r>
              <a:rPr sz="1450" b="1">
                <a:solidFill>
                  <a:srgbClr val="FFFFFF"/>
                </a:solidFill>
                <a:latin typeface="Arial"/>
              </a:rPr>
              <a:t>The room  </a:t>
            </a:r>
            <a:r>
              <a:rPr sz="1450">
                <a:solidFill>
                  <a:srgbClr val="D1D5DB"/>
                </a:solidFill>
                <a:latin typeface="Arial"/>
              </a:rPr>
              <a:t>the rack, the cable and the physical access</a:t>
            </a:r>
          </a:p>
        </p:txBody>
      </p:sp>
      <p:sp>
        <p:nvSpPr>
          <p:cNvPr id="7" name="Rounded Rectangle 6"/>
          <p:cNvSpPr/>
          <p:nvPr/>
        </p:nvSpPr>
        <p:spPr>
          <a:xfrm>
            <a:off x="502920" y="3483864"/>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principle returns</a:t>
            </a:r>
          </a:p>
        </p:txBody>
      </p:sp>
      <p:sp>
        <p:nvSpPr>
          <p:cNvPr id="8" name="TextBox 7"/>
          <p:cNvSpPr txBox="1"/>
          <p:nvPr/>
        </p:nvSpPr>
        <p:spPr>
          <a:xfrm>
            <a:off x="731520" y="4050791"/>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Notice how often the same idea comes back: separate what must not touch. And notice how often physical access decides the final outcome.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WIRELESS &amp; PHYSICAL</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Channels and frequencies</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2.4 GHz  </a:t>
            </a:r>
            <a:r>
              <a:rPr sz="1450">
                <a:solidFill>
                  <a:srgbClr val="D1D5DB"/>
                </a:solidFill>
                <a:latin typeface="Arial"/>
              </a:rPr>
              <a:t>eleven channels, and only 1, 6 and 11 do not overlap</a:t>
            </a:r>
          </a:p>
          <a:p>
            <a:pPr marL="182880" indent="137160">
              <a:lnSpc>
                <a:spcPct val="108000"/>
              </a:lnSpc>
              <a:spcAft>
                <a:spcPts val="1152"/>
              </a:spcAft>
              <a:buFont typeface="Arial"/>
              <a:buChar char="•"/>
            </a:pPr>
            <a:r>
              <a:rPr sz="1450" b="1">
                <a:solidFill>
                  <a:srgbClr val="FFFFFF"/>
                </a:solidFill>
                <a:latin typeface="Arial"/>
              </a:rPr>
              <a:t>5 GHz  </a:t>
            </a:r>
            <a:r>
              <a:rPr sz="1450">
                <a:solidFill>
                  <a:srgbClr val="D1D5DB"/>
                </a:solidFill>
                <a:latin typeface="Arial"/>
              </a:rPr>
              <a:t>up to twenty three non overlapping channels, so busy offices prefer it</a:t>
            </a:r>
          </a:p>
          <a:p>
            <a:pPr marL="182880" indent="137160">
              <a:lnSpc>
                <a:spcPct val="108000"/>
              </a:lnSpc>
              <a:spcAft>
                <a:spcPts val="1152"/>
              </a:spcAft>
              <a:buFont typeface="Arial"/>
              <a:buChar char="•"/>
            </a:pPr>
            <a:r>
              <a:rPr sz="1450" b="1">
                <a:solidFill>
                  <a:srgbClr val="FFFFFF"/>
                </a:solidFill>
                <a:latin typeface="Arial"/>
              </a:rPr>
              <a:t>6 GHz  </a:t>
            </a:r>
            <a:r>
              <a:rPr sz="1450">
                <a:solidFill>
                  <a:srgbClr val="D1D5DB"/>
                </a:solidFill>
                <a:latin typeface="Arial"/>
              </a:rPr>
              <a:t>used by Wi-Fi 6E, and adds far more spectrum again</a:t>
            </a:r>
          </a:p>
          <a:p>
            <a:pPr marL="182880" indent="137160">
              <a:lnSpc>
                <a:spcPct val="108000"/>
              </a:lnSpc>
              <a:spcAft>
                <a:spcPts val="1152"/>
              </a:spcAft>
              <a:buFont typeface="Arial"/>
              <a:buChar char="•"/>
            </a:pPr>
            <a:r>
              <a:rPr sz="1450" b="1">
                <a:solidFill>
                  <a:srgbClr val="FFFFFF"/>
                </a:solidFill>
                <a:latin typeface="Arial"/>
              </a:rPr>
              <a:t>Lower frequencies  </a:t>
            </a:r>
            <a:r>
              <a:rPr sz="1450">
                <a:solidFill>
                  <a:srgbClr val="D1D5DB"/>
                </a:solidFill>
                <a:latin typeface="Arial"/>
              </a:rPr>
              <a:t>travel further and pass through walls better</a:t>
            </a:r>
          </a:p>
          <a:p>
            <a:pPr marL="182880" indent="137160">
              <a:lnSpc>
                <a:spcPct val="108000"/>
              </a:lnSpc>
              <a:spcAft>
                <a:spcPts val="1152"/>
              </a:spcAft>
              <a:buFont typeface="Arial"/>
              <a:buChar char="•"/>
            </a:pPr>
            <a:r>
              <a:rPr sz="1450" b="1">
                <a:solidFill>
                  <a:srgbClr val="FFFFFF"/>
                </a:solidFill>
                <a:latin typeface="Arial"/>
              </a:rPr>
              <a:t>Higher frequencies  </a:t>
            </a:r>
            <a:r>
              <a:rPr sz="1450">
                <a:solidFill>
                  <a:srgbClr val="D1D5DB"/>
                </a:solidFill>
                <a:latin typeface="Arial"/>
              </a:rPr>
              <a:t>carry more data over shorter distances</a:t>
            </a:r>
          </a:p>
          <a:p>
            <a:pPr marL="182880" indent="137160">
              <a:lnSpc>
                <a:spcPct val="108000"/>
              </a:lnSpc>
              <a:spcAft>
                <a:spcPts val="1152"/>
              </a:spcAft>
              <a:buFont typeface="Arial"/>
              <a:buChar char="•"/>
            </a:pPr>
            <a:r>
              <a:rPr sz="1450" b="1">
                <a:solidFill>
                  <a:srgbClr val="FFFFFF"/>
                </a:solidFill>
                <a:latin typeface="Arial"/>
              </a:rPr>
              <a:t>Channel width  </a:t>
            </a:r>
            <a:r>
              <a:rPr sz="1450">
                <a:solidFill>
                  <a:srgbClr val="D1D5DB"/>
                </a:solidFill>
                <a:latin typeface="Arial"/>
              </a:rPr>
              <a:t>wider channels raise throughput and consume the space around them</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Choose for the job</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Pick the band for the requirement, not for the marketing number. Twenty megahertz is the steady default, and adjacent access points must not overlap.</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WIRELESS &amp; PHYSICAL</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Network names and modes</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SSID  </a:t>
            </a:r>
            <a:r>
              <a:rPr sz="1450">
                <a:solidFill>
                  <a:srgbClr val="D1D5DB"/>
                </a:solidFill>
                <a:latin typeface="Arial"/>
              </a:rPr>
              <a:t>the service set identifier, the network name clients see</a:t>
            </a:r>
          </a:p>
          <a:p>
            <a:pPr marL="182880" indent="137160">
              <a:lnSpc>
                <a:spcPct val="108000"/>
              </a:lnSpc>
              <a:spcAft>
                <a:spcPts val="1152"/>
              </a:spcAft>
              <a:buFont typeface="Arial"/>
              <a:buChar char="•"/>
            </a:pPr>
            <a:r>
              <a:rPr sz="1450" b="1">
                <a:solidFill>
                  <a:srgbClr val="FFFFFF"/>
                </a:solidFill>
                <a:latin typeface="Arial"/>
              </a:rPr>
              <a:t>Infrastructure mode  </a:t>
            </a:r>
            <a:r>
              <a:rPr sz="1450">
                <a:solidFill>
                  <a:srgbClr val="D1D5DB"/>
                </a:solidFill>
                <a:latin typeface="Arial"/>
              </a:rPr>
              <a:t>sends all traffic through an access point</a:t>
            </a:r>
          </a:p>
          <a:p>
            <a:pPr marL="182880" indent="137160">
              <a:lnSpc>
                <a:spcPct val="108000"/>
              </a:lnSpc>
              <a:spcAft>
                <a:spcPts val="1152"/>
              </a:spcAft>
              <a:buFont typeface="Arial"/>
              <a:buChar char="•"/>
            </a:pPr>
            <a:r>
              <a:rPr sz="1450" b="1">
                <a:solidFill>
                  <a:srgbClr val="FFFFFF"/>
                </a:solidFill>
                <a:latin typeface="Arial"/>
              </a:rPr>
              <a:t>Ad hoc mode  </a:t>
            </a:r>
            <a:r>
              <a:rPr sz="1450">
                <a:solidFill>
                  <a:srgbClr val="D1D5DB"/>
                </a:solidFill>
                <a:latin typeface="Arial"/>
              </a:rPr>
              <a:t>devices talk directly, with weaker security and no central control</a:t>
            </a:r>
          </a:p>
          <a:p>
            <a:pPr marL="182880" indent="137160">
              <a:lnSpc>
                <a:spcPct val="108000"/>
              </a:lnSpc>
              <a:spcAft>
                <a:spcPts val="1152"/>
              </a:spcAft>
              <a:buFont typeface="Arial"/>
              <a:buChar char="•"/>
            </a:pPr>
            <a:r>
              <a:rPr sz="1450" b="1">
                <a:solidFill>
                  <a:srgbClr val="FFFFFF"/>
                </a:solidFill>
                <a:latin typeface="Arial"/>
              </a:rPr>
              <a:t>BSSID  </a:t>
            </a:r>
            <a:r>
              <a:rPr sz="1450">
                <a:solidFill>
                  <a:srgbClr val="D1D5DB"/>
                </a:solidFill>
                <a:latin typeface="Arial"/>
              </a:rPr>
              <a:t>the basic service set identifier names a single access point</a:t>
            </a:r>
          </a:p>
          <a:p>
            <a:pPr marL="182880" indent="137160">
              <a:lnSpc>
                <a:spcPct val="108000"/>
              </a:lnSpc>
              <a:spcAft>
                <a:spcPts val="1152"/>
              </a:spcAft>
              <a:buFont typeface="Arial"/>
              <a:buChar char="•"/>
            </a:pPr>
            <a:r>
              <a:rPr sz="1450" b="1">
                <a:solidFill>
                  <a:srgbClr val="FFFFFF"/>
                </a:solidFill>
                <a:latin typeface="Arial"/>
              </a:rPr>
              <a:t>ESSID  </a:t>
            </a:r>
            <a:r>
              <a:rPr sz="1450">
                <a:solidFill>
                  <a:srgbClr val="D1D5DB"/>
                </a:solidFill>
                <a:latin typeface="Arial"/>
              </a:rPr>
              <a:t>the extended service set identifier lets clients roam between access points</a:t>
            </a:r>
          </a:p>
          <a:p>
            <a:pPr marL="182880" indent="137160">
              <a:lnSpc>
                <a:spcPct val="108000"/>
              </a:lnSpc>
              <a:spcAft>
                <a:spcPts val="1152"/>
              </a:spcAft>
              <a:buFont typeface="Arial"/>
              <a:buChar char="•"/>
            </a:pPr>
            <a:r>
              <a:rPr sz="1450" b="1">
                <a:solidFill>
                  <a:srgbClr val="FFFFFF"/>
                </a:solidFill>
                <a:latin typeface="Arial"/>
              </a:rPr>
              <a:t>Hiding the name  </a:t>
            </a:r>
            <a:r>
              <a:rPr sz="1450">
                <a:solidFill>
                  <a:srgbClr val="D1D5DB"/>
                </a:solidFill>
                <a:latin typeface="Arial"/>
              </a:rPr>
              <a:t>stops nothing; client isolation keeps users apart</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Roaming</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Roaming needs one shared name and separate radios behind it, with the controller setting power and channel so the client moves when it should.</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WIRELESS &amp; PHYSICAL</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Wireless encryption</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WEP  </a:t>
            </a:r>
            <a:r>
              <a:rPr sz="1450">
                <a:solidFill>
                  <a:srgbClr val="D1D5DB"/>
                </a:solidFill>
                <a:latin typeface="Arial"/>
              </a:rPr>
              <a:t>wired equivalent privacy: short keys and a weak schedule, broken quickly</a:t>
            </a:r>
          </a:p>
          <a:p>
            <a:pPr marL="182880" indent="137160">
              <a:lnSpc>
                <a:spcPct val="108000"/>
              </a:lnSpc>
              <a:spcAft>
                <a:spcPts val="1152"/>
              </a:spcAft>
              <a:buFont typeface="Arial"/>
              <a:buChar char="•"/>
            </a:pPr>
            <a:r>
              <a:rPr sz="1450" b="1">
                <a:solidFill>
                  <a:srgbClr val="FFFFFF"/>
                </a:solidFill>
                <a:latin typeface="Arial"/>
              </a:rPr>
              <a:t>WPA  </a:t>
            </a:r>
            <a:r>
              <a:rPr sz="1450">
                <a:solidFill>
                  <a:srgbClr val="D1D5DB"/>
                </a:solidFill>
                <a:latin typeface="Arial"/>
              </a:rPr>
              <a:t>added the temporal key integrity protocol as a stopgap</a:t>
            </a:r>
          </a:p>
          <a:p>
            <a:pPr marL="182880" indent="137160">
              <a:lnSpc>
                <a:spcPct val="108000"/>
              </a:lnSpc>
              <a:spcAft>
                <a:spcPts val="1152"/>
              </a:spcAft>
              <a:buFont typeface="Arial"/>
              <a:buChar char="•"/>
            </a:pPr>
            <a:r>
              <a:rPr sz="1450" b="1">
                <a:solidFill>
                  <a:srgbClr val="FFFFFF"/>
                </a:solidFill>
                <a:latin typeface="Arial"/>
              </a:rPr>
              <a:t>WPA2  </a:t>
            </a:r>
            <a:r>
              <a:rPr sz="1450">
                <a:solidFill>
                  <a:srgbClr val="D1D5DB"/>
                </a:solidFill>
                <a:latin typeface="Arial"/>
              </a:rPr>
              <a:t>replaced that with AES, and is still the common baseline</a:t>
            </a:r>
          </a:p>
          <a:p>
            <a:pPr marL="182880" indent="137160">
              <a:lnSpc>
                <a:spcPct val="108000"/>
              </a:lnSpc>
              <a:spcAft>
                <a:spcPts val="1152"/>
              </a:spcAft>
              <a:buFont typeface="Arial"/>
              <a:buChar char="•"/>
            </a:pPr>
            <a:r>
              <a:rPr sz="1450" b="1">
                <a:solidFill>
                  <a:srgbClr val="FFFFFF"/>
                </a:solidFill>
                <a:latin typeface="Arial"/>
              </a:rPr>
              <a:t>WPA3  </a:t>
            </a:r>
            <a:r>
              <a:rPr sz="1450">
                <a:solidFill>
                  <a:srgbClr val="D1D5DB"/>
                </a:solidFill>
                <a:latin typeface="Arial"/>
              </a:rPr>
              <a:t>adds simultaneous authentication of equals, resisting offline cracking</a:t>
            </a:r>
          </a:p>
          <a:p>
            <a:pPr marL="182880" indent="137160">
              <a:lnSpc>
                <a:spcPct val="108000"/>
              </a:lnSpc>
              <a:spcAft>
                <a:spcPts val="1152"/>
              </a:spcAft>
              <a:buFont typeface="Arial"/>
              <a:buChar char="•"/>
            </a:pPr>
            <a:r>
              <a:rPr sz="1450" b="1">
                <a:solidFill>
                  <a:srgbClr val="FFFFFF"/>
                </a:solidFill>
                <a:latin typeface="Arial"/>
              </a:rPr>
              <a:t>Personal mode  </a:t>
            </a:r>
            <a:r>
              <a:rPr sz="1450">
                <a:solidFill>
                  <a:srgbClr val="D1D5DB"/>
                </a:solidFill>
                <a:latin typeface="Arial"/>
              </a:rPr>
              <a:t>one pre shared key for everybody</a:t>
            </a:r>
          </a:p>
          <a:p>
            <a:pPr marL="182880" indent="137160">
              <a:lnSpc>
                <a:spcPct val="108000"/>
              </a:lnSpc>
              <a:spcAft>
                <a:spcPts val="1152"/>
              </a:spcAft>
              <a:buFont typeface="Arial"/>
              <a:buChar char="•"/>
            </a:pPr>
            <a:r>
              <a:rPr sz="1450" b="1">
                <a:solidFill>
                  <a:srgbClr val="FFFFFF"/>
                </a:solidFill>
                <a:latin typeface="Arial"/>
              </a:rPr>
              <a:t>Enterprise mode  </a:t>
            </a:r>
            <a:r>
              <a:rPr sz="1450">
                <a:solidFill>
                  <a:srgbClr val="D1D5DB"/>
                </a:solidFill>
                <a:latin typeface="Arial"/>
              </a:rPr>
              <a:t>802.1X with a central authentication server</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rule</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Retire WEP entirely. Run WPA2 or WPA3 with AES, and move to enterprise mode wherever you have an authentication server to point at.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WIRELESS &amp; PHYSICAL</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Enterprise authentication and guest networks</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802.1X  </a:t>
            </a:r>
            <a:r>
              <a:rPr sz="1450">
                <a:solidFill>
                  <a:srgbClr val="D1D5DB"/>
                </a:solidFill>
                <a:latin typeface="Arial"/>
              </a:rPr>
              <a:t>authenticates a device before it joins the network</a:t>
            </a:r>
          </a:p>
          <a:p>
            <a:pPr marL="182880" indent="137160">
              <a:lnSpc>
                <a:spcPct val="108000"/>
              </a:lnSpc>
              <a:spcAft>
                <a:spcPts val="1152"/>
              </a:spcAft>
              <a:buFont typeface="Arial"/>
              <a:buChar char="•"/>
            </a:pPr>
            <a:r>
              <a:rPr sz="1450" b="1">
                <a:solidFill>
                  <a:srgbClr val="FFFFFF"/>
                </a:solidFill>
                <a:latin typeface="Arial"/>
              </a:rPr>
              <a:t>Authentication server  </a:t>
            </a:r>
            <a:r>
              <a:rPr sz="1450">
                <a:solidFill>
                  <a:srgbClr val="D1D5DB"/>
                </a:solidFill>
                <a:latin typeface="Arial"/>
              </a:rPr>
              <a:t>checks credentials centrally, so the access point does not decide</a:t>
            </a:r>
          </a:p>
          <a:p>
            <a:pPr marL="182880" indent="137160">
              <a:lnSpc>
                <a:spcPct val="108000"/>
              </a:lnSpc>
              <a:spcAft>
                <a:spcPts val="1152"/>
              </a:spcAft>
              <a:buFont typeface="Arial"/>
              <a:buChar char="•"/>
            </a:pPr>
            <a:r>
              <a:rPr sz="1450" b="1">
                <a:solidFill>
                  <a:srgbClr val="FFFFFF"/>
                </a:solidFill>
                <a:latin typeface="Arial"/>
              </a:rPr>
              <a:t>EAP  </a:t>
            </a:r>
            <a:r>
              <a:rPr sz="1450">
                <a:solidFill>
                  <a:srgbClr val="D1D5DB"/>
                </a:solidFill>
                <a:latin typeface="Arial"/>
              </a:rPr>
              <a:t>the extensible authentication protocol carries the exchange</a:t>
            </a:r>
          </a:p>
          <a:p>
            <a:pPr marL="182880" indent="137160">
              <a:lnSpc>
                <a:spcPct val="108000"/>
              </a:lnSpc>
              <a:spcAft>
                <a:spcPts val="1152"/>
              </a:spcAft>
              <a:buFont typeface="Arial"/>
              <a:buChar char="•"/>
            </a:pPr>
            <a:r>
              <a:rPr sz="1450" b="1">
                <a:solidFill>
                  <a:srgbClr val="FFFFFF"/>
                </a:solidFill>
                <a:latin typeface="Arial"/>
              </a:rPr>
              <a:t>Protected EAP  </a:t>
            </a:r>
            <a:r>
              <a:rPr sz="1450">
                <a:solidFill>
                  <a:srgbClr val="D1D5DB"/>
                </a:solidFill>
                <a:latin typeface="Arial"/>
              </a:rPr>
              <a:t>hides that exchange inside a TLS tunnel</a:t>
            </a:r>
          </a:p>
          <a:p>
            <a:pPr marL="182880" indent="137160">
              <a:lnSpc>
                <a:spcPct val="108000"/>
              </a:lnSpc>
              <a:spcAft>
                <a:spcPts val="1152"/>
              </a:spcAft>
              <a:buFont typeface="Arial"/>
              <a:buChar char="•"/>
            </a:pPr>
            <a:r>
              <a:rPr sz="1450" b="1">
                <a:solidFill>
                  <a:srgbClr val="FFFFFF"/>
                </a:solidFill>
                <a:latin typeface="Arial"/>
              </a:rPr>
              <a:t>EAP TLS  </a:t>
            </a:r>
            <a:r>
              <a:rPr sz="1450">
                <a:solidFill>
                  <a:srgbClr val="D1D5DB"/>
                </a:solidFill>
                <a:latin typeface="Arial"/>
              </a:rPr>
              <a:t>uses certificates on both the client and the server</a:t>
            </a:r>
          </a:p>
          <a:p>
            <a:pPr marL="182880" indent="137160">
              <a:lnSpc>
                <a:spcPct val="108000"/>
              </a:lnSpc>
              <a:spcAft>
                <a:spcPts val="1152"/>
              </a:spcAft>
              <a:buFont typeface="Arial"/>
              <a:buChar char="•"/>
            </a:pPr>
            <a:r>
              <a:rPr sz="1450" b="1">
                <a:solidFill>
                  <a:srgbClr val="FFFFFF"/>
                </a:solidFill>
                <a:latin typeface="Arial"/>
              </a:rPr>
              <a:t>Guest network  </a:t>
            </a:r>
            <a:r>
              <a:rPr sz="1450">
                <a:solidFill>
                  <a:srgbClr val="D1D5DB"/>
                </a:solidFill>
                <a:latin typeface="Arial"/>
              </a:rPr>
              <a:t>its own name, its own VLAN, a bandwidth limit and clear rules</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Guests get the internet</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Guests get the internet and nothing else, and they accept an acceptable use policy before they get even that. Survey before you mount.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WIRELESS &amp; PHYSICAL</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Access points and antennas</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Standalone access point  </a:t>
            </a:r>
            <a:r>
              <a:rPr sz="1450">
                <a:solidFill>
                  <a:srgbClr val="D1D5DB"/>
                </a:solidFill>
                <a:latin typeface="Arial"/>
              </a:rPr>
              <a:t>configured on its own, fine for a small site</a:t>
            </a:r>
          </a:p>
          <a:p>
            <a:pPr marL="182880" indent="137160">
              <a:lnSpc>
                <a:spcPct val="108000"/>
              </a:lnSpc>
              <a:spcAft>
                <a:spcPts val="1152"/>
              </a:spcAft>
              <a:buFont typeface="Arial"/>
              <a:buChar char="•"/>
            </a:pPr>
            <a:r>
              <a:rPr sz="1450" b="1">
                <a:solidFill>
                  <a:srgbClr val="FFFFFF"/>
                </a:solidFill>
                <a:latin typeface="Arial"/>
              </a:rPr>
              <a:t>Controller based  </a:t>
            </a:r>
            <a:r>
              <a:rPr sz="1450">
                <a:solidFill>
                  <a:srgbClr val="D1D5DB"/>
                </a:solidFill>
                <a:latin typeface="Arial"/>
              </a:rPr>
              <a:t>managed centrally, with power and channel set for every unit</a:t>
            </a:r>
          </a:p>
          <a:p>
            <a:pPr marL="182880" indent="137160">
              <a:lnSpc>
                <a:spcPct val="108000"/>
              </a:lnSpc>
              <a:spcAft>
                <a:spcPts val="1152"/>
              </a:spcAft>
              <a:buFont typeface="Arial"/>
              <a:buChar char="•"/>
            </a:pPr>
            <a:r>
              <a:rPr sz="1450" b="1">
                <a:solidFill>
                  <a:srgbClr val="FFFFFF"/>
                </a:solidFill>
                <a:latin typeface="Arial"/>
              </a:rPr>
              <a:t>Consistency  </a:t>
            </a:r>
            <a:r>
              <a:rPr sz="1450">
                <a:solidFill>
                  <a:srgbClr val="D1D5DB"/>
                </a:solidFill>
                <a:latin typeface="Arial"/>
              </a:rPr>
              <a:t>the controller keeps policy identical across the estate</a:t>
            </a:r>
          </a:p>
          <a:p>
            <a:pPr marL="182880" indent="137160">
              <a:lnSpc>
                <a:spcPct val="108000"/>
              </a:lnSpc>
              <a:spcAft>
                <a:spcPts val="1152"/>
              </a:spcAft>
              <a:buFont typeface="Arial"/>
              <a:buChar char="•"/>
            </a:pPr>
            <a:r>
              <a:rPr sz="1450" b="1">
                <a:solidFill>
                  <a:srgbClr val="FFFFFF"/>
                </a:solidFill>
                <a:latin typeface="Arial"/>
              </a:rPr>
              <a:t>Omnidirectional  </a:t>
            </a:r>
            <a:r>
              <a:rPr sz="1450">
                <a:solidFill>
                  <a:srgbClr val="D1D5DB"/>
                </a:solidFill>
                <a:latin typeface="Arial"/>
              </a:rPr>
              <a:t>radiates all around, for open areas</a:t>
            </a:r>
          </a:p>
          <a:p>
            <a:pPr marL="182880" indent="137160">
              <a:lnSpc>
                <a:spcPct val="108000"/>
              </a:lnSpc>
              <a:spcAft>
                <a:spcPts val="1152"/>
              </a:spcAft>
              <a:buFont typeface="Arial"/>
              <a:buChar char="•"/>
            </a:pPr>
            <a:r>
              <a:rPr sz="1450" b="1">
                <a:solidFill>
                  <a:srgbClr val="FFFFFF"/>
                </a:solidFill>
                <a:latin typeface="Arial"/>
              </a:rPr>
              <a:t>Directional  </a:t>
            </a:r>
            <a:r>
              <a:rPr sz="1450">
                <a:solidFill>
                  <a:srgbClr val="D1D5DB"/>
                </a:solidFill>
                <a:latin typeface="Arial"/>
              </a:rPr>
              <a:t>a Yagi focuses a beam for a long point to point link</a:t>
            </a:r>
          </a:p>
          <a:p>
            <a:pPr marL="182880" indent="137160">
              <a:lnSpc>
                <a:spcPct val="108000"/>
              </a:lnSpc>
              <a:spcAft>
                <a:spcPts val="1152"/>
              </a:spcAft>
              <a:buFont typeface="Arial"/>
              <a:buChar char="•"/>
            </a:pPr>
            <a:r>
              <a:rPr sz="1450" b="1">
                <a:solidFill>
                  <a:srgbClr val="FFFFFF"/>
                </a:solidFill>
                <a:latin typeface="Arial"/>
              </a:rPr>
              <a:t>Gain and survey  </a:t>
            </a:r>
            <a:r>
              <a:rPr sz="1450">
                <a:solidFill>
                  <a:srgbClr val="D1D5DB"/>
                </a:solidFill>
                <a:latin typeface="Arial"/>
              </a:rPr>
              <a:t>more gain means more reach; a heat map shows real coverage</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Measure, do not guess</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Place access points by measurement, not by eye. A survey before installation is cheaper than a second visit after the complaints.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WIRELESS &amp; PHYSICAL</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Installation, power and environment</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Rack  </a:t>
            </a:r>
            <a:r>
              <a:rPr sz="1450">
                <a:solidFill>
                  <a:srgbClr val="D1D5DB"/>
                </a:solidFill>
                <a:latin typeface="Arial"/>
              </a:rPr>
              <a:t>a standard equipment rack is nineteen inches wide</a:t>
            </a:r>
          </a:p>
          <a:p>
            <a:pPr marL="182880" indent="137160">
              <a:lnSpc>
                <a:spcPct val="108000"/>
              </a:lnSpc>
              <a:spcAft>
                <a:spcPts val="1152"/>
              </a:spcAft>
              <a:buFont typeface="Arial"/>
              <a:buChar char="•"/>
            </a:pPr>
            <a:r>
              <a:rPr sz="1450" b="1">
                <a:solidFill>
                  <a:srgbClr val="FFFFFF"/>
                </a:solidFill>
                <a:latin typeface="Arial"/>
              </a:rPr>
              <a:t>Heights  </a:t>
            </a:r>
            <a:r>
              <a:rPr sz="1450">
                <a:solidFill>
                  <a:srgbClr val="D1D5DB"/>
                </a:solidFill>
                <a:latin typeface="Arial"/>
              </a:rPr>
              <a:t>one rack unit is 1.75 inches of vertical space</a:t>
            </a:r>
          </a:p>
          <a:p>
            <a:pPr marL="182880" indent="137160">
              <a:lnSpc>
                <a:spcPct val="108000"/>
              </a:lnSpc>
              <a:spcAft>
                <a:spcPts val="1152"/>
              </a:spcAft>
              <a:buFont typeface="Arial"/>
              <a:buChar char="•"/>
            </a:pPr>
            <a:r>
              <a:rPr sz="1450" b="1">
                <a:solidFill>
                  <a:srgbClr val="FFFFFF"/>
                </a:solidFill>
                <a:latin typeface="Arial"/>
              </a:rPr>
              <a:t>Labelling  </a:t>
            </a:r>
            <a:r>
              <a:rPr sz="1450">
                <a:solidFill>
                  <a:srgbClr val="D1D5DB"/>
                </a:solidFill>
                <a:latin typeface="Arial"/>
              </a:rPr>
              <a:t>label every cable and document the patch panel</a:t>
            </a:r>
          </a:p>
          <a:p>
            <a:pPr marL="182880" indent="137160">
              <a:lnSpc>
                <a:spcPct val="108000"/>
              </a:lnSpc>
              <a:spcAft>
                <a:spcPts val="1152"/>
              </a:spcAft>
              <a:buFont typeface="Arial"/>
              <a:buChar char="•"/>
            </a:pPr>
            <a:r>
              <a:rPr sz="1450" b="1">
                <a:solidFill>
                  <a:srgbClr val="FFFFFF"/>
                </a:solidFill>
                <a:latin typeface="Arial"/>
              </a:rPr>
              <a:t>Patch panel  </a:t>
            </a:r>
            <a:r>
              <a:rPr sz="1450">
                <a:solidFill>
                  <a:srgbClr val="D1D5DB"/>
                </a:solidFill>
                <a:latin typeface="Arial"/>
              </a:rPr>
              <a:t>protects the switch ports and eases every change</a:t>
            </a:r>
          </a:p>
          <a:p>
            <a:pPr marL="182880" indent="137160">
              <a:lnSpc>
                <a:spcPct val="108000"/>
              </a:lnSpc>
              <a:spcAft>
                <a:spcPts val="1152"/>
              </a:spcAft>
              <a:buFont typeface="Arial"/>
              <a:buChar char="•"/>
            </a:pPr>
            <a:r>
              <a:rPr sz="1450" b="1">
                <a:solidFill>
                  <a:srgbClr val="FFFFFF"/>
                </a:solidFill>
                <a:latin typeface="Arial"/>
              </a:rPr>
              <a:t>Physical security  </a:t>
            </a:r>
            <a:r>
              <a:rPr sz="1450">
                <a:solidFill>
                  <a:srgbClr val="D1D5DB"/>
                </a:solidFill>
                <a:latin typeface="Arial"/>
              </a:rPr>
              <a:t>lockable racks and a controlled room</a:t>
            </a:r>
          </a:p>
          <a:p>
            <a:pPr marL="182880" indent="137160">
              <a:lnSpc>
                <a:spcPct val="108000"/>
              </a:lnSpc>
              <a:spcAft>
                <a:spcPts val="1152"/>
              </a:spcAft>
              <a:buFont typeface="Arial"/>
              <a:buChar char="•"/>
            </a:pPr>
            <a:r>
              <a:rPr sz="1450" b="1">
                <a:solidFill>
                  <a:srgbClr val="FFFFFF"/>
                </a:solidFill>
                <a:latin typeface="Arial"/>
              </a:rPr>
              <a:t>Cooling and environment  </a:t>
            </a:r>
            <a:r>
              <a:rPr sz="1450">
                <a:solidFill>
                  <a:srgbClr val="D1D5DB"/>
                </a:solidFill>
                <a:latin typeface="Arial"/>
              </a:rPr>
              <a:t>hot and cold aisles, a UPS, and no water, heat or dust</a:t>
            </a:r>
          </a:p>
        </p:txBody>
      </p:sp>
      <p:sp>
        <p:nvSpPr>
          <p:cNvPr id="7" name="Rounded Rectangle 6"/>
          <p:cNvSpPr/>
          <p:nvPr/>
        </p:nvSpPr>
        <p:spPr>
          <a:xfrm>
            <a:off x="502920" y="3749039"/>
            <a:ext cx="8138160" cy="86868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bottom line</a:t>
            </a:r>
          </a:p>
        </p:txBody>
      </p:sp>
      <p:sp>
        <p:nvSpPr>
          <p:cNvPr id="8" name="TextBox 7"/>
          <p:cNvSpPr txBox="1"/>
          <p:nvPr/>
        </p:nvSpPr>
        <p:spPr>
          <a:xfrm>
            <a:off x="731520" y="4315968"/>
            <a:ext cx="7680960" cy="246887"/>
          </a:xfrm>
          <a:prstGeom prst="rect">
            <a:avLst/>
          </a:prstGeom>
          <a:noFill/>
        </p:spPr>
        <p:txBody>
          <a:bodyPr wrap="square" lIns="0" rIns="0" tIns="0" bIns="0">
            <a:spAutoFit/>
          </a:bodyPr>
          <a:lstStyle/>
          <a:p>
            <a:pPr>
              <a:lnSpc>
                <a:spcPct val="108000"/>
              </a:lnSpc>
            </a:pPr>
            <a:r>
              <a:rPr sz="1250">
                <a:solidFill>
                  <a:srgbClr val="F3D9D9"/>
                </a:solidFill>
                <a:latin typeface="Arial"/>
              </a:rPr>
              <a:t>Physical access defeats every logical control you own. Label it, or you will lose it, and troubleshooting becomes guesswork.</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7315200" cy="320040"/>
          </a:xfrm>
          <a:prstGeom prst="rect">
            <a:avLst/>
          </a:prstGeom>
          <a:noFill/>
        </p:spPr>
        <p:txBody>
          <a:bodyPr wrap="square" anchor="t" lIns="0" rIns="0" tIns="0" bIns="0">
            <a:spAutoFit/>
          </a:bodyPr>
          <a:lstStyle/>
          <a:p>
            <a:pPr algn="l"/>
            <a:r>
              <a:rPr sz="1300" b="1" spc="300">
                <a:solidFill>
                  <a:srgbClr val="C22828"/>
                </a:solidFill>
                <a:latin typeface="Arial"/>
              </a:rPr>
              <a:t>QUIZ</a:t>
            </a:r>
          </a:p>
        </p:txBody>
      </p:sp>
      <p:sp>
        <p:nvSpPr>
          <p:cNvPr id="5" name="TextBox 4"/>
          <p:cNvSpPr txBox="1"/>
          <p:nvPr/>
        </p:nvSpPr>
        <p:spPr>
          <a:xfrm>
            <a:off x="502920" y="914400"/>
            <a:ext cx="8138160" cy="640080"/>
          </a:xfrm>
          <a:prstGeom prst="rect">
            <a:avLst/>
          </a:prstGeom>
          <a:noFill/>
        </p:spPr>
        <p:txBody>
          <a:bodyPr wrap="square" anchor="t" lIns="0" rIns="0" tIns="0" bIns="0">
            <a:spAutoFit/>
          </a:bodyPr>
          <a:lstStyle/>
          <a:p>
            <a:pPr algn="l"/>
            <a:r>
              <a:rPr sz="2400" b="1">
                <a:solidFill>
                  <a:srgbClr val="FFFFFF"/>
                </a:solidFill>
                <a:latin typeface="Arial"/>
              </a:rPr>
              <a:t>Check your understanding</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00">
                <a:solidFill>
                  <a:srgbClr val="D1D5DB"/>
                </a:solidFill>
                <a:latin typeface="Arial"/>
              </a:rPr>
              <a:t>Open Quiz_Session_02.html in your browser.</a:t>
            </a:r>
          </a:p>
          <a:p>
            <a:pPr marL="182880" indent="137160">
              <a:lnSpc>
                <a:spcPct val="108000"/>
              </a:lnSpc>
              <a:spcAft>
                <a:spcPts val="1152"/>
              </a:spcAft>
              <a:buFont typeface="Arial"/>
              <a:buChar char="•"/>
            </a:pPr>
            <a:r>
              <a:rPr sz="1400">
                <a:solidFill>
                  <a:srgbClr val="D1D5DB"/>
                </a:solidFill>
                <a:latin typeface="Arial"/>
              </a:rPr>
              <a:t>20 questions, immediate feedback, and a topic tag on every question.</a:t>
            </a:r>
          </a:p>
          <a:p>
            <a:pPr marL="182880" indent="137160">
              <a:lnSpc>
                <a:spcPct val="108000"/>
              </a:lnSpc>
              <a:spcAft>
                <a:spcPts val="1152"/>
              </a:spcAft>
              <a:buFont typeface="Arial"/>
              <a:buChar char="•"/>
            </a:pPr>
            <a:r>
              <a:rPr sz="1400">
                <a:solidFill>
                  <a:srgbClr val="D1D5DB"/>
                </a:solidFill>
                <a:latin typeface="Arial"/>
              </a:rPr>
              <a:t>Read each explanation: the distractors teach as much as the answer.</a:t>
            </a:r>
          </a:p>
          <a:p>
            <a:pPr marL="182880" indent="137160">
              <a:lnSpc>
                <a:spcPct val="108000"/>
              </a:lnSpc>
              <a:spcAft>
                <a:spcPts val="1152"/>
              </a:spcAft>
              <a:buFont typeface="Arial"/>
              <a:buChar char="•"/>
            </a:pPr>
            <a:r>
              <a:rPr sz="1400">
                <a:solidFill>
                  <a:srgbClr val="D1D5DB"/>
                </a:solidFill>
                <a:latin typeface="Arial"/>
              </a:rPr>
              <a:t>Score 70% or better before you move on to Session 3.</a:t>
            </a:r>
          </a:p>
        </p:txBody>
      </p:sp>
      <p:sp>
        <p:nvSpPr>
          <p:cNvPr id="7" name="Rounded Rectangle 6"/>
          <p:cNvSpPr/>
          <p:nvPr/>
        </p:nvSpPr>
        <p:spPr>
          <a:xfrm>
            <a:off x="502920" y="3931920"/>
            <a:ext cx="8138160" cy="56692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041648"/>
            <a:ext cx="7680960" cy="402336"/>
          </a:xfrm>
          <a:prstGeom prst="rect">
            <a:avLst/>
          </a:prstGeom>
          <a:noFill/>
        </p:spPr>
        <p:txBody>
          <a:bodyPr wrap="square" lIns="0" rIns="0" tIns="0" bIns="0">
            <a:spAutoFit/>
          </a:bodyPr>
          <a:lstStyle/>
          <a:p>
            <a:pPr>
              <a:lnSpc>
                <a:spcPct val="108000"/>
              </a:lnSpc>
            </a:pPr>
            <a:r>
              <a:rPr sz="1150">
                <a:solidFill>
                  <a:srgbClr val="F3D9D9"/>
                </a:solidFill>
                <a:latin typeface="Arial"/>
              </a:rPr>
              <a:t>Every question is tagged with its banked topic area, covering infrastructure devices, VLANs and trunking, spanning tree and network architectures.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7315200" cy="320040"/>
          </a:xfrm>
          <a:prstGeom prst="rect">
            <a:avLst/>
          </a:prstGeom>
          <a:noFill/>
        </p:spPr>
        <p:txBody>
          <a:bodyPr wrap="square" anchor="t" lIns="0" rIns="0" tIns="0" bIns="0">
            <a:spAutoFit/>
          </a:bodyPr>
          <a:lstStyle/>
          <a:p>
            <a:pPr algn="l"/>
            <a:r>
              <a:rPr sz="1300" b="1" spc="300">
                <a:solidFill>
                  <a:srgbClr val="C22828"/>
                </a:solidFill>
                <a:latin typeface="Arial"/>
              </a:rPr>
              <a:t>KEY TAKEAWAYS</a:t>
            </a:r>
          </a:p>
        </p:txBody>
      </p:sp>
      <p:sp>
        <p:nvSpPr>
          <p:cNvPr id="5" name="TextBox 4"/>
          <p:cNvSpPr txBox="1"/>
          <p:nvPr/>
        </p:nvSpPr>
        <p:spPr>
          <a:xfrm>
            <a:off x="502920" y="1051560"/>
            <a:ext cx="8138160" cy="3474720"/>
          </a:xfrm>
          <a:prstGeom prst="rect">
            <a:avLst/>
          </a:prstGeom>
          <a:noFill/>
        </p:spPr>
        <p:txBody>
          <a:bodyPr wrap="square" lIns="0" rIns="0" tIns="0" bIns="0">
            <a:spAutoFit/>
          </a:bodyPr>
          <a:lstStyle/>
          <a:p>
            <a:pPr marL="182880" indent="137160">
              <a:lnSpc>
                <a:spcPct val="110000"/>
              </a:lnSpc>
              <a:spcAft>
                <a:spcPts val="1872"/>
              </a:spcAft>
              <a:buFont typeface="Arial"/>
              <a:buChar char="•"/>
            </a:pPr>
            <a:r>
              <a:rPr sz="1600" b="1">
                <a:solidFill>
                  <a:srgbClr val="C22828"/>
                </a:solidFill>
                <a:latin typeface="Arial"/>
              </a:rPr>
              <a:t>Switches forward frames  </a:t>
            </a:r>
            <a:r>
              <a:rPr sz="1600">
                <a:solidFill>
                  <a:srgbClr val="FFFFFF"/>
                </a:solidFill>
                <a:latin typeface="Arial"/>
              </a:rPr>
              <a:t>routers forward packets.</a:t>
            </a:r>
          </a:p>
          <a:p>
            <a:pPr marL="182880" indent="137160">
              <a:lnSpc>
                <a:spcPct val="110000"/>
              </a:lnSpc>
              <a:spcAft>
                <a:spcPts val="1872"/>
              </a:spcAft>
              <a:buFont typeface="Arial"/>
              <a:buChar char="•"/>
            </a:pPr>
            <a:r>
              <a:rPr sz="1600" b="1">
                <a:solidFill>
                  <a:srgbClr val="C22828"/>
                </a:solidFill>
                <a:latin typeface="Arial"/>
              </a:rPr>
              <a:t>Each appliance does one job  </a:t>
            </a:r>
            <a:r>
              <a:rPr sz="1600">
                <a:solidFill>
                  <a:srgbClr val="FFFFFF"/>
                </a:solidFill>
                <a:latin typeface="Arial"/>
              </a:rPr>
              <a:t>refuse, report, block.</a:t>
            </a:r>
          </a:p>
          <a:p>
            <a:pPr marL="182880" indent="137160">
              <a:lnSpc>
                <a:spcPct val="110000"/>
              </a:lnSpc>
              <a:spcAft>
                <a:spcPts val="1872"/>
              </a:spcAft>
              <a:buFont typeface="Arial"/>
              <a:buChar char="•"/>
            </a:pPr>
            <a:r>
              <a:rPr sz="1600" b="1">
                <a:solidFill>
                  <a:srgbClr val="C22828"/>
                </a:solidFill>
                <a:latin typeface="Arial"/>
              </a:rPr>
              <a:t>Cloud moves the boundary  </a:t>
            </a:r>
            <a:r>
              <a:rPr sz="1600">
                <a:solidFill>
                  <a:srgbClr val="FFFFFF"/>
                </a:solidFill>
                <a:latin typeface="Arial"/>
              </a:rPr>
              <a:t>software functions, security groups.</a:t>
            </a:r>
          </a:p>
          <a:p>
            <a:pPr marL="182880" indent="137160">
              <a:lnSpc>
                <a:spcPct val="110000"/>
              </a:lnSpc>
              <a:spcAft>
                <a:spcPts val="1872"/>
              </a:spcAft>
              <a:buFont typeface="Arial"/>
              <a:buChar char="•"/>
            </a:pPr>
            <a:r>
              <a:rPr sz="1600" b="1">
                <a:solidFill>
                  <a:srgbClr val="C22828"/>
                </a:solidFill>
                <a:latin typeface="Arial"/>
              </a:rPr>
              <a:t>Distance ranks the source  </a:t>
            </a:r>
            <a:r>
              <a:rPr sz="1600">
                <a:solidFill>
                  <a:srgbClr val="FFFFFF"/>
                </a:solidFill>
                <a:latin typeface="Arial"/>
              </a:rPr>
              <a:t>the metric picks the path.</a:t>
            </a:r>
          </a:p>
          <a:p>
            <a:pPr marL="182880" indent="137160">
              <a:lnSpc>
                <a:spcPct val="110000"/>
              </a:lnSpc>
              <a:spcAft>
                <a:spcPts val="1872"/>
              </a:spcAft>
              <a:buFont typeface="Arial"/>
              <a:buChar char="•"/>
            </a:pPr>
            <a:r>
              <a:rPr sz="1600" b="1">
                <a:solidFill>
                  <a:srgbClr val="C22828"/>
                </a:solidFill>
                <a:latin typeface="Arial"/>
              </a:rPr>
              <a:t>The longest match wins first  </a:t>
            </a:r>
            <a:r>
              <a:rPr sz="1600">
                <a:solidFill>
                  <a:srgbClr val="FFFFFF"/>
                </a:solidFill>
                <a:latin typeface="Arial"/>
              </a:rPr>
              <a:t>the most specific route.</a:t>
            </a:r>
          </a:p>
          <a:p>
            <a:pPr marL="182880" indent="137160">
              <a:lnSpc>
                <a:spcPct val="110000"/>
              </a:lnSpc>
              <a:spcAft>
                <a:spcPts val="1872"/>
              </a:spcAft>
              <a:buFont typeface="Arial"/>
              <a:buChar char="•"/>
            </a:pPr>
            <a:r>
              <a:rPr sz="1600" b="1">
                <a:solidFill>
                  <a:srgbClr val="C22828"/>
                </a:solidFill>
                <a:latin typeface="Arial"/>
              </a:rPr>
              <a:t>Translation conserves addresses  </a:t>
            </a:r>
            <a:r>
              <a:rPr sz="1600">
                <a:solidFill>
                  <a:srgbClr val="FFFFFF"/>
                </a:solidFill>
                <a:latin typeface="Arial"/>
              </a:rPr>
              <a:t>NAT and PAT, told apart by port.</a:t>
            </a:r>
          </a:p>
          <a:p>
            <a:pPr marL="182880" indent="137160">
              <a:lnSpc>
                <a:spcPct val="110000"/>
              </a:lnSpc>
              <a:spcAft>
                <a:spcPts val="1872"/>
              </a:spcAft>
              <a:buFont typeface="Arial"/>
              <a:buChar char="•"/>
            </a:pPr>
            <a:r>
              <a:rPr sz="1600" b="1">
                <a:solidFill>
                  <a:srgbClr val="C22828"/>
                </a:solidFill>
                <a:latin typeface="Arial"/>
              </a:rPr>
              <a:t>VLANs contain, trunks carry tags  </a:t>
            </a:r>
            <a:r>
              <a:rPr sz="1600">
                <a:solidFill>
                  <a:srgbClr val="FFFFFF"/>
                </a:solidFill>
                <a:latin typeface="Arial"/>
              </a:rPr>
              <a:t>spanning tree keeps one path.</a:t>
            </a:r>
          </a:p>
          <a:p>
            <a:pPr marL="182880" indent="137160">
              <a:lnSpc>
                <a:spcPct val="110000"/>
              </a:lnSpc>
              <a:spcAft>
                <a:spcPts val="1872"/>
              </a:spcAft>
              <a:buFont typeface="Arial"/>
              <a:buChar char="•"/>
            </a:pPr>
            <a:r>
              <a:rPr sz="1600" b="1">
                <a:solidFill>
                  <a:srgbClr val="C22828"/>
                </a:solidFill>
                <a:latin typeface="Arial"/>
              </a:rPr>
              <a:t>Wireless means WPA2 or WPA3  </a:t>
            </a:r>
            <a:r>
              <a:rPr sz="1600">
                <a:solidFill>
                  <a:srgbClr val="FFFFFF"/>
                </a:solidFill>
                <a:latin typeface="Arial"/>
              </a:rPr>
              <a:t>with AES and a guest VLAN.</a:t>
            </a:r>
          </a:p>
        </p:txBody>
      </p:sp>
      <p:sp>
        <p:nvSpPr>
          <p:cNvPr id="6" name="TextBox 5"/>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7" name="TextBox 6"/>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8" name="Picture 7"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9" name="TextBox 8"/>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REVISION CHECKLIST</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Before next session</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Retake the quiz  </a:t>
            </a:r>
            <a:r>
              <a:rPr sz="1450">
                <a:solidFill>
                  <a:srgbClr val="D1D5DB"/>
                </a:solidFill>
                <a:latin typeface="Arial"/>
              </a:rPr>
              <a:t>until you score 70% or better without guessing</a:t>
            </a:r>
          </a:p>
          <a:p>
            <a:pPr marL="182880" indent="137160">
              <a:lnSpc>
                <a:spcPct val="108000"/>
              </a:lnSpc>
              <a:spcAft>
                <a:spcPts val="1152"/>
              </a:spcAft>
              <a:buFont typeface="Arial"/>
              <a:buChar char="•"/>
            </a:pPr>
            <a:r>
              <a:rPr sz="1450" b="1">
                <a:solidFill>
                  <a:srgbClr val="FFFFFF"/>
                </a:solidFill>
                <a:latin typeface="Arial"/>
              </a:rPr>
              <a:t>Redraw one design  </a:t>
            </a:r>
            <a:r>
              <a:rPr sz="1450">
                <a:solidFill>
                  <a:srgbClr val="D1D5DB"/>
                </a:solidFill>
                <a:latin typeface="Arial"/>
              </a:rPr>
              <a:t>a VLAN plan, a distance table, or a wireless policy</a:t>
            </a:r>
          </a:p>
          <a:p>
            <a:pPr marL="182880" indent="137160">
              <a:lnSpc>
                <a:spcPct val="108000"/>
              </a:lnSpc>
              <a:spcAft>
                <a:spcPts val="1152"/>
              </a:spcAft>
              <a:buFont typeface="Arial"/>
              <a:buChar char="•"/>
            </a:pPr>
            <a:r>
              <a:rPr sz="1450" b="1">
                <a:solidFill>
                  <a:srgbClr val="FFFFFF"/>
                </a:solidFill>
                <a:latin typeface="Arial"/>
              </a:rPr>
              <a:t>Trace an election  </a:t>
            </a:r>
            <a:r>
              <a:rPr sz="1450">
                <a:solidFill>
                  <a:srgbClr val="D1D5DB"/>
                </a:solidFill>
                <a:latin typeface="Arial"/>
              </a:rPr>
              <a:t>two switches, two links: pick the root bridge and the blocked port</a:t>
            </a:r>
          </a:p>
          <a:p>
            <a:pPr marL="182880" indent="137160">
              <a:lnSpc>
                <a:spcPct val="108000"/>
              </a:lnSpc>
              <a:spcAft>
                <a:spcPts val="1152"/>
              </a:spcAft>
              <a:buFont typeface="Arial"/>
              <a:buChar char="•"/>
            </a:pPr>
            <a:r>
              <a:rPr sz="1450" b="1">
                <a:solidFill>
                  <a:srgbClr val="FFFFFF"/>
                </a:solidFill>
                <a:latin typeface="Arial"/>
              </a:rPr>
              <a:t>Read every device twice  </a:t>
            </a:r>
            <a:r>
              <a:rPr sz="1450">
                <a:solidFill>
                  <a:srgbClr val="D1D5DB"/>
                </a:solidFill>
                <a:latin typeface="Arial"/>
              </a:rPr>
              <a:t>once as plumbing, once as a boundary</a:t>
            </a:r>
          </a:p>
          <a:p>
            <a:pPr marL="182880" indent="137160">
              <a:lnSpc>
                <a:spcPct val="108000"/>
              </a:lnSpc>
              <a:spcAft>
                <a:spcPts val="1152"/>
              </a:spcAft>
              <a:buFont typeface="Arial"/>
              <a:buChar char="•"/>
            </a:pPr>
            <a:r>
              <a:rPr sz="1450" b="1">
                <a:solidFill>
                  <a:srgbClr val="FFFFFF"/>
                </a:solidFill>
                <a:latin typeface="Arial"/>
              </a:rPr>
              <a:t>Read ahead  </a:t>
            </a:r>
            <a:r>
              <a:rPr sz="1450">
                <a:solidFill>
                  <a:srgbClr val="D1D5DB"/>
                </a:solidFill>
                <a:latin typeface="Arial"/>
              </a:rPr>
              <a:t>Session 3: DNS, DHCP, NTP and SSH, and how each is attacked</a:t>
            </a:r>
          </a:p>
        </p:txBody>
      </p:sp>
      <p:sp>
        <p:nvSpPr>
          <p:cNvPr id="7" name="TextBox 6"/>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8" name="TextBox 7"/>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9" name="Picture 8"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0" name="TextBox 9"/>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7315200" cy="320040"/>
          </a:xfrm>
          <a:prstGeom prst="rect">
            <a:avLst/>
          </a:prstGeom>
          <a:noFill/>
        </p:spPr>
        <p:txBody>
          <a:bodyPr wrap="square" anchor="t" lIns="0" rIns="0" tIns="0" bIns="0">
            <a:spAutoFit/>
          </a:bodyPr>
          <a:lstStyle/>
          <a:p>
            <a:pPr algn="l"/>
            <a:r>
              <a:rPr sz="1300" b="1" spc="300">
                <a:solidFill>
                  <a:srgbClr val="C22828"/>
                </a:solidFill>
                <a:latin typeface="Arial"/>
              </a:rPr>
              <a:t>NEXT SESSION</a:t>
            </a:r>
          </a:p>
        </p:txBody>
      </p:sp>
      <p:sp>
        <p:nvSpPr>
          <p:cNvPr id="5" name="TextBox 4"/>
          <p:cNvSpPr txBox="1"/>
          <p:nvPr/>
        </p:nvSpPr>
        <p:spPr>
          <a:xfrm>
            <a:off x="502920" y="914400"/>
            <a:ext cx="8138160" cy="685800"/>
          </a:xfrm>
          <a:prstGeom prst="rect">
            <a:avLst/>
          </a:prstGeom>
          <a:noFill/>
        </p:spPr>
        <p:txBody>
          <a:bodyPr wrap="square" anchor="t" lIns="0" rIns="0" tIns="0" bIns="0">
            <a:spAutoFit/>
          </a:bodyPr>
          <a:lstStyle/>
          <a:p>
            <a:pPr algn="l"/>
            <a:r>
              <a:rPr sz="2400" b="1">
                <a:solidFill>
                  <a:srgbClr val="FFFFFF"/>
                </a:solidFill>
                <a:latin typeface="Arial"/>
              </a:rPr>
              <a:t>Session 3 · Network Services &amp; the Attack Surface</a:t>
            </a:r>
          </a:p>
        </p:txBody>
      </p:sp>
      <p:sp>
        <p:nvSpPr>
          <p:cNvPr id="6" name="TextBox 5"/>
          <p:cNvSpPr txBox="1"/>
          <p:nvPr/>
        </p:nvSpPr>
        <p:spPr>
          <a:xfrm>
            <a:off x="502920" y="1600200"/>
            <a:ext cx="8138160" cy="457200"/>
          </a:xfrm>
          <a:prstGeom prst="rect">
            <a:avLst/>
          </a:prstGeom>
          <a:noFill/>
        </p:spPr>
        <p:txBody>
          <a:bodyPr wrap="square" anchor="t" lIns="0" rIns="0" tIns="0" bIns="0">
            <a:spAutoFit/>
          </a:bodyPr>
          <a:lstStyle/>
          <a:p>
            <a:pPr algn="l"/>
            <a:r>
              <a:rPr sz="1400" b="0">
                <a:solidFill>
                  <a:srgbClr val="9CA3AF"/>
                </a:solidFill>
                <a:latin typeface="Arial"/>
              </a:rPr>
              <a:t>The services every network runs, and how each one can be turned against you</a:t>
            </a:r>
          </a:p>
        </p:txBody>
      </p:sp>
      <p:sp>
        <p:nvSpPr>
          <p:cNvPr id="7" name="TextBox 6"/>
          <p:cNvSpPr txBox="1"/>
          <p:nvPr/>
        </p:nvSpPr>
        <p:spPr>
          <a:xfrm>
            <a:off x="502920" y="2194560"/>
            <a:ext cx="8138160" cy="24917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350">
                <a:solidFill>
                  <a:srgbClr val="D1D5DB"/>
                </a:solidFill>
                <a:latin typeface="Arial"/>
              </a:rPr>
              <a:t>DNS: hierarchy, record types, poisoning and DNSSEC</a:t>
            </a:r>
          </a:p>
          <a:p>
            <a:pPr marL="182880" indent="137160">
              <a:lnSpc>
                <a:spcPct val="108000"/>
              </a:lnSpc>
              <a:spcAft>
                <a:spcPts val="1152"/>
              </a:spcAft>
              <a:buFont typeface="Arial"/>
              <a:buChar char="•"/>
            </a:pPr>
            <a:r>
              <a:rPr sz="1350">
                <a:solidFill>
                  <a:srgbClr val="D1D5DB"/>
                </a:solidFill>
                <a:latin typeface="Arial"/>
              </a:rPr>
              <a:t>DHCP: DORA, rogue servers, starvation and snooping</a:t>
            </a:r>
          </a:p>
          <a:p>
            <a:pPr marL="182880" indent="137160">
              <a:lnSpc>
                <a:spcPct val="108000"/>
              </a:lnSpc>
              <a:spcAft>
                <a:spcPts val="1152"/>
              </a:spcAft>
              <a:buFont typeface="Arial"/>
              <a:buChar char="•"/>
            </a:pPr>
            <a:r>
              <a:rPr sz="1350">
                <a:solidFill>
                  <a:srgbClr val="D1D5DB"/>
                </a:solidFill>
                <a:latin typeface="Arial"/>
              </a:rPr>
              <a:t>NTP and SSH: time integrity, and the encrypted management channel</a:t>
            </a:r>
          </a:p>
          <a:p>
            <a:pPr marL="182880" indent="137160">
              <a:lnSpc>
                <a:spcPct val="108000"/>
              </a:lnSpc>
              <a:spcAft>
                <a:spcPts val="1152"/>
              </a:spcAft>
              <a:buFont typeface="Arial"/>
              <a:buChar char="•"/>
            </a:pPr>
            <a:r>
              <a:rPr sz="1350">
                <a:solidFill>
                  <a:srgbClr val="D1D5DB"/>
                </a:solidFill>
                <a:latin typeface="Arial"/>
              </a:rPr>
              <a:t>Every service is a service, and every service is a target</a:t>
            </a:r>
          </a:p>
        </p:txBody>
      </p:sp>
      <p:sp>
        <p:nvSpPr>
          <p:cNvPr id="8" name="TextBox 7"/>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2</a:t>
            </a:r>
          </a:p>
        </p:txBody>
      </p:sp>
      <p:sp>
        <p:nvSpPr>
          <p:cNvPr id="9" name="TextBox 8"/>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0" name="Picture 9"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1" name="TextBox 10"/>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