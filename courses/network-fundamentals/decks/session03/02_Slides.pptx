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" cy="5143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00000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141414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77639" y="50292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300">
                <a:solidFill>
                  <a:srgbClr val="9CA3AF"/>
                </a:solidFill>
                <a:latin typeface="Arial"/>
              </a:rPr>
              <a:t>TRAINING @ FORREST.ONE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23444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spc="300">
                <a:solidFill>
                  <a:srgbClr val="C22828"/>
                </a:solidFill>
                <a:latin typeface="Arial"/>
              </a:rPr>
              <a:t>SESSION 3 OF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62763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Network Fundamentals + CompTIA Security+ SY0-701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057400"/>
            <a:ext cx="4892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>
                <a:solidFill>
                  <a:srgbClr val="FFFFFF"/>
                </a:solidFill>
                <a:latin typeface="Arial"/>
              </a:rPr>
              <a:t>Network Services &amp; the Attack 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361188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Ports, protocols, documentation, monitoring and recovery, then the core services an attacker can reach.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4224528"/>
            <a:ext cx="919886" cy="310896"/>
          </a:xfrm>
          <a:prstGeom prst="roundRect">
            <a:avLst>
              <a:gd name="adj" fmla="val 50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NETWORK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3830" y="4224528"/>
            <a:ext cx="740664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PORTS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30798" y="42245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OPERATIONS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5822" y="4224528"/>
            <a:ext cx="1009497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484632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7" name="Picture 16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4718304"/>
            <a:ext cx="301752" cy="4551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WELCOME · WHERE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Where Session Three goes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Sessions 1 and 2  </a:t>
            </a:r>
            <a:r>
              <a:rPr sz="1450">
                <a:solidFill>
                  <a:srgbClr val="D1D5DB"/>
                </a:solidFill>
                <a:latin typeface="Arial"/>
              </a:rPr>
              <a:t>models, addressing, switching and architectures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Today  </a:t>
            </a:r>
            <a:r>
              <a:rPr sz="1450">
                <a:solidFill>
                  <a:srgbClr val="D1D5DB"/>
                </a:solidFill>
                <a:latin typeface="Arial"/>
              </a:rPr>
              <a:t>the operations that keep a network running, and the services on it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Chapters 1 to 2  </a:t>
            </a:r>
            <a:r>
              <a:rPr sz="1450">
                <a:solidFill>
                  <a:srgbClr val="D1D5DB"/>
                </a:solidFill>
                <a:latin typeface="Arial"/>
              </a:rPr>
              <a:t>well-known ports, traffic types, documentation and agreements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Chapters 3 to 5  </a:t>
            </a:r>
            <a:r>
              <a:rPr sz="1450">
                <a:solidFill>
                  <a:srgbClr val="D1D5DB"/>
                </a:solidFill>
                <a:latin typeface="Arial"/>
              </a:rPr>
              <a:t>life cycle, controlled change, monitoring and resilience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Chapter 6  </a:t>
            </a:r>
            <a:r>
              <a:rPr sz="1450">
                <a:solidFill>
                  <a:srgbClr val="D1D5DB"/>
                </a:solidFill>
                <a:latin typeface="Arial"/>
              </a:rPr>
              <a:t>the core services: addressing, names, time and remote access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foundation closes  </a:t>
            </a:r>
            <a:r>
              <a:rPr sz="1450">
                <a:solidFill>
                  <a:srgbClr val="D1D5DB"/>
                </a:solidFill>
                <a:latin typeface="Arial"/>
              </a:rPr>
              <a:t>from Session 4 the Security+ core begins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question to hold  </a:t>
            </a:r>
            <a:r>
              <a:rPr sz="1450">
                <a:solidFill>
                  <a:srgbClr val="D1D5DB"/>
                </a:solidFill>
                <a:latin typeface="Arial"/>
              </a:rPr>
              <a:t>what does this service let an attacker 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SESSION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By the end of this session you will be able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Read a port number  </a:t>
            </a:r>
            <a:r>
              <a:rPr sz="1450">
                <a:solidFill>
                  <a:srgbClr val="D1D5DB"/>
                </a:solidFill>
                <a:latin typeface="Arial"/>
              </a:rPr>
              <a:t>and say what the service behind it lets an attacker do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Compare plaintext and encrypted services  </a:t>
            </a:r>
            <a:r>
              <a:rPr sz="1450">
                <a:solidFill>
                  <a:srgbClr val="D1D5DB"/>
                </a:solidFill>
                <a:latin typeface="Arial"/>
              </a:rPr>
              <a:t>FTP and SFTP, Telnet and SSH, HTTP and HTTPS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Describe the traffic types  </a:t>
            </a:r>
            <a:r>
              <a:rPr sz="1450">
                <a:solidFill>
                  <a:srgbClr val="D1D5DB"/>
                </a:solidFill>
                <a:latin typeface="Arial"/>
              </a:rPr>
              <a:t>unicast, broadcast, multicast and anycast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Document a network  </a:t>
            </a:r>
            <a:r>
              <a:rPr sz="1450">
                <a:solidFill>
                  <a:srgbClr val="D1D5DB"/>
                </a:solidFill>
                <a:latin typeface="Arial"/>
              </a:rPr>
              <a:t>diagrams, inventories, address management and service levels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Control change  </a:t>
            </a:r>
            <a:r>
              <a:rPr sz="1450">
                <a:solidFill>
                  <a:srgbClr val="D1D5DB"/>
                </a:solidFill>
                <a:latin typeface="Arial"/>
              </a:rPr>
              <a:t>life cycle, end of support, decommissioning and the change process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Monitor and recover  </a:t>
            </a:r>
            <a:r>
              <a:rPr sz="1450">
                <a:solidFill>
                  <a:srgbClr val="D1D5DB"/>
                </a:solidFill>
                <a:latin typeface="Arial"/>
              </a:rPr>
              <a:t>baselines, logs, SNMP, flow data, recovery objectives and sites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Explain the core services  </a:t>
            </a:r>
            <a:r>
              <a:rPr sz="1450">
                <a:solidFill>
                  <a:srgbClr val="D1D5DB"/>
                </a:solidFill>
                <a:latin typeface="Arial"/>
              </a:rPr>
              <a:t>dynamic addressing, names, time and remote access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Verify on Kali  </a:t>
            </a:r>
            <a:r>
              <a:rPr sz="1450">
                <a:solidFill>
                  <a:srgbClr val="D1D5DB"/>
                </a:solidFill>
                <a:latin typeface="Arial"/>
              </a:rPr>
              <a:t>dig, ss, journalctl and log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1 · PORTS, PROTOCOLS AND TRAFFIC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File Transfer and Remote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FTP  </a:t>
            </a:r>
            <a:r>
              <a:rPr sz="1450">
                <a:solidFill>
                  <a:srgbClr val="D1D5DB"/>
                </a:solidFill>
                <a:latin typeface="Arial"/>
              </a:rPr>
              <a:t>port 21 to control the session, port 20 to move the data, no encryption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SFTP  </a:t>
            </a:r>
            <a:r>
              <a:rPr sz="1450">
                <a:solidFill>
                  <a:srgbClr val="D1D5DB"/>
                </a:solidFill>
                <a:latin typeface="Arial"/>
              </a:rPr>
              <a:t>the same file transfer inside Secure Shell, on port 22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SSH  </a:t>
            </a:r>
            <a:r>
              <a:rPr sz="1450">
                <a:solidFill>
                  <a:srgbClr val="D1D5DB"/>
                </a:solidFill>
                <a:latin typeface="Arial"/>
              </a:rPr>
              <a:t>an encrypted command line on port 22, the modern default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Telnet  </a:t>
            </a:r>
            <a:r>
              <a:rPr sz="1450">
                <a:solidFill>
                  <a:srgbClr val="D1D5DB"/>
                </a:solidFill>
                <a:latin typeface="Arial"/>
              </a:rPr>
              <a:t>port 23, plaintext and legacy; avoid it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RDP  </a:t>
            </a:r>
            <a:r>
              <a:rPr sz="1450">
                <a:solidFill>
                  <a:srgbClr val="D1D5DB"/>
                </a:solidFill>
                <a:latin typeface="Arial"/>
              </a:rPr>
              <a:t>port 3389, a full graphical desktop session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Rule of thumb  </a:t>
            </a:r>
            <a:r>
              <a:rPr sz="1450">
                <a:solidFill>
                  <a:srgbClr val="D1D5DB"/>
                </a:solidFill>
                <a:latin typeface="Arial"/>
              </a:rPr>
              <a:t>if the name has no S, assume plaintext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1 · PORTS, PROTOCOLS AND TRAFFIC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Email, Web and Name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SMTP  </a:t>
            </a:r>
            <a:r>
              <a:rPr sz="1450">
                <a:solidFill>
                  <a:srgbClr val="D1D5DB"/>
                </a:solidFill>
                <a:latin typeface="Arial"/>
              </a:rPr>
              <a:t>port 25 between servers, port 587 for client submission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DNS  </a:t>
            </a:r>
            <a:r>
              <a:rPr sz="1450">
                <a:solidFill>
                  <a:srgbClr val="D1D5DB"/>
                </a:solidFill>
                <a:latin typeface="Arial"/>
              </a:rPr>
              <a:t>port 53: UDP for queries, TCP for zone transfers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DHCP  </a:t>
            </a:r>
            <a:r>
              <a:rPr sz="1450">
                <a:solidFill>
                  <a:srgbClr val="D1D5DB"/>
                </a:solidFill>
                <a:latin typeface="Arial"/>
              </a:rPr>
              <a:t>server on port 67, client on port 68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HTTP  </a:t>
            </a:r>
            <a:r>
              <a:rPr sz="1450">
                <a:solidFill>
                  <a:srgbClr val="D1D5DB"/>
                </a:solidFill>
                <a:latin typeface="Arial"/>
              </a:rPr>
              <a:t>port 80, stateless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HTTPS  </a:t>
            </a:r>
            <a:r>
              <a:rPr sz="1450">
                <a:solidFill>
                  <a:srgbClr val="D1D5DB"/>
                </a:solidFill>
                <a:latin typeface="Arial"/>
              </a:rPr>
              <a:t>port 443, inside Transport Layer Security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Troubleshoot names first  </a:t>
            </a:r>
            <a:r>
              <a:rPr sz="1450">
                <a:solidFill>
                  <a:srgbClr val="D1D5DB"/>
                </a:solidFill>
                <a:latin typeface="Arial"/>
              </a:rPr>
              <a:t>names resolve before anything else, so check port 53 early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1 · PORTS, PROTOCOLS AND TRAFFIC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Management and Communication Ports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91640"/>
          <a:ext cx="81381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554480"/>
                <a:gridCol w="420624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Protocol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Port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Purpose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SNMP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161 UDP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Manager polls a device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SNMP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162 UDP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Device sends a trap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LDAP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389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Directory queries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LDAP over TLS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636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Encrypted directory queries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SIP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5060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Call signalling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SIP over TLS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5061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Encrypted call signalling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069080"/>
            <a:ext cx="8138160" cy="6400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78808"/>
            <a:ext cx="76809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Notice the pattern: the protected form always moves to a different port. Port 389 becomes 636, and 5060 becomes 5061.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1 · PORTS, PROTOCOLS AND TRAFFIC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How Traffic Is Addressed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Unicast  </a:t>
            </a:r>
            <a:r>
              <a:rPr sz="1450">
                <a:solidFill>
                  <a:srgbClr val="D1D5DB"/>
                </a:solidFill>
                <a:latin typeface="Arial"/>
              </a:rPr>
              <a:t>one sender to one receiver, the everyday case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Broadcast  </a:t>
            </a:r>
            <a:r>
              <a:rPr sz="1450">
                <a:solidFill>
                  <a:srgbClr val="D1D5DB"/>
                </a:solidFill>
                <a:latin typeface="Arial"/>
              </a:rPr>
              <a:t>one sender to every device on the segment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Contained  </a:t>
            </a:r>
            <a:r>
              <a:rPr sz="1450">
                <a:solidFill>
                  <a:srgbClr val="D1D5DB"/>
                </a:solidFill>
                <a:latin typeface="Arial"/>
              </a:rPr>
              <a:t>a broadcast stays inside one subnet to limit the noise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Multicast  </a:t>
            </a:r>
            <a:r>
              <a:rPr sz="1450">
                <a:solidFill>
                  <a:srgbClr val="D1D5DB"/>
                </a:solidFill>
                <a:latin typeface="Arial"/>
              </a:rPr>
              <a:t>one sender to the group that joined the stream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Anycast  </a:t>
            </a:r>
            <a:r>
              <a:rPr sz="1450">
                <a:solidFill>
                  <a:srgbClr val="D1D5DB"/>
                </a:solidFill>
                <a:latin typeface="Arial"/>
              </a:rPr>
              <a:t>one sender to the nearest of many sharing one address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Why anycast matters  </a:t>
            </a:r>
            <a:r>
              <a:rPr sz="1450">
                <a:solidFill>
                  <a:srgbClr val="D1D5DB"/>
                </a:solidFill>
                <a:latin typeface="Arial"/>
              </a:rPr>
              <a:t>global name servers and content networks scale on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1381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Which service would you close first on an internet-facing router?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718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 w="15875">
            <a:solidFill>
              <a:srgbClr val="A8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090672"/>
            <a:ext cx="7589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Telnet on port 23 and FTP on port 21 send credentials in clear text, and both have encrypted replacements already: SSH on 22 and SFTP on 22. Then ask which management ports, such as SNMP on 161 or LDAP on 389, genuinely need to be reachable from outside.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CA3AF"/>
                </a:solidFill>
                <a:latin typeface="Arial"/>
              </a:rPr>
              <a:t>Every open port is a decision. Every service you do not need is attack surface you did not have to defend.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2 · DOCUMENTATION, AGREEMENTS AND SURVEYS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Physical and Logical Diagrams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91640"/>
          <a:ext cx="813816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566160"/>
                <a:gridCol w="320040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Diagram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Shows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Answers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Physical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Devices, ports in use, cable runs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Where the cable actually goes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Logical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Addressing, VLAN segments, traffic flow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How the traffic actually moves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2743200"/>
            <a:ext cx="8138160" cy="73152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52928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One workstation drops: reach for the physical diagram and find the dead port. Everything is slow: reach for the logical diagram and find the route that is too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2 · DOCUMENTATION, AGREEMENTS AND SURVEYS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Specialised Diagrams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Rack diagram  </a:t>
            </a:r>
            <a:r>
              <a:rPr sz="1450">
                <a:solidFill>
                  <a:srgbClr val="D1D5DB"/>
                </a:solidFill>
                <a:latin typeface="Arial"/>
              </a:rPr>
              <a:t>the unit position of each device, and its power feeds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One rack unit  </a:t>
            </a:r>
            <a:r>
              <a:rPr sz="1450">
                <a:solidFill>
                  <a:srgbClr val="D1D5DB"/>
                </a:solidFill>
                <a:latin typeface="Arial"/>
              </a:rPr>
              <a:t>1.75 inches of vertical space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Cable map  </a:t>
            </a:r>
            <a:r>
              <a:rPr sz="1450">
                <a:solidFill>
                  <a:srgbClr val="D1D5DB"/>
                </a:solidFill>
                <a:latin typeface="Arial"/>
              </a:rPr>
              <a:t>cable paths, labels and both termination points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Wiring schematic  </a:t>
            </a:r>
            <a:r>
              <a:rPr sz="1450">
                <a:solidFill>
                  <a:srgbClr val="D1D5DB"/>
                </a:solidFill>
                <a:latin typeface="Arial"/>
              </a:rPr>
              <a:t>structured cabling, patch panels and distribution frames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Floor plan  </a:t>
            </a:r>
            <a:r>
              <a:rPr sz="1450">
                <a:solidFill>
                  <a:srgbClr val="D1D5DB"/>
                </a:solidFill>
                <a:latin typeface="Arial"/>
              </a:rPr>
              <a:t>equipment rooms, cable tray routes and access points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Use the drawing  </a:t>
            </a:r>
            <a:r>
              <a:rPr sz="1450">
                <a:solidFill>
                  <a:srgbClr val="D1D5DB"/>
                </a:solidFill>
                <a:latin typeface="Arial"/>
              </a:rPr>
              <a:t>to plan the change, not only to record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2 · DOCUMENTATION, AGREEMENTS AND SURVEYS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Asset Inventory and Address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Asset record  </a:t>
            </a:r>
            <a:r>
              <a:rPr sz="1450">
                <a:solidFill>
                  <a:srgbClr val="D1D5DB"/>
                </a:solidFill>
                <a:latin typeface="Arial"/>
              </a:rPr>
              <a:t>serial number, location, configuration and owner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Software record  </a:t>
            </a:r>
            <a:r>
              <a:rPr sz="1450">
                <a:solidFill>
                  <a:srgbClr val="D1D5DB"/>
                </a:solidFill>
                <a:latin typeface="Arial"/>
              </a:rPr>
              <a:t>version, licence key and installation location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Warranties  </a:t>
            </a:r>
            <a:r>
              <a:rPr sz="1450">
                <a:solidFill>
                  <a:srgbClr val="D1D5DB"/>
                </a:solidFill>
                <a:latin typeface="Arial"/>
              </a:rPr>
              <a:t>and service agreements, with their end dates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Address management  </a:t>
            </a:r>
            <a:r>
              <a:rPr sz="1450">
                <a:solidFill>
                  <a:srgbClr val="D1D5DB"/>
                </a:solidFill>
                <a:latin typeface="Arial"/>
              </a:rPr>
              <a:t>tracks every static and dynamic allocation in one place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Integration  </a:t>
            </a:r>
            <a:r>
              <a:rPr sz="1450">
                <a:solidFill>
                  <a:srgbClr val="D1D5DB"/>
                </a:solidFill>
                <a:latin typeface="Arial"/>
              </a:rPr>
              <a:t>address changes flow into the name system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Conflict detection  </a:t>
            </a:r>
            <a:r>
              <a:rPr sz="1450">
                <a:solidFill>
                  <a:srgbClr val="D1D5DB"/>
                </a:solidFill>
                <a:latin typeface="Arial"/>
              </a:rPr>
              <a:t>finds duplicate addresses before your users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2 · DOCUMENTATION, AGREEMENTS AND SURVEYS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Service Level Agreements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What it defines  </a:t>
            </a:r>
            <a:r>
              <a:rPr sz="1450">
                <a:solidFill>
                  <a:srgbClr val="D1D5DB"/>
                </a:solidFill>
                <a:latin typeface="Arial"/>
              </a:rPr>
              <a:t>uptime, response time and resolution time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Each additional nine  </a:t>
            </a:r>
            <a:r>
              <a:rPr sz="1450">
                <a:solidFill>
                  <a:srgbClr val="D1D5DB"/>
                </a:solidFill>
                <a:latin typeface="Arial"/>
              </a:rPr>
              <a:t>cuts permitted downtime roughly tenfold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Design consequence  </a:t>
            </a:r>
            <a:r>
              <a:rPr sz="1450">
                <a:solidFill>
                  <a:srgbClr val="D1D5DB"/>
                </a:solidFill>
                <a:latin typeface="Arial"/>
              </a:rPr>
              <a:t>uptime targets drive redundancy and failover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Internal agreement  </a:t>
            </a:r>
            <a:r>
              <a:rPr sz="1450">
                <a:solidFill>
                  <a:srgbClr val="D1D5DB"/>
                </a:solidFill>
                <a:latin typeface="Arial"/>
              </a:rPr>
              <a:t>between IT and other business units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External agreement  </a:t>
            </a:r>
            <a:r>
              <a:rPr sz="1450">
                <a:solidFill>
                  <a:srgbClr val="D1D5DB"/>
                </a:solidFill>
                <a:latin typeface="Arial"/>
              </a:rPr>
              <a:t>with a provider, backed by service credits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catch  </a:t>
            </a:r>
            <a:r>
              <a:rPr sz="1450">
                <a:solidFill>
                  <a:srgbClr val="D1D5DB"/>
                </a:solidFill>
                <a:latin typeface="Arial"/>
              </a:rPr>
              <a:t>every clause you sign has a build cost attached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2 · DOCUMENTATION, AGREEMENTS AND SURVEYS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Wireless Site Surveys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Predictive survey  </a:t>
            </a:r>
            <a:r>
              <a:rPr sz="1450">
                <a:solidFill>
                  <a:srgbClr val="D1D5DB"/>
                </a:solidFill>
                <a:latin typeface="Arial"/>
              </a:rPr>
              <a:t>before installation: floor plan plus modelling software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Validation survey  </a:t>
            </a:r>
            <a:r>
              <a:rPr sz="1450">
                <a:solidFill>
                  <a:srgbClr val="D1D5DB"/>
                </a:solidFill>
                <a:latin typeface="Arial"/>
              </a:rPr>
              <a:t>after installation: measured signal, noise and throughput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Heat map  </a:t>
            </a:r>
            <a:r>
              <a:rPr sz="1450">
                <a:solidFill>
                  <a:srgbClr val="D1D5DB"/>
                </a:solidFill>
                <a:latin typeface="Arial"/>
              </a:rPr>
              <a:t>signal strength, noise floor and channel utilisation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Lower band  </a:t>
            </a:r>
            <a:r>
              <a:rPr sz="1450">
                <a:solidFill>
                  <a:srgbClr val="D1D5DB"/>
                </a:solidFill>
                <a:latin typeface="Arial"/>
              </a:rPr>
              <a:t>three non-overlapping channels: 1, 6 and 11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Higher band  </a:t>
            </a:r>
            <a:r>
              <a:rPr sz="1450">
                <a:solidFill>
                  <a:srgbClr val="D1D5DB"/>
                </a:solidFill>
                <a:latin typeface="Arial"/>
              </a:rPr>
              <a:t>many more non-overlapping channels, shorter range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What the data decides  </a:t>
            </a:r>
            <a:r>
              <a:rPr sz="1450">
                <a:solidFill>
                  <a:srgbClr val="D1D5DB"/>
                </a:solidFill>
                <a:latin typeface="Arial"/>
              </a:rPr>
              <a:t>access point placement and the channel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3 · LIFE-CYCLE AND CONTROLLED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Life-Cycle and Firmware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End of Life  </a:t>
            </a:r>
            <a:r>
              <a:rPr sz="1450">
                <a:solidFill>
                  <a:srgbClr val="D1D5DB"/>
                </a:solidFill>
                <a:latin typeface="Arial"/>
              </a:rPr>
              <a:t>the vendor stops selling the product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End of Support  </a:t>
            </a:r>
            <a:r>
              <a:rPr sz="1450">
                <a:solidFill>
                  <a:srgbClr val="D1D5DB"/>
                </a:solidFill>
                <a:latin typeface="Arial"/>
              </a:rPr>
              <a:t>no more patches arrive; this is the security cliff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Unsupported equipment  </a:t>
            </a:r>
            <a:r>
              <a:rPr sz="1450">
                <a:solidFill>
                  <a:srgbClr val="D1D5DB"/>
                </a:solidFill>
                <a:latin typeface="Arial"/>
              </a:rPr>
              <a:t>keeps every flaw found afterwards open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Update path  </a:t>
            </a:r>
            <a:r>
              <a:rPr sz="1450">
                <a:solidFill>
                  <a:srgbClr val="D1D5DB"/>
                </a:solidFill>
                <a:latin typeface="Arial"/>
              </a:rPr>
              <a:t>download, verify the source, stage, test, deploy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Version control  </a:t>
            </a:r>
            <a:r>
              <a:rPr sz="1450">
                <a:solidFill>
                  <a:srgbClr val="D1D5DB"/>
                </a:solidFill>
                <a:latin typeface="Arial"/>
              </a:rPr>
              <a:t>keeps similar devices on one version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Rollback  </a:t>
            </a:r>
            <a:r>
              <a:rPr sz="1450">
                <a:solidFill>
                  <a:srgbClr val="D1D5DB"/>
                </a:solidFill>
                <a:latin typeface="Arial"/>
              </a:rPr>
              <a:t>a tested rollback plan, inside a maintenance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3 · LIFE-CYCLE AND CONTROLLED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Asset Decommissioning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Sanitise first  </a:t>
            </a:r>
            <a:r>
              <a:rPr sz="1450">
                <a:solidFill>
                  <a:srgbClr val="D1D5DB"/>
                </a:solidFill>
                <a:latin typeface="Arial"/>
              </a:rPr>
              <a:t>factory reset and erase the configuration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Certificates and accounts  </a:t>
            </a:r>
            <a:r>
              <a:rPr sz="1450">
                <a:solidFill>
                  <a:srgbClr val="D1D5DB"/>
                </a:solidFill>
                <a:latin typeface="Arial"/>
              </a:rPr>
              <a:t>remove certificates, delete stored credentials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Physical destruction  </a:t>
            </a:r>
            <a:r>
              <a:rPr sz="1450">
                <a:solidFill>
                  <a:srgbClr val="D1D5DB"/>
                </a:solidFill>
                <a:latin typeface="Arial"/>
              </a:rPr>
              <a:t>the strongest assurance for storage media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Degaussing and overwriting  </a:t>
            </a:r>
            <a:r>
              <a:rPr sz="1450">
                <a:solidFill>
                  <a:srgbClr val="D1D5DB"/>
                </a:solidFill>
                <a:latin typeface="Arial"/>
              </a:rPr>
              <a:t>for magnetic media and less sensitive data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Environmental duty  </a:t>
            </a:r>
            <a:r>
              <a:rPr sz="1450">
                <a:solidFill>
                  <a:srgbClr val="D1D5DB"/>
                </a:solidFill>
                <a:latin typeface="Arial"/>
              </a:rPr>
              <a:t>certified recycling under electronic waste rules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Then the records  </a:t>
            </a:r>
            <a:r>
              <a:rPr sz="1450">
                <a:solidFill>
                  <a:srgbClr val="D1D5DB"/>
                </a:solidFill>
                <a:latin typeface="Arial"/>
              </a:rPr>
              <a:t>update inventory, diagrams and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3 · LIFE-CYCLE AND CONTROLLED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Controlled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problem  </a:t>
            </a:r>
            <a:r>
              <a:rPr sz="1450">
                <a:solidFill>
                  <a:srgbClr val="D1D5DB"/>
                </a:solidFill>
                <a:latin typeface="Arial"/>
              </a:rPr>
              <a:t>uncontrolled change is a leading cause of outage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Change Advisory Board  </a:t>
            </a:r>
            <a:r>
              <a:rPr sz="1450">
                <a:solidFill>
                  <a:srgbClr val="D1D5DB"/>
                </a:solidFill>
                <a:latin typeface="Arial"/>
              </a:rPr>
              <a:t>reviews and approves anything that disrupts service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Standard change  </a:t>
            </a:r>
            <a:r>
              <a:rPr sz="1450">
                <a:solidFill>
                  <a:srgbClr val="D1D5DB"/>
                </a:solidFill>
                <a:latin typeface="Arial"/>
              </a:rPr>
              <a:t>routine and pre-approved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Normal change  </a:t>
            </a:r>
            <a:r>
              <a:rPr sz="1450">
                <a:solidFill>
                  <a:srgbClr val="D1D5DB"/>
                </a:solidFill>
                <a:latin typeface="Arial"/>
              </a:rPr>
              <a:t>planned, tested and reviewed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Emergency change  </a:t>
            </a:r>
            <a:r>
              <a:rPr sz="1450">
                <a:solidFill>
                  <a:srgbClr val="D1D5DB"/>
                </a:solidFill>
                <a:latin typeface="Arial"/>
              </a:rPr>
              <a:t>implemented first, reviewed afterwards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Every request carries  </a:t>
            </a:r>
            <a:r>
              <a:rPr sz="1450">
                <a:solidFill>
                  <a:srgbClr val="D1D5DB"/>
                </a:solidFill>
                <a:latin typeface="Arial"/>
              </a:rPr>
              <a:t>justification, risk, impact, rollback and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3 · LIFE-CYCLE AND CONTROLLED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document you did not update is the one you will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Four records  </a:t>
            </a:r>
            <a:r>
              <a:rPr sz="1450">
                <a:solidFill>
                  <a:srgbClr val="D1D5DB"/>
                </a:solidFill>
                <a:latin typeface="Arial"/>
              </a:rPr>
              <a:t>the network diagram, the asset inventory, the configuration baseline and the monitoring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Skip one  </a:t>
            </a:r>
            <a:r>
              <a:rPr sz="1450">
                <a:solidFill>
                  <a:srgbClr val="D1D5DB"/>
                </a:solidFill>
                <a:latin typeface="Arial"/>
              </a:rPr>
              <a:t>and the next engineer works from fiction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Worse than nothing  </a:t>
            </a:r>
            <a:r>
              <a:rPr sz="1450">
                <a:solidFill>
                  <a:srgbClr val="D1D5DB"/>
                </a:solidFill>
                <a:latin typeface="Arial"/>
              </a:rPr>
              <a:t>a diagram that disagrees with reality earns confidence it has not deserved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91840"/>
            <a:ext cx="8138160" cy="65836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01568"/>
            <a:ext cx="7680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Make documentation part of the change itself, with a named owner, rather than a chore for later.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4 · CONFIGURATION AND MONITORING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Configuration Management and Backups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Production configuration  </a:t>
            </a:r>
            <a:r>
              <a:rPr sz="1450">
                <a:solidFill>
                  <a:srgbClr val="D1D5DB"/>
                </a:solidFill>
                <a:latin typeface="Arial"/>
              </a:rPr>
              <a:t>what the device is running right now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Baseline configuration  </a:t>
            </a:r>
            <a:r>
              <a:rPr sz="1450">
                <a:solidFill>
                  <a:srgbClr val="D1D5DB"/>
                </a:solidFill>
                <a:latin typeface="Arial"/>
              </a:rPr>
              <a:t>the approved template for that device type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Configuration drift  </a:t>
            </a:r>
            <a:r>
              <a:rPr sz="1450">
                <a:solidFill>
                  <a:srgbClr val="D1D5DB"/>
                </a:solidFill>
                <a:latin typeface="Arial"/>
              </a:rPr>
              <a:t>slow divergence from the baseline, one tweak at a time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Compliance checking  </a:t>
            </a:r>
            <a:r>
              <a:rPr sz="1450">
                <a:solidFill>
                  <a:srgbClr val="D1D5DB"/>
                </a:solidFill>
                <a:latin typeface="Arial"/>
              </a:rPr>
              <a:t>compares running settings against policy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Backup routes  </a:t>
            </a:r>
            <a:r>
              <a:rPr sz="1450">
                <a:solidFill>
                  <a:srgbClr val="D1D5DB"/>
                </a:solidFill>
                <a:latin typeface="Arial"/>
              </a:rPr>
              <a:t>manual export, scheduled capture or triggered on change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Keep three copies  </a:t>
            </a:r>
            <a:r>
              <a:rPr sz="1450">
                <a:solidFill>
                  <a:srgbClr val="D1D5DB"/>
                </a:solidFill>
                <a:latin typeface="Arial"/>
              </a:rPr>
              <a:t>locally, in version control and off site, then test a restore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4 · CONFIGURATION AND MONITORING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Simple Network Management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model  </a:t>
            </a:r>
            <a:r>
              <a:rPr sz="1450">
                <a:solidFill>
                  <a:srgbClr val="D1D5DB"/>
                </a:solidFill>
                <a:latin typeface="Arial"/>
              </a:rPr>
              <a:t>a manager asks, an agent answers, a database holds the values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Object identifiers  </a:t>
            </a:r>
            <a:r>
              <a:rPr sz="1450">
                <a:solidFill>
                  <a:srgbClr val="D1D5DB"/>
                </a:solidFill>
                <a:latin typeface="Arial"/>
              </a:rPr>
              <a:t>name each value that can be requested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GET and SET  </a:t>
            </a:r>
            <a:r>
              <a:rPr sz="1450">
                <a:solidFill>
                  <a:srgbClr val="D1D5DB"/>
                </a:solidFill>
                <a:latin typeface="Arial"/>
              </a:rPr>
              <a:t>GET reads a value, SET changes one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TRAP  </a:t>
            </a:r>
            <a:r>
              <a:rPr sz="1450">
                <a:solidFill>
                  <a:srgbClr val="D1D5DB"/>
                </a:solidFill>
                <a:latin typeface="Arial"/>
              </a:rPr>
              <a:t>the unsolicited alert when something crosses a threshold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Ports  </a:t>
            </a:r>
            <a:r>
              <a:rPr sz="1450">
                <a:solidFill>
                  <a:srgbClr val="D1D5DB"/>
                </a:solidFill>
                <a:latin typeface="Arial"/>
              </a:rPr>
              <a:t>161 for requests, 162 for traps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Authentication  </a:t>
            </a:r>
            <a:r>
              <a:rPr sz="1450">
                <a:solidFill>
                  <a:srgbClr val="D1D5DB"/>
                </a:solidFill>
                <a:latin typeface="Arial"/>
              </a:rPr>
              <a:t>a community string is a plaintext password; use version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4 · CONFIGURATION AND MONITORING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Flow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 flow record  </a:t>
            </a:r>
            <a:r>
              <a:rPr sz="1450">
                <a:solidFill>
                  <a:srgbClr val="D1D5DB"/>
                </a:solidFill>
                <a:latin typeface="Arial"/>
              </a:rPr>
              <a:t>summarises a conversation, not a packet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NetFlow  </a:t>
            </a:r>
            <a:r>
              <a:rPr sz="1450">
                <a:solidFill>
                  <a:srgbClr val="D1D5DB"/>
                </a:solidFill>
                <a:latin typeface="Arial"/>
              </a:rPr>
              <a:t>records collected as traffic crosses an interface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sFlow  </a:t>
            </a:r>
            <a:r>
              <a:rPr sz="1450">
                <a:solidFill>
                  <a:srgbClr val="D1D5DB"/>
                </a:solidFill>
                <a:latin typeface="Arial"/>
              </a:rPr>
              <a:t>samples packets at intervals, suited to fast links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IPFIX  </a:t>
            </a:r>
            <a:r>
              <a:rPr sz="1450">
                <a:solidFill>
                  <a:srgbClr val="D1D5DB"/>
                </a:solidFill>
                <a:latin typeface="Arial"/>
              </a:rPr>
              <a:t>the standard export that grew out of NetFlow version 9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What a flow holds  </a:t>
            </a:r>
            <a:r>
              <a:rPr sz="1450">
                <a:solidFill>
                  <a:srgbClr val="D1D5DB"/>
                </a:solidFill>
                <a:latin typeface="Arial"/>
              </a:rPr>
              <a:t>addresses, ports, protocol, byte counts, timestamps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advantage  </a:t>
            </a:r>
            <a:r>
              <a:rPr sz="1450">
                <a:solidFill>
                  <a:srgbClr val="D1D5DB"/>
                </a:solidFill>
                <a:latin typeface="Arial"/>
              </a:rPr>
              <a:t>lower overhead and longer retention than full capture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4 · CONFIGURATION AND MONITORING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Flow Records or Full Capture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91640"/>
          <a:ext cx="8138159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017520"/>
                <a:gridCol w="3291839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Question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Flow records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Full capture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What it holds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Summary of a conversation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Every byte of every packet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Cost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Low storage, long retention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High storage, short retention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Best for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Trends, capacity, floods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Protocol faults, malware detail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Tools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NetFlow, sFlow, IPFIX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Wireshark, tcpdump, port mirroring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520440"/>
            <a:ext cx="8138160" cy="73152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30168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Start with flow records for the shape of the day. Move to full capture only to read what was said, and only with authority: packets hold personal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5 · BASELINES, LOGS AND RESILIENCE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Baselines and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 baseline records  </a:t>
            </a:r>
            <a:r>
              <a:rPr sz="1450">
                <a:solidFill>
                  <a:srgbClr val="D1D5DB"/>
                </a:solidFill>
                <a:latin typeface="Arial"/>
              </a:rPr>
              <a:t>bandwidth, latency, error rate and device load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Compare  </a:t>
            </a:r>
            <a:r>
              <a:rPr sz="1450">
                <a:solidFill>
                  <a:srgbClr val="D1D5DB"/>
                </a:solidFill>
                <a:latin typeface="Arial"/>
              </a:rPr>
              <a:t>today against the baseline, not against a hunch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Threshold alerting  </a:t>
            </a:r>
            <a:r>
              <a:rPr sz="1450">
                <a:solidFill>
                  <a:srgbClr val="D1D5DB"/>
                </a:solidFill>
                <a:latin typeface="Arial"/>
              </a:rPr>
              <a:t>simple to build, fires on fixed limits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Anomaly detection  </a:t>
            </a:r>
            <a:r>
              <a:rPr sz="1450">
                <a:solidFill>
                  <a:srgbClr val="D1D5DB"/>
                </a:solidFill>
                <a:latin typeface="Arial"/>
              </a:rPr>
              <a:t>watches the shape of the data instead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Trending  </a:t>
            </a:r>
            <a:r>
              <a:rPr sz="1450">
                <a:solidFill>
                  <a:srgbClr val="D1D5DB"/>
                </a:solidFill>
                <a:latin typeface="Arial"/>
              </a:rPr>
              <a:t>turns those records into a capacity forecast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Keep it honest  </a:t>
            </a:r>
            <a:r>
              <a:rPr sz="1450">
                <a:solidFill>
                  <a:srgbClr val="D1D5DB"/>
                </a:solidFill>
                <a:latin typeface="Arial"/>
              </a:rPr>
              <a:t>a baseline is only valid until the network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5 · BASELINES, LOGS AND RESILIENCE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Logs and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Log aggregation  </a:t>
            </a:r>
            <a:r>
              <a:rPr sz="1450">
                <a:solidFill>
                  <a:srgbClr val="D1D5DB"/>
                </a:solidFill>
                <a:latin typeface="Arial"/>
              </a:rPr>
              <a:t>one searchable repository for every device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Syslog  </a:t>
            </a:r>
            <a:r>
              <a:rPr sz="1450">
                <a:solidFill>
                  <a:srgbClr val="D1D5DB"/>
                </a:solidFill>
                <a:latin typeface="Arial"/>
              </a:rPr>
              <a:t>carries source, timestamp and message to a log server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Severity  </a:t>
            </a:r>
            <a:r>
              <a:rPr sz="1450">
                <a:solidFill>
                  <a:srgbClr val="D1D5DB"/>
                </a:solidFill>
                <a:latin typeface="Arial"/>
              </a:rPr>
              <a:t>zero is emergency, seven is debug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 SIEM  </a:t>
            </a:r>
            <a:r>
              <a:rPr sz="1450">
                <a:solidFill>
                  <a:srgbClr val="D1D5DB"/>
                </a:solidFill>
                <a:latin typeface="Arial"/>
              </a:rPr>
              <a:t>correlates across sources to find the pattern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Interfaces  </a:t>
            </a:r>
            <a:r>
              <a:rPr sz="1450">
                <a:solidFill>
                  <a:srgbClr val="D1D5DB"/>
                </a:solidFill>
                <a:latin typeface="Arial"/>
              </a:rPr>
              <a:t>pull logs from cloud services into the same place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Automation  </a:t>
            </a:r>
            <a:r>
              <a:rPr sz="1450">
                <a:solidFill>
                  <a:srgbClr val="D1D5DB"/>
                </a:solidFill>
                <a:latin typeface="Arial"/>
              </a:rPr>
              <a:t>can block a source or raise a case on one 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5 · BASELINES, LOGS AND RESILIENCE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Disaster Recovery Metrics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91640"/>
          <a:ext cx="81381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834640"/>
                <a:gridCol w="2651760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Question it answers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it drives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Recovery Point Objective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How much data may we lose?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Backup frequency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Recovery Time Objective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How long may we be down?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Redundancy and failover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Mean Time To Repair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How fast do we restore service?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Repair process and spares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Mean Time Between Failures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How long before a failure?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Maintenance and refresh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474720"/>
            <a:ext cx="8138160" cy="59436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84448"/>
            <a:ext cx="768096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Low numbers cost money. Agree them with the business, do not invent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5 · BASELINES, LOGS AND RESILIENCE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Disaster Recovery Sites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Cold site  </a:t>
            </a:r>
            <a:r>
              <a:rPr sz="1450">
                <a:solidFill>
                  <a:srgbClr val="D1D5DB"/>
                </a:solidFill>
                <a:latin typeface="Arial"/>
              </a:rPr>
              <a:t>space, power and connectivity, no equipment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Warm site  </a:t>
            </a:r>
            <a:r>
              <a:rPr sz="1450">
                <a:solidFill>
                  <a:srgbClr val="D1D5DB"/>
                </a:solidFill>
                <a:latin typeface="Arial"/>
              </a:rPr>
              <a:t>some equipment in place, data not current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Hot site  </a:t>
            </a:r>
            <a:r>
              <a:rPr sz="1450">
                <a:solidFill>
                  <a:srgbClr val="D1D5DB"/>
                </a:solidFill>
                <a:latin typeface="Arial"/>
              </a:rPr>
              <a:t>a live mirror: fastest recovery, highest cost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Distance  </a:t>
            </a:r>
            <a:r>
              <a:rPr sz="1450">
                <a:solidFill>
                  <a:srgbClr val="D1D5DB"/>
                </a:solidFill>
                <a:latin typeface="Arial"/>
              </a:rPr>
              <a:t>far enough away to miss the same disaster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Latency  </a:t>
            </a:r>
            <a:r>
              <a:rPr sz="1450">
                <a:solidFill>
                  <a:srgbClr val="D1D5DB"/>
                </a:solidFill>
                <a:latin typeface="Arial"/>
              </a:rPr>
              <a:t>close enough to keep replication workable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Regulation  </a:t>
            </a:r>
            <a:r>
              <a:rPr sz="1450">
                <a:solidFill>
                  <a:srgbClr val="D1D5DB"/>
                </a:solidFill>
                <a:latin typeface="Arial"/>
              </a:rPr>
              <a:t>can decide where the data is allowed to sit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5 · BASELINES, LOGS AND RESILIENCE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High Availability Architectures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Active-active  </a:t>
            </a:r>
            <a:r>
              <a:rPr sz="1450">
                <a:solidFill>
                  <a:srgbClr val="D1D5DB"/>
                </a:solidFill>
                <a:latin typeface="Arial"/>
              </a:rPr>
              <a:t>every node serves traffic and shares the load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Active-passive  </a:t>
            </a:r>
            <a:r>
              <a:rPr sz="1450">
                <a:solidFill>
                  <a:srgbClr val="D1D5DB"/>
                </a:solidFill>
                <a:latin typeface="Arial"/>
              </a:rPr>
              <a:t>a standby waits for a heartbeat to stop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Load balancing  </a:t>
            </a:r>
            <a:r>
              <a:rPr sz="1450">
                <a:solidFill>
                  <a:srgbClr val="D1D5DB"/>
                </a:solidFill>
                <a:latin typeface="Arial"/>
              </a:rPr>
              <a:t>spreads requests and steers away from dead nodes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Geographic redundancy  </a:t>
            </a:r>
            <a:r>
              <a:rPr sz="1450">
                <a:solidFill>
                  <a:srgbClr val="D1D5DB"/>
                </a:solidFill>
                <a:latin typeface="Arial"/>
              </a:rPr>
              <a:t>survives the loss of a whole region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Stretched cluster  </a:t>
            </a:r>
            <a:r>
              <a:rPr sz="1450">
                <a:solidFill>
                  <a:srgbClr val="D1D5DB"/>
                </a:solidFill>
                <a:latin typeface="Arial"/>
              </a:rPr>
              <a:t>spans two sites as a single cluster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bill  </a:t>
            </a:r>
            <a:r>
              <a:rPr sz="1450">
                <a:solidFill>
                  <a:srgbClr val="D1D5DB"/>
                </a:solidFill>
                <a:latin typeface="Arial"/>
              </a:rPr>
              <a:t>faster recovery always costs more capacity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5 · BASELINES, LOGS AND RESILIENCE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Disaster Recovery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rule  </a:t>
            </a:r>
            <a:r>
              <a:rPr sz="1450">
                <a:solidFill>
                  <a:srgbClr val="D1D5DB"/>
                </a:solidFill>
                <a:latin typeface="Arial"/>
              </a:rPr>
              <a:t>a plan that has never been tested is unproven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Tabletop  </a:t>
            </a:r>
            <a:r>
              <a:rPr sz="1450">
                <a:solidFill>
                  <a:srgbClr val="D1D5DB"/>
                </a:solidFill>
                <a:latin typeface="Arial"/>
              </a:rPr>
              <a:t>walk the plan through as a discussion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Simulation  </a:t>
            </a:r>
            <a:r>
              <a:rPr sz="1450">
                <a:solidFill>
                  <a:srgbClr val="D1D5DB"/>
                </a:solidFill>
                <a:latin typeface="Arial"/>
              </a:rPr>
              <a:t>perform the recovery tasks away from production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Parallel test  </a:t>
            </a:r>
            <a:r>
              <a:rPr sz="1450">
                <a:solidFill>
                  <a:srgbClr val="D1D5DB"/>
                </a:solidFill>
                <a:latin typeface="Arial"/>
              </a:rPr>
              <a:t>run recovery alongside live traffic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Full failover  </a:t>
            </a:r>
            <a:r>
              <a:rPr sz="1450">
                <a:solidFill>
                  <a:srgbClr val="D1D5DB"/>
                </a:solidFill>
                <a:latin typeface="Arial"/>
              </a:rPr>
              <a:t>switch everything; the only complete proof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Afterwards  </a:t>
            </a:r>
            <a:r>
              <a:rPr sz="1450">
                <a:solidFill>
                  <a:srgbClr val="D1D5DB"/>
                </a:solidFill>
                <a:latin typeface="Arial"/>
              </a:rPr>
              <a:t>document every test and repeat at least once a 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69164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spc="500">
                <a:solidFill>
                  <a:srgbClr val="FFFFFF"/>
                </a:solidFill>
                <a:latin typeface="Arial"/>
              </a:rPr>
              <a:t>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spc="200">
                <a:solidFill>
                  <a:srgbClr val="F3D9D9"/>
                </a:solidFill>
                <a:latin typeface="Arial"/>
              </a:rPr>
              <a:t>10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9476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D1D5DB"/>
                </a:solidFill>
                <a:latin typeface="Arial"/>
              </a:rPr>
              <a:t>Back soon: the core services everything leans on, and the commands that verify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0" name="Picture 9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6 · CORE SERVICES AND REMOTE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Dynamic Addressing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exchange  </a:t>
            </a:r>
            <a:r>
              <a:rPr sz="1450">
                <a:solidFill>
                  <a:srgbClr val="D1D5DB"/>
                </a:solidFill>
                <a:latin typeface="Arial"/>
              </a:rPr>
              <a:t>discover, offer, request, acknowledge: recite DORA from memory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From nothing  </a:t>
            </a:r>
            <a:r>
              <a:rPr sz="1450">
                <a:solidFill>
                  <a:srgbClr val="D1D5DB"/>
                </a:solidFill>
                <a:latin typeface="Arial"/>
              </a:rPr>
              <a:t>the client asks from no address at all, to the broadcast address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Relay agent  </a:t>
            </a:r>
            <a:r>
              <a:rPr sz="1450">
                <a:solidFill>
                  <a:srgbClr val="D1D5DB"/>
                </a:solidFill>
                <a:latin typeface="Arial"/>
              </a:rPr>
              <a:t>carries the conversation to a server on another subnet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Reservation  </a:t>
            </a:r>
            <a:r>
              <a:rPr sz="1450">
                <a:solidFill>
                  <a:srgbClr val="D1D5DB"/>
                </a:solidFill>
                <a:latin typeface="Arial"/>
              </a:rPr>
              <a:t>pins one address to one hardware address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Scope options  </a:t>
            </a:r>
            <a:r>
              <a:rPr sz="1450">
                <a:solidFill>
                  <a:srgbClr val="D1D5DB"/>
                </a:solidFill>
                <a:latin typeface="Arial"/>
              </a:rPr>
              <a:t>deliver gateway, name servers and domain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Failover  </a:t>
            </a:r>
            <a:r>
              <a:rPr sz="1450">
                <a:solidFill>
                  <a:srgbClr val="D1D5DB"/>
                </a:solidFill>
                <a:latin typeface="Arial"/>
              </a:rPr>
              <a:t>one server stands by, or both share the load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A client accepts the first offer it receives. That is the risk an attacker exploits.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6 · CORE SERVICES AND REMOTE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Automatic Addressing in Version Six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91640"/>
          <a:ext cx="81381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834640"/>
                <a:gridCol w="2651760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Who assigns the address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Where it fits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Stateless autoconfiguration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The host, from the router advertisement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Simple networks, quick deployment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Stateful DHCPv6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 server assigns and records it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Managed addressing, audit trail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Stateless DHCPv6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Host assigns, server supplies options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Names and settings without addresses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Privacy extensions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Host rotates temporary addresses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Resists long-term tracking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474720"/>
            <a:ext cx="8138160" cy="82296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84448"/>
            <a:ext cx="7680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The interface identifier can come from the hardware address, with FF FE inserted in the middle. Privacy extensions rotate it so a device cannot be tracked.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6 · CORE SERVICES AND REMOTE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Name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Root  </a:t>
            </a:r>
            <a:r>
              <a:rPr sz="1450">
                <a:solidFill>
                  <a:srgbClr val="D1D5DB"/>
                </a:solidFill>
                <a:latin typeface="Arial"/>
              </a:rPr>
              <a:t>thirteen sets of root servers point each query down the hierarchy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Authoritative servers  </a:t>
            </a:r>
            <a:r>
              <a:rPr sz="1450">
                <a:solidFill>
                  <a:srgbClr val="D1D5DB"/>
                </a:solidFill>
                <a:latin typeface="Arial"/>
              </a:rPr>
              <a:t>hold the records; resolvers ask on your behalf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Records  </a:t>
            </a:r>
            <a:r>
              <a:rPr sz="1450">
                <a:solidFill>
                  <a:srgbClr val="D1D5DB"/>
                </a:solidFill>
                <a:latin typeface="Arial"/>
              </a:rPr>
              <a:t>A and AAAA, CNAME, MX, PTR and TXT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Time to live  </a:t>
            </a:r>
            <a:r>
              <a:rPr sz="1450">
                <a:solidFill>
                  <a:srgbClr val="D1D5DB"/>
                </a:solidFill>
                <a:latin typeface="Arial"/>
              </a:rPr>
              <a:t>decides how long a resolver may cache an answer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Split horizon  </a:t>
            </a:r>
            <a:r>
              <a:rPr sz="1450">
                <a:solidFill>
                  <a:srgbClr val="D1D5DB"/>
                </a:solidFill>
                <a:latin typeface="Arial"/>
              </a:rPr>
              <a:t>answers internal and external clients differently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DNSSEC  </a:t>
            </a:r>
            <a:r>
              <a:rPr sz="1450">
                <a:solidFill>
                  <a:srgbClr val="D1D5DB"/>
                </a:solidFill>
                <a:latin typeface="Arial"/>
              </a:rPr>
              <a:t>signs records, so a forged answer fails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6 · CORE SERVICES AND REMOTE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Time Synchronisation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Stratum zero  </a:t>
            </a:r>
            <a:r>
              <a:rPr sz="1450">
                <a:solidFill>
                  <a:srgbClr val="D1D5DB"/>
                </a:solidFill>
                <a:latin typeface="Arial"/>
              </a:rPr>
              <a:t>the reference clock, atomic or satellite based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Stratum one  </a:t>
            </a:r>
            <a:r>
              <a:rPr sz="1450">
                <a:solidFill>
                  <a:srgbClr val="D1D5DB"/>
                </a:solidFill>
                <a:latin typeface="Arial"/>
              </a:rPr>
              <a:t>servers connected directly to the reference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Lower strata  </a:t>
            </a:r>
            <a:r>
              <a:rPr sz="1450">
                <a:solidFill>
                  <a:srgbClr val="D1D5DB"/>
                </a:solidFill>
                <a:latin typeface="Arial"/>
              </a:rPr>
              <a:t>spread the load away from the reference clocks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Use several sources  </a:t>
            </a:r>
            <a:r>
              <a:rPr sz="1450">
                <a:solidFill>
                  <a:srgbClr val="D1D5DB"/>
                </a:solidFill>
                <a:latin typeface="Arial"/>
              </a:rPr>
              <a:t>for redundancy and cross checking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What drift breaks  </a:t>
            </a:r>
            <a:r>
              <a:rPr sz="1450">
                <a:solidFill>
                  <a:srgbClr val="D1D5DB"/>
                </a:solidFill>
                <a:latin typeface="Arial"/>
              </a:rPr>
              <a:t>tickets, logs and incident timelines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Authenticate it  </a:t>
            </a:r>
            <a:r>
              <a:rPr sz="1450">
                <a:solidFill>
                  <a:srgbClr val="D1D5DB"/>
                </a:solidFill>
                <a:latin typeface="Arial"/>
              </a:rPr>
              <a:t>so a forged source cannot move your clock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6 · CORE SERVICES AND REMOTE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Virtual Private Networks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Site to site tunnel  </a:t>
            </a:r>
            <a:r>
              <a:rPr sz="1450">
                <a:solidFill>
                  <a:srgbClr val="D1D5DB"/>
                </a:solidFill>
                <a:latin typeface="Arial"/>
              </a:rPr>
              <a:t>joins two offices over a public link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Remote access tunnel  </a:t>
            </a:r>
            <a:r>
              <a:rPr sz="1450">
                <a:solidFill>
                  <a:srgbClr val="D1D5DB"/>
                </a:solidFill>
                <a:latin typeface="Arial"/>
              </a:rPr>
              <a:t>serves one user through client software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IPsec transport mode  </a:t>
            </a:r>
            <a:r>
              <a:rPr sz="1450">
                <a:solidFill>
                  <a:srgbClr val="D1D5DB"/>
                </a:solidFill>
                <a:latin typeface="Arial"/>
              </a:rPr>
              <a:t>encrypts the payload only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IPsec tunnel mode  </a:t>
            </a:r>
            <a:r>
              <a:rPr sz="1450">
                <a:solidFill>
                  <a:srgbClr val="D1D5DB"/>
                </a:solidFill>
                <a:latin typeface="Arial"/>
              </a:rPr>
              <a:t>encrypts the whole packet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Full tunnelling  </a:t>
            </a:r>
            <a:r>
              <a:rPr sz="1450">
                <a:solidFill>
                  <a:srgbClr val="D1D5DB"/>
                </a:solidFill>
                <a:latin typeface="Arial"/>
              </a:rPr>
              <a:t>sends everything through the tunnel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Split tunnelling  </a:t>
            </a:r>
            <a:r>
              <a:rPr sz="1450">
                <a:solidFill>
                  <a:srgbClr val="D1D5DB"/>
                </a:solidFill>
                <a:latin typeface="Arial"/>
              </a:rPr>
              <a:t>sends only corporate traffic through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6 · CORE SERVICES AND REMOTE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Remote Access and Device Management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91640"/>
          <a:ext cx="81381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108960"/>
                <a:gridCol w="2834640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How it reaches the device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When to use it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Console cable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Direct serial connection, out of band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First setup, recovery, no network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Secure Shell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Encrypted command line over the network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Routine work and troubleshooting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Web interface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Browser session, usually encrypted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Simple tasks, less experienced staff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Programmatic interface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Application programming interface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Automation and scale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4747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844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Every one of these paths is an attack surface. Harden all four, and turn off the ones you do not 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KALI LINUX ·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Verifying services on Kali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DNS  </a:t>
            </a:r>
            <a:r>
              <a:rPr sz="1450">
                <a:solidFill>
                  <a:srgbClr val="D1D5DB"/>
                </a:solidFill>
                <a:latin typeface="Arial"/>
              </a:rPr>
              <a:t>dig bbc.co.uk +short, cat /etc/resolv.conf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DHCP  </a:t>
            </a:r>
            <a:r>
              <a:rPr sz="1450">
                <a:solidFill>
                  <a:srgbClr val="D1D5DB"/>
                </a:solidFill>
                <a:latin typeface="Arial"/>
              </a:rPr>
              <a:t>cat /var/lib/dhcp/dhclient.leases shows the lease history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Time  </a:t>
            </a:r>
            <a:r>
              <a:rPr sz="1450">
                <a:solidFill>
                  <a:srgbClr val="D1D5DB"/>
                </a:solidFill>
                <a:latin typeface="Arial"/>
              </a:rPr>
              <a:t>ntpq -p, timedatectl, journalctl -u ntp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SSH  </a:t>
            </a:r>
            <a:r>
              <a:rPr sz="1450">
                <a:solidFill>
                  <a:srgbClr val="D1D5DB"/>
                </a:solidFill>
                <a:latin typeface="Arial"/>
              </a:rPr>
              <a:t>ss -tnp | grep :22, grep sshd /var/log/auth.log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Services  </a:t>
            </a:r>
            <a:r>
              <a:rPr sz="1450">
                <a:solidFill>
                  <a:srgbClr val="D1D5DB"/>
                </a:solidFill>
                <a:latin typeface="Arial"/>
              </a:rPr>
              <a:t>ss -tuln shows everything listening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audit rule  </a:t>
            </a:r>
            <a:r>
              <a:rPr sz="1450">
                <a:solidFill>
                  <a:srgbClr val="D1D5DB"/>
                </a:solidFill>
                <a:latin typeface="Arial"/>
              </a:rPr>
              <a:t>explain every listener or you have a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KALI LINUX ·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Reading the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Failed passwords  </a:t>
            </a:r>
            <a:r>
              <a:rPr sz="1450">
                <a:solidFill>
                  <a:srgbClr val="D1D5DB"/>
                </a:solidFill>
                <a:latin typeface="Arial"/>
              </a:rPr>
              <a:t>grep 'Failed password' /var/log/auth.log | wc -l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Accepted logins  </a:t>
            </a:r>
            <a:r>
              <a:rPr sz="1450">
                <a:solidFill>
                  <a:srgbClr val="D1D5DB"/>
                </a:solidFill>
                <a:latin typeface="Arial"/>
              </a:rPr>
              <a:t>grep Accepted /var/log/auth.log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Service ports in use  </a:t>
            </a:r>
            <a:r>
              <a:rPr sz="1450">
                <a:solidFill>
                  <a:srgbClr val="D1D5DB"/>
                </a:solidFill>
                <a:latin typeface="Arial"/>
              </a:rPr>
              <a:t>ss -tunap | grep -E ':(22|53|123)'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analyst habit  </a:t>
            </a:r>
            <a:r>
              <a:rPr sz="1450">
                <a:solidFill>
                  <a:srgbClr val="D1D5DB"/>
                </a:solidFill>
                <a:latin typeface="Arial"/>
              </a:rPr>
              <a:t>correlate SSH and RDP times, users and flows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Log correlation  </a:t>
            </a:r>
            <a:r>
              <a:rPr sz="1450">
                <a:solidFill>
                  <a:srgbClr val="D1D5DB"/>
                </a:solidFill>
                <a:latin typeface="Arial"/>
              </a:rPr>
              <a:t>one device shows an event; correlation shows the campaign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red flag  </a:t>
            </a:r>
            <a:r>
              <a:rPr sz="1450">
                <a:solidFill>
                  <a:srgbClr val="D1D5DB"/>
                </a:solidFill>
                <a:latin typeface="Arial"/>
              </a:rPr>
              <a:t>an unexpected listening port is an indicator of compromise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Check your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Open Quiz_Session_03.html in your browser.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20 questions, immediate feedback, topic tag on every question.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Read each explanation; the distractors teach as much as the answer.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Score 70%+ before moving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Every question maps to a session topic, e.g. 3A DNS.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1381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Ports come in pairs  </a:t>
            </a:r>
            <a:r>
              <a:rPr sz="1600">
                <a:solidFill>
                  <a:srgbClr val="FFFFFF"/>
                </a:solidFill>
                <a:latin typeface="Arial"/>
              </a:rPr>
              <a:t>file transfer 21 and 22, Telnet 23 and SSH 22, web 80 and 443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Traffic is addressed four ways  </a:t>
            </a:r>
            <a:r>
              <a:rPr sz="1600">
                <a:solidFill>
                  <a:srgbClr val="FFFFFF"/>
                </a:solidFill>
                <a:latin typeface="Arial"/>
              </a:rPr>
              <a:t>unicast, broadcast, multicast or anycast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Keep both diagrams current  </a:t>
            </a:r>
            <a:r>
              <a:rPr sz="1600">
                <a:solidFill>
                  <a:srgbClr val="FFFFFF"/>
                </a:solidFill>
                <a:latin typeface="Arial"/>
              </a:rPr>
              <a:t>physical cabling and logical flow; a wrong drawing is worse than none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End of Support is the cliff  </a:t>
            </a:r>
            <a:r>
              <a:rPr sz="1600">
                <a:solidFill>
                  <a:srgbClr val="FFFFFF"/>
                </a:solidFill>
                <a:latin typeface="Arial"/>
              </a:rPr>
              <a:t>patch with a rollback ready, and document the change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Recovery objectives choose the site  </a:t>
            </a:r>
            <a:r>
              <a:rPr sz="1600">
                <a:solidFill>
                  <a:srgbClr val="FFFFFF"/>
                </a:solidFill>
                <a:latin typeface="Arial"/>
              </a:rPr>
              <a:t>and only a tested plan is real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Harden every management path  </a:t>
            </a:r>
            <a:r>
              <a:rPr sz="1600">
                <a:solidFill>
                  <a:srgbClr val="FFFFFF"/>
                </a:solidFill>
                <a:latin typeface="Arial"/>
              </a:rPr>
              <a:t>console, command line, browser and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8" name="Picture 7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REVISION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Before next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Learn the port pairs  </a:t>
            </a:r>
            <a:r>
              <a:rPr sz="1450">
                <a:solidFill>
                  <a:srgbClr val="D1D5DB"/>
                </a:solidFill>
                <a:latin typeface="Arial"/>
              </a:rPr>
              <a:t>21/22, 23/22, 25/587, 53, 67/68, 80/443, 161/162, 389/636, 5060/5061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Monitor with flows first  </a:t>
            </a:r>
            <a:r>
              <a:rPr sz="1450">
                <a:solidFill>
                  <a:srgbClr val="D1D5DB"/>
                </a:solidFill>
                <a:latin typeface="Arial"/>
              </a:rPr>
              <a:t>keep flow records long; capture packets only when you must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Remember the core services  </a:t>
            </a:r>
            <a:r>
              <a:rPr sz="1450">
                <a:solidFill>
                  <a:srgbClr val="D1D5DB"/>
                </a:solidFill>
                <a:latin typeface="Arial"/>
              </a:rPr>
              <a:t>dynamic addressing, names and time are what everything leans 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Run the commands  </a:t>
            </a:r>
            <a:r>
              <a:rPr sz="1450">
                <a:solidFill>
                  <a:srgbClr val="D1D5DB"/>
                </a:solidFill>
                <a:latin typeface="Arial"/>
              </a:rPr>
              <a:t>dig, ss, ntpq and journalctl on any Linux box you can reach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Retake the quiz  </a:t>
            </a:r>
            <a:r>
              <a:rPr sz="1450">
                <a:solidFill>
                  <a:srgbClr val="D1D5DB"/>
                </a:solidFill>
                <a:latin typeface="Arial"/>
              </a:rPr>
              <a:t>until you score 70%+ without guessing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Then take one habit forward  </a:t>
            </a:r>
            <a:r>
              <a:rPr sz="1450">
                <a:solidFill>
                  <a:srgbClr val="D1D5DB"/>
                </a:solidFill>
                <a:latin typeface="Arial"/>
              </a:rPr>
              <a:t>before you change anything, ask what breaks if it fails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NEXT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Session 4: Fundamental Security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The Security+ core begins: confidentiality, integrity and availability, the categories of control, and the frameworks that organise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8138160" cy="2491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The CIA triad, non-repudiation and the AAA framework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Security controls by category and functional type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Zero trust, deception technology and change control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The NIST Cybersecurity Framework and gap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0" name="Picture 9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