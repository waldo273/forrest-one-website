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657600" cy="51435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00000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400" cy="5143500"/>
          </a:xfrm>
          <a:prstGeom prst="rect">
            <a:avLst/>
          </a:prstGeom>
          <a:solidFill>
            <a:srgbClr val="141414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77639" y="50292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spc="300">
                <a:solidFill>
                  <a:srgbClr val="9CA3AF"/>
                </a:solidFill>
                <a:latin typeface="Arial"/>
              </a:rPr>
              <a:t>TRAINING @ FORREST.ONE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1234440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spc="300">
                <a:solidFill>
                  <a:srgbClr val="C22828"/>
                </a:solidFill>
                <a:latin typeface="Arial"/>
              </a:rPr>
              <a:t>SESSION 4 OF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162763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Arial"/>
              </a:rPr>
              <a:t>Network Fundamentals + CompTIA Security+ SY0-701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2057400"/>
            <a:ext cx="4892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300" b="1">
                <a:solidFill>
                  <a:srgbClr val="FFFFFF"/>
                </a:solidFill>
                <a:latin typeface="Arial"/>
              </a:rPr>
              <a:t>Fundamental Security Concepts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3611880"/>
            <a:ext cx="4846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D1D5DB"/>
                </a:solidFill>
                <a:latin typeface="Arial"/>
              </a:rPr>
              <a:t>Confidentiality, integrity, availability, and the controls and roles that protect them.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7639" y="4224528"/>
            <a:ext cx="1009497" cy="310896"/>
          </a:xfrm>
          <a:prstGeom prst="roundRect">
            <a:avLst>
              <a:gd name="adj" fmla="val 50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spc="100">
                <a:solidFill>
                  <a:srgbClr val="FFFFFF"/>
                </a:solidFill>
                <a:latin typeface="Arial"/>
              </a:rPr>
              <a:t>LESSON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33441" y="4224528"/>
            <a:ext cx="1009497" cy="310896"/>
          </a:xfrm>
          <a:prstGeom prst="roundRect">
            <a:avLst>
              <a:gd name="adj" fmla="val 50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spc="100">
                <a:solidFill>
                  <a:srgbClr val="FFFFFF"/>
                </a:solidFill>
                <a:latin typeface="Arial"/>
              </a:rPr>
              <a:t>DOMAIN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9243" y="4224528"/>
            <a:ext cx="1099108" cy="310896"/>
          </a:xfrm>
          <a:prstGeom prst="roundRect">
            <a:avLst>
              <a:gd name="adj" fmla="val 50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spc="100">
                <a:solidFill>
                  <a:srgbClr val="FFFFFF"/>
                </a:solidFill>
                <a:latin typeface="Arial"/>
              </a:rPr>
              <a:t>CIA TRIAD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4846320"/>
            <a:ext cx="3657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6" name="Picture 15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4718304"/>
            <a:ext cx="301752" cy="45513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WELCOME · THE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Twelve sessions, two strands, one certification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83080"/>
          <a:ext cx="813816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280160"/>
                <a:gridCol w="4663440"/>
              </a:tblGrid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Strand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Sessions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Focus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Network foundation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1–3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Models, addressing, switching, services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Security+ core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4–7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Concepts, threats, crypto, IAM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Security architecture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8–9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Network, endpoint, application, cloud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Operations &amp; governance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10–12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Vuln mgmt, IR, GRC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The exam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98848"/>
            <a:ext cx="7680960" cy="-54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90 questions · 90 minutes · performance-based + multiple choice · pass mark 750/900.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SESSION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By the end of this session you will be able 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Define the CIA triad  </a:t>
            </a:r>
            <a:r>
              <a:rPr sz="1450">
                <a:solidFill>
                  <a:srgbClr val="D1D5DB"/>
                </a:solidFill>
                <a:latin typeface="Arial"/>
              </a:rPr>
              <a:t>confidentiality, integrity, availability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Explain non-repudiation  </a:t>
            </a:r>
            <a:r>
              <a:rPr sz="1450">
                <a:solidFill>
                  <a:srgbClr val="D1D5DB"/>
                </a:solidFill>
                <a:latin typeface="Arial"/>
              </a:rPr>
              <a:t>and the three authentication factors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Describe AAA  </a:t>
            </a:r>
            <a:r>
              <a:rPr sz="1450">
                <a:solidFill>
                  <a:srgbClr val="D1D5DB"/>
                </a:solidFill>
                <a:latin typeface="Arial"/>
              </a:rPr>
              <a:t>identification, authentication, authorisation, accounting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Classify any control  </a:t>
            </a:r>
            <a:r>
              <a:rPr sz="1450">
                <a:solidFill>
                  <a:srgbClr val="D1D5DB"/>
                </a:solidFill>
                <a:latin typeface="Arial"/>
              </a:rPr>
              <a:t>by category and by functional type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Apply the NIST CSF  </a:t>
            </a:r>
            <a:r>
              <a:rPr sz="1450">
                <a:solidFill>
                  <a:srgbClr val="D1D5DB"/>
                </a:solidFill>
                <a:latin typeface="Arial"/>
              </a:rPr>
              <a:t>identify, protect, detect, respond, recover, and gap analysis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Describe zero trust  </a:t>
            </a:r>
            <a:r>
              <a:rPr sz="1450">
                <a:solidFill>
                  <a:srgbClr val="D1D5DB"/>
                </a:solidFill>
                <a:latin typeface="Arial"/>
              </a:rPr>
              <a:t>never trust, always verify; microsegmentation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Explain deception and change control  </a:t>
            </a:r>
            <a:r>
              <a:rPr sz="1450">
                <a:solidFill>
                  <a:srgbClr val="D1D5DB"/>
                </a:solidFill>
                <a:latin typeface="Arial"/>
              </a:rPr>
              <a:t>honeypots and controlled change management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Name the key roles  </a:t>
            </a:r>
            <a:r>
              <a:rPr sz="1450">
                <a:solidFill>
                  <a:srgbClr val="D1D5DB"/>
                </a:solidFill>
                <a:latin typeface="Arial"/>
              </a:rPr>
              <a:t>and their responsibilities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1 · WHY CONTROLS EXIST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Why security controls exist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Safeguards and countermeasures  </a:t>
            </a:r>
            <a:r>
              <a:rPr sz="1450">
                <a:solidFill>
                  <a:srgbClr val="D1D5DB"/>
                </a:solidFill>
                <a:latin typeface="Arial"/>
              </a:rPr>
              <a:t>controls manage the risk that threats present to assets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They prevent, detect and respond  </a:t>
            </a:r>
            <a:r>
              <a:rPr sz="1450">
                <a:solidFill>
                  <a:srgbClr val="D1D5DB"/>
                </a:solidFill>
                <a:latin typeface="Arial"/>
              </a:rPr>
              <a:t>stop access, find activity, or recover afterwards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External threats  </a:t>
            </a:r>
            <a:r>
              <a:rPr sz="1450">
                <a:solidFill>
                  <a:srgbClr val="D1D5DB"/>
                </a:solidFill>
                <a:latin typeface="Arial"/>
              </a:rPr>
              <a:t>a ransomware crew outside the organisation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Internal threats  </a:t>
            </a:r>
            <a:r>
              <a:rPr sz="1450">
                <a:solidFill>
                  <a:srgbClr val="D1D5DB"/>
                </a:solidFill>
                <a:latin typeface="Arial"/>
              </a:rPr>
              <a:t>a trusted employee copying files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More than technology  </a:t>
            </a:r>
            <a:r>
              <a:rPr sz="1450">
                <a:solidFill>
                  <a:srgbClr val="D1D5DB"/>
                </a:solidFill>
                <a:latin typeface="Arial"/>
              </a:rPr>
              <a:t>policy, procedure and physical barriers all count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Risk is treated, not removed  </a:t>
            </a:r>
            <a:r>
              <a:rPr sz="1450">
                <a:solidFill>
                  <a:srgbClr val="D1D5DB"/>
                </a:solidFill>
                <a:latin typeface="Arial"/>
              </a:rPr>
              <a:t>controls lower the likelihood and the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1 · WHY CONTROLS EXIST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The layered view: defence in depth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83080"/>
          <a:ext cx="813816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108960"/>
                <a:gridCol w="3474720"/>
              </a:tblGrid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Idea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What it means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Example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Layered defence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One control failing is not a breach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Firewall, then detection, then logs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Controls in concert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Each covers another control's weakness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Encryption plus access control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Defence in depth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Layers fail independently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Backups survive ransomware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Risk reduction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Lower likelihood, lower impact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Segmentation limits movement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3931920"/>
            <a:ext cx="8138160" cy="64008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The point of layers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98848"/>
            <a:ext cx="7680960" cy="182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One control is never enough: an attacker past the firewall still meets detection, then the logs.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2 · CLASSIFYING CONTROLS BY CATEGORY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Technical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Built into systems  </a:t>
            </a:r>
            <a:r>
              <a:rPr sz="1450">
                <a:solidFill>
                  <a:srgbClr val="D1D5DB"/>
                </a:solidFill>
                <a:latin typeface="Arial"/>
              </a:rPr>
              <a:t>implemented in hardware, software, or both together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 firewall  </a:t>
            </a:r>
            <a:r>
              <a:rPr sz="1450">
                <a:solidFill>
                  <a:srgbClr val="D1D5DB"/>
                </a:solidFill>
                <a:latin typeface="Arial"/>
              </a:rPr>
              <a:t>filters traffic between trusted and untrusted networks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Encryption  </a:t>
            </a:r>
            <a:r>
              <a:rPr sz="1450">
                <a:solidFill>
                  <a:srgbClr val="D1D5DB"/>
                </a:solidFill>
                <a:latin typeface="Arial"/>
              </a:rPr>
              <a:t>makes intercepted data unreadable without the key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Access control lists  </a:t>
            </a:r>
            <a:r>
              <a:rPr sz="1450">
                <a:solidFill>
                  <a:srgbClr val="D1D5DB"/>
                </a:solidFill>
                <a:latin typeface="Arial"/>
              </a:rPr>
              <a:t>state exactly who may reach a resource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An intrusion detection system  </a:t>
            </a:r>
            <a:r>
              <a:rPr sz="1450">
                <a:solidFill>
                  <a:srgbClr val="D1D5DB"/>
                </a:solidFill>
                <a:latin typeface="Arial"/>
              </a:rPr>
              <a:t>watches traffic for signs of attack activity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No person in the loop  </a:t>
            </a:r>
            <a:r>
              <a:rPr sz="1450">
                <a:solidFill>
                  <a:srgbClr val="D1D5DB"/>
                </a:solidFill>
                <a:latin typeface="Arial"/>
              </a:rPr>
              <a:t>the system enforces policy mechanically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2 · CLASSIFYING CONTROLS BY CATEGORY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Physical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They protect  </a:t>
            </a:r>
            <a:r>
              <a:rPr sz="1450">
                <a:solidFill>
                  <a:srgbClr val="D1D5DB"/>
                </a:solidFill>
                <a:latin typeface="Arial"/>
              </a:rPr>
              <a:t>premises, hardware and people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Locks  </a:t>
            </a:r>
            <a:r>
              <a:rPr sz="1450">
                <a:solidFill>
                  <a:srgbClr val="D1D5DB"/>
                </a:solidFill>
                <a:latin typeface="Arial"/>
              </a:rPr>
              <a:t>from a simple key to an electronic card reader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Fences  </a:t>
            </a:r>
            <a:r>
              <a:rPr sz="1450">
                <a:solidFill>
                  <a:srgbClr val="D1D5DB"/>
                </a:solidFill>
                <a:latin typeface="Arial"/>
              </a:rPr>
              <a:t>mark the perimeter and delay an intruder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Cameras  </a:t>
            </a:r>
            <a:r>
              <a:rPr sz="1450">
                <a:solidFill>
                  <a:srgbClr val="D1D5DB"/>
                </a:solidFill>
                <a:latin typeface="Arial"/>
              </a:rPr>
              <a:t>deter an intruder as well as record them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 mantrap  </a:t>
            </a:r>
            <a:r>
              <a:rPr sz="1450">
                <a:solidFill>
                  <a:srgbClr val="D1D5DB"/>
                </a:solidFill>
                <a:latin typeface="Arial"/>
              </a:rPr>
              <a:t>a small room where only one door opens at a time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Biometric door access  </a:t>
            </a:r>
            <a:r>
              <a:rPr sz="1450">
                <a:solidFill>
                  <a:srgbClr val="D1D5DB"/>
                </a:solidFill>
                <a:latin typeface="Arial"/>
              </a:rPr>
              <a:t>reads a fingerprint or an iris before it releases the lock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2 · CLASSIFYING CONTROLS BY CATEGORY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Managerial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Also called administrative  </a:t>
            </a:r>
            <a:r>
              <a:rPr sz="1450">
                <a:solidFill>
                  <a:srgbClr val="D1D5DB"/>
                </a:solidFill>
                <a:latin typeface="Arial"/>
              </a:rPr>
              <a:t>the policies and procedures that govern security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Risk assessment  </a:t>
            </a:r>
            <a:r>
              <a:rPr sz="1450">
                <a:solidFill>
                  <a:srgbClr val="D1D5DB"/>
                </a:solidFill>
                <a:latin typeface="Arial"/>
              </a:rPr>
              <a:t>identifies, evaluates and prioritises the risks to an asset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Security policy  </a:t>
            </a:r>
            <a:r>
              <a:rPr sz="1450">
                <a:solidFill>
                  <a:srgbClr val="D1D5DB"/>
                </a:solidFill>
                <a:latin typeface="Arial"/>
              </a:rPr>
              <a:t>a formal document stating how information must be protected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Training  </a:t>
            </a:r>
            <a:r>
              <a:rPr sz="1450">
                <a:solidFill>
                  <a:srgbClr val="D1D5DB"/>
                </a:solidFill>
                <a:latin typeface="Arial"/>
              </a:rPr>
              <a:t>teaches staff to spot a phishing email and report an incident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They set direction  </a:t>
            </a:r>
            <a:r>
              <a:rPr sz="1450">
                <a:solidFill>
                  <a:srgbClr val="D1D5DB"/>
                </a:solidFill>
                <a:latin typeface="Arial"/>
              </a:rPr>
              <a:t>technical controls then enforce that direction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Example  </a:t>
            </a:r>
            <a:r>
              <a:rPr sz="1450">
                <a:solidFill>
                  <a:srgbClr val="D1D5DB"/>
                </a:solidFill>
                <a:latin typeface="Arial"/>
              </a:rPr>
              <a:t>a policy mandating strong passwords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2 · CLASSIFYING CONTROLS BY CATEGORY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Operational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Day-to-day work  </a:t>
            </a:r>
            <a:r>
              <a:rPr sz="1450">
                <a:solidFill>
                  <a:srgbClr val="D1D5DB"/>
                </a:solidFill>
                <a:latin typeface="Arial"/>
              </a:rPr>
              <a:t>procedures carried out by people, not by systems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Guard patrols  </a:t>
            </a:r>
            <a:r>
              <a:rPr sz="1450">
                <a:solidFill>
                  <a:srgbClr val="D1D5DB"/>
                </a:solidFill>
                <a:latin typeface="Arial"/>
              </a:rPr>
              <a:t>check that doors are locked and cameras are working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Incident response  </a:t>
            </a:r>
            <a:r>
              <a:rPr sz="1450">
                <a:solidFill>
                  <a:srgbClr val="D1D5DB"/>
                </a:solidFill>
                <a:latin typeface="Arial"/>
              </a:rPr>
              <a:t>identify, contain, eradicate, recover, then review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Backup routines  </a:t>
            </a:r>
            <a:r>
              <a:rPr sz="1450">
                <a:solidFill>
                  <a:srgbClr val="D1D5DB"/>
                </a:solidFill>
                <a:latin typeface="Arial"/>
              </a:rPr>
              <a:t>keep data recoverable when hardware fails or ransomware strikes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On site and off site  </a:t>
            </a:r>
            <a:r>
              <a:rPr sz="1450">
                <a:solidFill>
                  <a:srgbClr val="D1D5DB"/>
                </a:solidFill>
                <a:latin typeface="Arial"/>
              </a:rPr>
              <a:t>copies are held in both locations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split  </a:t>
            </a:r>
            <a:r>
              <a:rPr sz="1450">
                <a:solidFill>
                  <a:srgbClr val="D1D5DB"/>
                </a:solidFill>
                <a:latin typeface="Arial"/>
              </a:rPr>
              <a:t>managerial controls write the policy, operational controls carry it 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3 · WHAT EACH CONTROL TYPE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Preventive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Proactive by definition  </a:t>
            </a:r>
            <a:r>
              <a:rPr sz="1450">
                <a:solidFill>
                  <a:srgbClr val="D1D5DB"/>
                </a:solidFill>
                <a:latin typeface="Arial"/>
              </a:rPr>
              <a:t>they act before an incident happens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 firewall  </a:t>
            </a:r>
            <a:r>
              <a:rPr sz="1450">
                <a:solidFill>
                  <a:srgbClr val="D1D5DB"/>
                </a:solidFill>
                <a:latin typeface="Arial"/>
              </a:rPr>
              <a:t>blocks traffic that the rules do not allow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Encryption  </a:t>
            </a:r>
            <a:r>
              <a:rPr sz="1450">
                <a:solidFill>
                  <a:srgbClr val="D1D5DB"/>
                </a:solidFill>
                <a:latin typeface="Arial"/>
              </a:rPr>
              <a:t>makes a stolen copy unreadable without the key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Security training  </a:t>
            </a:r>
            <a:r>
              <a:rPr sz="1450">
                <a:solidFill>
                  <a:srgbClr val="D1D5DB"/>
                </a:solidFill>
                <a:latin typeface="Arial"/>
              </a:rPr>
              <a:t>a workforce that recognises phishing closes the easiest door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Segmentation  </a:t>
            </a:r>
            <a:r>
              <a:rPr sz="1450">
                <a:solidFill>
                  <a:srgbClr val="D1D5DB"/>
                </a:solidFill>
                <a:latin typeface="Arial"/>
              </a:rPr>
              <a:t>stops an infected machine wandering the whole estate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honest part  </a:t>
            </a:r>
            <a:r>
              <a:rPr sz="1450">
                <a:solidFill>
                  <a:srgbClr val="D1D5DB"/>
                </a:solidFill>
                <a:latin typeface="Arial"/>
              </a:rPr>
              <a:t>prevention is never perfect, so pair it with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3 · WHAT EACH CONTROL TYPE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Detective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They find what prevention missed  </a:t>
            </a:r>
            <a:r>
              <a:rPr sz="1450">
                <a:solidFill>
                  <a:srgbClr val="D1D5DB"/>
                </a:solidFill>
                <a:latin typeface="Arial"/>
              </a:rPr>
              <a:t>detection acts during or after an incident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Log monitoring  </a:t>
            </a:r>
            <a:r>
              <a:rPr sz="1450">
                <a:solidFill>
                  <a:srgbClr val="D1D5DB"/>
                </a:solidFill>
                <a:latin typeface="Arial"/>
              </a:rPr>
              <a:t>reviewing system and network logs for unusual activity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An intrusion detection system  </a:t>
            </a:r>
            <a:r>
              <a:rPr sz="1450">
                <a:solidFill>
                  <a:srgbClr val="D1D5DB"/>
                </a:solidFill>
                <a:latin typeface="Arial"/>
              </a:rPr>
              <a:t>compares traffic against signatures, or spots anomalies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 security audit  </a:t>
            </a:r>
            <a:r>
              <a:rPr sz="1450">
                <a:solidFill>
                  <a:srgbClr val="D1D5DB"/>
                </a:solidFill>
                <a:latin typeface="Arial"/>
              </a:rPr>
              <a:t>evaluates whether the controls you believe in actually work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They give visibility  </a:t>
            </a:r>
            <a:r>
              <a:rPr sz="1450">
                <a:solidFill>
                  <a:srgbClr val="D1D5DB"/>
                </a:solidFill>
                <a:latin typeface="Arial"/>
              </a:rPr>
              <a:t>you cannot respond to what you never saw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Two different answers  </a:t>
            </a:r>
            <a:r>
              <a:rPr sz="1450">
                <a:solidFill>
                  <a:srgbClr val="D1D5DB"/>
                </a:solidFill>
                <a:latin typeface="Arial"/>
              </a:rPr>
              <a:t>a firewall blocks, and the detector reveals what got through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3 · WHAT EACH CONTROL TYPE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Corrective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Damage control  </a:t>
            </a:r>
            <a:r>
              <a:rPr sz="1450">
                <a:solidFill>
                  <a:srgbClr val="D1D5DB"/>
                </a:solidFill>
                <a:latin typeface="Arial"/>
              </a:rPr>
              <a:t>applied after an incident to limit the harm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Patch  </a:t>
            </a:r>
            <a:r>
              <a:rPr sz="1450">
                <a:solidFill>
                  <a:srgbClr val="D1D5DB"/>
                </a:solidFill>
                <a:latin typeface="Arial"/>
              </a:rPr>
              <a:t>fix the vulnerability the attacker used, so the door stays shut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Restore  </a:t>
            </a:r>
            <a:r>
              <a:rPr sz="1450">
                <a:solidFill>
                  <a:srgbClr val="D1D5DB"/>
                </a:solidFill>
                <a:latin typeface="Arial"/>
              </a:rPr>
              <a:t>recover lost data from backup, to a point before the incident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Revise  </a:t>
            </a:r>
            <a:r>
              <a:rPr sz="1450">
                <a:solidFill>
                  <a:srgbClr val="D1D5DB"/>
                </a:solidFill>
                <a:latin typeface="Arial"/>
              </a:rPr>
              <a:t>review the procedures that failed and rewrite the runbook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step organisations skip  </a:t>
            </a:r>
            <a:r>
              <a:rPr sz="1450">
                <a:solidFill>
                  <a:srgbClr val="D1D5DB"/>
                </a:solidFill>
                <a:latin typeface="Arial"/>
              </a:rPr>
              <a:t>revision is the one that stops a repeat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Reactive by design  </a:t>
            </a:r>
            <a:r>
              <a:rPr sz="1450">
                <a:solidFill>
                  <a:srgbClr val="D1D5DB"/>
                </a:solidFill>
                <a:latin typeface="Arial"/>
              </a:rPr>
              <a:t>and that is not a fault, it is essential for continuity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3 · WHAT EACH CONTROL TYPE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Compensating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An alternative  </a:t>
            </a:r>
            <a:r>
              <a:rPr sz="1450">
                <a:solidFill>
                  <a:srgbClr val="D1D5DB"/>
                </a:solidFill>
                <a:latin typeface="Arial"/>
              </a:rPr>
              <a:t>what you do when the proper control is not feasible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Legacy system cannot encrypt?  </a:t>
            </a:r>
            <a:r>
              <a:rPr sz="1450">
                <a:solidFill>
                  <a:srgbClr val="D1D5DB"/>
                </a:solidFill>
                <a:latin typeface="Arial"/>
              </a:rPr>
              <a:t>protect its traffic at the network layer instead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No budget for detection?  </a:t>
            </a:r>
            <a:r>
              <a:rPr sz="1450">
                <a:solidFill>
                  <a:srgbClr val="D1D5DB"/>
                </a:solidFill>
                <a:latin typeface="Arial"/>
              </a:rPr>
              <a:t>compensate with enhanced logging and frequent audits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An operational need?  </a:t>
            </a:r>
            <a:r>
              <a:rPr sz="1450">
                <a:solidFill>
                  <a:srgbClr val="D1D5DB"/>
                </a:solidFill>
                <a:latin typeface="Arial"/>
              </a:rPr>
              <a:t>add cameras and guarding where production cannot stop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Temporary by intent  </a:t>
            </a:r>
            <a:r>
              <a:rPr sz="1450">
                <a:solidFill>
                  <a:srgbClr val="D1D5DB"/>
                </a:solidFill>
                <a:latin typeface="Arial"/>
              </a:rPr>
              <a:t>so it must be documented and reviewed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Plan the replacement  </a:t>
            </a:r>
            <a:r>
              <a:rPr sz="1450">
                <a:solidFill>
                  <a:srgbClr val="D1D5DB"/>
                </a:solidFill>
                <a:latin typeface="Arial"/>
              </a:rPr>
              <a:t>swap it out once the proper control becomes possible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3 · WHAT EACH CONTROL TYPE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Deterrent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They work on the attacker's mind  </a:t>
            </a:r>
            <a:r>
              <a:rPr sz="1450">
                <a:solidFill>
                  <a:srgbClr val="D1D5DB"/>
                </a:solidFill>
                <a:latin typeface="Arial"/>
              </a:rPr>
              <a:t>not on the traffic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 psychological barrier  </a:t>
            </a:r>
            <a:r>
              <a:rPr sz="1450">
                <a:solidFill>
                  <a:srgbClr val="D1D5DB"/>
                </a:solidFill>
                <a:latin typeface="Arial"/>
              </a:rPr>
              <a:t>they do not stop an attack, they discourage it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 warning banner  </a:t>
            </a:r>
            <a:r>
              <a:rPr sz="1450">
                <a:solidFill>
                  <a:srgbClr val="D1D5DB"/>
                </a:solidFill>
                <a:latin typeface="Arial"/>
              </a:rPr>
              <a:t>states that unauthorised access is prohibited and may be prosecuted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Visible cameras  </a:t>
            </a:r>
            <a:r>
              <a:rPr sz="1450">
                <a:solidFill>
                  <a:srgbClr val="D1D5DB"/>
                </a:solidFill>
                <a:latin typeface="Arial"/>
              </a:rPr>
              <a:t>a recording shifts the odds of being caught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Security personnel  </a:t>
            </a:r>
            <a:r>
              <a:rPr sz="1450">
                <a:solidFill>
                  <a:srgbClr val="D1D5DB"/>
                </a:solidFill>
                <a:latin typeface="Arial"/>
              </a:rPr>
              <a:t>raise the perceived risk of an attempt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When deterrence fails  </a:t>
            </a:r>
            <a:r>
              <a:rPr sz="1450">
                <a:solidFill>
                  <a:srgbClr val="D1D5DB"/>
                </a:solidFill>
                <a:latin typeface="Arial"/>
              </a:rPr>
              <a:t>an attacker who does not care is not deterred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3 · WHAT EACH CONTROL TYPE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Directive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They point inwards  </a:t>
            </a:r>
            <a:r>
              <a:rPr sz="1450">
                <a:solidFill>
                  <a:srgbClr val="D1D5DB"/>
                </a:solidFill>
                <a:latin typeface="Arial"/>
              </a:rPr>
              <a:t>at your own people, not at the attacker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Acceptable use policy  </a:t>
            </a:r>
            <a:r>
              <a:rPr sz="1450">
                <a:solidFill>
                  <a:srgbClr val="D1D5DB"/>
                </a:solidFill>
                <a:latin typeface="Arial"/>
              </a:rPr>
              <a:t>states what is allowed on company systems and what is forbidden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Procedures  </a:t>
            </a:r>
            <a:r>
              <a:rPr sz="1450">
                <a:solidFill>
                  <a:srgbClr val="D1D5DB"/>
                </a:solidFill>
                <a:latin typeface="Arial"/>
              </a:rPr>
              <a:t>describe the safe way to handle sensitive data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They build culture  </a:t>
            </a:r>
            <a:r>
              <a:rPr sz="1450">
                <a:solidFill>
                  <a:srgbClr val="D1D5DB"/>
                </a:solidFill>
                <a:latin typeface="Arial"/>
              </a:rPr>
              <a:t>security is not left to individual judgement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Non-compliance  </a:t>
            </a:r>
            <a:r>
              <a:rPr sz="1450">
                <a:solidFill>
                  <a:srgbClr val="D1D5DB"/>
                </a:solidFill>
                <a:latin typeface="Arial"/>
              </a:rPr>
              <a:t>a management issue rather than a technical one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Example  </a:t>
            </a:r>
            <a:r>
              <a:rPr sz="1450">
                <a:solidFill>
                  <a:srgbClr val="D1D5DB"/>
                </a:solidFill>
                <a:latin typeface="Arial"/>
              </a:rPr>
              <a:t>the rule that says encrypt before you send anything 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138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Activity: classify the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A firewall blocking unauthorised ports, category and type?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A security camera over the server room door, category and type?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An intrusion detection system watching traffic, type?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A backup-and-restore plan after ransomware, category and type?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A legacy system that cannot encrypt, protected by a secure gateway, type?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Add one control from your workplace to each category.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41648"/>
            <a:ext cx="7680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150">
                <a:solidFill>
                  <a:srgbClr val="F3D9D9"/>
                </a:solidFill>
                <a:latin typeface="Arial"/>
              </a:rPr>
              <a:t>Category: managerial / operational / technical / physical · Type: preventive / detective / corrective / compensating / deterrent / directive.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4 · PROVING IDENTITY AND KEEPING RECORDS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The CIA triad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Confidentiality  </a:t>
            </a:r>
            <a:r>
              <a:rPr sz="1450">
                <a:solidFill>
                  <a:srgbClr val="D1D5DB"/>
                </a:solidFill>
                <a:latin typeface="Arial"/>
              </a:rPr>
              <a:t>information is disclosed only to those with the right permission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Integrity  </a:t>
            </a:r>
            <a:r>
              <a:rPr sz="1450">
                <a:solidFill>
                  <a:srgbClr val="D1D5DB"/>
                </a:solidFill>
                <a:latin typeface="Arial"/>
              </a:rPr>
              <a:t>the data is accurate, complete and unaltered without authorisation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Availability  </a:t>
            </a:r>
            <a:r>
              <a:rPr sz="1450">
                <a:solidFill>
                  <a:srgbClr val="D1D5DB"/>
                </a:solidFill>
                <a:latin typeface="Arial"/>
              </a:rPr>
              <a:t>authorised users can reach systems and data when they need them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Use it as a question  </a:t>
            </a:r>
            <a:r>
              <a:rPr sz="1450">
                <a:solidFill>
                  <a:srgbClr val="D1D5DB"/>
                </a:solidFill>
                <a:latin typeface="Arial"/>
              </a:rPr>
              <a:t>when you meet a control, ask which pillar it serves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usual answers  </a:t>
            </a:r>
            <a:r>
              <a:rPr sz="1450">
                <a:solidFill>
                  <a:srgbClr val="D1D5DB"/>
                </a:solidFill>
                <a:latin typeface="Arial"/>
              </a:rPr>
              <a:t>encryption and access control, hashing and signatures, redundancy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They pull against each other  </a:t>
            </a:r>
            <a:r>
              <a:rPr sz="1450">
                <a:solidFill>
                  <a:srgbClr val="D1D5DB"/>
                </a:solidFill>
                <a:latin typeface="Arial"/>
              </a:rPr>
              <a:t>the three are a balance, not three separate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4 · PROVING IDENTITY AND KEEPING RECORDS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Threats and controls by pillar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83080"/>
          <a:ext cx="813816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834640"/>
                <a:gridCol w="3840480"/>
              </a:tblGrid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Pillar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Typical threat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Control that answers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Confidentiality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Data breach, eavesdropping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Encryption, strong authentication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Integrity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Tampering, man in the middle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Hashes, signatures, version control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Availability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Denial of service, hardware failure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Redundancy, failover, tested backups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All three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Insider misuse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Least privilege, monitoring, audit trails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3931920"/>
            <a:ext cx="8138160" cy="64008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Version control earns its place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98848"/>
            <a:ext cx="7680960" cy="182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A hash tells you data changed; version control lets you roll back to the last good copy.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4 · PROVING IDENTITY AND KEEPING RECORDS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Non-repudiation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Definition  </a:t>
            </a:r>
            <a:r>
              <a:rPr sz="1450">
                <a:solidFill>
                  <a:srgbClr val="D1D5DB"/>
                </a:solidFill>
                <a:latin typeface="Arial"/>
              </a:rPr>
              <a:t>persons cannot deny creating or modifying data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Proof of origin  </a:t>
            </a:r>
            <a:r>
              <a:rPr sz="1450">
                <a:solidFill>
                  <a:srgbClr val="D1D5DB"/>
                </a:solidFill>
                <a:latin typeface="Arial"/>
              </a:rPr>
              <a:t>the sender cannot deny sending the message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 digital signature  </a:t>
            </a:r>
            <a:r>
              <a:rPr sz="1450">
                <a:solidFill>
                  <a:srgbClr val="D1D5DB"/>
                </a:solidFill>
                <a:latin typeface="Arial"/>
              </a:rPr>
              <a:t>a hash of the message, encrypted with the sender's private key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Why it proves the sender  </a:t>
            </a:r>
            <a:r>
              <a:rPr sz="1450">
                <a:solidFill>
                  <a:srgbClr val="D1D5DB"/>
                </a:solidFill>
                <a:latin typeface="Arial"/>
              </a:rPr>
              <a:t>only that private key could have produced the signature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Verification  </a:t>
            </a:r>
            <a:r>
              <a:rPr sz="1450">
                <a:solidFill>
                  <a:srgbClr val="D1D5DB"/>
                </a:solidFill>
                <a:latin typeface="Arial"/>
              </a:rPr>
              <a:t>anyone decrypts the signature with the matching public key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Audit logs and timestamps  </a:t>
            </a:r>
            <a:r>
              <a:rPr sz="1450">
                <a:solidFill>
                  <a:srgbClr val="D1D5DB"/>
                </a:solidFill>
                <a:latin typeface="Arial"/>
              </a:rPr>
              <a:t>complete the proof of who acted and exactly when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4 · PROVING IDENTITY AND KEEPING RECORDS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Analyst's lens: why denial must fail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 signed contract  </a:t>
            </a:r>
            <a:r>
              <a:rPr sz="1450">
                <a:solidFill>
                  <a:srgbClr val="D1D5DB"/>
                </a:solidFill>
                <a:latin typeface="Arial"/>
              </a:rPr>
              <a:t>if either party could deny signing, the agreement is worthless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 payment authorisation  </a:t>
            </a:r>
            <a:r>
              <a:rPr sz="1450">
                <a:solidFill>
                  <a:srgbClr val="D1D5DB"/>
                </a:solidFill>
                <a:latin typeface="Arial"/>
              </a:rPr>
              <a:t>the bank must prove the account holder authorised the transfer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 regulated record  </a:t>
            </a:r>
            <a:r>
              <a:rPr sz="1450">
                <a:solidFill>
                  <a:srgbClr val="D1D5DB"/>
                </a:solidFill>
                <a:latin typeface="Arial"/>
              </a:rPr>
              <a:t>healthcare rules require proof of who accessed and changed a record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control  </a:t>
            </a:r>
            <a:r>
              <a:rPr sz="1450">
                <a:solidFill>
                  <a:srgbClr val="D1D5DB"/>
                </a:solidFill>
                <a:latin typeface="Arial"/>
              </a:rPr>
              <a:t>a signature plus an audit trail provides exactly that proof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657600"/>
            <a:ext cx="8138160" cy="64008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The exam 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24528"/>
            <a:ext cx="7680960" cy="182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Non-repudiation is proof, not merely logging. Signatures prove origin; logs prove action.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4 · PROVING IDENTITY AND KEEPING RECORDS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Authentication: the three factors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Something you know  </a:t>
            </a:r>
            <a:r>
              <a:rPr sz="1450">
                <a:solidFill>
                  <a:srgbClr val="D1D5DB"/>
                </a:solidFill>
                <a:latin typeface="Arial"/>
              </a:rPr>
              <a:t>a password, a passphrase or a pin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Something you have  </a:t>
            </a:r>
            <a:r>
              <a:rPr sz="1450">
                <a:solidFill>
                  <a:srgbClr val="D1D5DB"/>
                </a:solidFill>
                <a:latin typeface="Arial"/>
              </a:rPr>
              <a:t>a token, a smart card, or an authenticator app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Something you are  </a:t>
            </a:r>
            <a:r>
              <a:rPr sz="1450">
                <a:solidFill>
                  <a:srgbClr val="D1D5DB"/>
                </a:solidFill>
                <a:latin typeface="Arial"/>
              </a:rPr>
              <a:t>a biometric such as a fingerprint, a face or an iris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Multifactor  </a:t>
            </a:r>
            <a:r>
              <a:rPr sz="1450">
                <a:solidFill>
                  <a:srgbClr val="D1D5DB"/>
                </a:solidFill>
                <a:latin typeface="Arial"/>
              </a:rPr>
              <a:t>two or more different factors, not two of the same kind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Two passwords are not MFA  </a:t>
            </a:r>
            <a:r>
              <a:rPr sz="1450">
                <a:solidFill>
                  <a:srgbClr val="D1D5DB"/>
                </a:solidFill>
                <a:latin typeface="Arial"/>
              </a:rPr>
              <a:t>the factor matters more than the technology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Why it matters  </a:t>
            </a:r>
            <a:r>
              <a:rPr sz="1450">
                <a:solidFill>
                  <a:srgbClr val="D1D5DB"/>
                </a:solidFill>
                <a:latin typeface="Arial"/>
              </a:rPr>
              <a:t>attackers go for the weakest factor, so add a second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4 · PROVING IDENTITY AND KEEPING RECORDS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Factors, examples and weaknesses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83080"/>
          <a:ext cx="813816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834640"/>
                <a:gridCol w="4023360"/>
              </a:tblGrid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Factor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Examples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Typical weakness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Know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Password, pin, passphrase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Reuse, phishing, brute force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Have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Token, smart card, app code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Lost or stolen device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Are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Fingerprint, face, iris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Spoofing, privacy concerns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Protocols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Kerberos, LDAP, SAML, SSO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Misconfiguration, weak trust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3931920"/>
            <a:ext cx="8138160" cy="64008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Know your protocols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98848"/>
            <a:ext cx="7680960" cy="182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Kerberos authenticates, LDAP looks up accounts, SAML passes identity, SSO gives one login.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81381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FFFFFF"/>
                </a:solidFill>
                <a:latin typeface="Arial"/>
              </a:rPr>
              <a:t>Which pillar of the CIA triad fails first in a typical data breach?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97180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 w="15875">
            <a:solidFill>
              <a:srgbClr val="A8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090672"/>
            <a:ext cx="75895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D1D5DB"/>
                </a:solidFill>
                <a:latin typeface="Arial"/>
              </a:rPr>
              <a:t>Work through a breach: data is stolen (confidentiality), altered (integrity), or systems go down (availability). Most incidents touch more than one pillar. Name the chain.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114800"/>
            <a:ext cx="8138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9CA3AF"/>
                </a:solidFill>
                <a:latin typeface="Arial"/>
              </a:rPr>
              <a:t>Real incidents usually break two or three pillars at once.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0" y="1371600"/>
            <a:ext cx="5486400" cy="2194560"/>
          </a:xfrm>
          <a:prstGeom prst="roundRect">
            <a:avLst>
              <a:gd name="adj" fmla="val 6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691640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spc="500">
                <a:solidFill>
                  <a:srgbClr val="FFFFFF"/>
                </a:solidFill>
                <a:latin typeface="Arial"/>
              </a:rPr>
              <a:t>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3774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spc="200">
                <a:solidFill>
                  <a:srgbClr val="F3D9D9"/>
                </a:solidFill>
                <a:latin typeface="Arial"/>
              </a:rPr>
              <a:t>10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794760"/>
            <a:ext cx="6400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D1D5DB"/>
                </a:solidFill>
                <a:latin typeface="Arial"/>
              </a:rPr>
              <a:t>Back soon: accounting and zero trust, then deception and change control.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0" name="Picture 9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5 · ACCOUNTING AND ZERO TRUST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Accounting and audit trails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Accounting  </a:t>
            </a:r>
            <a:r>
              <a:rPr sz="1450">
                <a:solidFill>
                  <a:srgbClr val="D1D5DB"/>
                </a:solidFill>
                <a:latin typeface="Arial"/>
              </a:rPr>
              <a:t>recording user activity and resource use, such as logins and config changes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audit trail  </a:t>
            </a:r>
            <a:r>
              <a:rPr sz="1450">
                <a:solidFill>
                  <a:srgbClr val="D1D5DB"/>
                </a:solidFill>
                <a:latin typeface="Arial"/>
              </a:rPr>
              <a:t>a chronological record that traces an action back to a specific user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It creates accountability  </a:t>
            </a:r>
            <a:r>
              <a:rPr sz="1450">
                <a:solidFill>
                  <a:srgbClr val="D1D5DB"/>
                </a:solidFill>
                <a:latin typeface="Arial"/>
              </a:rPr>
              <a:t>when actions are recorded, behaviour improves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It supports investigation  </a:t>
            </a:r>
            <a:r>
              <a:rPr sz="1450">
                <a:solidFill>
                  <a:srgbClr val="D1D5DB"/>
                </a:solidFill>
                <a:latin typeface="Arial"/>
              </a:rPr>
              <a:t>after a breach, reconstruct events and find the root cause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It demonstrates compliance  </a:t>
            </a:r>
            <a:r>
              <a:rPr sz="1450">
                <a:solidFill>
                  <a:srgbClr val="D1D5DB"/>
                </a:solidFill>
                <a:latin typeface="Arial"/>
              </a:rPr>
              <a:t>evidence for the auditor, without any guesswork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It reveals policy violations  </a:t>
            </a:r>
            <a:r>
              <a:rPr sz="1450">
                <a:solidFill>
                  <a:srgbClr val="D1D5DB"/>
                </a:solidFill>
                <a:latin typeface="Arial"/>
              </a:rPr>
              <a:t>things no other control would catch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5 · ACCOUNTING AND ZERO TRUST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Log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Centralise  </a:t>
            </a:r>
            <a:r>
              <a:rPr sz="1450">
                <a:solidFill>
                  <a:srgbClr val="D1D5DB"/>
                </a:solidFill>
                <a:latin typeface="Arial"/>
              </a:rPr>
              <a:t>pull logs from servers, firewalls, endpoints and applications into one place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Correlate  </a:t>
            </a:r>
            <a:r>
              <a:rPr sz="1450">
                <a:solidFill>
                  <a:srgbClr val="D1D5DB"/>
                </a:solidFill>
                <a:latin typeface="Arial"/>
              </a:rPr>
              <a:t>see one event across several systems instead of five separate records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Set a retention period  </a:t>
            </a:r>
            <a:r>
              <a:rPr sz="1450">
                <a:solidFill>
                  <a:srgbClr val="D1D5DB"/>
                </a:solidFill>
                <a:latin typeface="Arial"/>
              </a:rPr>
              <a:t>keep data long enough for regulation and your own investigations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Analyse  </a:t>
            </a:r>
            <a:r>
              <a:rPr sz="1450">
                <a:solidFill>
                  <a:srgbClr val="D1D5DB"/>
                </a:solidFill>
                <a:latin typeface="Arial"/>
              </a:rPr>
              <a:t>where a SIEM earns its place, collecting events and flagging the suspicious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Alert automatically  </a:t>
            </a:r>
            <a:r>
              <a:rPr sz="1450">
                <a:solidFill>
                  <a:srgbClr val="D1D5DB"/>
                </a:solidFill>
                <a:latin typeface="Arial"/>
              </a:rPr>
              <a:t>nobody watches a dashboard for eight hours straight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hard truth  </a:t>
            </a:r>
            <a:r>
              <a:rPr sz="1450">
                <a:solidFill>
                  <a:srgbClr val="D1D5DB"/>
                </a:solidFill>
                <a:latin typeface="Arial"/>
              </a:rPr>
              <a:t>a log nobody reads is evidence you will not have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5 · ACCOUNTING AND ZERO TRUST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Zero trust: never trust, always verify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uncomfortable assumption  </a:t>
            </a:r>
            <a:r>
              <a:rPr sz="1450">
                <a:solidFill>
                  <a:srgbClr val="D1D5DB"/>
                </a:solidFill>
                <a:latin typeface="Arial"/>
              </a:rPr>
              <a:t>threats exist inside the network as well as outside it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Why the old model failed  </a:t>
            </a:r>
            <a:r>
              <a:rPr sz="1450">
                <a:solidFill>
                  <a:srgbClr val="D1D5DB"/>
                </a:solidFill>
                <a:latin typeface="Arial"/>
              </a:rPr>
              <a:t>insiders, stolen credentials and cloud services cross the line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No implicit trust  </a:t>
            </a:r>
            <a:r>
              <a:rPr sz="1450">
                <a:solidFill>
                  <a:srgbClr val="D1D5DB"/>
                </a:solidFill>
                <a:latin typeface="Arial"/>
              </a:rPr>
              <a:t>no user and no device is trusted by default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Every request is checked  </a:t>
            </a:r>
            <a:r>
              <a:rPr sz="1450">
                <a:solidFill>
                  <a:srgbClr val="D1D5DB"/>
                </a:solidFill>
                <a:latin typeface="Arial"/>
              </a:rPr>
              <a:t>authenticated and authorised before it reaches a resource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Microsegmentation  </a:t>
            </a:r>
            <a:r>
              <a:rPr sz="1450">
                <a:solidFill>
                  <a:srgbClr val="D1D5DB"/>
                </a:solidFill>
                <a:latin typeface="Arial"/>
              </a:rPr>
              <a:t>isolated zones so an attacker cannot move sideways unchecked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exam line  </a:t>
            </a:r>
            <a:r>
              <a:rPr sz="1450">
                <a:solidFill>
                  <a:srgbClr val="D1D5DB"/>
                </a:solidFill>
                <a:latin typeface="Arial"/>
              </a:rPr>
              <a:t>zero trust is a design principle, not a product you buy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5 · ACCOUNTING AND ZERO TRUST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Continuous verification and least privilege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Not a one-time event  </a:t>
            </a:r>
            <a:r>
              <a:rPr sz="1450">
                <a:solidFill>
                  <a:srgbClr val="D1D5DB"/>
                </a:solidFill>
                <a:latin typeface="Arial"/>
              </a:rPr>
              <a:t>logging in once does not earn lasting trust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Continuous assessment  </a:t>
            </a:r>
            <a:r>
              <a:rPr sz="1450">
                <a:solidFill>
                  <a:srgbClr val="D1D5DB"/>
                </a:solidFill>
                <a:latin typeface="Arial"/>
              </a:rPr>
              <a:t>behaviour and context are watched through real-time analytics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Adaptive authentication  </a:t>
            </a:r>
            <a:r>
              <a:rPr sz="1450">
                <a:solidFill>
                  <a:srgbClr val="D1D5DB"/>
                </a:solidFill>
                <a:latin typeface="Arial"/>
              </a:rPr>
              <a:t>policy adjusts to risk when behaviour changes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An example  </a:t>
            </a:r>
            <a:r>
              <a:rPr sz="1450">
                <a:solidFill>
                  <a:srgbClr val="D1D5DB"/>
                </a:solidFill>
                <a:latin typeface="Arial"/>
              </a:rPr>
              <a:t>a sign-in from an unfamiliar country prompts another check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Least privilege  </a:t>
            </a:r>
            <a:r>
              <a:rPr sz="1450">
                <a:solidFill>
                  <a:srgbClr val="D1D5DB"/>
                </a:solidFill>
                <a:latin typeface="Arial"/>
              </a:rPr>
              <a:t>users receive only the access their role requires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trade-off  </a:t>
            </a:r>
            <a:r>
              <a:rPr sz="1450">
                <a:solidFill>
                  <a:srgbClr val="D1D5DB"/>
                </a:solidFill>
                <a:latin typeface="Arial"/>
              </a:rPr>
              <a:t>complex, costly and culturally hard, but less lateral movement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6 · DECEPTION AND CHANGE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Honeypots, honeynets and honeytokens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 honeypot  </a:t>
            </a:r>
            <a:r>
              <a:rPr sz="1450">
                <a:solidFill>
                  <a:srgbClr val="D1D5DB"/>
                </a:solidFill>
                <a:latin typeface="Arial"/>
              </a:rPr>
              <a:t>a decoy system that looks like a real server with real services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It reveals method  </a:t>
            </a:r>
            <a:r>
              <a:rPr sz="1450">
                <a:solidFill>
                  <a:srgbClr val="D1D5DB"/>
                </a:solidFill>
                <a:latin typeface="Arial"/>
              </a:rPr>
              <a:t>an attacker who engages it shows tooling and intent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 honeynet  </a:t>
            </a:r>
            <a:r>
              <a:rPr sz="1450">
                <a:solidFill>
                  <a:srgbClr val="D1D5DB"/>
                </a:solidFill>
                <a:latin typeface="Arial"/>
              </a:rPr>
              <a:t>a whole decoy network built from several systems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 honeytoken  </a:t>
            </a:r>
            <a:r>
              <a:rPr sz="1450">
                <a:solidFill>
                  <a:srgbClr val="D1D5DB"/>
                </a:solidFill>
                <a:latin typeface="Arial"/>
              </a:rPr>
              <a:t>a single piece of fake data, such as a bogus account or planted file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It raises an alert  </a:t>
            </a:r>
            <a:r>
              <a:rPr sz="1450">
                <a:solidFill>
                  <a:srgbClr val="D1D5DB"/>
                </a:solidFill>
                <a:latin typeface="Arial"/>
              </a:rPr>
              <a:t>the moment somebody touches it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Watch for the tell  </a:t>
            </a:r>
            <a:r>
              <a:rPr sz="1450">
                <a:solidFill>
                  <a:srgbClr val="D1D5DB"/>
                </a:solidFill>
                <a:latin typeface="Arial"/>
              </a:rPr>
              <a:t>no legitimate user should ever reach these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6 · DECEPTION AND CHANGE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What deception buys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Early warning  </a:t>
            </a:r>
            <a:r>
              <a:rPr sz="1450">
                <a:solidFill>
                  <a:srgbClr val="D1D5DB"/>
                </a:solidFill>
                <a:latin typeface="Arial"/>
              </a:rPr>
              <a:t>a decoy sits beside production, so any contact is suspicious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Threat intelligence  </a:t>
            </a:r>
            <a:r>
              <a:rPr sz="1450">
                <a:solidFill>
                  <a:srgbClr val="D1D5DB"/>
                </a:solidFill>
                <a:latin typeface="Arial"/>
              </a:rPr>
              <a:t>every attacker action on a honeypot is recorded and studied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Wasted effort  </a:t>
            </a:r>
            <a:r>
              <a:rPr sz="1450">
                <a:solidFill>
                  <a:srgbClr val="D1D5DB"/>
                </a:solidFill>
                <a:latin typeface="Arial"/>
              </a:rPr>
              <a:t>every moment on a decoy is a moment not spent on real systems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834640"/>
            <a:ext cx="8138160" cy="64008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Deception catches what a signature has never seen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01568"/>
            <a:ext cx="7680960" cy="182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A honeypot needs no attack signature, because nobody legitimate should be there at 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6 · DECEPTION AND CHANGE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A controlled change, step by step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83080"/>
            <a:ext cx="1466697" cy="137160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67512" y="1947672"/>
            <a:ext cx="384048" cy="384048"/>
          </a:xfrm>
          <a:prstGeom prst="ellipse">
            <a:avLst/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423160"/>
            <a:ext cx="124724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Request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788920"/>
            <a:ext cx="124724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Arial"/>
              </a:rPr>
              <a:t>what changes, why, and what benefit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70785" y="1783080"/>
            <a:ext cx="1466697" cy="137160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335377" y="1947672"/>
            <a:ext cx="384048" cy="384048"/>
          </a:xfrm>
          <a:prstGeom prst="ellipse">
            <a:avLst/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0513" y="2423160"/>
            <a:ext cx="124724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Impact assessment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0513" y="2788920"/>
            <a:ext cx="124724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Arial"/>
              </a:rPr>
              <a:t>security, functionality, performance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38651" y="1783080"/>
            <a:ext cx="1466697" cy="137160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03243" y="1947672"/>
            <a:ext cx="384048" cy="384048"/>
          </a:xfrm>
          <a:prstGeom prst="ellipse">
            <a:avLst/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48379" y="2423160"/>
            <a:ext cx="124724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Approval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48379" y="2788920"/>
            <a:ext cx="124724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Arial"/>
              </a:rPr>
              <a:t>system owner and security officer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06516" y="1783080"/>
            <a:ext cx="1466697" cy="137160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71108" y="1947672"/>
            <a:ext cx="384048" cy="384048"/>
          </a:xfrm>
          <a:prstGeom prst="ellipse">
            <a:avLst/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16244" y="2423160"/>
            <a:ext cx="124724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Schedule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16244" y="2788920"/>
            <a:ext cx="124724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Arial"/>
              </a:rPr>
              <a:t>a maintenance window, with a rollback plan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74382" y="1783080"/>
            <a:ext cx="1466697" cy="137160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38974" y="1947672"/>
            <a:ext cx="384048" cy="384048"/>
          </a:xfrm>
          <a:prstGeom prst="ellipse">
            <a:avLst/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84110" y="2423160"/>
            <a:ext cx="124724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Document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84110" y="2788920"/>
            <a:ext cx="124724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Arial"/>
              </a:rPr>
              <a:t>every change, however minor it looks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28" name="Picture 27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6 · DECEPTION AND CHANGE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When change management is skipped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An unapproved firewall rule  </a:t>
            </a:r>
            <a:r>
              <a:rPr sz="1450">
                <a:solidFill>
                  <a:srgbClr val="D1D5DB"/>
                </a:solidFill>
                <a:latin typeface="Arial"/>
              </a:rPr>
              <a:t>one small edit can expose an internal service to the internet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Unapproved software  </a:t>
            </a:r>
            <a:r>
              <a:rPr sz="1450">
                <a:solidFill>
                  <a:srgbClr val="D1D5DB"/>
                </a:solidFill>
                <a:latin typeface="Arial"/>
              </a:rPr>
              <a:t>brings malware or compatibility problems with it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Nobody knows it is there  </a:t>
            </a:r>
            <a:r>
              <a:rPr sz="1450">
                <a:solidFill>
                  <a:srgbClr val="D1D5DB"/>
                </a:solidFill>
                <a:latin typeface="Arial"/>
              </a:rPr>
              <a:t>the change is a back door nobody recorded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Configuration drift  </a:t>
            </a:r>
            <a:r>
              <a:rPr sz="1450">
                <a:solidFill>
                  <a:srgbClr val="D1D5DB"/>
                </a:solidFill>
                <a:latin typeface="Arial"/>
              </a:rPr>
              <a:t>systems wander away from the approved baseline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cost  </a:t>
            </a:r>
            <a:r>
              <a:rPr sz="1450">
                <a:solidFill>
                  <a:srgbClr val="D1D5DB"/>
                </a:solidFill>
                <a:latin typeface="Arial"/>
              </a:rPr>
              <a:t>nobody can say what a normal build looks like, so response slows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794760"/>
            <a:ext cx="8138160" cy="64008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The rule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61688"/>
            <a:ext cx="7680960" cy="182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An unmanaged change can open a back door, disable a control, or break a dependency.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6 · DECEPTION AND CHANGE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What a change can 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Allow list  </a:t>
            </a:r>
            <a:r>
              <a:rPr sz="1450">
                <a:solidFill>
                  <a:srgbClr val="D1D5DB"/>
                </a:solidFill>
                <a:latin typeface="Arial"/>
              </a:rPr>
              <a:t>only pre-approved applications may run, so a new one must be added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Firewall rules  </a:t>
            </a:r>
            <a:r>
              <a:rPr sz="1450">
                <a:solidFill>
                  <a:srgbClr val="D1D5DB"/>
                </a:solidFill>
                <a:latin typeface="Arial"/>
              </a:rPr>
              <a:t>a new server needs a rule, and a hasty rule opens a port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Security baseline  </a:t>
            </a:r>
            <a:r>
              <a:rPr sz="1450">
                <a:solidFill>
                  <a:srgbClr val="D1D5DB"/>
                </a:solidFill>
                <a:latin typeface="Arial"/>
              </a:rPr>
              <a:t>the minimum standard every build must meet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 deprecated protocol  </a:t>
            </a:r>
            <a:r>
              <a:rPr sz="1450">
                <a:solidFill>
                  <a:srgbClr val="D1D5DB"/>
                </a:solidFill>
                <a:latin typeface="Arial"/>
              </a:rPr>
              <a:t>means the baseline itself must change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System dependencies  </a:t>
            </a:r>
            <a:r>
              <a:rPr sz="1450">
                <a:solidFill>
                  <a:srgbClr val="D1D5DB"/>
                </a:solidFill>
                <a:latin typeface="Arial"/>
              </a:rPr>
              <a:t>one upgrade can break three systems that rely on it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Evaluate all four  </a:t>
            </a:r>
            <a:r>
              <a:rPr sz="1450">
                <a:solidFill>
                  <a:srgbClr val="D1D5DB"/>
                </a:solidFill>
                <a:latin typeface="Arial"/>
              </a:rPr>
              <a:t>before anything is deployed to production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6 · DECEPTION AND CHANGE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Before you approve: evaluate the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Test first  </a:t>
            </a:r>
            <a:r>
              <a:rPr sz="1450">
                <a:solidFill>
                  <a:srgbClr val="D1D5DB"/>
                </a:solidFill>
                <a:latin typeface="Arial"/>
              </a:rPr>
              <a:t>in a non-production environment, against the controls already in place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Ask before, not after  </a:t>
            </a:r>
            <a:r>
              <a:rPr sz="1450">
                <a:solidFill>
                  <a:srgbClr val="D1D5DB"/>
                </a:solidFill>
                <a:latin typeface="Arial"/>
              </a:rPr>
              <a:t>what controls does this change affect?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Ask again  </a:t>
            </a:r>
            <a:r>
              <a:rPr sz="1450">
                <a:solidFill>
                  <a:srgbClr val="D1D5DB"/>
                </a:solidFill>
                <a:latin typeface="Arial"/>
              </a:rPr>
              <a:t>what new risk does this change introduce?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Write the rollback plan  </a:t>
            </a:r>
            <a:r>
              <a:rPr sz="1450">
                <a:solidFill>
                  <a:srgbClr val="D1D5DB"/>
                </a:solidFill>
                <a:latin typeface="Arial"/>
              </a:rPr>
              <a:t>backup procedures, restoration steps, and a health check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657600"/>
            <a:ext cx="8138160" cy="64008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A change without a way back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24528"/>
            <a:ext cx="7680960" cy="182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is a gamble, not a project. Hold the rollback plan before the maintenance window opens.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EXAM ALIGNMENT · DOMAIN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The NIST Cybersecurity Framework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83080"/>
            <a:ext cx="1466697" cy="137160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67512" y="1947672"/>
            <a:ext cx="384048" cy="384048"/>
          </a:xfrm>
          <a:prstGeom prst="ellipse">
            <a:avLst/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423160"/>
            <a:ext cx="124724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Identify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788920"/>
            <a:ext cx="124724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Arial"/>
              </a:rPr>
              <a:t>know your assets, systems and risks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70785" y="1783080"/>
            <a:ext cx="1466697" cy="137160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335377" y="1947672"/>
            <a:ext cx="384048" cy="384048"/>
          </a:xfrm>
          <a:prstGeom prst="ellipse">
            <a:avLst/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0513" y="2423160"/>
            <a:ext cx="124724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Protect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0513" y="2788920"/>
            <a:ext cx="124724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Arial"/>
              </a:rPr>
              <a:t>implement safeguards for critical services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38651" y="1783080"/>
            <a:ext cx="1466697" cy="137160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03243" y="1947672"/>
            <a:ext cx="384048" cy="384048"/>
          </a:xfrm>
          <a:prstGeom prst="ellipse">
            <a:avLst/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48379" y="2423160"/>
            <a:ext cx="124724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Detect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48379" y="2788920"/>
            <a:ext cx="124724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Arial"/>
              </a:rPr>
              <a:t>find security events quickly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06516" y="1783080"/>
            <a:ext cx="1466697" cy="137160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71108" y="1947672"/>
            <a:ext cx="384048" cy="384048"/>
          </a:xfrm>
          <a:prstGeom prst="ellipse">
            <a:avLst/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16244" y="2423160"/>
            <a:ext cx="124724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Respond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16244" y="2788920"/>
            <a:ext cx="124724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Arial"/>
              </a:rPr>
              <a:t>contain and mitigate incidents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74382" y="1783080"/>
            <a:ext cx="1466697" cy="137160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38974" y="1947672"/>
            <a:ext cx="384048" cy="384048"/>
          </a:xfrm>
          <a:prstGeom prst="ellipse">
            <a:avLst/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84110" y="2423160"/>
            <a:ext cx="124724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Recover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84110" y="2788920"/>
            <a:ext cx="124724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Arial"/>
              </a:rPr>
              <a:t>restore capabilities and learn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383280"/>
            <a:ext cx="8138160" cy="64008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Purpose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950208"/>
            <a:ext cx="7680960" cy="182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A common language and map for the whole security programme. CSF 2.0 adds Govern to the core five.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30" name="Picture 29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EXAM ALIGNMENT · DOMAIN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Gap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Definition  </a:t>
            </a:r>
            <a:r>
              <a:rPr sz="1450">
                <a:solidFill>
                  <a:srgbClr val="D1D5DB"/>
                </a:solidFill>
                <a:latin typeface="Arial"/>
              </a:rPr>
              <a:t>comparing the current security posture against a target framework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What it finds  </a:t>
            </a:r>
            <a:r>
              <a:rPr sz="1450">
                <a:solidFill>
                  <a:srgbClr val="D1D5DB"/>
                </a:solidFill>
                <a:latin typeface="Arial"/>
              </a:rPr>
              <a:t>missing controls, weak areas and unmeasured functions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Output  </a:t>
            </a:r>
            <a:r>
              <a:rPr sz="1450">
                <a:solidFill>
                  <a:srgbClr val="D1D5DB"/>
                </a:solidFill>
                <a:latin typeface="Arial"/>
              </a:rPr>
              <a:t>a scored view, for example 50% maturity in a function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value  </a:t>
            </a:r>
            <a:r>
              <a:rPr sz="1450">
                <a:solidFill>
                  <a:srgbClr val="D1D5DB"/>
                </a:solidFill>
                <a:latin typeface="Arial"/>
              </a:rPr>
              <a:t>prioritised, evidence-based improvement you can measure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distinction  </a:t>
            </a:r>
            <a:r>
              <a:rPr sz="1450">
                <a:solidFill>
                  <a:srgbClr val="D1D5DB"/>
                </a:solidFill>
                <a:latin typeface="Arial"/>
              </a:rPr>
              <a:t>a scan finds technical holes; a gap analysis measures the programme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EXAM ALIGNMENT · DOMAIN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Core security principles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Defence in depth  </a:t>
            </a:r>
            <a:r>
              <a:rPr sz="1450">
                <a:solidFill>
                  <a:srgbClr val="D1D5DB"/>
                </a:solidFill>
                <a:latin typeface="Arial"/>
              </a:rPr>
              <a:t>layered controls, so no single point of failure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Least privilege  </a:t>
            </a:r>
            <a:r>
              <a:rPr sz="1450">
                <a:solidFill>
                  <a:srgbClr val="D1D5DB"/>
                </a:solidFill>
                <a:latin typeface="Arial"/>
              </a:rPr>
              <a:t>users get only the access they need, reviewed regularly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Separation of duties  </a:t>
            </a:r>
            <a:r>
              <a:rPr sz="1450">
                <a:solidFill>
                  <a:srgbClr val="D1D5DB"/>
                </a:solidFill>
                <a:latin typeface="Arial"/>
              </a:rPr>
              <a:t>no one person controls a critical process alone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Zero trust  </a:t>
            </a:r>
            <a:r>
              <a:rPr sz="1450">
                <a:solidFill>
                  <a:srgbClr val="D1D5DB"/>
                </a:solidFill>
                <a:latin typeface="Arial"/>
              </a:rPr>
              <a:t>never trust implicitly; verify every request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thread  </a:t>
            </a:r>
            <a:r>
              <a:rPr sz="1450">
                <a:solidFill>
                  <a:srgbClr val="D1D5DB"/>
                </a:solidFill>
                <a:latin typeface="Arial"/>
              </a:rPr>
              <a:t>each principle limits the blast radius of one failure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EXAM ALIGNMENT · DOMAIN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Who does what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83080"/>
          <a:ext cx="81381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521208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Role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Responsibility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CISO / CSO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Executive ownership of security strategy and risk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Information Systems Security Officer (ISSO)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Day-to-day management of security systems and compliance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Data owner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Accountable for a data set's classification and protection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Data custodian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Implements the controls that protect the data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Security analyst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Monitoring, triage and incident response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Auditor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Independent review of controls and compliance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EXAM ALIGNMENT · DOMAIN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What this maps to in the exam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83080"/>
          <a:ext cx="813816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5943600"/>
              </a:tblGrid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Objective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What the exam tests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1.1 Security concepts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CIA triad, non-repudiation, AAA, gap analysis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1.2 Security controls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Categories and functional types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1.3 Security principles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Defence in depth, least privilege, separation of duties, zero trust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1.4 Roles &amp; responsibilities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CISO/CSO, ISSO, data owner, custodian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3931920"/>
            <a:ext cx="8138160" cy="64008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Two axes, every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98848"/>
            <a:ext cx="7680960" cy="182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When a question names a control, classify the category first, then the functional type.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138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Check your understanding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Open Quiz_Session_04.html in your browser.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20 questions, immediate feedback, exam-objective tag on every question.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Read each explanation: the distractors teach as much as the answer.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Score 70%+ before moving 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41648"/>
            <a:ext cx="7680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150">
                <a:solidFill>
                  <a:srgbClr val="F3D9D9"/>
                </a:solidFill>
                <a:latin typeface="Arial"/>
              </a:rPr>
              <a:t>Every question maps to a CompTIA exam objective, e.g. 1.2 Security Controls.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813816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Controls reduce risk in layers  </a:t>
            </a:r>
            <a:r>
              <a:rPr sz="1600">
                <a:solidFill>
                  <a:srgbClr val="FFFFFF"/>
                </a:solidFill>
                <a:latin typeface="Arial"/>
              </a:rPr>
              <a:t>safeguards, countermeasures, and defence in depth.</a:t>
            </a:r>
          </a:p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Category says how  </a:t>
            </a:r>
            <a:r>
              <a:rPr sz="1600">
                <a:solidFill>
                  <a:srgbClr val="FFFFFF"/>
                </a:solidFill>
                <a:latin typeface="Arial"/>
              </a:rPr>
              <a:t>technical, physical, managerial, operational.</a:t>
            </a:r>
          </a:p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Type says what  </a:t>
            </a:r>
            <a:r>
              <a:rPr sz="1600">
                <a:solidFill>
                  <a:srgbClr val="FFFFFF"/>
                </a:solidFill>
                <a:latin typeface="Arial"/>
              </a:rPr>
              <a:t>preventive, detective, corrective, compensating, deterrent, directive.</a:t>
            </a:r>
          </a:p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CIA anchors every decision  </a:t>
            </a:r>
            <a:r>
              <a:rPr sz="1600">
                <a:solidFill>
                  <a:srgbClr val="FFFFFF"/>
                </a:solidFill>
                <a:latin typeface="Arial"/>
              </a:rPr>
              <a:t>confidentiality, integrity, availability, plus non-repudiation.</a:t>
            </a:r>
          </a:p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Identity must be provable  </a:t>
            </a:r>
            <a:r>
              <a:rPr sz="1600">
                <a:solidFill>
                  <a:srgbClr val="FFFFFF"/>
                </a:solidFill>
                <a:latin typeface="Arial"/>
              </a:rPr>
              <a:t>authentication factors, accounting and audit trails.</a:t>
            </a:r>
          </a:p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Zero trust verifies every request  </a:t>
            </a:r>
            <a:r>
              <a:rPr sz="1600">
                <a:solidFill>
                  <a:srgbClr val="FFFFFF"/>
                </a:solidFill>
                <a:latin typeface="Arial"/>
              </a:rPr>
              <a:t>never trust, always verify; microsegmentation.</a:t>
            </a:r>
          </a:p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Deception and change control  </a:t>
            </a:r>
            <a:r>
              <a:rPr sz="1600">
                <a:solidFill>
                  <a:srgbClr val="FFFFFF"/>
                </a:solidFill>
                <a:latin typeface="Arial"/>
              </a:rPr>
              <a:t>honeypots teach you about attackers; controlled change protects the baseline.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8" name="Picture 7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REVISION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Before next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Retake the quiz  </a:t>
            </a:r>
            <a:r>
              <a:rPr sz="1450">
                <a:solidFill>
                  <a:srgbClr val="D1D5DB"/>
                </a:solidFill>
                <a:latin typeface="Arial"/>
              </a:rPr>
              <a:t>until you score 70%+ without guessing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Classify ten controls  </a:t>
            </a:r>
            <a:r>
              <a:rPr sz="1450">
                <a:solidFill>
                  <a:srgbClr val="D1D5DB"/>
                </a:solidFill>
                <a:latin typeface="Arial"/>
              </a:rPr>
              <a:t>five by category and five by functional type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Map your workplace  </a:t>
            </a:r>
            <a:r>
              <a:rPr sz="1450">
                <a:solidFill>
                  <a:srgbClr val="D1D5DB"/>
                </a:solidFill>
                <a:latin typeface="Arial"/>
              </a:rPr>
              <a:t>one control for each category and each type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Practise the triad  </a:t>
            </a:r>
            <a:r>
              <a:rPr sz="1450">
                <a:solidFill>
                  <a:srgbClr val="D1D5DB"/>
                </a:solidFill>
                <a:latin typeface="Arial"/>
              </a:rPr>
              <a:t>classify five recent incidents by pillar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Read ahead  </a:t>
            </a:r>
            <a:r>
              <a:rPr sz="1450">
                <a:solidFill>
                  <a:srgbClr val="D1D5DB"/>
                </a:solidFill>
                <a:latin typeface="Arial"/>
              </a:rPr>
              <a:t>Session 5, threat types, threat actors and attack vectors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NEXT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138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Session 5 — Threats, Attack Types &amp; Threat Actors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8138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Arial"/>
              </a:rPr>
              <a:t>Comparing threat actors, motivations, attack surfaces and vectors (Lesson 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94560"/>
            <a:ext cx="8138160" cy="2491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350">
                <a:solidFill>
                  <a:srgbClr val="D1D5DB"/>
                </a:solidFill>
                <a:latin typeface="Arial"/>
              </a:rPr>
              <a:t>Threat actors: nation-state, criminal, insider, hacktivist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350">
                <a:solidFill>
                  <a:srgbClr val="D1D5DB"/>
                </a:solidFill>
                <a:latin typeface="Arial"/>
              </a:rPr>
              <a:t>Attack vectors: direct, network, lure-based, supply chain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350">
                <a:solidFill>
                  <a:srgbClr val="D1D5DB"/>
                </a:solidFill>
                <a:latin typeface="Arial"/>
              </a:rPr>
              <a:t>The vulnerability-threat-risk relationship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0" name="Picture 9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