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TRAINING @ FORREST.ONE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5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Network Fundamentals + CompTIA Security+ SY0-701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Threats, Attack Types &amp; Threat 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Who attacks, why they attack, and the paths they take: know the adversary before you defend.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LESSON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3441" y="4224528"/>
            <a:ext cx="1457553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THREAT ACTORS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7299" y="4224528"/>
            <a:ext cx="1547164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ATTACK VECTORS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6" name="Picture 15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718304"/>
            <a:ext cx="301752" cy="455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Know the adversary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 4  </a:t>
            </a:r>
            <a:r>
              <a:rPr sz="1450">
                <a:solidFill>
                  <a:srgbClr val="D1D5DB"/>
                </a:solidFill>
                <a:latin typeface="Arial"/>
              </a:rPr>
              <a:t>set the CIA triad, controls and frameworks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Today  </a:t>
            </a:r>
            <a:r>
              <a:rPr sz="1450">
                <a:solidFill>
                  <a:srgbClr val="D1D5DB"/>
                </a:solidFill>
                <a:latin typeface="Arial"/>
              </a:rPr>
              <a:t>the adversary, in six chapters: actors, surface, vulnerabilities, malware, network attacks, mitigation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relationship  </a:t>
            </a:r>
            <a:r>
              <a:rPr sz="1450">
                <a:solidFill>
                  <a:srgbClr val="D1D5DB"/>
                </a:solidFill>
                <a:latin typeface="Arial"/>
              </a:rPr>
              <a:t>a vulnerability plus a threat equals risk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thread  </a:t>
            </a:r>
            <a:r>
              <a:rPr sz="1450">
                <a:solidFill>
                  <a:srgbClr val="D1D5DB"/>
                </a:solidFill>
                <a:latin typeface="Arial"/>
              </a:rPr>
              <a:t>every technique is paired with the control that answers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you cannot defend against a threat you cannot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Define the terms  </a:t>
            </a:r>
            <a:r>
              <a:rPr sz="1450">
                <a:solidFill>
                  <a:srgbClr val="D1D5DB"/>
                </a:solidFill>
                <a:latin typeface="Arial"/>
              </a:rPr>
              <a:t>vulnerability, threat and risk, and how they combine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Compare threat actors  </a:t>
            </a:r>
            <a:r>
              <a:rPr sz="1450">
                <a:solidFill>
                  <a:srgbClr val="D1D5DB"/>
                </a:solidFill>
                <a:latin typeface="Arial"/>
              </a:rPr>
              <a:t>by resources, sophistication, motivation and intent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Classify actor types  </a:t>
            </a:r>
            <a:r>
              <a:rPr sz="1450">
                <a:solidFill>
                  <a:srgbClr val="D1D5DB"/>
                </a:solidFill>
                <a:latin typeface="Arial"/>
              </a:rPr>
              <a:t>nation-state, organised crime, hacktivist, unskilled, insider and shadow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Map the attack surface  </a:t>
            </a:r>
            <a:r>
              <a:rPr sz="1450">
                <a:solidFill>
                  <a:srgbClr val="D1D5DB"/>
                </a:solidFill>
                <a:latin typeface="Arial"/>
              </a:rPr>
              <a:t>the vectors that reach it, human vectors first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vulnerabilities  </a:t>
            </a:r>
            <a:r>
              <a:rPr sz="1450">
                <a:solidFill>
                  <a:srgbClr val="D1D5DB"/>
                </a:solidFill>
                <a:latin typeface="Arial"/>
              </a:rPr>
              <a:t>software, application, operating system, hardware, mobile, cloud and virtualisation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Describe the attacks  </a:t>
            </a:r>
            <a:r>
              <a:rPr sz="1450">
                <a:solidFill>
                  <a:srgbClr val="D1D5DB"/>
                </a:solidFill>
                <a:latin typeface="Arial"/>
              </a:rPr>
              <a:t>malware and evasion, botnets, credential attacks, injection, denial of service, Layer 2, DNS, on-path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Apply the mitigations  </a:t>
            </a:r>
            <a:r>
              <a:rPr sz="1450">
                <a:solidFill>
                  <a:srgbClr val="D1D5DB"/>
                </a:solidFill>
                <a:latin typeface="Arial"/>
              </a:rPr>
              <a:t>segmentation, access control, hardening, patching and isolation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THREAT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Vulnerability, threat and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Vulnerability  </a:t>
            </a:r>
            <a:r>
              <a:rPr sz="1450">
                <a:solidFill>
                  <a:srgbClr val="D1D5DB"/>
                </a:solidFill>
                <a:latin typeface="Arial"/>
              </a:rPr>
              <a:t>a weakness in a system, process or design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Threat  </a:t>
            </a:r>
            <a:r>
              <a:rPr sz="1450">
                <a:solidFill>
                  <a:srgbClr val="D1D5DB"/>
                </a:solidFill>
                <a:latin typeface="Arial"/>
              </a:rPr>
              <a:t>a person, tool or method that could exploit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Risk  </a:t>
            </a:r>
            <a:r>
              <a:rPr sz="1450">
                <a:solidFill>
                  <a:srgbClr val="D1D5DB"/>
                </a:solidFill>
                <a:latin typeface="Arial"/>
              </a:rPr>
              <a:t>the likelihood and impact of that exploitation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formula  </a:t>
            </a:r>
            <a:r>
              <a:rPr sz="1450">
                <a:solidFill>
                  <a:srgbClr val="D1D5DB"/>
                </a:solidFill>
                <a:latin typeface="Arial"/>
              </a:rPr>
              <a:t>a threat that exploits a vulnerability creates risk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lesson  </a:t>
            </a:r>
            <a:r>
              <a:rPr sz="1450">
                <a:solidFill>
                  <a:srgbClr val="D1D5DB"/>
                </a:solidFill>
                <a:latin typeface="Arial"/>
              </a:rPr>
              <a:t>a weakness alone is not risk; add an adversary and it 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Every actor in this session supplies the capability, the motivation and the intent behind a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THREAT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Attributes of threat actors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40080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Attribute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tells you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Resources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Money, technology and people the actor can commit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Sophistication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Skill, from ready-made tools to custom exploits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Motivation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reason to act: money, ideology, grievance, curiosity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Intent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specific outcome sought, such as theft or disruption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65760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6732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Motivation sets the reason and intent sets the outcome; together they predict the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THREAT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Motivations and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Financial  </a:t>
            </a:r>
            <a:r>
              <a:rPr sz="1450">
                <a:solidFill>
                  <a:srgbClr val="D1D5DB"/>
                </a:solidFill>
                <a:latin typeface="Arial"/>
              </a:rPr>
              <a:t>ransomware, extortion, fraud, blackmail and card theft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Political or ideological  </a:t>
            </a:r>
            <a:r>
              <a:rPr sz="1450">
                <a:solidFill>
                  <a:srgbClr val="D1D5DB"/>
                </a:solidFill>
                <a:latin typeface="Arial"/>
              </a:rPr>
              <a:t>hacktivism, disinformation, protest and war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Strategic  </a:t>
            </a:r>
            <a:r>
              <a:rPr sz="1450">
                <a:solidFill>
                  <a:srgbClr val="D1D5DB"/>
                </a:solidFill>
                <a:latin typeface="Arial"/>
              </a:rPr>
              <a:t>espionage and data exfiltration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Personal  </a:t>
            </a:r>
            <a:r>
              <a:rPr sz="1450">
                <a:solidFill>
                  <a:srgbClr val="D1D5DB"/>
                </a:solidFill>
                <a:latin typeface="Arial"/>
              </a:rPr>
              <a:t>revenge, grievance, curiosity and disruption for its own sake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Ethical  </a:t>
            </a:r>
            <a:r>
              <a:rPr sz="1450">
                <a:solidFill>
                  <a:srgbClr val="D1D5DB"/>
                </a:solidFill>
                <a:latin typeface="Arial"/>
              </a:rPr>
              <a:t>authorised testing, research and responsible disclosure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predictor  </a:t>
            </a:r>
            <a:r>
              <a:rPr sz="1450">
                <a:solidFill>
                  <a:srgbClr val="D1D5DB"/>
                </a:solidFill>
                <a:latin typeface="Arial"/>
              </a:rPr>
              <a:t>motivation chooses the target; intent chooses the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THREAT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Nation-state actors and advanced persistent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State sponsored  </a:t>
            </a:r>
            <a:r>
              <a:rPr sz="1450">
                <a:solidFill>
                  <a:srgbClr val="D1D5DB"/>
                </a:solidFill>
                <a:latin typeface="Arial"/>
              </a:rPr>
              <a:t>deep funding, advanced technology and highly skilled staff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Strategic goals  </a:t>
            </a:r>
            <a:r>
              <a:rPr sz="1450">
                <a:solidFill>
                  <a:srgbClr val="D1D5DB"/>
                </a:solidFill>
                <a:latin typeface="Arial"/>
              </a:rPr>
              <a:t>espionage, intellectual property theft and disruption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APT  </a:t>
            </a:r>
            <a:r>
              <a:rPr sz="1450">
                <a:solidFill>
                  <a:srgbClr val="D1D5DB"/>
                </a:solidFill>
                <a:latin typeface="Arial"/>
              </a:rPr>
              <a:t>a prolonged, targeted campaign that stays undetected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Early stages  </a:t>
            </a:r>
            <a:r>
              <a:rPr sz="1450">
                <a:solidFill>
                  <a:srgbClr val="D1D5DB"/>
                </a:solidFill>
                <a:latin typeface="Arial"/>
              </a:rPr>
              <a:t>reconnaissance, intrusion, foothold, privilege escalation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Late stages  </a:t>
            </a:r>
            <a:r>
              <a:rPr sz="1450">
                <a:solidFill>
                  <a:srgbClr val="D1D5DB"/>
                </a:solidFill>
                <a:latin typeface="Arial"/>
              </a:rPr>
              <a:t>internal reconnaissance, exfiltration, persistence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Named cases  </a:t>
            </a:r>
            <a:r>
              <a:rPr sz="1450">
                <a:solidFill>
                  <a:srgbClr val="D1D5DB"/>
                </a:solidFill>
                <a:latin typeface="Arial"/>
              </a:rPr>
              <a:t>Stuxnet, Operation Aurora and NotPetya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Deniability  </a:t>
            </a:r>
            <a:r>
              <a:rPr sz="1450">
                <a:solidFill>
                  <a:srgbClr val="D1D5DB"/>
                </a:solidFill>
                <a:latin typeface="Arial"/>
              </a:rPr>
              <a:t>obfuscation and false-flag operations that defeat attribution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1605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702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The APT is the most tested actor type on the exam: persistence, not one strike.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THREAT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Organised crime and the underground economy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Structured like a business  </a:t>
            </a:r>
            <a:r>
              <a:rPr sz="1450">
                <a:solidFill>
                  <a:srgbClr val="D1D5DB"/>
                </a:solidFill>
                <a:latin typeface="Arial"/>
              </a:rPr>
              <a:t>hierarchies, specialist roles and profit as the only goal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Ransomware  </a:t>
            </a:r>
            <a:r>
              <a:rPr sz="1450">
                <a:solidFill>
                  <a:srgbClr val="D1D5DB"/>
                </a:solidFill>
                <a:latin typeface="Arial"/>
              </a:rPr>
              <a:t>encrypt the data, then demand cryptocurrency for the key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Banking trojans  </a:t>
            </a:r>
            <a:r>
              <a:rPr sz="1450">
                <a:solidFill>
                  <a:srgbClr val="D1D5DB"/>
                </a:solidFill>
                <a:latin typeface="Arial"/>
              </a:rPr>
              <a:t>capture financial details and redirect transactions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Card theft  </a:t>
            </a:r>
            <a:r>
              <a:rPr sz="1450">
                <a:solidFill>
                  <a:srgbClr val="D1D5DB"/>
                </a:solidFill>
                <a:latin typeface="Arial"/>
              </a:rPr>
              <a:t>skimming, phishing and weak e-commerce platforms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Business email compromise  </a:t>
            </a:r>
            <a:r>
              <a:rPr sz="1450">
                <a:solidFill>
                  <a:srgbClr val="D1D5DB"/>
                </a:solidFill>
                <a:latin typeface="Arial"/>
              </a:rPr>
              <a:t>impersonate an executive to authorise a payment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Crime as a service  </a:t>
            </a:r>
            <a:r>
              <a:rPr sz="1450">
                <a:solidFill>
                  <a:srgbClr val="D1D5DB"/>
                </a:solidFill>
                <a:latin typeface="Arial"/>
              </a:rPr>
              <a:t>rent botnets, ransomware and denial of service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Underground markets  </a:t>
            </a:r>
            <a:r>
              <a:rPr sz="1450">
                <a:solidFill>
                  <a:srgbClr val="D1D5DB"/>
                </a:solidFill>
                <a:latin typeface="Arial"/>
              </a:rPr>
              <a:t>stolen data and hacking tools, paid in cryptocurrency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THREAT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Hacktivists, unskilled attackers and insiders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37360"/>
          <a:ext cx="8138158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3063240"/>
                <a:gridCol w="338327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Actor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Profile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Typical method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Hacktivist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Ideological or political cause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Defacement, data leak, denial of service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Unskilled attacker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Script kiddie, no coding skill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Ready-made tools on easy targets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Malicious insider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Employee, contractor or partner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Theft or sabotage with valid access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Negligent insider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Authorised user who makes a mistake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Falls for phishing, mishandles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Shadow 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Unauthorised apps, devices, cloud services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placed outside approved controls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Insiders are hardest to detect because their access is legitimate.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THREAT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Competitors and false flags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Competitors  </a:t>
            </a:r>
            <a:r>
              <a:rPr sz="1450">
                <a:solidFill>
                  <a:srgbClr val="D1D5DB"/>
                </a:solidFill>
                <a:latin typeface="Arial"/>
              </a:rPr>
              <a:t>espionage for intellectual property and trade secrets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Disinformation  </a:t>
            </a:r>
            <a:r>
              <a:rPr sz="1450">
                <a:solidFill>
                  <a:srgbClr val="D1D5DB"/>
                </a:solidFill>
                <a:latin typeface="Arial"/>
              </a:rPr>
              <a:t>damaging reputation as well as stealing an advantage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False flag  </a:t>
            </a:r>
            <a:r>
              <a:rPr sz="1450">
                <a:solidFill>
                  <a:srgbClr val="D1D5DB"/>
                </a:solidFill>
                <a:latin typeface="Arial"/>
              </a:rPr>
              <a:t>techniques that mislead attribution towards another actor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Attribution  </a:t>
            </a:r>
            <a:r>
              <a:rPr sz="1450">
                <a:solidFill>
                  <a:srgbClr val="D1D5DB"/>
                </a:solidFill>
                <a:latin typeface="Arial"/>
              </a:rPr>
              <a:t>hard by design, which is why behaviour and intent are analysed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Exam note  </a:t>
            </a:r>
            <a:r>
              <a:rPr sz="1450">
                <a:solidFill>
                  <a:srgbClr val="D1D5DB"/>
                </a:solidFill>
                <a:latin typeface="Arial"/>
              </a:rPr>
              <a:t>competitor motives and false flags are tested directly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Which threat actor type worries your organisation most, and why?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Walk each type: insider (authorised access), organised crime (ransomware), nation-state (espionage), hacktivist (disruption), unskilled attacker (whatever is unpatched). The answer depends on what the organisation 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Attribution drives defence: know who is most likely to value what you have.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match the 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group defaces a government website to protest a policy, which type?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An employee steals customer data to sell, which type?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state-sponsored team quietly exfiltrates defence research over a year, which type?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An employee clicks a phishing link and causes a breach, which type?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which motivation and which attack surface does each answer reveal?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Type plus motivation together: hacktivist/political, insider/financial, APT/strategic, negligent insider/accidental.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ATTACK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attack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Definition  </a:t>
            </a:r>
            <a:r>
              <a:rPr sz="1450">
                <a:solidFill>
                  <a:srgbClr val="D1D5DB"/>
                </a:solidFill>
                <a:latin typeface="Arial"/>
              </a:rPr>
              <a:t>every point where an unauthorised user could enter or extract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Scope  </a:t>
            </a:r>
            <a:r>
              <a:rPr sz="1450">
                <a:solidFill>
                  <a:srgbClr val="D1D5DB"/>
                </a:solidFill>
                <a:latin typeface="Arial"/>
              </a:rPr>
              <a:t>hardware, software, networks, processes and people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Cloud  </a:t>
            </a:r>
            <a:r>
              <a:rPr sz="1450">
                <a:solidFill>
                  <a:srgbClr val="D1D5DB"/>
                </a:solidFill>
                <a:latin typeface="Arial"/>
              </a:rPr>
              <a:t>data placed within reach of the internet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Mobile  </a:t>
            </a:r>
            <a:r>
              <a:rPr sz="1450">
                <a:solidFill>
                  <a:srgbClr val="D1D5DB"/>
                </a:solidFill>
                <a:latin typeface="Arial"/>
              </a:rPr>
              <a:t>sensitive data on hardware you do not fully control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Internet of Things  </a:t>
            </a:r>
            <a:r>
              <a:rPr sz="1450">
                <a:solidFill>
                  <a:srgbClr val="D1D5DB"/>
                </a:solidFill>
                <a:latin typeface="Arial"/>
              </a:rPr>
              <a:t>devices that ship with weak security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Remote work  </a:t>
            </a:r>
            <a:r>
              <a:rPr sz="1450">
                <a:solidFill>
                  <a:srgbClr val="D1D5DB"/>
                </a:solidFill>
                <a:latin typeface="Arial"/>
              </a:rPr>
              <a:t>home networks pulled inside your perimeter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a larger surface means more opportunities for breach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70248"/>
            <a:ext cx="76809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Reduce the surface, and you reduce the chances of a breach.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ATTACK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Common threat vectors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3736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Vector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How it reaches you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Phishing email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deceptive message that persuades a user to act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Malware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Attachment, compromised website or infected media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Software vulnerability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known flaw left unpatched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Social engineering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Manipulating a person into granting access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Wireless and cloud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Open wireless, rogue access points, exposed services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The surface is every door into your environment; a vector is how the attacker walks through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HUMAN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phishing family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3736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Who it targets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Phishing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Bulk deceptive email to a wide audience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Spear phishing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named individual, using researched detail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Whaling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Executives and key decision makers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Smishing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same deception sent by text message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Vishing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Voice phishing conducted over the telephone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Name the right member of the family in a scenario: the target defines the type.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HUMAN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Social engineering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Pretexting  </a:t>
            </a:r>
            <a:r>
              <a:rPr sz="1450">
                <a:solidFill>
                  <a:srgbClr val="D1D5DB"/>
                </a:solidFill>
                <a:latin typeface="Arial"/>
              </a:rPr>
              <a:t>a fabricated scenario, posing as a colleague, supplier or support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Baiting  </a:t>
            </a:r>
            <a:r>
              <a:rPr sz="1450">
                <a:solidFill>
                  <a:srgbClr val="D1D5DB"/>
                </a:solidFill>
                <a:latin typeface="Arial"/>
              </a:rPr>
              <a:t>a tempting lure, such as a dropped USB drive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Tailgating  </a:t>
            </a:r>
            <a:r>
              <a:rPr sz="1450">
                <a:solidFill>
                  <a:srgbClr val="D1D5DB"/>
                </a:solidFill>
                <a:latin typeface="Arial"/>
              </a:rPr>
              <a:t>also called piggybacking: following an authorised person through a door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Shoulder surfing  </a:t>
            </a:r>
            <a:r>
              <a:rPr sz="1450">
                <a:solidFill>
                  <a:srgbClr val="D1D5DB"/>
                </a:solidFill>
                <a:latin typeface="Arial"/>
              </a:rPr>
              <a:t>watching a password being typed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Dumpster diving  </a:t>
            </a:r>
            <a:r>
              <a:rPr sz="1450">
                <a:solidFill>
                  <a:srgbClr val="D1D5DB"/>
                </a:solidFill>
                <a:latin typeface="Arial"/>
              </a:rPr>
              <a:t>reading discarded documents and media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defence  </a:t>
            </a:r>
            <a:r>
              <a:rPr sz="1450">
                <a:solidFill>
                  <a:srgbClr val="D1D5DB"/>
                </a:solidFill>
                <a:latin typeface="Arial"/>
              </a:rPr>
              <a:t>awareness training, phishing simulation and easy reporting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8138160" cy="50292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33088"/>
            <a:ext cx="76809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These target trust, which no firewall can patch.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HUMAN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Network and file-based 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Unsecured wireless  </a:t>
            </a:r>
            <a:r>
              <a:rPr sz="1450">
                <a:solidFill>
                  <a:srgbClr val="D1D5DB"/>
                </a:solidFill>
                <a:latin typeface="Arial"/>
              </a:rPr>
              <a:t>traffic intercepted where encryption is weak or absent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Rogue access point  </a:t>
            </a:r>
            <a:r>
              <a:rPr sz="1450">
                <a:solidFill>
                  <a:srgbClr val="D1D5DB"/>
                </a:solidFill>
                <a:latin typeface="Arial"/>
              </a:rPr>
              <a:t>an unauthorised wireless device users willingly trust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On-path attack  </a:t>
            </a:r>
            <a:r>
              <a:rPr sz="1450">
                <a:solidFill>
                  <a:srgbClr val="D1D5DB"/>
                </a:solidFill>
                <a:latin typeface="Arial"/>
              </a:rPr>
              <a:t>the attacker relays traffic between two parties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Malicious document  </a:t>
            </a:r>
            <a:r>
              <a:rPr sz="1450">
                <a:solidFill>
                  <a:srgbClr val="D1D5DB"/>
                </a:solidFill>
                <a:latin typeface="Arial"/>
              </a:rPr>
              <a:t>a hidden script or macro runs when the file is opened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Infected executable  </a:t>
            </a:r>
            <a:r>
              <a:rPr sz="1450">
                <a:solidFill>
                  <a:srgbClr val="D1D5DB"/>
                </a:solidFill>
                <a:latin typeface="Arial"/>
              </a:rPr>
              <a:t>an altered program installs malware or a backdoor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Removable media  </a:t>
            </a:r>
            <a:r>
              <a:rPr sz="1450">
                <a:solidFill>
                  <a:srgbClr val="D1D5DB"/>
                </a:solidFill>
                <a:latin typeface="Arial"/>
              </a:rPr>
              <a:t>malware carried straight past network defences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8138160" cy="50292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33088"/>
            <a:ext cx="76809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Encryption and endpoint protection are the countermeasures.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ATTACK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Direct access, remote access and open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Direct access  </a:t>
            </a:r>
            <a:r>
              <a:rPr sz="1450">
                <a:solidFill>
                  <a:srgbClr val="D1D5DB"/>
                </a:solidFill>
                <a:latin typeface="Arial"/>
              </a:rPr>
              <a:t>USB ports, console access and wired connections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Remote access  </a:t>
            </a:r>
            <a:r>
              <a:rPr sz="1450">
                <a:solidFill>
                  <a:srgbClr val="D1D5DB"/>
                </a:solidFill>
                <a:latin typeface="Arial"/>
              </a:rPr>
              <a:t>VPN, RDP, SSH and remote administration tools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Open service ports  </a:t>
            </a:r>
            <a:r>
              <a:rPr sz="1450">
                <a:solidFill>
                  <a:srgbClr val="D1D5DB"/>
                </a:solidFill>
                <a:latin typeface="Arial"/>
              </a:rPr>
              <a:t>unnecessary TCP and UDP services exposed to attackers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Default credentials  </a:t>
            </a:r>
            <a:r>
              <a:rPr sz="1450">
                <a:solidFill>
                  <a:srgbClr val="D1D5DB"/>
                </a:solidFill>
                <a:latin typeface="Arial"/>
              </a:rPr>
              <a:t>unchanged factory passwords are public knowledge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Watering hole  </a:t>
            </a:r>
            <a:r>
              <a:rPr sz="1450">
                <a:solidFill>
                  <a:srgbClr val="D1D5DB"/>
                </a:solidFill>
                <a:latin typeface="Arial"/>
              </a:rPr>
              <a:t>a site the target trusts is compromised and used to deliver malware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lesson  </a:t>
            </a:r>
            <a:r>
              <a:rPr sz="1450">
                <a:solidFill>
                  <a:srgbClr val="D1D5DB"/>
                </a:solidFill>
                <a:latin typeface="Arial"/>
              </a:rPr>
              <a:t>every one of these is a door, and doors are closed by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Back soon: the vulnerabilities behind the vectors, then the malware that exploits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Supply chain and software vulnerabilities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Supply chain  </a:t>
            </a:r>
            <a:r>
              <a:rPr sz="1450">
                <a:solidFill>
                  <a:srgbClr val="D1D5DB"/>
                </a:solidFill>
                <a:latin typeface="Arial"/>
              </a:rPr>
              <a:t>compromise a supplier to reach the real target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Compromised updates  </a:t>
            </a:r>
            <a:r>
              <a:rPr sz="1450">
                <a:solidFill>
                  <a:srgbClr val="D1D5DB"/>
                </a:solidFill>
                <a:latin typeface="Arial"/>
              </a:rPr>
              <a:t>malicious code delivered to every customer at once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Vendor credentials  </a:t>
            </a:r>
            <a:r>
              <a:rPr sz="1450">
                <a:solidFill>
                  <a:srgbClr val="D1D5DB"/>
                </a:solidFill>
                <a:latin typeface="Arial"/>
              </a:rPr>
              <a:t>weak supplier security opens the larger target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Unpatched system  </a:t>
            </a:r>
            <a:r>
              <a:rPr sz="1450">
                <a:solidFill>
                  <a:srgbClr val="D1D5DB"/>
                </a:solidFill>
                <a:latin typeface="Arial"/>
              </a:rPr>
              <a:t>a known flaw left open between disclosure and fix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Misconfiguration  </a:t>
            </a:r>
            <a:r>
              <a:rPr sz="1450">
                <a:solidFill>
                  <a:srgbClr val="D1D5DB"/>
                </a:solidFill>
                <a:latin typeface="Arial"/>
              </a:rPr>
              <a:t>open ports, weak rules and exposed storage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Zero-day  </a:t>
            </a:r>
            <a:r>
              <a:rPr sz="1450">
                <a:solidFill>
                  <a:srgbClr val="D1D5DB"/>
                </a:solidFill>
                <a:latin typeface="Arial"/>
              </a:rPr>
              <a:t>an unknown flaw with no patch available yet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8138160" cy="50292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33088"/>
            <a:ext cx="76809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NotPetya rode in on the update of a trusted accounting package.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Application and web vulnerabilities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81381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7607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Vulnerability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attacker does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Memory injection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Inserts code into a program and redirects execution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Buffer overflow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Writes past a buffer and overwrites adjacent memory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Race condition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Times events to reach a resource out of turn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SQL injection (sequel)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Changes a database query by injecting input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Cross-site scripting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Runs a script in another user's browser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Cross-site request forgery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Makes a logged-in user submit a request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Session hijacking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Steals a session cookie and takes over the session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25696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The injection succeeds only when code and data are mixed.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Operating system and hardware vulnerabilities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Privilege escalation  </a:t>
            </a:r>
            <a:r>
              <a:rPr sz="1450">
                <a:solidFill>
                  <a:srgbClr val="D1D5DB"/>
                </a:solidFill>
                <a:latin typeface="Arial"/>
              </a:rPr>
              <a:t>ordinary access becomes administrative access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Kernel exploit  </a:t>
            </a:r>
            <a:r>
              <a:rPr sz="1450">
                <a:solidFill>
                  <a:srgbClr val="D1D5DB"/>
                </a:solidFill>
                <a:latin typeface="Arial"/>
              </a:rPr>
              <a:t>attack the core of the operating system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End-of-life system  </a:t>
            </a:r>
            <a:r>
              <a:rPr sz="1450">
                <a:solidFill>
                  <a:srgbClr val="D1D5DB"/>
                </a:solidFill>
                <a:latin typeface="Arial"/>
              </a:rPr>
              <a:t>no security updates, so known flaws remain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Legacy system  </a:t>
            </a:r>
            <a:r>
              <a:rPr sz="1450">
                <a:solidFill>
                  <a:srgbClr val="D1D5DB"/>
                </a:solidFill>
                <a:latin typeface="Arial"/>
              </a:rPr>
              <a:t>old software kept running for compatibility, unpatchable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BIOS or UEFI attack  </a:t>
            </a:r>
            <a:r>
              <a:rPr sz="1450">
                <a:solidFill>
                  <a:srgbClr val="D1D5DB"/>
                </a:solidFill>
                <a:latin typeface="Arial"/>
              </a:rPr>
              <a:t>malware that sits below the operating system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Side channel  </a:t>
            </a:r>
            <a:r>
              <a:rPr sz="1450">
                <a:solidFill>
                  <a:srgbClr val="D1D5DB"/>
                </a:solidFill>
                <a:latin typeface="Arial"/>
              </a:rPr>
              <a:t>secrets recovered from power use or timing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Spectre and Meltdown  </a:t>
            </a:r>
            <a:r>
              <a:rPr sz="1450">
                <a:solidFill>
                  <a:srgbClr val="D1D5DB"/>
                </a:solidFill>
                <a:latin typeface="Arial"/>
              </a:rPr>
              <a:t>speculative execution leaks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70248"/>
            <a:ext cx="76809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Low-level flaws survive a reboot, and sometimes a reinstall.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Mobile, cloud and virtualisation vulnerabilities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3931920" cy="2903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250" b="1">
                <a:solidFill>
                  <a:srgbClr val="FFFFFF"/>
                </a:solidFill>
                <a:latin typeface="Arial"/>
              </a:rPr>
              <a:t>Jailbreaking  </a:t>
            </a:r>
            <a:r>
              <a:rPr sz="1250">
                <a:solidFill>
                  <a:srgbClr val="D1D5DB"/>
                </a:solidFill>
                <a:latin typeface="Arial"/>
              </a:rPr>
              <a:t>removes the protections too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250" b="1">
                <a:solidFill>
                  <a:srgbClr val="FFFFFF"/>
                </a:solidFill>
                <a:latin typeface="Arial"/>
              </a:rPr>
              <a:t>Sideloading  </a:t>
            </a:r>
            <a:r>
              <a:rPr sz="1250">
                <a:solidFill>
                  <a:srgbClr val="D1D5DB"/>
                </a:solidFill>
                <a:latin typeface="Arial"/>
              </a:rPr>
              <a:t>apps outside the official store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250" b="1">
                <a:solidFill>
                  <a:srgbClr val="FFFFFF"/>
                </a:solidFill>
                <a:latin typeface="Arial"/>
              </a:rPr>
              <a:t>Mobile malware  </a:t>
            </a:r>
            <a:r>
              <a:rPr sz="1250">
                <a:solidFill>
                  <a:srgbClr val="D1D5DB"/>
                </a:solidFill>
                <a:latin typeface="Arial"/>
              </a:rPr>
              <a:t>spyware, ransomware, trojans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250" b="1">
                <a:solidFill>
                  <a:srgbClr val="FFFFFF"/>
                </a:solidFill>
                <a:latin typeface="Arial"/>
              </a:rPr>
              <a:t>Lost device  </a:t>
            </a:r>
            <a:r>
              <a:rPr sz="1250">
                <a:solidFill>
                  <a:srgbClr val="D1D5DB"/>
                </a:solidFill>
                <a:latin typeface="Arial"/>
              </a:rPr>
              <a:t>portable and easily lost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783080"/>
            <a:ext cx="3931920" cy="2903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250" b="1">
                <a:solidFill>
                  <a:srgbClr val="FFFFFF"/>
                </a:solidFill>
                <a:latin typeface="Arial"/>
              </a:rPr>
              <a:t>Misconfigured storage  </a:t>
            </a:r>
            <a:r>
              <a:rPr sz="1250">
                <a:solidFill>
                  <a:srgbClr val="D1D5DB"/>
                </a:solidFill>
                <a:latin typeface="Arial"/>
              </a:rPr>
              <a:t>buckets open to the internet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250" b="1">
                <a:solidFill>
                  <a:srgbClr val="FFFFFF"/>
                </a:solidFill>
                <a:latin typeface="Arial"/>
              </a:rPr>
              <a:t>Insecure interface  </a:t>
            </a:r>
            <a:r>
              <a:rPr sz="1250">
                <a:solidFill>
                  <a:srgbClr val="D1D5DB"/>
                </a:solidFill>
                <a:latin typeface="Arial"/>
              </a:rPr>
              <a:t>weak cloud authentication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250" b="1">
                <a:solidFill>
                  <a:srgbClr val="FFFFFF"/>
                </a:solidFill>
                <a:latin typeface="Arial"/>
              </a:rPr>
              <a:t>Shared responsibility  </a:t>
            </a:r>
            <a:r>
              <a:rPr sz="1250">
                <a:solidFill>
                  <a:srgbClr val="D1D5DB"/>
                </a:solidFill>
                <a:latin typeface="Arial"/>
              </a:rPr>
              <a:t>unclear who secures what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250" b="1">
                <a:solidFill>
                  <a:srgbClr val="FFFFFF"/>
                </a:solidFill>
                <a:latin typeface="Arial"/>
              </a:rPr>
              <a:t>VM escape  </a:t>
            </a:r>
            <a:r>
              <a:rPr sz="1250">
                <a:solidFill>
                  <a:srgbClr val="D1D5DB"/>
                </a:solidFill>
                <a:latin typeface="Arial"/>
              </a:rPr>
              <a:t>guest breaks out to the host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250" b="1">
                <a:solidFill>
                  <a:srgbClr val="FFFFFF"/>
                </a:solidFill>
                <a:latin typeface="Arial"/>
              </a:rPr>
              <a:t>Hypervisor flaw  </a:t>
            </a:r>
            <a:r>
              <a:rPr sz="1250">
                <a:solidFill>
                  <a:srgbClr val="D1D5DB"/>
                </a:solidFill>
                <a:latin typeface="Arial"/>
              </a:rPr>
              <a:t>every guest is compromised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06240"/>
            <a:ext cx="8138160" cy="45720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159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The weakest platform weakens every platform it can reach.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2" name="Picture 11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MALWARE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malware lifecycle and its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Delivery  </a:t>
            </a:r>
            <a:r>
              <a:rPr sz="1450">
                <a:solidFill>
                  <a:srgbClr val="D1D5DB"/>
                </a:solidFill>
                <a:latin typeface="Arial"/>
              </a:rPr>
              <a:t>an attachment, a malicious website or an infected download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Exploitation  </a:t>
            </a:r>
            <a:r>
              <a:rPr sz="1450">
                <a:solidFill>
                  <a:srgbClr val="D1D5DB"/>
                </a:solidFill>
                <a:latin typeface="Arial"/>
              </a:rPr>
              <a:t>abuses a bug, a misconfiguration or a patch never applied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Persistence  </a:t>
            </a:r>
            <a:r>
              <a:rPr sz="1450">
                <a:solidFill>
                  <a:srgbClr val="D1D5DB"/>
                </a:solidFill>
                <a:latin typeface="Arial"/>
              </a:rPr>
              <a:t>hidden files and altered settings that survive a reboot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Virus  </a:t>
            </a:r>
            <a:r>
              <a:rPr sz="1450">
                <a:solidFill>
                  <a:srgbClr val="D1D5DB"/>
                </a:solidFill>
                <a:latin typeface="Arial"/>
              </a:rPr>
              <a:t>attaches to a file and needs a user to run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Worm  </a:t>
            </a:r>
            <a:r>
              <a:rPr sz="1450">
                <a:solidFill>
                  <a:srgbClr val="D1D5DB"/>
                </a:solidFill>
                <a:latin typeface="Arial"/>
              </a:rPr>
              <a:t>self-propagating, spreading with no user action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Trojan  </a:t>
            </a:r>
            <a:r>
              <a:rPr sz="1450">
                <a:solidFill>
                  <a:srgbClr val="D1D5DB"/>
                </a:solidFill>
                <a:latin typeface="Arial"/>
              </a:rPr>
              <a:t>disguised as legitimate software the user installs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8138160" cy="50292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33088"/>
            <a:ext cx="76809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Break any one stage and the infection fails.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MALWARE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Evasion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Polymorphism  </a:t>
            </a:r>
            <a:r>
              <a:rPr sz="1450">
                <a:solidFill>
                  <a:srgbClr val="D1D5DB"/>
                </a:solidFill>
                <a:latin typeface="Arial"/>
              </a:rPr>
              <a:t>the code rewrites itself with every infection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Encryption  </a:t>
            </a:r>
            <a:r>
              <a:rPr sz="1450">
                <a:solidFill>
                  <a:srgbClr val="D1D5DB"/>
                </a:solidFill>
                <a:latin typeface="Arial"/>
              </a:rPr>
              <a:t>the payload is hidden until the moment it runs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Rootkit  </a:t>
            </a:r>
            <a:r>
              <a:rPr sz="1450">
                <a:solidFill>
                  <a:srgbClr val="D1D5DB"/>
                </a:solidFill>
                <a:latin typeface="Arial"/>
              </a:rPr>
              <a:t>hides files, processes and network connections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Code obfuscation  </a:t>
            </a:r>
            <a:r>
              <a:rPr sz="1450">
                <a:solidFill>
                  <a:srgbClr val="D1D5DB"/>
                </a:solidFill>
                <a:latin typeface="Arial"/>
              </a:rPr>
              <a:t>renamed variables and no comments, to slow an analyst down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Fileless malware  </a:t>
            </a:r>
            <a:r>
              <a:rPr sz="1450">
                <a:solidFill>
                  <a:srgbClr val="D1D5DB"/>
                </a:solidFill>
                <a:latin typeface="Arial"/>
              </a:rPr>
              <a:t>lives in memory and abuses a legitimate tool such as PowerShell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77639"/>
            <a:ext cx="8138160" cy="50292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76809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Signature detection alone cannot keep up with these.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MALWARE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Ransomware, spyware and rootkits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Ransomware  </a:t>
            </a:r>
            <a:r>
              <a:rPr sz="1450">
                <a:solidFill>
                  <a:srgbClr val="D1D5DB"/>
                </a:solidFill>
                <a:latin typeface="Arial"/>
              </a:rPr>
              <a:t>strong encryption, then a demand for payment in cryptocurrency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Double extortion  </a:t>
            </a:r>
            <a:r>
              <a:rPr sz="1450">
                <a:solidFill>
                  <a:srgbClr val="D1D5DB"/>
                </a:solidFill>
                <a:latin typeface="Arial"/>
              </a:rPr>
              <a:t>data stolen as well as encrypted, so backups are no defence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Spyware  </a:t>
            </a:r>
            <a:r>
              <a:rPr sz="1450">
                <a:solidFill>
                  <a:srgbClr val="D1D5DB"/>
                </a:solidFill>
                <a:latin typeface="Arial"/>
              </a:rPr>
              <a:t>covert collection of habits and credentials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Keylogger  </a:t>
            </a:r>
            <a:r>
              <a:rPr sz="1450">
                <a:solidFill>
                  <a:srgbClr val="D1D5DB"/>
                </a:solidFill>
                <a:latin typeface="Arial"/>
              </a:rPr>
              <a:t>records keystrokes, in software or in hardware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Rootkit  </a:t>
            </a:r>
            <a:r>
              <a:rPr sz="1450">
                <a:solidFill>
                  <a:srgbClr val="D1D5DB"/>
                </a:solidFill>
                <a:latin typeface="Arial"/>
              </a:rPr>
              <a:t>hidden at a low level with administrative privilege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Bootkit  </a:t>
            </a:r>
            <a:r>
              <a:rPr sz="1450">
                <a:solidFill>
                  <a:srgbClr val="D1D5DB"/>
                </a:solidFill>
                <a:latin typeface="Arial"/>
              </a:rPr>
              <a:t>infects the boot process and reinstalls itself at every startup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defence  </a:t>
            </a:r>
            <a:r>
              <a:rPr sz="1450">
                <a:solidFill>
                  <a:srgbClr val="D1D5DB"/>
                </a:solidFill>
                <a:latin typeface="Arial"/>
              </a:rPr>
              <a:t>endpoint protection, patching and tested offline backups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MALWARE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Botnets and command and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Botnet  </a:t>
            </a:r>
            <a:r>
              <a:rPr sz="1450">
                <a:solidFill>
                  <a:srgbClr val="D1D5DB"/>
                </a:solidFill>
                <a:latin typeface="Arial"/>
              </a:rPr>
              <a:t>many compromised machines, called zombies, answering one operator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Recruitment  </a:t>
            </a:r>
            <a:r>
              <a:rPr sz="1450">
                <a:solidFill>
                  <a:srgbClr val="D1D5DB"/>
                </a:solidFill>
                <a:latin typeface="Arial"/>
              </a:rPr>
              <a:t>malware spread through phishing and unpatched software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Command and control  </a:t>
            </a:r>
            <a:r>
              <a:rPr sz="1450">
                <a:solidFill>
                  <a:srgbClr val="D1D5DB"/>
                </a:solidFill>
                <a:latin typeface="Arial"/>
              </a:rPr>
              <a:t>servers that issue orders and collect results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Domain generation algorithms  </a:t>
            </a:r>
            <a:r>
              <a:rPr sz="1450">
                <a:solidFill>
                  <a:srgbClr val="D1D5DB"/>
                </a:solidFill>
                <a:latin typeface="Arial"/>
              </a:rPr>
              <a:t>endless candidate domains defeat blocking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Fast flux  </a:t>
            </a:r>
            <a:r>
              <a:rPr sz="1450">
                <a:solidFill>
                  <a:srgbClr val="D1D5DB"/>
                </a:solidFill>
                <a:latin typeface="Arial"/>
              </a:rPr>
              <a:t>addresses rotate rapidly to survive takedown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Peer to peer  </a:t>
            </a:r>
            <a:r>
              <a:rPr sz="1450">
                <a:solidFill>
                  <a:srgbClr val="D1D5DB"/>
                </a:solidFill>
                <a:latin typeface="Arial"/>
              </a:rPr>
              <a:t>every bot serves every other, with no central server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Uses  </a:t>
            </a:r>
            <a:r>
              <a:rPr sz="1450">
                <a:solidFill>
                  <a:srgbClr val="D1D5DB"/>
                </a:solidFill>
                <a:latin typeface="Arial"/>
              </a:rPr>
              <a:t>spam, denial of service and credential stuffing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Password and credential attacks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7607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Attack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How it works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Brute force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Tries every possible combination, slowly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Dictionary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Tries a list of common and leaked passwords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Password spraying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few common passwords across many accounts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Credential stuffing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Reused pairs taken from an earlier breach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Offline hash attack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Stolen hashes cracked away from the live system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Rainbow table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Precomputed hashes looked up, not cracked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02336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3308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Lockouts, length, multifactor authentication and hashing with a salt are the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ATTACK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Injection and application attacks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SQL injection  </a:t>
            </a:r>
            <a:r>
              <a:rPr sz="1450">
                <a:solidFill>
                  <a:srgbClr val="D1D5DB"/>
                </a:solidFill>
                <a:latin typeface="Arial"/>
              </a:rPr>
              <a:t>input changes the query the database runs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Command injection  </a:t>
            </a:r>
            <a:r>
              <a:rPr sz="1450">
                <a:solidFill>
                  <a:srgbClr val="D1D5DB"/>
                </a:solidFill>
                <a:latin typeface="Arial"/>
              </a:rPr>
              <a:t>input becomes an operating system command the server runs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LDAP injection  </a:t>
            </a:r>
            <a:r>
              <a:rPr sz="1450">
                <a:solidFill>
                  <a:srgbClr val="D1D5DB"/>
                </a:solidFill>
                <a:latin typeface="Arial"/>
              </a:rPr>
              <a:t>input manipulates a directory query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Directory traversal  </a:t>
            </a:r>
            <a:r>
              <a:rPr sz="1450">
                <a:solidFill>
                  <a:srgbClr val="D1D5DB"/>
                </a:solidFill>
                <a:latin typeface="Arial"/>
              </a:rPr>
              <a:t>a crafted path reaches files outside the intended folder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Interface abuse  </a:t>
            </a:r>
            <a:r>
              <a:rPr sz="1450">
                <a:solidFill>
                  <a:srgbClr val="D1D5DB"/>
                </a:solidFill>
                <a:latin typeface="Arial"/>
              </a:rPr>
              <a:t>no authentication, weak validation or too much data returned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defence  </a:t>
            </a:r>
            <a:r>
              <a:rPr sz="1450">
                <a:solidFill>
                  <a:srgbClr val="D1D5DB"/>
                </a:solidFill>
                <a:latin typeface="Arial"/>
              </a:rPr>
              <a:t>input validation, escaping and parameterised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8138160" cy="50292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33088"/>
            <a:ext cx="76809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An injection succeeds only when code and data are mixed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ATTACK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Denial of service and amplification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goal  </a:t>
            </a:r>
            <a:r>
              <a:rPr sz="1450">
                <a:solidFill>
                  <a:srgbClr val="D1D5DB"/>
                </a:solidFill>
                <a:latin typeface="Arial"/>
              </a:rPr>
              <a:t>make a service unavailable to legitimate users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Volumetric  </a:t>
            </a:r>
            <a:r>
              <a:rPr sz="1450">
                <a:solidFill>
                  <a:srgbClr val="D1D5DB"/>
                </a:solidFill>
                <a:latin typeface="Arial"/>
              </a:rPr>
              <a:t>flood the bandwidth with traffic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Protocol attack  </a:t>
            </a:r>
            <a:r>
              <a:rPr sz="1450">
                <a:solidFill>
                  <a:srgbClr val="D1D5DB"/>
                </a:solidFill>
                <a:latin typeface="Arial"/>
              </a:rPr>
              <a:t>exhaust server resources, such as a TCP synchronise flood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Application layer  </a:t>
            </a:r>
            <a:r>
              <a:rPr sz="1450">
                <a:solidFill>
                  <a:srgbClr val="D1D5DB"/>
                </a:solidFill>
                <a:latin typeface="Arial"/>
              </a:rPr>
              <a:t>look like real users: an HTTP flood, or Slowloris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Distributed  </a:t>
            </a:r>
            <a:r>
              <a:rPr sz="1450">
                <a:solidFill>
                  <a:srgbClr val="D1D5DB"/>
                </a:solidFill>
                <a:latin typeface="Arial"/>
              </a:rPr>
              <a:t>many machines, often a botnet, so blocking sources is hard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Amplification  </a:t>
            </a:r>
            <a:r>
              <a:rPr sz="1450">
                <a:solidFill>
                  <a:srgbClr val="D1D5DB"/>
                </a:solidFill>
                <a:latin typeface="Arial"/>
              </a:rPr>
              <a:t>a small spoofed request, with the large reply sent to the victim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defence  </a:t>
            </a:r>
            <a:r>
              <a:rPr sz="1450">
                <a:solidFill>
                  <a:srgbClr val="D1D5DB"/>
                </a:solidFill>
                <a:latin typeface="Arial"/>
              </a:rPr>
              <a:t>rate limiting, blackholing and an upstream protection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NETWORK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Layer 2 attacks and their defences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VLAN hopping  </a:t>
            </a:r>
            <a:r>
              <a:rPr sz="1450">
                <a:solidFill>
                  <a:srgbClr val="D1D5DB"/>
                </a:solidFill>
                <a:latin typeface="Arial"/>
              </a:rPr>
              <a:t>double tagging or switch spoofing crosses segments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Address table flooding  </a:t>
            </a:r>
            <a:r>
              <a:rPr sz="1450">
                <a:solidFill>
                  <a:srgbClr val="D1D5DB"/>
                </a:solidFill>
                <a:latin typeface="Arial"/>
              </a:rPr>
              <a:t>fake hardware addresses fill the switch table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ARP poisoning  </a:t>
            </a:r>
            <a:r>
              <a:rPr sz="1450">
                <a:solidFill>
                  <a:srgbClr val="D1D5DB"/>
                </a:solidFill>
                <a:latin typeface="Arial"/>
              </a:rPr>
              <a:t>the attacker's address is linked to another device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Spanning Tree attack  </a:t>
            </a:r>
            <a:r>
              <a:rPr sz="1450">
                <a:solidFill>
                  <a:srgbClr val="D1D5DB"/>
                </a:solidFill>
                <a:latin typeface="Arial"/>
              </a:rPr>
              <a:t>the attacker becomes the root bridge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Port security  </a:t>
            </a:r>
            <a:r>
              <a:rPr sz="1450">
                <a:solidFill>
                  <a:srgbClr val="D1D5DB"/>
                </a:solidFill>
                <a:latin typeface="Arial"/>
              </a:rPr>
              <a:t>limits the hardware addresses learned per port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DHCP snooping  </a:t>
            </a:r>
            <a:r>
              <a:rPr sz="1450">
                <a:solidFill>
                  <a:srgbClr val="D1D5DB"/>
                </a:solidFill>
                <a:latin typeface="Arial"/>
              </a:rPr>
              <a:t>blocks unauthorised configuration servers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Dynamic ARP inspection  </a:t>
            </a:r>
            <a:r>
              <a:rPr sz="1450">
                <a:solidFill>
                  <a:srgbClr val="D1D5DB"/>
                </a:solidFill>
                <a:latin typeface="Arial"/>
              </a:rPr>
              <a:t>validates replies against the binding table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BPDU guard  </a:t>
            </a:r>
            <a:r>
              <a:rPr sz="1450">
                <a:solidFill>
                  <a:srgbClr val="D1D5DB"/>
                </a:solidFill>
                <a:latin typeface="Arial"/>
              </a:rPr>
              <a:t>disables a port that receives a bridge protocol data 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NETWORK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DNS attacks and their defences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DNS poisoning  </a:t>
            </a:r>
            <a:r>
              <a:rPr sz="1450">
                <a:solidFill>
                  <a:srgbClr val="D1D5DB"/>
                </a:solidFill>
                <a:latin typeface="Arial"/>
              </a:rPr>
              <a:t>false records injected into a resolver cache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DNS spoofing  </a:t>
            </a:r>
            <a:r>
              <a:rPr sz="1450">
                <a:solidFill>
                  <a:srgbClr val="D1D5DB"/>
                </a:solidFill>
                <a:latin typeface="Arial"/>
              </a:rPr>
              <a:t>false answers to genuine queries, cache untouched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DNS hijacking  </a:t>
            </a:r>
            <a:r>
              <a:rPr sz="1450">
                <a:solidFill>
                  <a:srgbClr val="D1D5DB"/>
                </a:solidFill>
                <a:latin typeface="Arial"/>
              </a:rPr>
              <a:t>the authoritative server or registrar account is taken over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impact  </a:t>
            </a:r>
            <a:r>
              <a:rPr sz="1450">
                <a:solidFill>
                  <a:srgbClr val="D1D5DB"/>
                </a:solidFill>
                <a:latin typeface="Arial"/>
              </a:rPr>
              <a:t>redirection, credential theft and malware delivery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DNSSEC  </a:t>
            </a:r>
            <a:r>
              <a:rPr sz="1450">
                <a:solidFill>
                  <a:srgbClr val="D1D5DB"/>
                </a:solidFill>
                <a:latin typeface="Arial"/>
              </a:rPr>
              <a:t>responses are digitally signed and validated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Encrypted DNS  </a:t>
            </a:r>
            <a:r>
              <a:rPr sz="1450">
                <a:solidFill>
                  <a:srgbClr val="D1D5DB"/>
                </a:solidFill>
                <a:latin typeface="Arial"/>
              </a:rPr>
              <a:t>queries protected from interception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Monitoring  </a:t>
            </a:r>
            <a:r>
              <a:rPr sz="1450">
                <a:solidFill>
                  <a:srgbClr val="D1D5DB"/>
                </a:solidFill>
                <a:latin typeface="Arial"/>
              </a:rPr>
              <a:t>watch for sudden changes in query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NETWORK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Rogue devices and on-path attacks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Rogue access point  </a:t>
            </a:r>
            <a:r>
              <a:rPr sz="1450">
                <a:solidFill>
                  <a:srgbClr val="D1D5DB"/>
                </a:solidFill>
                <a:latin typeface="Arial"/>
              </a:rPr>
              <a:t>wireless access that nobody authorised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Evil twin  </a:t>
            </a:r>
            <a:r>
              <a:rPr sz="1450">
                <a:solidFill>
                  <a:srgbClr val="D1D5DB"/>
                </a:solidFill>
                <a:latin typeface="Arial"/>
              </a:rPr>
              <a:t>a fraudulent access point that harvests credentials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Rogue DHCP server  </a:t>
            </a:r>
            <a:r>
              <a:rPr sz="1450">
                <a:solidFill>
                  <a:srgbClr val="D1D5DB"/>
                </a:solidFill>
                <a:latin typeface="Arial"/>
              </a:rPr>
              <a:t>hands out a false gateway and name server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Rogue switch  </a:t>
            </a:r>
            <a:r>
              <a:rPr sz="1450">
                <a:solidFill>
                  <a:srgbClr val="D1D5DB"/>
                </a:solidFill>
                <a:latin typeface="Arial"/>
              </a:rPr>
              <a:t>mirrors traffic to the attacker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On-path attack  </a:t>
            </a:r>
            <a:r>
              <a:rPr sz="1450">
                <a:solidFill>
                  <a:srgbClr val="D1D5DB"/>
                </a:solidFill>
                <a:latin typeface="Arial"/>
              </a:rPr>
              <a:t>relays traffic between two trusting parties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SSL stripping  </a:t>
            </a:r>
            <a:r>
              <a:rPr sz="1450">
                <a:solidFill>
                  <a:srgbClr val="D1D5DB"/>
                </a:solidFill>
                <a:latin typeface="Arial"/>
              </a:rPr>
              <a:t>downgrades a secure connection to plain text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defence  </a:t>
            </a:r>
            <a:r>
              <a:rPr sz="1450">
                <a:solidFill>
                  <a:srgbClr val="D1D5DB"/>
                </a:solidFill>
                <a:latin typeface="Arial"/>
              </a:rPr>
              <a:t>encryption, certificate validation and wireless scanning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NETWORK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Physical and cryptographic attacks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Device theft  </a:t>
            </a:r>
            <a:r>
              <a:rPr sz="1450">
                <a:solidFill>
                  <a:srgbClr val="D1D5DB"/>
                </a:solidFill>
                <a:latin typeface="Arial"/>
              </a:rPr>
              <a:t>possession gives access to data and a foothold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Malicious USB device  </a:t>
            </a:r>
            <a:r>
              <a:rPr sz="1450">
                <a:solidFill>
                  <a:srgbClr val="D1D5DB"/>
                </a:solidFill>
                <a:latin typeface="Arial"/>
              </a:rPr>
              <a:t>a dropped drive or charger runs code when connected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Badge cloning  </a:t>
            </a:r>
            <a:r>
              <a:rPr sz="1450">
                <a:solidFill>
                  <a:srgbClr val="D1D5DB"/>
                </a:solidFill>
                <a:latin typeface="Arial"/>
              </a:rPr>
              <a:t>duplicate an access card to walk through the door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Downgrade attack  </a:t>
            </a:r>
            <a:r>
              <a:rPr sz="1450">
                <a:solidFill>
                  <a:srgbClr val="D1D5DB"/>
                </a:solidFill>
                <a:latin typeface="Arial"/>
              </a:rPr>
              <a:t>force a system to negotiate a weaker protocol version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Birthday and collision  </a:t>
            </a:r>
            <a:r>
              <a:rPr sz="1450">
                <a:solidFill>
                  <a:srgbClr val="D1D5DB"/>
                </a:solidFill>
                <a:latin typeface="Arial"/>
              </a:rPr>
              <a:t>two different inputs that produce the same hash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Side channel  </a:t>
            </a:r>
            <a:r>
              <a:rPr sz="1450">
                <a:solidFill>
                  <a:srgbClr val="D1D5DB"/>
                </a:solidFill>
                <a:latin typeface="Arial"/>
              </a:rPr>
              <a:t>timing, power or electromagnetic leakage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defence  </a:t>
            </a:r>
            <a:r>
              <a:rPr sz="1450">
                <a:solidFill>
                  <a:srgbClr val="D1D5DB"/>
                </a:solidFill>
                <a:latin typeface="Arial"/>
              </a:rPr>
              <a:t>locked hardware, port control and salted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name the attack, then the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user is redirected to a fraudulent banking site, with the cache still clean, which attack?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switch table fills with invented hardware addresses, which attack, and which two controls?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server is overwhelmed by a small spoofed request and a huge reply, which attack?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guest network device hands out a false gateway, which device, and which control?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for each answer, name the control that would have stopped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Naming the attack and the control together is exactly what a scenario question asks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purpose  </a:t>
            </a:r>
            <a:r>
              <a:rPr sz="1450">
                <a:solidFill>
                  <a:srgbClr val="D1D5DB"/>
                </a:solidFill>
                <a:latin typeface="Arial"/>
              </a:rPr>
              <a:t>divide the network into isolated zones, to contain an attack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VLAN  </a:t>
            </a:r>
            <a:r>
              <a:rPr sz="1450">
                <a:solidFill>
                  <a:srgbClr val="D1D5DB"/>
                </a:solidFill>
                <a:latin typeface="Arial"/>
              </a:rPr>
              <a:t>logical separation regardless of physical location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Subnet  </a:t>
            </a:r>
            <a:r>
              <a:rPr sz="1450">
                <a:solidFill>
                  <a:srgbClr val="D1D5DB"/>
                </a:solidFill>
                <a:latin typeface="Arial"/>
              </a:rPr>
              <a:t>its own address space and a smaller broadcast domain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Microsegmentation  </a:t>
            </a:r>
            <a:r>
              <a:rPr sz="1450">
                <a:solidFill>
                  <a:srgbClr val="D1D5DB"/>
                </a:solidFill>
                <a:latin typeface="Arial"/>
              </a:rPr>
              <a:t>isolate individual workloads and applications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Between zones  </a:t>
            </a:r>
            <a:r>
              <a:rPr sz="1450">
                <a:solidFill>
                  <a:srgbClr val="D1D5DB"/>
                </a:solidFill>
                <a:latin typeface="Arial"/>
              </a:rPr>
              <a:t>traffic crosses a router or firewall and is inspected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prize  </a:t>
            </a:r>
            <a:r>
              <a:rPr sz="1450">
                <a:solidFill>
                  <a:srgbClr val="D1D5DB"/>
                </a:solidFill>
                <a:latin typeface="Arial"/>
              </a:rPr>
              <a:t>an attacker who lands in one zone cannot move freely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Least privilege  </a:t>
            </a:r>
            <a:r>
              <a:rPr sz="1450">
                <a:solidFill>
                  <a:srgbClr val="D1D5DB"/>
                </a:solidFill>
                <a:latin typeface="Arial"/>
              </a:rPr>
              <a:t>the minimum access needed to do the job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Need to know  </a:t>
            </a:r>
            <a:r>
              <a:rPr sz="1450">
                <a:solidFill>
                  <a:srgbClr val="D1D5DB"/>
                </a:solidFill>
                <a:latin typeface="Arial"/>
              </a:rPr>
              <a:t>only the information the role requires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Separation of duties  </a:t>
            </a:r>
            <a:r>
              <a:rPr sz="1450">
                <a:solidFill>
                  <a:srgbClr val="D1D5DB"/>
                </a:solidFill>
                <a:latin typeface="Arial"/>
              </a:rPr>
              <a:t>no single person controls a whole process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 practice  </a:t>
            </a:r>
            <a:r>
              <a:rPr sz="1450">
                <a:solidFill>
                  <a:srgbClr val="D1D5DB"/>
                </a:solidFill>
                <a:latin typeface="Arial"/>
              </a:rPr>
              <a:t>one person authorises a payment, another processes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Review entitlements  </a:t>
            </a:r>
            <a:r>
              <a:rPr sz="1450">
                <a:solidFill>
                  <a:srgbClr val="D1D5DB"/>
                </a:solidFill>
                <a:latin typeface="Arial"/>
              </a:rPr>
              <a:t>access drifts as roles and responsibilities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77639"/>
            <a:ext cx="8138160" cy="50292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76809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Access control limits what a compromise can reach.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Hardening and patch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Remove what is not needed  </a:t>
            </a:r>
            <a:r>
              <a:rPr sz="1450">
                <a:solidFill>
                  <a:srgbClr val="D1D5DB"/>
                </a:solidFill>
                <a:latin typeface="Arial"/>
              </a:rPr>
              <a:t>services, software, features, ports and protocols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Default credentials  </a:t>
            </a:r>
            <a:r>
              <a:rPr sz="1450">
                <a:solidFill>
                  <a:srgbClr val="D1D5DB"/>
                </a:solidFill>
                <a:latin typeface="Arial"/>
              </a:rPr>
              <a:t>change them immediately, because factory passwords are published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Firmware updates  </a:t>
            </a:r>
            <a:r>
              <a:rPr sz="1450">
                <a:solidFill>
                  <a:srgbClr val="D1D5DB"/>
                </a:solidFill>
                <a:latin typeface="Arial"/>
              </a:rPr>
              <a:t>apply them, and keep a secure baseline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Benchmarks  </a:t>
            </a:r>
            <a:r>
              <a:rPr sz="1450">
                <a:solidFill>
                  <a:srgbClr val="D1D5DB"/>
                </a:solidFill>
                <a:latin typeface="Arial"/>
              </a:rPr>
              <a:t>build from the Centre for Internet Security or NIST guidance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Patch discipline  </a:t>
            </a:r>
            <a:r>
              <a:rPr sz="1450">
                <a:solidFill>
                  <a:srgbClr val="D1D5DB"/>
                </a:solidFill>
                <a:latin typeface="Arial"/>
              </a:rPr>
              <a:t>inventory, assess, test, deploy and verify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every service you switch off is a flaw you no longer 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Isolation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Sandboxing  </a:t>
            </a:r>
            <a:r>
              <a:rPr sz="1450">
                <a:solidFill>
                  <a:srgbClr val="D1D5DB"/>
                </a:solidFill>
                <a:latin typeface="Arial"/>
              </a:rPr>
              <a:t>run untrusted code in a restricted environment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Containerisation  </a:t>
            </a:r>
            <a:r>
              <a:rPr sz="1450">
                <a:solidFill>
                  <a:srgbClr val="D1D5DB"/>
                </a:solidFill>
                <a:latin typeface="Arial"/>
              </a:rPr>
              <a:t>package an application with its dependencies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Isolation  </a:t>
            </a:r>
            <a:r>
              <a:rPr sz="1450">
                <a:solidFill>
                  <a:srgbClr val="D1D5DB"/>
                </a:solidFill>
                <a:latin typeface="Arial"/>
              </a:rPr>
              <a:t>containers are separated from each other and from the host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Air-gapped system  </a:t>
            </a:r>
            <a:r>
              <a:rPr sz="1450">
                <a:solidFill>
                  <a:srgbClr val="D1D5DB"/>
                </a:solidFill>
                <a:latin typeface="Arial"/>
              </a:rPr>
              <a:t>physically separated from every network, including the internet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cost  </a:t>
            </a:r>
            <a:r>
              <a:rPr sz="1450">
                <a:solidFill>
                  <a:srgbClr val="D1D5DB"/>
                </a:solidFill>
                <a:latin typeface="Arial"/>
              </a:rPr>
              <a:t>updates and data transfers must then be done by hand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purpose  </a:t>
            </a:r>
            <a:r>
              <a:rPr sz="1450">
                <a:solidFill>
                  <a:srgbClr val="D1D5DB"/>
                </a:solidFill>
                <a:latin typeface="Arial"/>
              </a:rPr>
              <a:t>contain the damage so one breach does not cascade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ATTACK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Putting it together: the attack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Recon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the attacker maps the surface and finds a weakness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52344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a path is chosen: email, port, USB, web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584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7176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Exploit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a vulnerability is triggered to run the payload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7416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8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access gained, data taken or operations disrupted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2044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3016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The APT lifecycle runs the same chain slowly: recon, intrusion, foothold, escalation, exfiltration, persistence.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6" name="Picture 25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this maps to in the exam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3949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exam tests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2.1 Threat actors &amp; motivations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Actor types, attributes, motivations, false flags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2.2 Threat vectors &amp; attack surfaces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Vectors, attack surface, vulnerable software, supply chain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2.3 Types of vulnerabilities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Application, operating system, hardware, cloud, virtualisation, zero-day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2.4 Indicators of malicious activity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Malware, botnets, injection, denial of service, Layer 2, DNS, credentials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2.5 Mitigation techniques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Segmentation, least privilege, hardening, patching, isolation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06908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7880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Scenario questions pair an actor with a vector or an attack with a control: answer with both labels.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Quiz_Session_05.html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exam-objective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explanation;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maps to a CompTIA exam objective, from 2.1 Threat Actors to 2.5 Mitigation.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Risk needs a weakness and somebody willing to exploit it  </a:t>
            </a:r>
            <a:r>
              <a:rPr sz="1600">
                <a:solidFill>
                  <a:srgbClr val="FFFFFF"/>
                </a:solidFill>
                <a:latin typeface="Arial"/>
              </a:rPr>
              <a:t>a vulnerability plus a threat.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Actors are described by four attributes  </a:t>
            </a:r>
            <a:r>
              <a:rPr sz="1600">
                <a:solidFill>
                  <a:srgbClr val="FFFFFF"/>
                </a:solidFill>
                <a:latin typeface="Arial"/>
              </a:rPr>
              <a:t>resources, sophistication, motivation and intent.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Nation-state APTs pursue espionage  </a:t>
            </a:r>
            <a:r>
              <a:rPr sz="1600">
                <a:solidFill>
                  <a:srgbClr val="FFFFFF"/>
                </a:solidFill>
                <a:latin typeface="Arial"/>
              </a:rPr>
              <a:t>organised crime pursues profit.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The attack surface includes people  </a:t>
            </a:r>
            <a:r>
              <a:rPr sz="1600">
                <a:solidFill>
                  <a:srgbClr val="FFFFFF"/>
                </a:solidFill>
                <a:latin typeface="Arial"/>
              </a:rPr>
              <a:t>and most vectors start there.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Vulnerabilities live everywhere  </a:t>
            </a:r>
            <a:r>
              <a:rPr sz="1600">
                <a:solidFill>
                  <a:srgbClr val="FFFFFF"/>
                </a:solidFill>
                <a:latin typeface="Arial"/>
              </a:rPr>
              <a:t>software, firmware, cloud and virtualisation.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Malware gets in, hides and persists  </a:t>
            </a:r>
            <a:r>
              <a:rPr sz="1600">
                <a:solidFill>
                  <a:srgbClr val="FFFFFF"/>
                </a:solidFill>
                <a:latin typeface="Arial"/>
              </a:rPr>
              <a:t>then spreads through botnets.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Passwords fall to spraying, stuffing and offline cracking  </a:t>
            </a:r>
            <a:r>
              <a:rPr sz="1600">
                <a:solidFill>
                  <a:srgbClr val="FFFFFF"/>
                </a:solidFill>
                <a:latin typeface="Arial"/>
              </a:rPr>
              <a:t>length, lockouts and MFA are the answers.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Network attacks target trust and availability  </a:t>
            </a:r>
            <a:r>
              <a:rPr sz="1600">
                <a:solidFill>
                  <a:srgbClr val="FFFFFF"/>
                </a:solidFill>
                <a:latin typeface="Arial"/>
              </a:rPr>
              <a:t>Layer 2, DNS, denial of service and on-path.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Segment, apply least privilege, harden and patch  </a:t>
            </a:r>
            <a:r>
              <a:rPr sz="1600">
                <a:solidFill>
                  <a:srgbClr val="FFFFFF"/>
                </a:solidFill>
                <a:latin typeface="Arial"/>
              </a:rPr>
              <a:t>then isolate what is left.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Defence in depth is the only answer that survives one failure  </a:t>
            </a:r>
            <a:r>
              <a:rPr sz="1600">
                <a:solidFill>
                  <a:srgbClr val="FFFFFF"/>
                </a:solidFill>
                <a:latin typeface="Arial"/>
              </a:rPr>
              <a:t>assume a breach, then contain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Profile an actor  </a:t>
            </a:r>
            <a:r>
              <a:rPr sz="1450">
                <a:solidFill>
                  <a:srgbClr val="D1D5DB"/>
                </a:solidFill>
                <a:latin typeface="Arial"/>
              </a:rPr>
              <a:t>research one real threat group and classify it by the four attributes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Map your surface  </a:t>
            </a:r>
            <a:r>
              <a:rPr sz="1450">
                <a:solidFill>
                  <a:srgbClr val="D1D5DB"/>
                </a:solidFill>
                <a:latin typeface="Arial"/>
              </a:rPr>
              <a:t>five physical, five technical and five human vectors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Pair attacks with controls  </a:t>
            </a:r>
            <a:r>
              <a:rPr sz="1450">
                <a:solidFill>
                  <a:srgbClr val="D1D5DB"/>
                </a:solidFill>
                <a:latin typeface="Arial"/>
              </a:rPr>
              <a:t>ten attacks from this session, and the control that answers each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Session 6, cryptography and public key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6 · Cryptography &amp; Public Key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Symmetric and asymmetric encryption, hashing, digital signatures, PKI and certificates (Lesson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Symmetric, asymmetric and hashing: what each is for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Digital signatures and non-repudiation in practice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PKI, certificates, revocation and key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