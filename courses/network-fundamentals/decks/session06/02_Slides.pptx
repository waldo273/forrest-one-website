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6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Cryptography &amp; Public Key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The vocabulary of security, then the tools: symmetric and asymmetric encryption, hashing, signatures, certificates, blockchain, and the identity and access machinery that uses them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LESSON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ENCRYPTION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8465" y="4224528"/>
            <a:ext cx="561441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PKI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6211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7" name="Picture 16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THE THREE JOBS &amp;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CIA triad: three jobs, one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Confidentiality  </a:t>
            </a:r>
            <a:r>
              <a:rPr sz="1450">
                <a:solidFill>
                  <a:srgbClr val="D1D5DB"/>
                </a:solidFill>
                <a:latin typeface="Arial"/>
              </a:rPr>
              <a:t>only authorised people can read the data, served by encryption, access controls and authentication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Integrity  </a:t>
            </a:r>
            <a:r>
              <a:rPr sz="1450">
                <a:solidFill>
                  <a:srgbClr val="D1D5DB"/>
                </a:solidFill>
                <a:latin typeface="Arial"/>
              </a:rPr>
              <a:t>the data is accurate and has not been altered, served by checksums, hashes and digital signatures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Availability  </a:t>
            </a:r>
            <a:r>
              <a:rPr sz="1450">
                <a:solidFill>
                  <a:srgbClr val="D1D5DB"/>
                </a:solidFill>
                <a:latin typeface="Arial"/>
              </a:rPr>
              <a:t>authorised users can reach data when they need it, served by redundancy, maintenance and load balancing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Cryptography meets identity  </a:t>
            </a:r>
            <a:r>
              <a:rPr sz="1450">
                <a:solidFill>
                  <a:srgbClr val="D1D5DB"/>
                </a:solidFill>
                <a:latin typeface="Arial"/>
              </a:rPr>
              <a:t>cryptography is the tool, and identity decides who may use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the question  </a:t>
            </a:r>
            <a:r>
              <a:rPr sz="1450">
                <a:solidFill>
                  <a:srgbClr val="D1D5DB"/>
                </a:solidFill>
                <a:latin typeface="Arial"/>
              </a:rPr>
              <a:t>which of the three does this control serve?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Every control here  </a:t>
            </a:r>
            <a:r>
              <a:rPr sz="1450">
                <a:solidFill>
                  <a:srgbClr val="D1D5DB"/>
                </a:solidFill>
                <a:latin typeface="Arial"/>
              </a:rPr>
              <a:t>serves confidentiality, integrity or 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THE THREE JOBS &amp;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Saying what you mean: vulnerability, threat, exploit, risk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3093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Vulnerability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weakness in software, hardware or a process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Threat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Anything that could exploit a weakness, deliberate or accidental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Exploit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method or tool used to take advantage of a vulnerability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Likelihood combined with impact, which is how you prioritise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61188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weakness that is likely to be used, and would hurt badly, is the one you fix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symmetric encryption  </a:t>
            </a:r>
            <a:r>
              <a:rPr sz="1450">
                <a:solidFill>
                  <a:srgbClr val="D1D5DB"/>
                </a:solidFill>
                <a:latin typeface="Arial"/>
              </a:rPr>
              <a:t>one shared key, fast, for bulk data, with the key-distribution problem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asymmetric encryption  </a:t>
            </a:r>
            <a:r>
              <a:rPr sz="1450">
                <a:solidFill>
                  <a:srgbClr val="D1D5DB"/>
                </a:solidFill>
                <a:latin typeface="Arial"/>
              </a:rPr>
              <a:t>key pairs, RSA and elliptic curve, which solve distribution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hashing and signatures  </a:t>
            </a:r>
            <a:r>
              <a:rPr sz="1450">
                <a:solidFill>
                  <a:srgbClr val="D1D5DB"/>
                </a:solidFill>
                <a:latin typeface="Arial"/>
              </a:rPr>
              <a:t>one-way digests for integrity; signing for authentication and non-repudiation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public key infrastructure  </a:t>
            </a:r>
            <a:r>
              <a:rPr sz="1450">
                <a:solidFill>
                  <a:srgbClr val="D1D5DB"/>
                </a:solidFill>
                <a:latin typeface="Arial"/>
              </a:rPr>
              <a:t>certificate authorities, X.509, the chain of trust and revocation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Cover the paper trail  </a:t>
            </a:r>
            <a:r>
              <a:rPr sz="1450">
                <a:solidFill>
                  <a:srgbClr val="D1D5DB"/>
                </a:solidFill>
                <a:latin typeface="Arial"/>
              </a:rPr>
              <a:t>obfuscation, steganography, blockchain, documentation and version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Manage identity and access  </a:t>
            </a:r>
            <a:r>
              <a:rPr sz="1450">
                <a:solidFill>
                  <a:srgbClr val="D1D5DB"/>
                </a:solidFill>
                <a:latin typeface="Arial"/>
              </a:rPr>
              <a:t>authentication versus authorisation, roles, factors, SSO and federation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the access protocols  </a:t>
            </a:r>
            <a:r>
              <a:rPr sz="1450">
                <a:solidFill>
                  <a:srgbClr val="D1D5DB"/>
                </a:solidFill>
                <a:latin typeface="Arial"/>
              </a:rPr>
              <a:t>RADIUS, TACACS+ and LDAP, and the access control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3A · CRYPTOGRAPHIC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Symmetric encryption and the Advanced Encryption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Plaintext in, ciphertext out  </a:t>
            </a:r>
            <a:r>
              <a:rPr sz="1450">
                <a:solidFill>
                  <a:srgbClr val="D1D5DB"/>
                </a:solidFill>
                <a:latin typeface="Arial"/>
              </a:rPr>
              <a:t>and back again with the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One shared key  </a:t>
            </a:r>
            <a:r>
              <a:rPr sz="1450">
                <a:solidFill>
                  <a:srgbClr val="D1D5DB"/>
                </a:solidFill>
                <a:latin typeface="Arial"/>
              </a:rPr>
              <a:t>the same secret encrypts and decrypts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AES  </a:t>
            </a:r>
            <a:r>
              <a:rPr sz="1450">
                <a:solidFill>
                  <a:srgbClr val="D1D5DB"/>
                </a:solidFill>
                <a:latin typeface="Arial"/>
              </a:rPr>
              <a:t>the Advanced Encryption Standard, with 128, 192 or 256-bit keys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Fast  </a:t>
            </a:r>
            <a:r>
              <a:rPr sz="1450">
                <a:solidFill>
                  <a:srgbClr val="D1D5DB"/>
                </a:solidFill>
                <a:latin typeface="Arial"/>
              </a:rPr>
              <a:t>so it protects whole disks, database files and backups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 the wild  </a:t>
            </a:r>
            <a:r>
              <a:rPr sz="1450">
                <a:solidFill>
                  <a:srgbClr val="D1D5DB"/>
                </a:solidFill>
                <a:latin typeface="Arial"/>
              </a:rPr>
              <a:t>BitLocker and FileVault both rely on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weak point  </a:t>
            </a:r>
            <a:r>
              <a:rPr sz="1450">
                <a:solidFill>
                  <a:srgbClr val="D1D5DB"/>
                </a:solidFill>
                <a:latin typeface="Arial"/>
              </a:rPr>
              <a:t>key distribution and key storage, never the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3A · CRYPTOGRAPHIC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Key length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Keyspace  </a:t>
            </a:r>
            <a:r>
              <a:rPr sz="1450">
                <a:solidFill>
                  <a:srgbClr val="D1D5DB"/>
                </a:solidFill>
                <a:latin typeface="Arial"/>
              </a:rPr>
              <a:t>the range of possible key values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Longer is stronger  </a:t>
            </a:r>
            <a:r>
              <a:rPr sz="1450">
                <a:solidFill>
                  <a:srgbClr val="D1D5DB"/>
                </a:solidFill>
                <a:latin typeface="Arial"/>
              </a:rPr>
              <a:t>each added bit doubles the work for an attacker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comparison  </a:t>
            </a:r>
            <a:r>
              <a:rPr sz="1450">
                <a:solidFill>
                  <a:srgbClr val="D1D5DB"/>
                </a:solidFill>
                <a:latin typeface="Arial"/>
              </a:rPr>
              <a:t>a 256-bit key is exponentially stronger than a 128-bit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Brute force  </a:t>
            </a:r>
            <a:r>
              <a:rPr sz="1450">
                <a:solidFill>
                  <a:srgbClr val="D1D5DB"/>
                </a:solidFill>
                <a:latin typeface="Arial"/>
              </a:rPr>
              <a:t>a larger keyspace defeats exhaustive search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cost  </a:t>
            </a:r>
            <a:r>
              <a:rPr sz="1450">
                <a:solidFill>
                  <a:srgbClr val="D1D5DB"/>
                </a:solidFill>
                <a:latin typeface="Arial"/>
              </a:rPr>
              <a:t>longer keys use more CPU, memory and power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balance  </a:t>
            </a:r>
            <a:r>
              <a:rPr sz="1450">
                <a:solidFill>
                  <a:srgbClr val="D1D5DB"/>
                </a:solidFill>
                <a:latin typeface="Arial"/>
              </a:rPr>
              <a:t>choose the strength the data actually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3A · CRYPTOGRAPHIC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Asymmetric encryption and key pairs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linked pair  </a:t>
            </a:r>
            <a:r>
              <a:rPr sz="1450">
                <a:solidFill>
                  <a:srgbClr val="D1D5DB"/>
                </a:solidFill>
                <a:latin typeface="Arial"/>
              </a:rPr>
              <a:t>one public key and one private key, mathematically related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encrypt with the public key, and only the private key decrypts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RSA  </a:t>
            </a:r>
            <a:r>
              <a:rPr sz="1450">
                <a:solidFill>
                  <a:srgbClr val="D1D5DB"/>
                </a:solidFill>
                <a:latin typeface="Arial"/>
              </a:rPr>
              <a:t>from Rivest, Shamir and Adleman: the difficulty of factoring very large primes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Elliptic curve  </a:t>
            </a:r>
            <a:r>
              <a:rPr sz="1450">
                <a:solidFill>
                  <a:srgbClr val="D1D5DB"/>
                </a:solidFill>
                <a:latin typeface="Arial"/>
              </a:rPr>
              <a:t>comparable strength with far smaller keys, good for mobile and constrained devices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Distribution solved  </a:t>
            </a:r>
            <a:r>
              <a:rPr sz="1450">
                <a:solidFill>
                  <a:srgbClr val="D1D5DB"/>
                </a:solidFill>
                <a:latin typeface="Arial"/>
              </a:rPr>
              <a:t>public keys are shared openly, and the private key cannot be derived from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Slower  </a:t>
            </a:r>
            <a:r>
              <a:rPr sz="1450">
                <a:solidFill>
                  <a:srgbClr val="D1D5DB"/>
                </a:solidFill>
                <a:latin typeface="Arial"/>
              </a:rPr>
              <a:t>so it protects keys and signatures rather than bulk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THE THREE JOBS &amp;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How Transport Layer Security uses both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813815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1463040"/>
                <a:gridCol w="50292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Encryption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Handshake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Asymmetric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Establish trust and exchange a session key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Session key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Asymmetric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Only the server can decrypt it with its private key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Bulk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Symmetric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Far faster for the rest of the session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at rest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Symmetric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Disks, databases and backups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in transit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Protects traffic crossing untrusted networks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94760"/>
            <a:ext cx="8138160" cy="54864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448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Asymmetric solves trust and key exchange; symmetric carries the data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3A · CRYPTOGRAPHIC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Hashing and the avalanche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Fixed length  </a:t>
            </a:r>
            <a:r>
              <a:rPr sz="1450">
                <a:solidFill>
                  <a:srgbClr val="D1D5DB"/>
                </a:solidFill>
                <a:latin typeface="Arial"/>
              </a:rPr>
              <a:t>data of any size produces a same-sized digest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Deterministic  </a:t>
            </a:r>
            <a:r>
              <a:rPr sz="1450">
                <a:solidFill>
                  <a:srgbClr val="D1D5DB"/>
                </a:solidFill>
                <a:latin typeface="Arial"/>
              </a:rPr>
              <a:t>the same input always gives the same digest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One way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work back from a digest to the original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Avalanche effect  </a:t>
            </a:r>
            <a:r>
              <a:rPr sz="1450">
                <a:solidFill>
                  <a:srgbClr val="D1D5DB"/>
                </a:solidFill>
                <a:latin typeface="Arial"/>
              </a:rPr>
              <a:t>one changed bit transforms the whole digest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Collision resistant  </a:t>
            </a:r>
            <a:r>
              <a:rPr sz="1450">
                <a:solidFill>
                  <a:srgbClr val="D1D5DB"/>
                </a:solidFill>
                <a:latin typeface="Arial"/>
              </a:rPr>
              <a:t>two different inputs should not share a digest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Integrity only  </a:t>
            </a:r>
            <a:r>
              <a:rPr sz="1450">
                <a:solidFill>
                  <a:srgbClr val="D1D5DB"/>
                </a:solidFill>
                <a:latin typeface="Arial"/>
              </a:rPr>
              <a:t>hashing hides nothing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INTEGRITY, SIGNATURES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Hashing algorithms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35661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Algorithm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Where you meet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SHA-256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File integrity and certificate signatures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SHA-1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Broken by collision attacks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Legacy systems only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Message Digest five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Broken, collisions on demand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Old checksums, never for security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291840"/>
            <a:ext cx="8138160" cy="54864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0156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Use SHA-256 or stronger. Treat anything weaker as broken.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3A · CRYPTOGRAPHIC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Digital signatures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recipe  </a:t>
            </a:r>
            <a:r>
              <a:rPr sz="1450">
                <a:solidFill>
                  <a:srgbClr val="D1D5DB"/>
                </a:solidFill>
                <a:latin typeface="Arial"/>
              </a:rPr>
              <a:t>hash the message, then encrypt that hash with the sender private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Sent together  </a:t>
            </a:r>
            <a:r>
              <a:rPr sz="1450">
                <a:solidFill>
                  <a:srgbClr val="D1D5DB"/>
                </a:solidFill>
                <a:latin typeface="Arial"/>
              </a:rPr>
              <a:t>the message and the signature travel as 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Verification  </a:t>
            </a:r>
            <a:r>
              <a:rPr sz="1450">
                <a:solidFill>
                  <a:srgbClr val="D1D5DB"/>
                </a:solidFill>
                <a:latin typeface="Arial"/>
              </a:rPr>
              <a:t>the recipient decrypts the signature with the sender public key and hashes the message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Matching digests  </a:t>
            </a:r>
            <a:r>
              <a:rPr sz="1450">
                <a:solidFill>
                  <a:srgbClr val="D1D5DB"/>
                </a:solidFill>
                <a:latin typeface="Arial"/>
              </a:rPr>
              <a:t>prove the message is intact and came from the holder of that private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Provides  </a:t>
            </a:r>
            <a:r>
              <a:rPr sz="1450">
                <a:solidFill>
                  <a:srgbClr val="D1D5DB"/>
                </a:solidFill>
                <a:latin typeface="Arial"/>
              </a:rPr>
              <a:t>integrity, authentication and non-repudiation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confidentiality  </a:t>
            </a:r>
            <a:r>
              <a:rPr sz="1450">
                <a:solidFill>
                  <a:srgbClr val="D1D5DB"/>
                </a:solidFill>
                <a:latin typeface="Arial"/>
              </a:rPr>
              <a:t>a signature does not hide the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Sign with the private key, verify with the public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which tool for which job?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Encrypting a large database backup: symmetric or asymmetric?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Proving a contract was not altered: hash or encrypt?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Authenticating a sender beyond doubt: what mechanism?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Exchanging a session key over an untrusted network: which approach?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name the job before naming the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Bulk data → symmetric · integrity → hashing · identity → signatures · key exchange → asymmetric.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3B · PUBLIC KEY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Certificates and certificate authorities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PKI  </a:t>
            </a:r>
            <a:r>
              <a:rPr sz="1450">
                <a:solidFill>
                  <a:srgbClr val="D1D5DB"/>
                </a:solidFill>
                <a:latin typeface="Arial"/>
              </a:rPr>
              <a:t>the machinery that makes a public key trustworthy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Certificate authority (CA)  </a:t>
            </a:r>
            <a:r>
              <a:rPr sz="1450">
                <a:solidFill>
                  <a:srgbClr val="D1D5DB"/>
                </a:solidFill>
                <a:latin typeface="Arial"/>
              </a:rPr>
              <a:t>verifies identity and issues certificates, signing each with its own private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Registration authority (RA)  </a:t>
            </a:r>
            <a:r>
              <a:rPr sz="1450">
                <a:solidFill>
                  <a:srgbClr val="D1D5DB"/>
                </a:solidFill>
                <a:latin typeface="Arial"/>
              </a:rPr>
              <a:t>performs the identity checks on the authority's behalf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certificate  </a:t>
            </a:r>
            <a:r>
              <a:rPr sz="1450">
                <a:solidFill>
                  <a:srgbClr val="D1D5DB"/>
                </a:solidFill>
                <a:latin typeface="Arial"/>
              </a:rPr>
              <a:t>binds a public key to a verified identity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Revocation  </a:t>
            </a:r>
            <a:r>
              <a:rPr sz="1450">
                <a:solidFill>
                  <a:srgbClr val="D1D5DB"/>
                </a:solidFill>
                <a:latin typeface="Arial"/>
              </a:rPr>
              <a:t>a compromised key is cancelled rather than trusted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Without the binding  </a:t>
            </a:r>
            <a:r>
              <a:rPr sz="1450">
                <a:solidFill>
                  <a:srgbClr val="D1D5DB"/>
                </a:solidFill>
                <a:latin typeface="Arial"/>
              </a:rPr>
              <a:t>a public key on its own proves nothing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3B · PUBLIC KEY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Digital certificates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carries  </a:t>
            </a:r>
            <a:r>
              <a:rPr sz="1450">
                <a:solidFill>
                  <a:srgbClr val="D1D5DB"/>
                </a:solidFill>
                <a:latin typeface="Arial"/>
              </a:rPr>
              <a:t>the public key, the identity, the usage and the validity period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Also inside  </a:t>
            </a:r>
            <a:r>
              <a:rPr sz="1450">
                <a:solidFill>
                  <a:srgbClr val="D1D5DB"/>
                </a:solidFill>
                <a:latin typeface="Arial"/>
              </a:rPr>
              <a:t>the issuing CA and that authority's digital signature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Standard format  </a:t>
            </a:r>
            <a:r>
              <a:rPr sz="1450">
                <a:solidFill>
                  <a:srgbClr val="D1D5DB"/>
                </a:solidFill>
                <a:latin typeface="Arial"/>
              </a:rPr>
              <a:t>X.509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Common Name (CN)  </a:t>
            </a:r>
            <a:r>
              <a:rPr sz="1450">
                <a:solidFill>
                  <a:srgbClr val="D1D5DB"/>
                </a:solidFill>
                <a:latin typeface="Arial"/>
              </a:rPr>
              <a:t>the legacy FQDN field, deprecated but still met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Subject Alternative Name (SAN)  </a:t>
            </a:r>
            <a:r>
              <a:rPr sz="1450">
                <a:solidFill>
                  <a:srgbClr val="D1D5DB"/>
                </a:solidFill>
                <a:latin typeface="Arial"/>
              </a:rPr>
              <a:t>the modern field: multiple hosts, subdomains and wildcards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favourite  </a:t>
            </a:r>
            <a:r>
              <a:rPr sz="1450">
                <a:solidFill>
                  <a:srgbClr val="D1D5DB"/>
                </a:solidFill>
                <a:latin typeface="Arial"/>
              </a:rPr>
              <a:t>CN versus SAN is a recurring distinction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3B · PUBLIC KEY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Root of trust and the chain of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Root certificate  </a:t>
            </a:r>
            <a:r>
              <a:rPr sz="1450">
                <a:solidFill>
                  <a:srgbClr val="D1D5DB"/>
                </a:solidFill>
                <a:latin typeface="Arial"/>
              </a:rPr>
              <a:t>self-signed, so you trust the authority's own procedures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Intermediate authorities  </a:t>
            </a:r>
            <a:r>
              <a:rPr sz="1450">
                <a:solidFill>
                  <a:srgbClr val="D1D5DB"/>
                </a:solidFill>
                <a:latin typeface="Arial"/>
              </a:rPr>
              <a:t>certified by the root, issuing the end certificates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Leaf certificate  </a:t>
            </a:r>
            <a:r>
              <a:rPr sz="1450">
                <a:solidFill>
                  <a:srgbClr val="D1D5DB"/>
                </a:solidFill>
                <a:latin typeface="Arial"/>
              </a:rPr>
              <a:t>the one your browser actually uses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Trust flows down  </a:t>
            </a:r>
            <a:r>
              <a:rPr sz="1450">
                <a:solidFill>
                  <a:srgbClr val="D1D5DB"/>
                </a:solidFill>
                <a:latin typeface="Arial"/>
              </a:rPr>
              <a:t>trust the root and it vouches for the whole chain below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Compromise below  </a:t>
            </a:r>
            <a:r>
              <a:rPr sz="1450">
                <a:solidFill>
                  <a:srgbClr val="D1D5DB"/>
                </a:solidFill>
                <a:latin typeface="Arial"/>
              </a:rPr>
              <a:t>revoke the certificate or the intermediate, not the root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Without PKI  </a:t>
            </a:r>
            <a:r>
              <a:rPr sz="1450">
                <a:solidFill>
                  <a:srgbClr val="D1D5DB"/>
                </a:solidFill>
                <a:latin typeface="Arial"/>
              </a:rPr>
              <a:t>certificates can exist, but give you no root of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3B · PUBLIC KEY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certificate signing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subject creates a key pair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0785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5377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0513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Send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0513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public key goes to the CA in a CSR, never the private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8651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03243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8379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8379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CA, or an RA on its behalf, performs identity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6516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711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6244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6244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CA signs the certificate and publishes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4382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3897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110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110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re-verification before the validity period 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8" name="Picture 2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3B · PUBLIC KEY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Certificate revocation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Revocation versus suspension  </a:t>
            </a:r>
            <a:r>
              <a:rPr sz="1450">
                <a:solidFill>
                  <a:srgbClr val="D1D5DB"/>
                </a:solidFill>
                <a:latin typeface="Arial"/>
              </a:rPr>
              <a:t>permanent removal versus a temporary hold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CRL  </a:t>
            </a:r>
            <a:r>
              <a:rPr sz="1450">
                <a:solidFill>
                  <a:srgbClr val="D1D5DB"/>
                </a:solidFill>
                <a:latin typeface="Arial"/>
              </a:rPr>
              <a:t>the certificate revocation list, a published checklist that clients download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OCSP  </a:t>
            </a:r>
            <a:r>
              <a:rPr sz="1450">
                <a:solidFill>
                  <a:srgbClr val="D1D5DB"/>
                </a:solidFill>
                <a:latin typeface="Arial"/>
              </a:rPr>
              <a:t>the online certificate status protocol, a real-time query about one certificate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revoke  </a:t>
            </a:r>
            <a:r>
              <a:rPr sz="1450">
                <a:solidFill>
                  <a:srgbClr val="D1D5DB"/>
                </a:solidFill>
                <a:latin typeface="Arial"/>
              </a:rPr>
              <a:t>compromised keys, changed details, trust that has expired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lifecycle  </a:t>
            </a:r>
            <a:r>
              <a:rPr sz="1450">
                <a:solidFill>
                  <a:srgbClr val="D1D5DB"/>
                </a:solidFill>
                <a:latin typeface="Arial"/>
              </a:rPr>
              <a:t>issuance, renewal, revocation and expiration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aim  </a:t>
            </a:r>
            <a:r>
              <a:rPr sz="1450">
                <a:solidFill>
                  <a:srgbClr val="D1D5DB"/>
                </a:solidFill>
                <a:latin typeface="Arial"/>
              </a:rPr>
              <a:t>a bad key must stop being trusted quickly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3B · PUBLIC KEY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Key management and cryptoprocessors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766559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TPM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Trusted Platform Module: a cryptoprocessor on the motherboard giving tamper-evident key storage and entropy for key generation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HSM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Hardware Security Module: a dedicated or removable cryptoprocessor managing keys at scale, with a reduced attack surface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Key escrow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Backup of keys with a trusted third party; M-of-N control splits recovery so no one agent acts alone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Key lifecycle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Generation, storage, revocation, expiration and renewal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does a website certificate actually prove?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Probe: it proves the public key belongs to the named domain, and that a trusted authority vouched for that binding. It does not prove the site is safe or legitimate, and it says nothing about the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Certificates prove identity and key binding; they do not vouch for the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cryptographic solutions, then identity and access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3C · CRYPTOGRAPHIC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Data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at rest  </a:t>
            </a:r>
            <a:r>
              <a:rPr sz="1450">
                <a:solidFill>
                  <a:srgbClr val="D1D5DB"/>
                </a:solidFill>
                <a:latin typeface="Arial"/>
              </a:rPr>
              <a:t>stored data: disks, databases, backups and files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in transit  </a:t>
            </a:r>
            <a:r>
              <a:rPr sz="1450">
                <a:solidFill>
                  <a:srgbClr val="D1D5DB"/>
                </a:solidFill>
                <a:latin typeface="Arial"/>
              </a:rPr>
              <a:t>moving across a network, protected by transport encryption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in use  </a:t>
            </a:r>
            <a:r>
              <a:rPr sz="1450">
                <a:solidFill>
                  <a:srgbClr val="D1D5DB"/>
                </a:solidFill>
                <a:latin typeface="Arial"/>
              </a:rPr>
              <a:t>being processed in memory, the hardest state to protect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every state needs an appropriate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scenario questions match a state to a tool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Start here  </a:t>
            </a:r>
            <a:r>
              <a:rPr sz="1450">
                <a:solidFill>
                  <a:srgbClr val="D1D5DB"/>
                </a:solidFill>
                <a:latin typeface="Arial"/>
              </a:rPr>
              <a:t>name the state before you name the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3C · CRYPTOGRAPHIC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Disk and file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Full disk or partition  </a:t>
            </a:r>
            <a:r>
              <a:rPr sz="1450">
                <a:solidFill>
                  <a:srgbClr val="D1D5DB"/>
                </a:solidFill>
                <a:latin typeface="Arial"/>
              </a:rPr>
              <a:t>encrypt the whole volume, often driven by the OS or firmware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File and volume encryption  </a:t>
            </a:r>
            <a:r>
              <a:rPr sz="1450">
                <a:solidFill>
                  <a:srgbClr val="D1D5DB"/>
                </a:solidFill>
                <a:latin typeface="Arial"/>
              </a:rPr>
              <a:t>encrypt selected files or containers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Self-encrypting drives  </a:t>
            </a:r>
            <a:r>
              <a:rPr sz="1450">
                <a:solidFill>
                  <a:srgbClr val="D1D5DB"/>
                </a:solidFill>
                <a:latin typeface="Arial"/>
              </a:rPr>
              <a:t>encryption performed by the drive firmware itself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benefit  </a:t>
            </a:r>
            <a:r>
              <a:rPr sz="1450">
                <a:solidFill>
                  <a:srgbClr val="D1D5DB"/>
                </a:solidFill>
                <a:latin typeface="Arial"/>
              </a:rPr>
              <a:t>a stolen drive yields nothing without the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At scale  </a:t>
            </a:r>
            <a:r>
              <a:rPr sz="1450">
                <a:solidFill>
                  <a:srgbClr val="D1D5DB"/>
                </a:solidFill>
                <a:latin typeface="Arial"/>
              </a:rPr>
              <a:t>BitLocker and FileVault protect at-rest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weak point  </a:t>
            </a:r>
            <a:r>
              <a:rPr sz="1450">
                <a:solidFill>
                  <a:srgbClr val="D1D5DB"/>
                </a:solidFill>
                <a:latin typeface="Arial"/>
              </a:rPr>
              <a:t>a running machine with the key in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3C · CRYPTOGRAPHIC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Database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Levels  </a:t>
            </a:r>
            <a:r>
              <a:rPr sz="1450">
                <a:solidFill>
                  <a:srgbClr val="D1D5DB"/>
                </a:solidFill>
                <a:latin typeface="Arial"/>
              </a:rPr>
              <a:t>database, table, column and cell or record level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Fine-grained access  </a:t>
            </a:r>
            <a:r>
              <a:rPr sz="1450">
                <a:solidFill>
                  <a:srgbClr val="D1D5DB"/>
                </a:solidFill>
                <a:latin typeface="Arial"/>
              </a:rPr>
              <a:t>column and record encryption enforce precise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How it works  </a:t>
            </a:r>
            <a:r>
              <a:rPr sz="1450">
                <a:solidFill>
                  <a:srgbClr val="D1D5DB"/>
                </a:solidFill>
                <a:latin typeface="Arial"/>
              </a:rPr>
              <a:t>the database management system decrypts as data moves into memory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Compliance  </a:t>
            </a:r>
            <a:r>
              <a:rPr sz="1450">
                <a:solidFill>
                  <a:srgbClr val="D1D5DB"/>
                </a:solidFill>
                <a:latin typeface="Arial"/>
              </a:rPr>
              <a:t>supports privacy and security requirements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trade-off  </a:t>
            </a:r>
            <a:r>
              <a:rPr sz="1450">
                <a:solidFill>
                  <a:srgbClr val="D1D5DB"/>
                </a:solidFill>
                <a:latin typeface="Arial"/>
              </a:rPr>
              <a:t>fine granularity adds complexity and overhead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Choose by need  </a:t>
            </a:r>
            <a:r>
              <a:rPr sz="1450">
                <a:solidFill>
                  <a:srgbClr val="D1D5DB"/>
                </a:solidFill>
                <a:latin typeface="Arial"/>
              </a:rPr>
              <a:t>protect the columns that carry the sensitive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3C · CRYPTOGRAPHIC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Transport encryption and perfect forward secrecy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Transport encryption  </a:t>
            </a:r>
            <a:r>
              <a:rPr sz="1450">
                <a:solidFill>
                  <a:srgbClr val="D1D5DB"/>
                </a:solidFill>
                <a:latin typeface="Arial"/>
              </a:rPr>
              <a:t>protects data in transit: TLS and VPN tunnels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session key  </a:t>
            </a:r>
            <a:r>
              <a:rPr sz="1450">
                <a:solidFill>
                  <a:srgbClr val="D1D5DB"/>
                </a:solidFill>
                <a:latin typeface="Arial"/>
              </a:rPr>
              <a:t>an asymmetric handshake exchanges a symmetric session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Perfect forward secrecy  </a:t>
            </a:r>
            <a:r>
              <a:rPr sz="1450">
                <a:solidFill>
                  <a:srgbClr val="D1D5DB"/>
                </a:solidFill>
                <a:latin typeface="Arial"/>
              </a:rPr>
              <a:t>session keys are ephemeral, so they are never reused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guarantee  </a:t>
            </a:r>
            <a:r>
              <a:rPr sz="1450">
                <a:solidFill>
                  <a:srgbClr val="D1D5DB"/>
                </a:solidFill>
                <a:latin typeface="Arial"/>
              </a:rPr>
              <a:t>compromise of one key cannot decrypt past traffic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result  </a:t>
            </a:r>
            <a:r>
              <a:rPr sz="1450">
                <a:solidFill>
                  <a:srgbClr val="D1D5DB"/>
                </a:solidFill>
                <a:latin typeface="Arial"/>
              </a:rPr>
              <a:t>recorded traffic stays encrypted even if keys leak later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a modern requirement, not a luxury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3C · CRYPTOGRAPHIC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Salting and key stretching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problem  </a:t>
            </a:r>
            <a:r>
              <a:rPr sz="1450">
                <a:solidFill>
                  <a:srgbClr val="D1D5DB"/>
                </a:solidFill>
                <a:latin typeface="Arial"/>
              </a:rPr>
              <a:t>user-chosen passwords are low entropy, so brute force finds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Salting  </a:t>
            </a:r>
            <a:r>
              <a:rPr sz="1450">
                <a:solidFill>
                  <a:srgbClr val="D1D5DB"/>
                </a:solidFill>
                <a:latin typeface="Arial"/>
              </a:rPr>
              <a:t>add a random value per password before hashing, which defeats pre-computed tables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Key stretching  </a:t>
            </a:r>
            <a:r>
              <a:rPr sz="1450">
                <a:solidFill>
                  <a:srgbClr val="D1D5DB"/>
                </a:solidFill>
                <a:latin typeface="Arial"/>
              </a:rPr>
              <a:t>extra hashing rounds make every guess expensive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Together  </a:t>
            </a:r>
            <a:r>
              <a:rPr sz="1450">
                <a:solidFill>
                  <a:srgbClr val="D1D5DB"/>
                </a:solidFill>
                <a:latin typeface="Arial"/>
              </a:rPr>
              <a:t>slower attacks and safer stored passwords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Never plain  </a:t>
            </a:r>
            <a:r>
              <a:rPr sz="1450">
                <a:solidFill>
                  <a:srgbClr val="D1D5DB"/>
                </a:solidFill>
                <a:latin typeface="Arial"/>
              </a:rPr>
              <a:t>store only salted, stretched hashes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pairing  </a:t>
            </a:r>
            <a:r>
              <a:rPr sz="1450">
                <a:solidFill>
                  <a:srgbClr val="D1D5DB"/>
                </a:solidFill>
                <a:latin typeface="Arial"/>
              </a:rPr>
              <a:t>salt plus stretch, never one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APPLICATIONS &amp; THE PAPER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Blockchain: a distributed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Distributed  </a:t>
            </a:r>
            <a:r>
              <a:rPr sz="1450">
                <a:solidFill>
                  <a:srgbClr val="D1D5DB"/>
                </a:solidFill>
                <a:latin typeface="Arial"/>
              </a:rPr>
              <a:t>copied across many nodes, so there is no single master copy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Each block holds  </a:t>
            </a:r>
            <a:r>
              <a:rPr sz="1450">
                <a:solidFill>
                  <a:srgbClr val="D1D5DB"/>
                </a:solidFill>
                <a:latin typeface="Arial"/>
              </a:rPr>
              <a:t>transactions, a timestamp and the hash of the previous block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chain  </a:t>
            </a:r>
            <a:r>
              <a:rPr sz="1450">
                <a:solidFill>
                  <a:srgbClr val="D1D5DB"/>
                </a:solidFill>
                <a:latin typeface="Arial"/>
              </a:rPr>
              <a:t>the previous hash is what links the blocks together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Tamper-evident  </a:t>
            </a:r>
            <a:r>
              <a:rPr sz="1450">
                <a:solidFill>
                  <a:srgbClr val="D1D5DB"/>
                </a:solidFill>
                <a:latin typeface="Arial"/>
              </a:rPr>
              <a:t>altering an old block breaks every block after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Rewriting history  </a:t>
            </a:r>
            <a:r>
              <a:rPr sz="1450">
                <a:solidFill>
                  <a:srgbClr val="D1D5DB"/>
                </a:solidFill>
                <a:latin typeface="Arial"/>
              </a:rPr>
              <a:t>means redoing every later block and controlling most of the network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works  </a:t>
            </a:r>
            <a:r>
              <a:rPr sz="1450">
                <a:solidFill>
                  <a:srgbClr val="D1D5DB"/>
                </a:solidFill>
                <a:latin typeface="Arial"/>
              </a:rPr>
              <a:t>hashing is what makes the ledger tamper-evident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APPLICATIONS &amp; THE PAPER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Blockchain: applications and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2179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Supply chain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Immutable audit trail of provenance and handling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Identity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Decentralised credentials, less exposed to any single breach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Records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Medical, legal and financial records that cannot be altered silently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Scalability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ledger grows, and public consensus is slow and costly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Proof of work consumes significant energy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Regulation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Rules vary by jurisdiction and are still evolving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069080"/>
            <a:ext cx="8138160" cy="54864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tool with a narrow best use: a shared, unchangeable record, not a general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APPLICATIONS &amp; THE PAPER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Obfuscation: making data hard to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Tokenisation  </a:t>
            </a:r>
            <a:r>
              <a:rPr sz="1450">
                <a:solidFill>
                  <a:srgbClr val="D1D5DB"/>
                </a:solidFill>
                <a:latin typeface="Arial"/>
              </a:rPr>
              <a:t>replace a value with a token and keep the real value in a secure vault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 the real world  </a:t>
            </a:r>
            <a:r>
              <a:rPr sz="1450">
                <a:solidFill>
                  <a:srgbClr val="D1D5DB"/>
                </a:solidFill>
                <a:latin typeface="Arial"/>
              </a:rPr>
              <a:t>payment card numbers are protected this way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masking  </a:t>
            </a:r>
            <a:r>
              <a:rPr sz="1450">
                <a:solidFill>
                  <a:srgbClr val="D1D5DB"/>
                </a:solidFill>
                <a:latin typeface="Arial"/>
              </a:rPr>
              <a:t>realistic but fictitious data for test environments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Code obfuscation  </a:t>
            </a:r>
            <a:r>
              <a:rPr sz="1450">
                <a:solidFill>
                  <a:srgbClr val="D1D5DB"/>
                </a:solidFill>
                <a:latin typeface="Arial"/>
              </a:rPr>
              <a:t>renamed variables, stripped comments and convoluted logic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effect  </a:t>
            </a:r>
            <a:r>
              <a:rPr sz="1450">
                <a:solidFill>
                  <a:srgbClr val="D1D5DB"/>
                </a:solidFill>
                <a:latin typeface="Arial"/>
              </a:rPr>
              <a:t>reverse engineering becomes expensive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encryption  </a:t>
            </a:r>
            <a:r>
              <a:rPr sz="1450">
                <a:solidFill>
                  <a:srgbClr val="D1D5DB"/>
                </a:solidFill>
                <a:latin typeface="Arial"/>
              </a:rPr>
              <a:t>the goal is confusion, not secrecy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APPLICATIONS &amp; THE PAPER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Steganography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Conceals existence  </a:t>
            </a:r>
            <a:r>
              <a:rPr sz="1450">
                <a:solidFill>
                  <a:srgbClr val="D1D5DB"/>
                </a:solidFill>
                <a:latin typeface="Arial"/>
              </a:rPr>
              <a:t>it hides that a message is there, not what the message says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Images  </a:t>
            </a:r>
            <a:r>
              <a:rPr sz="1450">
                <a:solidFill>
                  <a:srgbClr val="D1D5DB"/>
                </a:solidFill>
                <a:latin typeface="Arial"/>
              </a:rPr>
              <a:t>alter the least significant bits of the pixels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Audio  </a:t>
            </a:r>
            <a:r>
              <a:rPr sz="1450">
                <a:solidFill>
                  <a:srgbClr val="D1D5DB"/>
                </a:solidFill>
                <a:latin typeface="Arial"/>
              </a:rPr>
              <a:t>change frequencies that listeners cannot hear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Legitimate uses  </a:t>
            </a:r>
            <a:r>
              <a:rPr sz="1450">
                <a:solidFill>
                  <a:srgbClr val="D1D5DB"/>
                </a:solidFill>
                <a:latin typeface="Arial"/>
              </a:rPr>
              <a:t>watermarking media and protecting intellectual property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Malicious uses  </a:t>
            </a:r>
            <a:r>
              <a:rPr sz="1450">
                <a:solidFill>
                  <a:srgbClr val="D1D5DB"/>
                </a:solidFill>
                <a:latin typeface="Arial"/>
              </a:rPr>
              <a:t>hiding malware, covert channels and data exfiltration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distinction  </a:t>
            </a:r>
            <a:r>
              <a:rPr sz="1450">
                <a:solidFill>
                  <a:srgbClr val="D1D5DB"/>
                </a:solidFill>
                <a:latin typeface="Arial"/>
              </a:rPr>
              <a:t>encryption makes data unreadable; steganography makes it invisible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APPLICATIONS &amp; THE PAPER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Documentation and change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set  </a:t>
            </a:r>
            <a:r>
              <a:rPr sz="1450">
                <a:solidFill>
                  <a:srgbClr val="D1D5DB"/>
                </a:solidFill>
                <a:latin typeface="Arial"/>
              </a:rPr>
              <a:t>policies state the rules, procedures give the steps, diagrams show reality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Keep it current  </a:t>
            </a:r>
            <a:r>
              <a:rPr sz="1450">
                <a:solidFill>
                  <a:srgbClr val="D1D5DB"/>
                </a:solidFill>
                <a:latin typeface="Arial"/>
              </a:rPr>
              <a:t>update diagrams, policies and procedures whenever something changes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Compliance  </a:t>
            </a:r>
            <a:r>
              <a:rPr sz="1450">
                <a:solidFill>
                  <a:srgbClr val="D1D5DB"/>
                </a:solidFill>
                <a:latin typeface="Arial"/>
              </a:rPr>
              <a:t>documentation proves your practices to regulators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Incident response  </a:t>
            </a:r>
            <a:r>
              <a:rPr sz="1450">
                <a:solidFill>
                  <a:srgbClr val="D1D5DB"/>
                </a:solidFill>
                <a:latin typeface="Arial"/>
              </a:rPr>
              <a:t>the first thing you establish is what the environment actually is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Change control  </a:t>
            </a:r>
            <a:r>
              <a:rPr sz="1450">
                <a:solidFill>
                  <a:srgbClr val="D1D5DB"/>
                </a:solidFill>
                <a:latin typeface="Arial"/>
              </a:rPr>
              <a:t>a rollback plan is documented before a change is approved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Knowledge transfer  </a:t>
            </a:r>
            <a:r>
              <a:rPr sz="1450">
                <a:solidFill>
                  <a:srgbClr val="D1D5DB"/>
                </a:solidFill>
                <a:latin typeface="Arial"/>
              </a:rPr>
              <a:t>documentation carries knowledge when people 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APPLICATIONS &amp; THE PAPER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Version control concepts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4008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Concept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holds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Repository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All project files plus the full history of changes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Commit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snapshot with a unique identifier and a message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 independent line of work that leaves the stable version alone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Track changes, collaborate, and answer what changed and when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611880"/>
            <a:ext cx="8138160" cy="54864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When an auditor asks what changed after an incident, this history is your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match the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backup tape is stolen: which control protects the data?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web session must survive key compromise: which property?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Storing passwords: what two techniques must you apply?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Hiding a message inside a photo: which technique?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Proving a ledger entry was never altered: which property?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state first, then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At rest → disk or file encryption · in transit → TLS with PFS · passwords → salt and stretch · hidden → steganography · tamper-evident → the hash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IDENTITY &amp;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Authentication and authorisation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Authentication  </a:t>
            </a:r>
            <a:r>
              <a:rPr sz="1450">
                <a:solidFill>
                  <a:srgbClr val="D1D5DB"/>
                </a:solidFill>
                <a:latin typeface="Arial"/>
              </a:rPr>
              <a:t>are you who you say you are?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Authorisation  </a:t>
            </a:r>
            <a:r>
              <a:rPr sz="1450">
                <a:solidFill>
                  <a:srgbClr val="D1D5DB"/>
                </a:solidFill>
                <a:latin typeface="Arial"/>
              </a:rPr>
              <a:t>what are you allowed to do?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Proving identity  </a:t>
            </a:r>
            <a:r>
              <a:rPr sz="1450">
                <a:solidFill>
                  <a:srgbClr val="D1D5DB"/>
                </a:solidFill>
                <a:latin typeface="Arial"/>
              </a:rPr>
              <a:t>a password, a token or a biometric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Deciding permissions  </a:t>
            </a:r>
            <a:r>
              <a:rPr sz="1450">
                <a:solidFill>
                  <a:srgbClr val="D1D5DB"/>
                </a:solidFill>
                <a:latin typeface="Arial"/>
              </a:rPr>
              <a:t>which records you may read, edit or delete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privilege  </a:t>
            </a:r>
            <a:r>
              <a:rPr sz="1450">
                <a:solidFill>
                  <a:srgbClr val="D1D5DB"/>
                </a:solidFill>
                <a:latin typeface="Arial"/>
              </a:rPr>
              <a:t>the minimum access needed to do the job, and nothing beyond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it limits the damage from mistakes as much as from malice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IDENTITY &amp;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Roles and the identity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Role-based access control  </a:t>
            </a:r>
            <a:r>
              <a:rPr sz="1450">
                <a:solidFill>
                  <a:srgbClr val="D1D5DB"/>
                </a:solidFill>
                <a:latin typeface="Arial"/>
              </a:rPr>
              <a:t>assign permissions to roles, then assign people to roles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Access follows the job  </a:t>
            </a:r>
            <a:r>
              <a:rPr sz="1450">
                <a:solidFill>
                  <a:srgbClr val="D1D5DB"/>
                </a:solidFill>
                <a:latin typeface="Arial"/>
              </a:rPr>
              <a:t>doctors, nurses and administrators each receive what the work needs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Provisioning  </a:t>
            </a:r>
            <a:r>
              <a:rPr sz="1450">
                <a:solidFill>
                  <a:srgbClr val="D1D5DB"/>
                </a:solidFill>
                <a:latin typeface="Arial"/>
              </a:rPr>
              <a:t>create the identity and grant access when someone joins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Modification  </a:t>
            </a:r>
            <a:r>
              <a:rPr sz="1450">
                <a:solidFill>
                  <a:srgbClr val="D1D5DB"/>
                </a:solidFill>
                <a:latin typeface="Arial"/>
              </a:rPr>
              <a:t>adjust permissions when the role changes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Deprovisioning  </a:t>
            </a:r>
            <a:r>
              <a:rPr sz="1450">
                <a:solidFill>
                  <a:srgbClr val="D1D5DB"/>
                </a:solidFill>
                <a:latin typeface="Arial"/>
              </a:rPr>
              <a:t>disable the account and remove access when someone leaves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open door  </a:t>
            </a:r>
            <a:r>
              <a:rPr sz="1450">
                <a:solidFill>
                  <a:srgbClr val="D1D5DB"/>
                </a:solidFill>
                <a:latin typeface="Arial"/>
              </a:rPr>
              <a:t>a forgotten account is an account an attacker can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IDENTITY &amp;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three factors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Something you know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Password, personal identification number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Something you have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Hardware token, smart card, authenticator app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Something you 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Fingerprint, face, iris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Multi-factor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Two or more different factors, such as a password plus a token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Single 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password plus a personal identification number is still one 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94760"/>
            <a:ext cx="8138160" cy="54864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448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Multi-factor means two or more different families, not two secrets from the same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IDENTITY &amp;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Stronger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Multi-factor  </a:t>
            </a:r>
            <a:r>
              <a:rPr sz="1450">
                <a:solidFill>
                  <a:srgbClr val="D1D5DB"/>
                </a:solidFill>
                <a:latin typeface="Arial"/>
              </a:rPr>
              <a:t>your best defence against a stolen password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Time-based one-time password  </a:t>
            </a:r>
            <a:r>
              <a:rPr sz="1450">
                <a:solidFill>
                  <a:srgbClr val="D1D5DB"/>
                </a:solidFill>
                <a:latin typeface="Arial"/>
              </a:rPr>
              <a:t>a shared secret combined with the current time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window  </a:t>
            </a:r>
            <a:r>
              <a:rPr sz="1450">
                <a:solidFill>
                  <a:srgbClr val="D1D5DB"/>
                </a:solidFill>
                <a:latin typeface="Arial"/>
              </a:rPr>
              <a:t>the code stays valid for a short period, typically 30 to 60 seconds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Phishing  </a:t>
            </a:r>
            <a:r>
              <a:rPr sz="1450">
                <a:solidFill>
                  <a:srgbClr val="D1D5DB"/>
                </a:solidFill>
                <a:latin typeface="Arial"/>
              </a:rPr>
              <a:t>a code can be relayed, so a hardware key is stronger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Passwordless  </a:t>
            </a:r>
            <a:r>
              <a:rPr sz="1450">
                <a:solidFill>
                  <a:srgbClr val="D1D5DB"/>
                </a:solidFill>
                <a:latin typeface="Arial"/>
              </a:rPr>
              <a:t>a biometric, a device key, or a link sent to you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benefit  </a:t>
            </a:r>
            <a:r>
              <a:rPr sz="1450">
                <a:solidFill>
                  <a:srgbClr val="D1D5DB"/>
                </a:solidFill>
                <a:latin typeface="Arial"/>
              </a:rPr>
              <a:t>fewer passwords means less reuse and fewer breaches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IDENTITY &amp;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Single sign-on and SAML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One login  </a:t>
            </a:r>
            <a:r>
              <a:rPr sz="1450">
                <a:solidFill>
                  <a:srgbClr val="D1D5DB"/>
                </a:solidFill>
                <a:latin typeface="Arial"/>
              </a:rPr>
              <a:t>opens many applications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For users  </a:t>
            </a:r>
            <a:r>
              <a:rPr sz="1450">
                <a:solidFill>
                  <a:srgbClr val="D1D5DB"/>
                </a:solidFill>
                <a:latin typeface="Arial"/>
              </a:rPr>
              <a:t>less password fatigue and less password reuse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For administrators  </a:t>
            </a:r>
            <a:r>
              <a:rPr sz="1450">
                <a:solidFill>
                  <a:srgbClr val="D1D5DB"/>
                </a:solidFill>
                <a:latin typeface="Arial"/>
              </a:rPr>
              <a:t>one place to enforce policy, watch access and revoke it quickly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SAML  </a:t>
            </a:r>
            <a:r>
              <a:rPr sz="1450">
                <a:solidFill>
                  <a:srgbClr val="D1D5DB"/>
                </a:solidFill>
                <a:latin typeface="Arial"/>
              </a:rPr>
              <a:t>the Security Assertion Markup Language exchanges authentication assertions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Identity provider  </a:t>
            </a:r>
            <a:r>
              <a:rPr sz="1450">
                <a:solidFill>
                  <a:srgbClr val="D1D5DB"/>
                </a:solidFill>
                <a:latin typeface="Arial"/>
              </a:rPr>
              <a:t>authenticates the user and issues the signed assertion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Service provider  </a:t>
            </a:r>
            <a:r>
              <a:rPr sz="1450">
                <a:solidFill>
                  <a:srgbClr val="D1D5DB"/>
                </a:solidFill>
                <a:latin typeface="Arial"/>
              </a:rPr>
              <a:t>trusts the assertion and grants access, so the password never reaches the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IDENTITY &amp;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Federation and its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is  </a:t>
            </a:r>
            <a:r>
              <a:rPr sz="1450">
                <a:solidFill>
                  <a:srgbClr val="D1D5DB"/>
                </a:solidFill>
                <a:latin typeface="Arial"/>
              </a:rPr>
              <a:t>partners agree on standards and trust each other's identity providers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benefit  </a:t>
            </a:r>
            <a:r>
              <a:rPr sz="1450">
                <a:solidFill>
                  <a:srgbClr val="D1D5DB"/>
                </a:solidFill>
                <a:latin typeface="Arial"/>
              </a:rPr>
              <a:t>staff reach the other organisation's resources without a second account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risk  </a:t>
            </a:r>
            <a:r>
              <a:rPr sz="1450">
                <a:solidFill>
                  <a:srgbClr val="D1D5DB"/>
                </a:solidFill>
                <a:latin typeface="Arial"/>
              </a:rPr>
              <a:t>one login is also one point of failure, with a wide blast radius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Sessions  </a:t>
            </a:r>
            <a:r>
              <a:rPr sz="1450">
                <a:solidFill>
                  <a:srgbClr val="D1D5DB"/>
                </a:solidFill>
                <a:latin typeface="Arial"/>
              </a:rPr>
              <a:t>manage sessions, set sensible timeouts and handle cookies securely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Tokens  </a:t>
            </a:r>
            <a:r>
              <a:rPr sz="1450">
                <a:solidFill>
                  <a:srgbClr val="D1D5DB"/>
                </a:solidFill>
                <a:latin typeface="Arial"/>
              </a:rPr>
              <a:t>encrypt tokens in transit with TLS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MFA  </a:t>
            </a:r>
            <a:r>
              <a:rPr sz="1450">
                <a:solidFill>
                  <a:srgbClr val="D1D5DB"/>
                </a:solidFill>
                <a:latin typeface="Arial"/>
              </a:rPr>
              <a:t>add it at the identity provider, where one control protects every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CONTROLLING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RADIUS: central network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RADIUS  </a:t>
            </a:r>
            <a:r>
              <a:rPr sz="1450">
                <a:solidFill>
                  <a:srgbClr val="D1D5DB"/>
                </a:solidFill>
                <a:latin typeface="Arial"/>
              </a:rPr>
              <a:t>Remote Authentication Dial-In User Service, an open standard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provides  </a:t>
            </a:r>
            <a:r>
              <a:rPr sz="1450">
                <a:solidFill>
                  <a:srgbClr val="D1D5DB"/>
                </a:solidFill>
                <a:latin typeface="Arial"/>
              </a:rPr>
              <a:t>authentication, authorisation and accounting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Clients  </a:t>
            </a:r>
            <a:r>
              <a:rPr sz="1450">
                <a:solidFill>
                  <a:srgbClr val="D1D5DB"/>
                </a:solidFill>
                <a:latin typeface="Arial"/>
              </a:rPr>
              <a:t>switches, wireless access points and VPN gateways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Servers  </a:t>
            </a:r>
            <a:r>
              <a:rPr sz="1450">
                <a:solidFill>
                  <a:srgbClr val="D1D5DB"/>
                </a:solidFill>
                <a:latin typeface="Arial"/>
              </a:rPr>
              <a:t>verify credentials, often against a directory, and answer accept or reject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Where you meet it  </a:t>
            </a:r>
            <a:r>
              <a:rPr sz="1450">
                <a:solidFill>
                  <a:srgbClr val="D1D5DB"/>
                </a:solidFill>
                <a:latin typeface="Arial"/>
              </a:rPr>
              <a:t>VPN access and wireless 802.1X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point  </a:t>
            </a:r>
            <a:r>
              <a:rPr sz="1450">
                <a:solidFill>
                  <a:srgbClr val="D1D5DB"/>
                </a:solidFill>
                <a:latin typeface="Arial"/>
              </a:rPr>
              <a:t>one place to decide who may join the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CONTROLLING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RADIUS and TACACS+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813815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79"/>
                <a:gridCol w="338327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RADIUS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TACACS+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Transport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UDP, fast but less reliable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TCP, reliable delivery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Functions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Combines authentication and authorisation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Separates all three functions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Granularity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Coarse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Command-level authorisation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Origin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Open standard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Developed by Cisco, widely supported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 access: VPN, wireless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Managing network devices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49039"/>
            <a:ext cx="8138160" cy="54864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Use RADIUS for network access, and TACACS+ for managing the devices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CONTROLLING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Directory services and LDAP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directory  </a:t>
            </a:r>
            <a:r>
              <a:rPr sz="1450">
                <a:solidFill>
                  <a:srgbClr val="D1D5DB"/>
                </a:solidFill>
                <a:latin typeface="Arial"/>
              </a:rPr>
              <a:t>a database built for reading and searching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LDAP  </a:t>
            </a:r>
            <a:r>
              <a:rPr sz="1450">
                <a:solidFill>
                  <a:srgbClr val="D1D5DB"/>
                </a:solidFill>
                <a:latin typeface="Arial"/>
              </a:rPr>
              <a:t>the Lightweight Directory Access Protocol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shape  </a:t>
            </a:r>
            <a:r>
              <a:rPr sz="1450">
                <a:solidFill>
                  <a:srgbClr val="D1D5DB"/>
                </a:solidFill>
                <a:latin typeface="Arial"/>
              </a:rPr>
              <a:t>a hierarchy of organisational units, groups and user objects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User objects  </a:t>
            </a:r>
            <a:r>
              <a:rPr sz="1450">
                <a:solidFill>
                  <a:srgbClr val="D1D5DB"/>
                </a:solidFill>
                <a:latin typeface="Arial"/>
              </a:rPr>
              <a:t>carry attributes: a name, an email address and login details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Active Directory  </a:t>
            </a:r>
            <a:r>
              <a:rPr sz="1450">
                <a:solidFill>
                  <a:srgbClr val="D1D5DB"/>
                </a:solidFill>
                <a:latin typeface="Arial"/>
              </a:rPr>
              <a:t>the Microsoft implementation, adding Group Policy and Kerberos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design  </a:t>
            </a:r>
            <a:r>
              <a:rPr sz="1450">
                <a:solidFill>
                  <a:srgbClr val="D1D5DB"/>
                </a:solidFill>
                <a:latin typeface="Arial"/>
              </a:rPr>
              <a:t>fast lookups, and writing is deliberately uncommon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CONTROLLING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Authenticating against a directory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Bind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send the credentials to the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0785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5377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0513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0513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find the matching user object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8651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03243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8379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8379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check credentials against the stored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6516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711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6244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6244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return success or failure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4382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3897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110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Encrypt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110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389 is clear by default; use LDAPS on 636 or StartTLS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8" name="Picture 2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CONTROLLING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Access control lists and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access control list  </a:t>
            </a:r>
            <a:r>
              <a:rPr sz="1450">
                <a:solidFill>
                  <a:srgbClr val="D1D5DB"/>
                </a:solidFill>
                <a:latin typeface="Arial"/>
              </a:rPr>
              <a:t>a list of permissions attached to an object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Each entry  </a:t>
            </a:r>
            <a:r>
              <a:rPr sz="1450">
                <a:solidFill>
                  <a:srgbClr val="D1D5DB"/>
                </a:solidFill>
                <a:latin typeface="Arial"/>
              </a:rPr>
              <a:t>names a subject and an action that is allowed or denied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Order matters  </a:t>
            </a:r>
            <a:r>
              <a:rPr sz="1450">
                <a:solidFill>
                  <a:srgbClr val="D1D5DB"/>
                </a:solidFill>
                <a:latin typeface="Arial"/>
              </a:rPr>
              <a:t>entries are read in order and the first match wins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match  </a:t>
            </a:r>
            <a:r>
              <a:rPr sz="1450">
                <a:solidFill>
                  <a:srgbClr val="D1D5DB"/>
                </a:solidFill>
                <a:latin typeface="Arial"/>
              </a:rPr>
              <a:t>the default applies, and that is normally deny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Example  </a:t>
            </a:r>
            <a:r>
              <a:rPr sz="1450">
                <a:solidFill>
                  <a:srgbClr val="D1D5DB"/>
                </a:solidFill>
                <a:latin typeface="Arial"/>
              </a:rPr>
              <a:t>allow 192.168.1.0/24, deny everything else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models  </a:t>
            </a:r>
            <a:r>
              <a:rPr sz="1450">
                <a:solidFill>
                  <a:srgbClr val="D1D5DB"/>
                </a:solidFill>
                <a:latin typeface="Arial"/>
              </a:rPr>
              <a:t>discretionary: the owner sets permissions. Mandatory: a central policy decides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CONTROLLING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Attributes, place and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Attribute-based access control  </a:t>
            </a:r>
            <a:r>
              <a:rPr sz="1450">
                <a:solidFill>
                  <a:srgbClr val="D1D5DB"/>
                </a:solidFill>
                <a:latin typeface="Arial"/>
              </a:rPr>
              <a:t>evaluates user, resource and environmental attributes together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Example policy  </a:t>
            </a:r>
            <a:r>
              <a:rPr sz="1450">
                <a:solidFill>
                  <a:srgbClr val="D1D5DB"/>
                </a:solidFill>
                <a:latin typeface="Arial"/>
              </a:rPr>
              <a:t>finance documents, for finance staff, on managed devices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Geofencing  </a:t>
            </a:r>
            <a:r>
              <a:rPr sz="1450">
                <a:solidFill>
                  <a:srgbClr val="D1D5DB"/>
                </a:solidFill>
                <a:latin typeface="Arial"/>
              </a:rPr>
              <a:t>access only inside an approved area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Time-based restrictions  </a:t>
            </a:r>
            <a:r>
              <a:rPr sz="1450">
                <a:solidFill>
                  <a:srgbClr val="D1D5DB"/>
                </a:solidFill>
                <a:latin typeface="Arial"/>
              </a:rPr>
              <a:t>access only during defined periods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effect  </a:t>
            </a:r>
            <a:r>
              <a:rPr sz="1450">
                <a:solidFill>
                  <a:srgbClr val="D1D5DB"/>
                </a:solidFill>
                <a:latin typeface="Arial"/>
              </a:rPr>
              <a:t>every restriction lowers the value of a stolen credential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skill  </a:t>
            </a:r>
            <a:r>
              <a:rPr sz="1450">
                <a:solidFill>
                  <a:srgbClr val="D1D5DB"/>
                </a:solidFill>
                <a:latin typeface="Arial"/>
              </a:rPr>
              <a:t>ask which model a scenario describes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Symmetric for bulk, asymmetric for keys  </a:t>
            </a:r>
            <a:r>
              <a:rPr sz="1600">
                <a:solidFill>
                  <a:srgbClr val="FFFFFF"/>
                </a:solidFill>
                <a:latin typeface="Arial"/>
              </a:rPr>
              <a:t>one key is fast but hard to share; pairs solve distribution.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Hash for integrity, sign for identity  </a:t>
            </a:r>
            <a:r>
              <a:rPr sz="1600">
                <a:solidFill>
                  <a:srgbClr val="FFFFFF"/>
                </a:solidFill>
                <a:latin typeface="Arial"/>
              </a:rPr>
              <a:t>sign with private, verify with public; signatures add non-repudiation.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Certificates bind keys to identities  </a:t>
            </a:r>
            <a:r>
              <a:rPr sz="1600">
                <a:solidFill>
                  <a:srgbClr val="FFFFFF"/>
                </a:solidFill>
                <a:latin typeface="Arial"/>
              </a:rPr>
              <a:t>X.509, CA chains, the root of trust, CRL and OCSP.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Protect every data state  </a:t>
            </a:r>
            <a:r>
              <a:rPr sz="1600">
                <a:solidFill>
                  <a:srgbClr val="FFFFFF"/>
                </a:solidFill>
                <a:latin typeface="Arial"/>
              </a:rPr>
              <a:t>at rest with disk, file and database encryption; in transit with TLS and perfect forward secrecy.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Obfuscate, hide and record  </a:t>
            </a:r>
            <a:r>
              <a:rPr sz="1600">
                <a:solidFill>
                  <a:srgbClr val="FFFFFF"/>
                </a:solidFill>
                <a:latin typeface="Arial"/>
              </a:rPr>
              <a:t>tokenisation, masking, steganography, blockchain, documentation and version control.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Identity is separate from access  </a:t>
            </a:r>
            <a:r>
              <a:rPr sz="1600">
                <a:solidFill>
                  <a:srgbClr val="FFFFFF"/>
                </a:solidFill>
                <a:latin typeface="Arial"/>
              </a:rPr>
              <a:t>authentication proves who you are; RADIUS, TACACS+ and LDAP centralise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Quiz_Session_06.html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exam-objective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explanation: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CompTIA exam objective, e.g. 3.1 Cryptographic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this maps to in the exam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7607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tests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3.1 Cryptographic algorithms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Symmetric, asymmetric, hashing, key length and digital signatures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3.2 PKI and certificates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CAs, X.509, root of trust, CSR, revocation and key management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3.3 Cryptographic solutions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states, disk, file, database and transport encryption, PFS, salting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3.4 Identity and access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Authentication versus authorisation, factors, MFA, SSO, SAML and federation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3.5 Access 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RADIUS, TACACS+, LDAP and the access control models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the jobs  </a:t>
            </a:r>
            <a:r>
              <a:rPr sz="1450">
                <a:solidFill>
                  <a:srgbClr val="D1D5DB"/>
                </a:solidFill>
                <a:latin typeface="Arial"/>
              </a:rPr>
              <a:t>for five data types, name the right cryptographic tool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Inspect certificates  </a:t>
            </a:r>
            <a:r>
              <a:rPr sz="1450">
                <a:solidFill>
                  <a:srgbClr val="D1D5DB"/>
                </a:solidFill>
                <a:latin typeface="Arial"/>
              </a:rPr>
              <a:t>look at a browser certificate's SAN and its chain of trust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Learn the protocol split  </a:t>
            </a:r>
            <a:r>
              <a:rPr sz="1450">
                <a:solidFill>
                  <a:srgbClr val="D1D5DB"/>
                </a:solidFill>
                <a:latin typeface="Arial"/>
              </a:rPr>
              <a:t>RADIUS versus TACACS+, and LDAP on 389 versus LDAPS on 636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Session 7: the threat landscape, its actors, attack surfaces and malware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7 — The Threat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Threat actors, attack surfaces, malware and the mitigations that reduce risk (Lesson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Threat actors, their attributes and their motivations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The attack surface, and the vectors that reach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Malware, credential attacks and the mitigations that answer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