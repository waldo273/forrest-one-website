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oc.jpg"/>
          <p:cNvPicPr>
            <a:picLocks noChangeAspect="1"/>
          </p:cNvPicPr>
          <p:nvPr/>
        </p:nvPicPr>
        <p:blipFill>
          <a:blip r:embed="rId2"/>
          <a:stretch>
            <a:fillRect/>
          </a:stretch>
        </p:blipFill>
        <p:spPr>
          <a:xfrm>
            <a:off x="0" y="0"/>
            <a:ext cx="3657600" cy="5143500"/>
          </a:xfrm>
          <a:prstGeom prst="rect">
            <a:avLst/>
          </a:prstGeom>
        </p:spPr>
      </p:pic>
      <p:sp>
        <p:nvSpPr>
          <p:cNvPr id="5" name="Rectangle 4"/>
          <p:cNvSpPr/>
          <p:nvPr/>
        </p:nvSpPr>
        <p:spPr>
          <a:xfrm>
            <a:off x="0" y="0"/>
            <a:ext cx="3657600" cy="5143500"/>
          </a:xfrm>
          <a:prstGeom prst="rect">
            <a:avLst/>
          </a:prstGeom>
          <a:solidFill>
            <a:srgbClr val="000000">
              <a:alpha val="7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0" y="0"/>
            <a:ext cx="5486400" cy="5143500"/>
          </a:xfrm>
          <a:prstGeom prst="rect">
            <a:avLst/>
          </a:prstGeom>
          <a:solidFill>
            <a:srgbClr val="141414">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77639" y="502920"/>
            <a:ext cx="4114800" cy="274320"/>
          </a:xfrm>
          <a:prstGeom prst="rect">
            <a:avLst/>
          </a:prstGeom>
          <a:noFill/>
        </p:spPr>
        <p:txBody>
          <a:bodyPr wrap="square" anchor="t" lIns="0" rIns="0" tIns="0" bIns="0">
            <a:spAutoFit/>
          </a:bodyPr>
          <a:lstStyle/>
          <a:p>
            <a:pPr algn="l"/>
            <a:r>
              <a:rPr sz="1150" b="1" spc="300">
                <a:solidFill>
                  <a:srgbClr val="9CA3AF"/>
                </a:solidFill>
                <a:latin typeface="Arial"/>
              </a:rPr>
              <a:t>TRAINING @ FORREST.ONE</a:t>
            </a:r>
          </a:p>
        </p:txBody>
      </p:sp>
      <p:sp>
        <p:nvSpPr>
          <p:cNvPr id="8" name="TextBox 7"/>
          <p:cNvSpPr txBox="1"/>
          <p:nvPr/>
        </p:nvSpPr>
        <p:spPr>
          <a:xfrm>
            <a:off x="3977639" y="1234440"/>
            <a:ext cx="4754880" cy="320040"/>
          </a:xfrm>
          <a:prstGeom prst="rect">
            <a:avLst/>
          </a:prstGeom>
          <a:noFill/>
        </p:spPr>
        <p:txBody>
          <a:bodyPr wrap="square" anchor="t" lIns="0" rIns="0" tIns="0" bIns="0">
            <a:spAutoFit/>
          </a:bodyPr>
          <a:lstStyle/>
          <a:p>
            <a:pPr algn="l"/>
            <a:r>
              <a:rPr sz="1350" b="1" spc="300">
                <a:solidFill>
                  <a:srgbClr val="C22828"/>
                </a:solidFill>
                <a:latin typeface="Arial"/>
              </a:rPr>
              <a:t>SESSION 7 OF 12</a:t>
            </a:r>
          </a:p>
        </p:txBody>
      </p:sp>
      <p:sp>
        <p:nvSpPr>
          <p:cNvPr id="9" name="TextBox 8"/>
          <p:cNvSpPr txBox="1"/>
          <p:nvPr/>
        </p:nvSpPr>
        <p:spPr>
          <a:xfrm>
            <a:off x="3977639" y="1627632"/>
            <a:ext cx="4846320" cy="365760"/>
          </a:xfrm>
          <a:prstGeom prst="rect">
            <a:avLst/>
          </a:prstGeom>
          <a:noFill/>
        </p:spPr>
        <p:txBody>
          <a:bodyPr wrap="square" anchor="t" lIns="0" rIns="0" tIns="0" bIns="0">
            <a:spAutoFit/>
          </a:bodyPr>
          <a:lstStyle/>
          <a:p>
            <a:pPr algn="l"/>
            <a:r>
              <a:rPr sz="1400" b="0">
                <a:solidFill>
                  <a:srgbClr val="9CA3AF"/>
                </a:solidFill>
                <a:latin typeface="Arial"/>
              </a:rPr>
              <a:t>Network Fundamentals + CompTIA Security+ SY0-701</a:t>
            </a:r>
          </a:p>
        </p:txBody>
      </p:sp>
      <p:sp>
        <p:nvSpPr>
          <p:cNvPr id="10" name="TextBox 9"/>
          <p:cNvSpPr txBox="1"/>
          <p:nvPr/>
        </p:nvSpPr>
        <p:spPr>
          <a:xfrm>
            <a:off x="3977639" y="2057400"/>
            <a:ext cx="4892040" cy="1463040"/>
          </a:xfrm>
          <a:prstGeom prst="rect">
            <a:avLst/>
          </a:prstGeom>
          <a:noFill/>
        </p:spPr>
        <p:txBody>
          <a:bodyPr wrap="square" anchor="t" lIns="0" rIns="0" tIns="0" bIns="0">
            <a:spAutoFit/>
          </a:bodyPr>
          <a:lstStyle/>
          <a:p>
            <a:pPr algn="l">
              <a:lnSpc>
                <a:spcPct val="104000"/>
              </a:lnSpc>
            </a:pPr>
            <a:r>
              <a:rPr sz="3300" b="1">
                <a:solidFill>
                  <a:srgbClr val="FFFFFF"/>
                </a:solidFill>
                <a:latin typeface="Arial"/>
              </a:rPr>
              <a:t>Security Architecture &amp; Data Protection</a:t>
            </a:r>
          </a:p>
        </p:txBody>
      </p:sp>
      <p:sp>
        <p:nvSpPr>
          <p:cNvPr id="11" name="TextBox 10"/>
          <p:cNvSpPr txBox="1"/>
          <p:nvPr/>
        </p:nvSpPr>
        <p:spPr>
          <a:xfrm>
            <a:off x="3977639" y="3611880"/>
            <a:ext cx="4846320" cy="502920"/>
          </a:xfrm>
          <a:prstGeom prst="rect">
            <a:avLst/>
          </a:prstGeom>
          <a:noFill/>
        </p:spPr>
        <p:txBody>
          <a:bodyPr wrap="square" anchor="t" lIns="0" rIns="0" tIns="0" bIns="0">
            <a:spAutoFit/>
          </a:bodyPr>
          <a:lstStyle/>
          <a:p>
            <a:pPr algn="l">
              <a:lnSpc>
                <a:spcPct val="110000"/>
              </a:lnSpc>
            </a:pPr>
            <a:r>
              <a:rPr sz="1350" b="0">
                <a:solidFill>
                  <a:srgbClr val="D1D5DB"/>
                </a:solidFill>
                <a:latin typeface="Arial"/>
              </a:rPr>
              <a:t>Where systems run, how they are designed, and how their data is protected in every state it occupies.</a:t>
            </a:r>
          </a:p>
        </p:txBody>
      </p:sp>
      <p:sp>
        <p:nvSpPr>
          <p:cNvPr id="12" name="Rounded Rectangle 11"/>
          <p:cNvSpPr/>
          <p:nvPr/>
        </p:nvSpPr>
        <p:spPr>
          <a:xfrm>
            <a:off x="3977639" y="4224528"/>
            <a:ext cx="1009497" cy="310896"/>
          </a:xfrm>
          <a:prstGeom prst="roundRect">
            <a:avLst>
              <a:gd name="adj" fmla="val 50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LESSON 4</a:t>
            </a:r>
          </a:p>
        </p:txBody>
      </p:sp>
      <p:sp>
        <p:nvSpPr>
          <p:cNvPr id="13" name="Rounded Rectangle 12"/>
          <p:cNvSpPr/>
          <p:nvPr/>
        </p:nvSpPr>
        <p:spPr>
          <a:xfrm>
            <a:off x="5133441" y="4224528"/>
            <a:ext cx="1367942" cy="310896"/>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ARCHITECTURE</a:t>
            </a:r>
          </a:p>
        </p:txBody>
      </p:sp>
      <p:sp>
        <p:nvSpPr>
          <p:cNvPr id="14" name="Rounded Rectangle 13"/>
          <p:cNvSpPr/>
          <p:nvPr/>
        </p:nvSpPr>
        <p:spPr>
          <a:xfrm>
            <a:off x="6647688" y="4224528"/>
            <a:ext cx="651052" cy="310896"/>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DATA</a:t>
            </a:r>
          </a:p>
        </p:txBody>
      </p:sp>
      <p:sp>
        <p:nvSpPr>
          <p:cNvPr id="15" name="Rounded Rectangle 14"/>
          <p:cNvSpPr/>
          <p:nvPr/>
        </p:nvSpPr>
        <p:spPr>
          <a:xfrm>
            <a:off x="7445044" y="4224528"/>
            <a:ext cx="1188720" cy="310896"/>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spc="100">
                <a:solidFill>
                  <a:srgbClr val="FFFFFF"/>
                </a:solidFill>
                <a:latin typeface="Arial"/>
              </a:rPr>
              <a:t>RESILIENCE</a:t>
            </a:r>
          </a:p>
        </p:txBody>
      </p:sp>
      <p:sp>
        <p:nvSpPr>
          <p:cNvPr id="16" name="TextBox 15"/>
          <p:cNvSpPr txBox="1"/>
          <p:nvPr/>
        </p:nvSpPr>
        <p:spPr>
          <a:xfrm>
            <a:off x="3977639" y="4846320"/>
            <a:ext cx="3657600" cy="201168"/>
          </a:xfrm>
          <a:prstGeom prst="rect">
            <a:avLst/>
          </a:prstGeom>
          <a:noFill/>
        </p:spPr>
        <p:txBody>
          <a:bodyPr wrap="square" anchor="t" lIns="0" rIns="0" tIns="0" bIns="0">
            <a:spAutoFit/>
          </a:bodyPr>
          <a:lstStyle/>
          <a:p>
            <a:pPr algn="l"/>
            <a:r>
              <a:rPr sz="850" b="0">
                <a:solidFill>
                  <a:srgbClr val="6B7280"/>
                </a:solidFill>
                <a:latin typeface="Arial"/>
              </a:rPr>
              <a:t>© Billy Forrest</a:t>
            </a:r>
          </a:p>
        </p:txBody>
      </p:sp>
      <p:pic>
        <p:nvPicPr>
          <p:cNvPr id="17" name="Picture 16" descr="fozzie_fto_logo.png"/>
          <p:cNvPicPr>
            <a:picLocks noChangeAspect="1"/>
          </p:cNvPicPr>
          <p:nvPr/>
        </p:nvPicPr>
        <p:blipFill>
          <a:blip r:embed="rId3"/>
          <a:stretch>
            <a:fillRect/>
          </a:stretch>
        </p:blipFill>
        <p:spPr>
          <a:xfrm>
            <a:off x="8732520" y="4718304"/>
            <a:ext cx="301752" cy="45513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WELCOME · WHERE WE ARE</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The shape of the session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Session 6  </a:t>
            </a:r>
            <a:r>
              <a:rPr sz="1450">
                <a:solidFill>
                  <a:srgbClr val="D1D5DB"/>
                </a:solidFill>
                <a:latin typeface="Arial"/>
              </a:rPr>
              <a:t>gave us cryptography, the mechanisms of protection</a:t>
            </a:r>
          </a:p>
          <a:p>
            <a:pPr marL="182880" indent="137160">
              <a:lnSpc>
                <a:spcPct val="108000"/>
              </a:lnSpc>
              <a:spcAft>
                <a:spcPts val="1152"/>
              </a:spcAft>
              <a:buFont typeface="Arial"/>
              <a:buChar char="•"/>
            </a:pPr>
            <a:r>
              <a:rPr sz="1450" b="1">
                <a:solidFill>
                  <a:srgbClr val="FFFFFF"/>
                </a:solidFill>
                <a:latin typeface="Arial"/>
              </a:rPr>
              <a:t>Today  </a:t>
            </a:r>
            <a:r>
              <a:rPr sz="1450">
                <a:solidFill>
                  <a:srgbClr val="D1D5DB"/>
                </a:solidFill>
                <a:latin typeface="Arial"/>
              </a:rPr>
              <a:t>architecture: where systems run and who carries the risk</a:t>
            </a:r>
          </a:p>
          <a:p>
            <a:pPr marL="182880" indent="137160">
              <a:lnSpc>
                <a:spcPct val="108000"/>
              </a:lnSpc>
              <a:spcAft>
                <a:spcPts val="1152"/>
              </a:spcAft>
              <a:buFont typeface="Arial"/>
              <a:buChar char="•"/>
            </a:pPr>
            <a:r>
              <a:rPr sz="1450" b="1">
                <a:solidFill>
                  <a:srgbClr val="FFFFFF"/>
                </a:solidFill>
                <a:latin typeface="Arial"/>
              </a:rPr>
              <a:t>Chapters 1 to 2  </a:t>
            </a:r>
            <a:r>
              <a:rPr sz="1450">
                <a:solidFill>
                  <a:srgbClr val="D1D5DB"/>
                </a:solidFill>
                <a:latin typeface="Arial"/>
              </a:rPr>
              <a:t>architecture models, then compute and edge platforms</a:t>
            </a:r>
          </a:p>
          <a:p>
            <a:pPr marL="182880" indent="137160">
              <a:lnSpc>
                <a:spcPct val="108000"/>
              </a:lnSpc>
              <a:spcAft>
                <a:spcPts val="1152"/>
              </a:spcAft>
              <a:buFont typeface="Arial"/>
              <a:buChar char="•"/>
            </a:pPr>
            <a:r>
              <a:rPr sz="1450" b="1">
                <a:solidFill>
                  <a:srgbClr val="FFFFFF"/>
                </a:solidFill>
                <a:latin typeface="Arial"/>
              </a:rPr>
              <a:t>Chapter 3  </a:t>
            </a:r>
            <a:r>
              <a:rPr sz="1450">
                <a:solidFill>
                  <a:srgbClr val="D1D5DB"/>
                </a:solidFill>
                <a:latin typeface="Arial"/>
              </a:rPr>
              <a:t>secure design: code, network patterns and control selection</a:t>
            </a:r>
          </a:p>
          <a:p>
            <a:pPr marL="182880" indent="137160">
              <a:lnSpc>
                <a:spcPct val="108000"/>
              </a:lnSpc>
              <a:spcAft>
                <a:spcPts val="1152"/>
              </a:spcAft>
              <a:buFont typeface="Arial"/>
              <a:buChar char="•"/>
            </a:pPr>
            <a:r>
              <a:rPr sz="1450" b="1">
                <a:solidFill>
                  <a:srgbClr val="FFFFFF"/>
                </a:solidFill>
                <a:latin typeface="Arial"/>
              </a:rPr>
              <a:t>Chapter 4  </a:t>
            </a:r>
            <a:r>
              <a:rPr sz="1450">
                <a:solidFill>
                  <a:srgbClr val="D1D5DB"/>
                </a:solidFill>
                <a:latin typeface="Arial"/>
              </a:rPr>
              <a:t>the data itself: types, states, classification and encryption</a:t>
            </a:r>
          </a:p>
          <a:p>
            <a:pPr marL="182880" indent="137160">
              <a:lnSpc>
                <a:spcPct val="108000"/>
              </a:lnSpc>
              <a:spcAft>
                <a:spcPts val="1152"/>
              </a:spcAft>
              <a:buFont typeface="Arial"/>
              <a:buChar char="•"/>
            </a:pPr>
            <a:r>
              <a:rPr sz="1450" b="1">
                <a:solidFill>
                  <a:srgbClr val="FFFFFF"/>
                </a:solidFill>
                <a:latin typeface="Arial"/>
              </a:rPr>
              <a:t>Chapters 5 to 6  </a:t>
            </a:r>
            <a:r>
              <a:rPr sz="1450">
                <a:solidFill>
                  <a:srgbClr val="D1D5DB"/>
                </a:solidFill>
                <a:latin typeface="Arial"/>
              </a:rPr>
              <a:t>resilience, recovery objectives and business continuity</a:t>
            </a:r>
          </a:p>
          <a:p>
            <a:pPr marL="182880" indent="137160">
              <a:lnSpc>
                <a:spcPct val="108000"/>
              </a:lnSpc>
              <a:spcAft>
                <a:spcPts val="1152"/>
              </a:spcAft>
              <a:buFont typeface="Arial"/>
              <a:buChar char="•"/>
            </a:pPr>
            <a:r>
              <a:rPr sz="1450" b="1">
                <a:solidFill>
                  <a:srgbClr val="FFFFFF"/>
                </a:solidFill>
                <a:latin typeface="Arial"/>
              </a:rPr>
              <a:t>The thread  </a:t>
            </a:r>
            <a:r>
              <a:rPr sz="1450">
                <a:solidFill>
                  <a:srgbClr val="D1D5DB"/>
                </a:solidFill>
                <a:latin typeface="Arial"/>
              </a:rPr>
              <a:t>every control protects data or the systems that hold it</a:t>
            </a:r>
          </a:p>
        </p:txBody>
      </p:sp>
      <p:sp>
        <p:nvSpPr>
          <p:cNvPr id="7" name="Rounded Rectangle 6"/>
          <p:cNvSpPr/>
          <p:nvPr/>
        </p:nvSpPr>
        <p:spPr>
          <a:xfrm>
            <a:off x="502920" y="402336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3308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Architecture decisions are long lived. A mistake here can persist for years, and no amount of patching afterwards will fully undo it.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SESSION OBJECTIVES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By the end of this session you will be able to</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Compare architecture models  </a:t>
            </a:r>
            <a:r>
              <a:rPr sz="1450">
                <a:solidFill>
                  <a:srgbClr val="D1D5DB"/>
                </a:solidFill>
                <a:latin typeface="Arial"/>
              </a:rPr>
              <a:t>on premises, public, private, hybrid and community cloud</a:t>
            </a:r>
          </a:p>
          <a:p>
            <a:pPr marL="182880" indent="137160">
              <a:lnSpc>
                <a:spcPct val="108000"/>
              </a:lnSpc>
              <a:spcAft>
                <a:spcPts val="1152"/>
              </a:spcAft>
              <a:buFont typeface="Arial"/>
              <a:buChar char="•"/>
            </a:pPr>
            <a:r>
              <a:rPr sz="1450" b="1">
                <a:solidFill>
                  <a:srgbClr val="FFFFFF"/>
                </a:solidFill>
                <a:latin typeface="Arial"/>
              </a:rPr>
              <a:t>Place the responsibility line  </a:t>
            </a:r>
            <a:r>
              <a:rPr sz="1450">
                <a:solidFill>
                  <a:srgbClr val="D1D5DB"/>
                </a:solidFill>
                <a:latin typeface="Arial"/>
              </a:rPr>
              <a:t>IaaS, PaaS and SaaS, and what you still own at each</a:t>
            </a:r>
          </a:p>
          <a:p>
            <a:pPr marL="182880" indent="137160">
              <a:lnSpc>
                <a:spcPct val="108000"/>
              </a:lnSpc>
              <a:spcAft>
                <a:spcPts val="1152"/>
              </a:spcAft>
              <a:buFont typeface="Arial"/>
              <a:buChar char="•"/>
            </a:pPr>
            <a:r>
              <a:rPr sz="1450" b="1">
                <a:solidFill>
                  <a:srgbClr val="FFFFFF"/>
                </a:solidFill>
                <a:latin typeface="Arial"/>
              </a:rPr>
              <a:t>Secure compute platforms  </a:t>
            </a:r>
            <a:r>
              <a:rPr sz="1450">
                <a:solidFill>
                  <a:srgbClr val="D1D5DB"/>
                </a:solidFill>
                <a:latin typeface="Arial"/>
              </a:rPr>
              <a:t>the hypervisor, container images, serverless triggers</a:t>
            </a:r>
          </a:p>
          <a:p>
            <a:pPr marL="182880" indent="137160">
              <a:lnSpc>
                <a:spcPct val="108000"/>
              </a:lnSpc>
              <a:spcAft>
                <a:spcPts val="1152"/>
              </a:spcAft>
              <a:buFont typeface="Arial"/>
              <a:buChar char="•"/>
            </a:pPr>
            <a:r>
              <a:rPr sz="1450" b="1">
                <a:solidFill>
                  <a:srgbClr val="FFFFFF"/>
                </a:solidFill>
                <a:latin typeface="Arial"/>
              </a:rPr>
              <a:t>Reason about edge and industrial systems  </a:t>
            </a:r>
            <a:r>
              <a:rPr sz="1450">
                <a:solidFill>
                  <a:srgbClr val="D1D5DB"/>
                </a:solidFill>
                <a:latin typeface="Arial"/>
              </a:rPr>
              <a:t>IoT risk, SCADA, and IT and OT convergence</a:t>
            </a:r>
          </a:p>
          <a:p>
            <a:pPr marL="182880" indent="137160">
              <a:lnSpc>
                <a:spcPct val="108000"/>
              </a:lnSpc>
              <a:spcAft>
                <a:spcPts val="1152"/>
              </a:spcAft>
              <a:buFont typeface="Arial"/>
              <a:buChar char="•"/>
            </a:pPr>
            <a:r>
              <a:rPr sz="1450" b="1">
                <a:solidFill>
                  <a:srgbClr val="FFFFFF"/>
                </a:solidFill>
                <a:latin typeface="Arial"/>
              </a:rPr>
              <a:t>Design for containment  </a:t>
            </a:r>
            <a:r>
              <a:rPr sz="1450">
                <a:solidFill>
                  <a:srgbClr val="D1D5DB"/>
                </a:solidFill>
                <a:latin typeface="Arial"/>
              </a:rPr>
              <a:t>infrastructure as code, defence in depth, segmentation</a:t>
            </a:r>
          </a:p>
          <a:p>
            <a:pPr marL="182880" indent="137160">
              <a:lnSpc>
                <a:spcPct val="108000"/>
              </a:lnSpc>
              <a:spcAft>
                <a:spcPts val="1152"/>
              </a:spcAft>
              <a:buFont typeface="Arial"/>
              <a:buChar char="•"/>
            </a:pPr>
            <a:r>
              <a:rPr sz="1450" b="1">
                <a:solidFill>
                  <a:srgbClr val="FFFFFF"/>
                </a:solidFill>
                <a:latin typeface="Arial"/>
              </a:rPr>
              <a:t>Protect data by type and state  </a:t>
            </a:r>
            <a:r>
              <a:rPr sz="1450">
                <a:solidFill>
                  <a:srgbClr val="D1D5DB"/>
                </a:solidFill>
                <a:latin typeface="Arial"/>
              </a:rPr>
              <a:t>classification, at rest, in transit, and disposal</a:t>
            </a:r>
          </a:p>
          <a:p>
            <a:pPr marL="182880" indent="137160">
              <a:lnSpc>
                <a:spcPct val="108000"/>
              </a:lnSpc>
              <a:spcAft>
                <a:spcPts val="1152"/>
              </a:spcAft>
              <a:buFont typeface="Arial"/>
              <a:buChar char="•"/>
            </a:pPr>
            <a:r>
              <a:rPr sz="1450" b="1">
                <a:solidFill>
                  <a:srgbClr val="FFFFFF"/>
                </a:solidFill>
                <a:latin typeface="Arial"/>
              </a:rPr>
              <a:t>Build in resilience  </a:t>
            </a:r>
            <a:r>
              <a:rPr sz="1450">
                <a:solidFill>
                  <a:srgbClr val="D1D5DB"/>
                </a:solidFill>
                <a:latin typeface="Arial"/>
              </a:rPr>
              <a:t>redundancy, alternate sites, backups, recovery objectives</a:t>
            </a:r>
          </a:p>
          <a:p>
            <a:pPr marL="182880" indent="137160">
              <a:lnSpc>
                <a:spcPct val="108000"/>
              </a:lnSpc>
              <a:spcAft>
                <a:spcPts val="1152"/>
              </a:spcAft>
              <a:buFont typeface="Arial"/>
              <a:buChar char="•"/>
            </a:pPr>
            <a:r>
              <a:rPr sz="1450" b="1">
                <a:solidFill>
                  <a:srgbClr val="FFFFFF"/>
                </a:solidFill>
                <a:latin typeface="Arial"/>
              </a:rPr>
              <a:t>Plan for continuity  </a:t>
            </a:r>
            <a:r>
              <a:rPr sz="1450">
                <a:solidFill>
                  <a:srgbClr val="D1D5DB"/>
                </a:solidFill>
                <a:latin typeface="Arial"/>
              </a:rPr>
              <a:t>business impact analysis and rehearsed recovery</a:t>
            </a:r>
          </a:p>
        </p:txBody>
      </p:sp>
      <p:sp>
        <p:nvSpPr>
          <p:cNvPr id="7" name="TextBox 6"/>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8" name="TextBox 7"/>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9" name="Picture 8"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0" name="TextBox 9"/>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ARCHITECTURE MODELS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On-Premises Architecture</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What it is  </a:t>
            </a:r>
            <a:r>
              <a:rPr sz="1450">
                <a:solidFill>
                  <a:srgbClr val="D1D5DB"/>
                </a:solidFill>
                <a:latin typeface="Arial"/>
              </a:rPr>
              <a:t>the organisation owns the hardware and can physically touch it</a:t>
            </a:r>
          </a:p>
          <a:p>
            <a:pPr marL="182880" indent="137160">
              <a:lnSpc>
                <a:spcPct val="108000"/>
              </a:lnSpc>
              <a:spcAft>
                <a:spcPts val="1152"/>
              </a:spcAft>
              <a:buFont typeface="Arial"/>
              <a:buChar char="•"/>
            </a:pPr>
            <a:r>
              <a:rPr sz="1450" b="1">
                <a:solidFill>
                  <a:srgbClr val="FFFFFF"/>
                </a:solidFill>
                <a:latin typeface="Arial"/>
              </a:rPr>
              <a:t>The advantage  </a:t>
            </a:r>
            <a:r>
              <a:rPr sz="1450">
                <a:solidFill>
                  <a:srgbClr val="D1D5DB"/>
                </a:solidFill>
                <a:latin typeface="Arial"/>
              </a:rPr>
              <a:t>direct physical control: server room access regulated and recorded, possibly biometric</a:t>
            </a:r>
          </a:p>
          <a:p>
            <a:pPr marL="182880" indent="137160">
              <a:lnSpc>
                <a:spcPct val="108000"/>
              </a:lnSpc>
              <a:spcAft>
                <a:spcPts val="1152"/>
              </a:spcAft>
              <a:buFont typeface="Arial"/>
              <a:buChar char="•"/>
            </a:pPr>
            <a:r>
              <a:rPr sz="1450" b="1">
                <a:solidFill>
                  <a:srgbClr val="FFFFFF"/>
                </a:solidFill>
                <a:latin typeface="Arial"/>
              </a:rPr>
              <a:t>The price  </a:t>
            </a:r>
            <a:r>
              <a:rPr sz="1450">
                <a:solidFill>
                  <a:srgbClr val="D1D5DB"/>
                </a:solidFill>
                <a:latin typeface="Arial"/>
              </a:rPr>
              <a:t>patching, maintenance, disaster recovery planning and skilled staff all sit with you</a:t>
            </a:r>
          </a:p>
          <a:p>
            <a:pPr marL="182880" indent="137160">
              <a:lnSpc>
                <a:spcPct val="108000"/>
              </a:lnSpc>
              <a:spcAft>
                <a:spcPts val="1152"/>
              </a:spcAft>
              <a:buFont typeface="Arial"/>
              <a:buChar char="•"/>
            </a:pPr>
            <a:r>
              <a:rPr sz="1450" b="1">
                <a:solidFill>
                  <a:srgbClr val="FFFFFF"/>
                </a:solidFill>
                <a:latin typeface="Arial"/>
              </a:rPr>
              <a:t>Total cost of ownership  </a:t>
            </a:r>
            <a:r>
              <a:rPr sz="1450">
                <a:solidFill>
                  <a:srgbClr val="D1D5DB"/>
                </a:solidFill>
                <a:latin typeface="Arial"/>
              </a:rPr>
              <a:t>capital purchase, plus power, cooling, upgrades and replacement</a:t>
            </a:r>
          </a:p>
          <a:p>
            <a:pPr marL="182880" indent="137160">
              <a:lnSpc>
                <a:spcPct val="108000"/>
              </a:lnSpc>
              <a:spcAft>
                <a:spcPts val="1152"/>
              </a:spcAft>
              <a:buFont typeface="Arial"/>
              <a:buChar char="•"/>
            </a:pPr>
            <a:r>
              <a:rPr sz="1450" b="1">
                <a:solidFill>
                  <a:srgbClr val="FFFFFF"/>
                </a:solidFill>
                <a:latin typeface="Arial"/>
              </a:rPr>
              <a:t>Still appropriate for  </a:t>
            </a:r>
            <a:r>
              <a:rPr sz="1450">
                <a:solidFill>
                  <a:srgbClr val="D1D5DB"/>
                </a:solidFill>
                <a:latin typeface="Arial"/>
              </a:rPr>
              <a:t>regulated industries, classified data and very low latency workloads</a:t>
            </a:r>
          </a:p>
          <a:p>
            <a:pPr marL="182880" indent="137160">
              <a:lnSpc>
                <a:spcPct val="108000"/>
              </a:lnSpc>
              <a:spcAft>
                <a:spcPts val="1152"/>
              </a:spcAft>
              <a:buFont typeface="Arial"/>
              <a:buChar char="•"/>
            </a:pPr>
            <a:r>
              <a:rPr sz="1450" b="1">
                <a:solidFill>
                  <a:srgbClr val="FFFFFF"/>
                </a:solidFill>
                <a:latin typeface="Arial"/>
              </a:rPr>
              <a:t>The trade  </a:t>
            </a:r>
            <a:r>
              <a:rPr sz="1450">
                <a:solidFill>
                  <a:srgbClr val="D1D5DB"/>
                </a:solidFill>
                <a:latin typeface="Arial"/>
              </a:rPr>
              <a:t>control and responsibility are the same coin</a:t>
            </a:r>
          </a:p>
        </p:txBody>
      </p:sp>
      <p:sp>
        <p:nvSpPr>
          <p:cNvPr id="7" name="Rounded Rectangle 6"/>
          <p:cNvSpPr/>
          <p:nvPr/>
        </p:nvSpPr>
        <p:spPr>
          <a:xfrm>
            <a:off x="502920" y="384048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95020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On premises buys you control and charges you for it. Every capability you keep in house is a capability you must staff and maintain.</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ARCHITECTURE MODELS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Cloud Deployment Models</a:t>
            </a:r>
          </a:p>
        </p:txBody>
      </p:sp>
      <p:graphicFrame>
        <p:nvGraphicFramePr>
          <p:cNvPr id="6" name="Table 5"/>
          <p:cNvGraphicFramePr>
            <a:graphicFrameLocks noGrp="1"/>
          </p:cNvGraphicFramePr>
          <p:nvPr/>
        </p:nvGraphicFramePr>
        <p:xfrm>
          <a:off x="502920" y="1691640"/>
          <a:ext cx="8138160" cy="1645919"/>
        </p:xfrm>
        <a:graphic>
          <a:graphicData uri="http://schemas.openxmlformats.org/drawingml/2006/table">
            <a:tbl>
              <a:tblPr firstRow="1" bandRow="1">
                <a:tableStyleId>{5C22544A-7EE6-4342-B048-85BDC9FD1C3A}</a:tableStyleId>
              </a:tblPr>
              <a:tblGrid>
                <a:gridCol w="1371600"/>
                <a:gridCol w="3200400"/>
                <a:gridCol w="3566160"/>
              </a:tblGrid>
              <a:tr h="329183">
                <a:tc>
                  <a:txBody>
                    <a:bodyPr/>
                    <a:lstStyle/>
                    <a:p>
                      <a:pPr algn="l"/>
                      <a:r>
                        <a:rPr sz="1100" b="1">
                          <a:solidFill>
                            <a:srgbClr val="FFFFFF"/>
                          </a:solidFill>
                          <a:latin typeface="Arial"/>
                        </a:rPr>
                        <a:t>Model</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Who shares it</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Security responsibility</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3">
                <a:tc>
                  <a:txBody>
                    <a:bodyPr/>
                    <a:lstStyle/>
                    <a:p>
                      <a:pPr algn="l"/>
                      <a:r>
                        <a:rPr sz="1100" b="0">
                          <a:solidFill>
                            <a:srgbClr val="D1D5DB"/>
                          </a:solidFill>
                          <a:latin typeface="Arial"/>
                        </a:rPr>
                        <a:t>Public</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Shared among tenants, sold by providers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Provider secures the infrastructure, customer secures the data</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3">
                <a:tc>
                  <a:txBody>
                    <a:bodyPr/>
                    <a:lstStyle/>
                    <a:p>
                      <a:pPr algn="l"/>
                      <a:r>
                        <a:rPr sz="1100" b="0">
                          <a:solidFill>
                            <a:srgbClr val="D1D5DB"/>
                          </a:solidFill>
                          <a:latin typeface="Arial"/>
                        </a:rPr>
                        <a:t>Private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Dedicated to one organisation, on premises or hosted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Customer takes most of the responsibility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3">
                <a:tc>
                  <a:txBody>
                    <a:bodyPr/>
                    <a:lstStyle/>
                    <a:p>
                      <a:pPr algn="l"/>
                      <a:r>
                        <a:rPr sz="1100" b="0">
                          <a:solidFill>
                            <a:srgbClr val="D1D5DB"/>
                          </a:solidFill>
                          <a:latin typeface="Arial"/>
                        </a:rPr>
                        <a:t>Hybrid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A mix of public and private, joined together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Shared, and the customer secures the transfer between them</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7">
                <a:tc>
                  <a:txBody>
                    <a:bodyPr/>
                    <a:lstStyle/>
                    <a:p>
                      <a:pPr algn="l"/>
                      <a:r>
                        <a:rPr sz="1100" b="0">
                          <a:solidFill>
                            <a:srgbClr val="D1D5DB"/>
                          </a:solidFill>
                          <a:latin typeface="Arial"/>
                        </a:rPr>
                        <a:t>Community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Several organisations with common needs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Shared policies agreed between the members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bl>
          </a:graphicData>
        </a:graphic>
      </p:graphicFrame>
      <p:sp>
        <p:nvSpPr>
          <p:cNvPr id="7" name="Rounded Rectangle 6"/>
          <p:cNvSpPr/>
          <p:nvPr/>
        </p:nvSpPr>
        <p:spPr>
          <a:xfrm>
            <a:off x="502920" y="3703320"/>
            <a:ext cx="8138160" cy="7132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813048"/>
            <a:ext cx="7680960" cy="548640"/>
          </a:xfrm>
          <a:prstGeom prst="rect">
            <a:avLst/>
          </a:prstGeom>
          <a:noFill/>
        </p:spPr>
        <p:txBody>
          <a:bodyPr wrap="square" lIns="0" rIns="0" tIns="0" bIns="0">
            <a:spAutoFit/>
          </a:bodyPr>
          <a:lstStyle/>
          <a:p>
            <a:pPr>
              <a:lnSpc>
                <a:spcPct val="108000"/>
              </a:lnSpc>
            </a:pPr>
            <a:r>
              <a:rPr sz="1250">
                <a:solidFill>
                  <a:srgbClr val="F3D9D9"/>
                </a:solidFill>
                <a:latin typeface="Arial"/>
              </a:rPr>
              <a:t>Cloud changes the question to who shares the platform. Each model shifts the security duties between the provider and the customer, so the first job is to find where that line falls.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1 · ARCHITECTURE MODELS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Cloud Service Models</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Infrastructure as a Service  </a:t>
            </a:r>
            <a:r>
              <a:rPr sz="1450">
                <a:solidFill>
                  <a:srgbClr val="D1D5DB"/>
                </a:solidFill>
                <a:latin typeface="Arial"/>
              </a:rPr>
              <a:t>virtual machines, storage and networks; you secure everything above the hypervisor</a:t>
            </a:r>
          </a:p>
          <a:p>
            <a:pPr marL="182880" indent="137160">
              <a:lnSpc>
                <a:spcPct val="108000"/>
              </a:lnSpc>
              <a:spcAft>
                <a:spcPts val="1152"/>
              </a:spcAft>
              <a:buFont typeface="Arial"/>
              <a:buChar char="•"/>
            </a:pPr>
            <a:r>
              <a:rPr sz="1450" b="1">
                <a:solidFill>
                  <a:srgbClr val="FFFFFF"/>
                </a:solidFill>
                <a:latin typeface="Arial"/>
              </a:rPr>
              <a:t>Platform as a Service  </a:t>
            </a:r>
            <a:r>
              <a:rPr sz="1450">
                <a:solidFill>
                  <a:srgbClr val="D1D5DB"/>
                </a:solidFill>
                <a:latin typeface="Arial"/>
              </a:rPr>
              <a:t>a managed runtime; your work is application security and data protection</a:t>
            </a:r>
          </a:p>
          <a:p>
            <a:pPr marL="182880" indent="137160">
              <a:lnSpc>
                <a:spcPct val="108000"/>
              </a:lnSpc>
              <a:spcAft>
                <a:spcPts val="1152"/>
              </a:spcAft>
              <a:buFont typeface="Arial"/>
              <a:buChar char="•"/>
            </a:pPr>
            <a:r>
              <a:rPr sz="1450" b="1">
                <a:solidFill>
                  <a:srgbClr val="FFFFFF"/>
                </a:solidFill>
                <a:latin typeface="Arial"/>
              </a:rPr>
              <a:t>Software as a Service  </a:t>
            </a:r>
            <a:r>
              <a:rPr sz="1450">
                <a:solidFill>
                  <a:srgbClr val="D1D5DB"/>
                </a:solidFill>
                <a:latin typeface="Arial"/>
              </a:rPr>
              <a:t>the whole stack is managed; you manage access and protect the data inside</a:t>
            </a:r>
          </a:p>
          <a:p>
            <a:pPr marL="182880" indent="137160">
              <a:lnSpc>
                <a:spcPct val="108000"/>
              </a:lnSpc>
              <a:spcAft>
                <a:spcPts val="1152"/>
              </a:spcAft>
              <a:buFont typeface="Arial"/>
              <a:buChar char="•"/>
            </a:pPr>
            <a:r>
              <a:rPr sz="1450" b="1">
                <a:solidFill>
                  <a:srgbClr val="FFFFFF"/>
                </a:solidFill>
                <a:latin typeface="Arial"/>
              </a:rPr>
              <a:t>The pattern  </a:t>
            </a:r>
            <a:r>
              <a:rPr sz="1450">
                <a:solidFill>
                  <a:srgbClr val="D1D5DB"/>
                </a:solidFill>
                <a:latin typeface="Arial"/>
              </a:rPr>
              <a:t>the more the provider manages, the less you control and the less you carry</a:t>
            </a:r>
          </a:p>
          <a:p>
            <a:pPr marL="182880" indent="137160">
              <a:lnSpc>
                <a:spcPct val="108000"/>
              </a:lnSpc>
              <a:spcAft>
                <a:spcPts val="1152"/>
              </a:spcAft>
              <a:buFont typeface="Arial"/>
              <a:buChar char="•"/>
            </a:pPr>
            <a:r>
              <a:rPr sz="1450" b="1">
                <a:solidFill>
                  <a:srgbClr val="FFFFFF"/>
                </a:solidFill>
                <a:latin typeface="Arial"/>
              </a:rPr>
              <a:t>Named examples  </a:t>
            </a:r>
            <a:r>
              <a:rPr sz="1450">
                <a:solidFill>
                  <a:srgbClr val="D1D5DB"/>
                </a:solidFill>
                <a:latin typeface="Arial"/>
              </a:rPr>
              <a:t>AWS, Microsoft Azure and Google Cloud Platform for public cloud</a:t>
            </a:r>
          </a:p>
        </p:txBody>
      </p:sp>
      <p:sp>
        <p:nvSpPr>
          <p:cNvPr id="7" name="Rounded Rectangle 6"/>
          <p:cNvSpPr/>
          <p:nvPr/>
        </p:nvSpPr>
        <p:spPr>
          <a:xfrm>
            <a:off x="502920" y="406908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7880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Know where the line falls, and you know what you own.</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QUIZ</a:t>
            </a:r>
          </a:p>
        </p:txBody>
      </p:sp>
      <p:sp>
        <p:nvSpPr>
          <p:cNvPr id="5" name="TextBox 4"/>
          <p:cNvSpPr txBox="1"/>
          <p:nvPr/>
        </p:nvSpPr>
        <p:spPr>
          <a:xfrm>
            <a:off x="502920" y="914400"/>
            <a:ext cx="8138160" cy="640080"/>
          </a:xfrm>
          <a:prstGeom prst="rect">
            <a:avLst/>
          </a:prstGeom>
          <a:noFill/>
        </p:spPr>
        <p:txBody>
          <a:bodyPr wrap="square" anchor="t" lIns="0" rIns="0" tIns="0" bIns="0">
            <a:spAutoFit/>
          </a:bodyPr>
          <a:lstStyle/>
          <a:p>
            <a:pPr algn="l"/>
            <a:r>
              <a:rPr sz="2400" b="1">
                <a:solidFill>
                  <a:srgbClr val="FFFFFF"/>
                </a:solidFill>
                <a:latin typeface="Arial"/>
              </a:rPr>
              <a:t>Activity: read the responsibility line</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00">
                <a:solidFill>
                  <a:srgbClr val="D1D5DB"/>
                </a:solidFill>
                <a:latin typeface="Arial"/>
              </a:rPr>
              <a:t>You rent a virtual machine and patch its operating system yourself. Which model?</a:t>
            </a:r>
          </a:p>
          <a:p>
            <a:pPr marL="182880" indent="137160">
              <a:lnSpc>
                <a:spcPct val="108000"/>
              </a:lnSpc>
              <a:spcAft>
                <a:spcPts val="1152"/>
              </a:spcAft>
              <a:buFont typeface="Arial"/>
              <a:buChar char="•"/>
            </a:pPr>
            <a:r>
              <a:rPr sz="1400">
                <a:solidFill>
                  <a:srgbClr val="D1D5DB"/>
                </a:solidFill>
                <a:latin typeface="Arial"/>
              </a:rPr>
              <a:t>You deploy application code onto a managed runtime and never touch an operating system. Which model?</a:t>
            </a:r>
          </a:p>
          <a:p>
            <a:pPr marL="182880" indent="137160">
              <a:lnSpc>
                <a:spcPct val="108000"/>
              </a:lnSpc>
              <a:spcAft>
                <a:spcPts val="1152"/>
              </a:spcAft>
              <a:buFont typeface="Arial"/>
              <a:buChar char="•"/>
            </a:pPr>
            <a:r>
              <a:rPr sz="1400">
                <a:solidFill>
                  <a:srgbClr val="D1D5DB"/>
                </a:solidFill>
                <a:latin typeface="Arial"/>
              </a:rPr>
              <a:t>You use a hosted mail suite and manage only permissions and data. Which model?</a:t>
            </a:r>
          </a:p>
          <a:p>
            <a:pPr marL="182880" indent="137160">
              <a:lnSpc>
                <a:spcPct val="108000"/>
              </a:lnSpc>
              <a:spcAft>
                <a:spcPts val="1152"/>
              </a:spcAft>
              <a:buFont typeface="Arial"/>
              <a:buChar char="•"/>
            </a:pPr>
            <a:r>
              <a:rPr sz="1400">
                <a:solidFill>
                  <a:srgbClr val="D1D5DB"/>
                </a:solidFill>
                <a:latin typeface="Arial"/>
              </a:rPr>
              <a:t>Where does the line sit in each case, and what are you still responsible for?</a:t>
            </a:r>
          </a:p>
        </p:txBody>
      </p:sp>
      <p:sp>
        <p:nvSpPr>
          <p:cNvPr id="7" name="Rounded Rectangle 6"/>
          <p:cNvSpPr/>
          <p:nvPr/>
        </p:nvSpPr>
        <p:spPr>
          <a:xfrm>
            <a:off x="502920" y="3931920"/>
            <a:ext cx="8138160" cy="56692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041648"/>
            <a:ext cx="7680960" cy="402336"/>
          </a:xfrm>
          <a:prstGeom prst="rect">
            <a:avLst/>
          </a:prstGeom>
          <a:noFill/>
        </p:spPr>
        <p:txBody>
          <a:bodyPr wrap="square" lIns="0" rIns="0" tIns="0" bIns="0">
            <a:spAutoFit/>
          </a:bodyPr>
          <a:lstStyle/>
          <a:p>
            <a:pPr>
              <a:lnSpc>
                <a:spcPct val="108000"/>
              </a:lnSpc>
            </a:pPr>
            <a:r>
              <a:rPr sz="1150">
                <a:solidFill>
                  <a:srgbClr val="F3D9D9"/>
                </a:solidFill>
                <a:latin typeface="Arial"/>
              </a:rPr>
              <a:t>Test the model with cases, not definitions: the boundary moves, and your job is to know where it sits.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COMPUTE AND EDGE PLATFORMS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Compute and Edge Platforms</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Virtualisation  </a:t>
            </a:r>
            <a:r>
              <a:rPr sz="1450">
                <a:solidFill>
                  <a:srgbClr val="D1D5DB"/>
                </a:solidFill>
                <a:latin typeface="Arial"/>
              </a:rPr>
              <a:t>many virtual machines on one host, and the hypervisor beneath them</a:t>
            </a:r>
          </a:p>
          <a:p>
            <a:pPr marL="182880" indent="137160">
              <a:lnSpc>
                <a:spcPct val="108000"/>
              </a:lnSpc>
              <a:spcAft>
                <a:spcPts val="1152"/>
              </a:spcAft>
              <a:buFont typeface="Arial"/>
              <a:buChar char="•"/>
            </a:pPr>
            <a:r>
              <a:rPr sz="1450" b="1">
                <a:solidFill>
                  <a:srgbClr val="FFFFFF"/>
                </a:solidFill>
                <a:latin typeface="Arial"/>
              </a:rPr>
              <a:t>Containers  </a:t>
            </a:r>
            <a:r>
              <a:rPr sz="1450">
                <a:solidFill>
                  <a:srgbClr val="D1D5DB"/>
                </a:solidFill>
                <a:latin typeface="Arial"/>
              </a:rPr>
              <a:t>a lighter boundary: a shared kernel and a packaged image</a:t>
            </a:r>
          </a:p>
          <a:p>
            <a:pPr marL="182880" indent="137160">
              <a:lnSpc>
                <a:spcPct val="108000"/>
              </a:lnSpc>
              <a:spcAft>
                <a:spcPts val="1152"/>
              </a:spcAft>
              <a:buFont typeface="Arial"/>
              <a:buChar char="•"/>
            </a:pPr>
            <a:r>
              <a:rPr sz="1450" b="1">
                <a:solidFill>
                  <a:srgbClr val="FFFFFF"/>
                </a:solidFill>
                <a:latin typeface="Arial"/>
              </a:rPr>
              <a:t>Serverless  </a:t>
            </a:r>
            <a:r>
              <a:rPr sz="1450">
                <a:solidFill>
                  <a:srgbClr val="D1D5DB"/>
                </a:solidFill>
                <a:latin typeface="Arial"/>
              </a:rPr>
              <a:t>the provider runs the infrastructure, you write the functions</a:t>
            </a:r>
          </a:p>
          <a:p>
            <a:pPr marL="182880" indent="137160">
              <a:lnSpc>
                <a:spcPct val="108000"/>
              </a:lnSpc>
              <a:spcAft>
                <a:spcPts val="1152"/>
              </a:spcAft>
              <a:buFont typeface="Arial"/>
              <a:buChar char="•"/>
            </a:pPr>
            <a:r>
              <a:rPr sz="1450" b="1">
                <a:solidFill>
                  <a:srgbClr val="FFFFFF"/>
                </a:solidFill>
                <a:latin typeface="Arial"/>
              </a:rPr>
              <a:t>The internet of things  </a:t>
            </a:r>
            <a:r>
              <a:rPr sz="1450">
                <a:solidFill>
                  <a:srgbClr val="D1D5DB"/>
                </a:solidFill>
                <a:latin typeface="Arial"/>
              </a:rPr>
              <a:t>devices that were never designed to be defended</a:t>
            </a:r>
          </a:p>
          <a:p>
            <a:pPr marL="182880" indent="137160">
              <a:lnSpc>
                <a:spcPct val="108000"/>
              </a:lnSpc>
              <a:spcAft>
                <a:spcPts val="1152"/>
              </a:spcAft>
              <a:buFont typeface="Arial"/>
              <a:buChar char="•"/>
            </a:pPr>
            <a:r>
              <a:rPr sz="1450" b="1">
                <a:solidFill>
                  <a:srgbClr val="FFFFFF"/>
                </a:solidFill>
                <a:latin typeface="Arial"/>
              </a:rPr>
              <a:t>Industrial control  </a:t>
            </a:r>
            <a:r>
              <a:rPr sz="1450">
                <a:solidFill>
                  <a:srgbClr val="D1D5DB"/>
                </a:solidFill>
                <a:latin typeface="Arial"/>
              </a:rPr>
              <a:t>the systems that keep power and water flowing</a:t>
            </a:r>
          </a:p>
        </p:txBody>
      </p:sp>
      <p:sp>
        <p:nvSpPr>
          <p:cNvPr id="7" name="Rounded Rectangle 6"/>
          <p:cNvSpPr/>
          <p:nvPr/>
        </p:nvSpPr>
        <p:spPr>
          <a:xfrm>
            <a:off x="502920" y="4069080"/>
            <a:ext cx="8138160" cy="7132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78808"/>
            <a:ext cx="7680960" cy="548640"/>
          </a:xfrm>
          <a:prstGeom prst="rect">
            <a:avLst/>
          </a:prstGeom>
          <a:noFill/>
        </p:spPr>
        <p:txBody>
          <a:bodyPr wrap="square" lIns="0" rIns="0" tIns="0" bIns="0">
            <a:spAutoFit/>
          </a:bodyPr>
          <a:lstStyle/>
          <a:p>
            <a:pPr>
              <a:lnSpc>
                <a:spcPct val="108000"/>
              </a:lnSpc>
            </a:pPr>
            <a:r>
              <a:rPr sz="1250">
                <a:solidFill>
                  <a:srgbClr val="F3D9D9"/>
                </a:solidFill>
                <a:latin typeface="Arial"/>
              </a:rPr>
              <a:t>In every case the patch responsibility moves to somebody else, and that changes the risk as much as the technology does. Ask who applies the patches and the architecture explains itself.</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COMPUTE AND EDGE PLATFORMS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Virtualisation Security</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Type 1 hypervisor  </a:t>
            </a:r>
            <a:r>
              <a:rPr sz="1450">
                <a:solidFill>
                  <a:srgbClr val="D1D5DB"/>
                </a:solidFill>
                <a:latin typeface="Arial"/>
              </a:rPr>
              <a:t>runs directly on the hardware, so a smaller attack surface</a:t>
            </a:r>
          </a:p>
          <a:p>
            <a:pPr marL="182880" indent="137160">
              <a:lnSpc>
                <a:spcPct val="108000"/>
              </a:lnSpc>
              <a:spcAft>
                <a:spcPts val="1152"/>
              </a:spcAft>
              <a:buFont typeface="Arial"/>
              <a:buChar char="•"/>
            </a:pPr>
            <a:r>
              <a:rPr sz="1450" b="1">
                <a:solidFill>
                  <a:srgbClr val="FFFFFF"/>
                </a:solidFill>
                <a:latin typeface="Arial"/>
              </a:rPr>
              <a:t>Type 2 hypervisor  </a:t>
            </a:r>
            <a:r>
              <a:rPr sz="1450">
                <a:solidFill>
                  <a:srgbClr val="D1D5DB"/>
                </a:solidFill>
                <a:latin typeface="Arial"/>
              </a:rPr>
              <a:t>runs on a host operating system, so a flaw there affects every guest</a:t>
            </a:r>
          </a:p>
          <a:p>
            <a:pPr marL="182880" indent="137160">
              <a:lnSpc>
                <a:spcPct val="108000"/>
              </a:lnSpc>
              <a:spcAft>
                <a:spcPts val="1152"/>
              </a:spcAft>
              <a:buFont typeface="Arial"/>
              <a:buChar char="•"/>
            </a:pPr>
            <a:r>
              <a:rPr sz="1450" b="1">
                <a:solidFill>
                  <a:srgbClr val="FFFFFF"/>
                </a:solidFill>
                <a:latin typeface="Arial"/>
              </a:rPr>
              <a:t>Virtual machine escape  </a:t>
            </a:r>
            <a:r>
              <a:rPr sz="1450">
                <a:solidFill>
                  <a:srgbClr val="D1D5DB"/>
                </a:solidFill>
                <a:latin typeface="Arial"/>
              </a:rPr>
              <a:t>breaking out of a guest to reach the hypervisor</a:t>
            </a:r>
          </a:p>
          <a:p>
            <a:pPr marL="182880" indent="137160">
              <a:lnSpc>
                <a:spcPct val="108000"/>
              </a:lnSpc>
              <a:spcAft>
                <a:spcPts val="1152"/>
              </a:spcAft>
              <a:buFont typeface="Arial"/>
              <a:buChar char="•"/>
            </a:pPr>
            <a:r>
              <a:rPr sz="1450" b="1">
                <a:solidFill>
                  <a:srgbClr val="FFFFFF"/>
                </a:solidFill>
                <a:latin typeface="Arial"/>
              </a:rPr>
              <a:t>Sprawl  </a:t>
            </a:r>
            <a:r>
              <a:rPr sz="1450">
                <a:solidFill>
                  <a:srgbClr val="D1D5DB"/>
                </a:solidFill>
                <a:latin typeface="Arial"/>
              </a:rPr>
              <a:t>forgotten virtual machines that are never patched</a:t>
            </a:r>
          </a:p>
          <a:p>
            <a:pPr marL="182880" indent="137160">
              <a:lnSpc>
                <a:spcPct val="108000"/>
              </a:lnSpc>
              <a:spcAft>
                <a:spcPts val="1152"/>
              </a:spcAft>
              <a:buFont typeface="Arial"/>
              <a:buChar char="•"/>
            </a:pPr>
            <a:r>
              <a:rPr sz="1450" b="1">
                <a:solidFill>
                  <a:srgbClr val="FFFFFF"/>
                </a:solidFill>
                <a:latin typeface="Arial"/>
              </a:rPr>
              <a:t>Snapshots  </a:t>
            </a:r>
            <a:r>
              <a:rPr sz="1450">
                <a:solidFill>
                  <a:srgbClr val="D1D5DB"/>
                </a:solidFill>
                <a:latin typeface="Arial"/>
              </a:rPr>
              <a:t>hold sensitive data and consume storage</a:t>
            </a:r>
          </a:p>
          <a:p>
            <a:pPr marL="182880" indent="137160">
              <a:lnSpc>
                <a:spcPct val="108000"/>
              </a:lnSpc>
              <a:spcAft>
                <a:spcPts val="1152"/>
              </a:spcAft>
              <a:buFont typeface="Arial"/>
              <a:buChar char="•"/>
            </a:pPr>
            <a:r>
              <a:rPr sz="1450" b="1">
                <a:solidFill>
                  <a:srgbClr val="FFFFFF"/>
                </a:solidFill>
                <a:latin typeface="Arial"/>
              </a:rPr>
              <a:t>Resource isolation  </a:t>
            </a:r>
            <a:r>
              <a:rPr sz="1450">
                <a:solidFill>
                  <a:srgbClr val="D1D5DB"/>
                </a:solidFill>
                <a:latin typeface="Arial"/>
              </a:rPr>
              <a:t>limits one guest affecting another</a:t>
            </a:r>
          </a:p>
          <a:p>
            <a:pPr marL="182880" indent="137160">
              <a:lnSpc>
                <a:spcPct val="108000"/>
              </a:lnSpc>
              <a:spcAft>
                <a:spcPts val="1152"/>
              </a:spcAft>
              <a:buFont typeface="Arial"/>
              <a:buChar char="•"/>
            </a:pPr>
            <a:r>
              <a:rPr sz="1450" b="1">
                <a:solidFill>
                  <a:srgbClr val="FFFFFF"/>
                </a:solidFill>
                <a:latin typeface="Arial"/>
              </a:rPr>
              <a:t>The foundation  </a:t>
            </a:r>
            <a:r>
              <a:rPr sz="1450">
                <a:solidFill>
                  <a:srgbClr val="D1D5DB"/>
                </a:solidFill>
                <a:latin typeface="Arial"/>
              </a:rPr>
              <a:t>the hypervisor is the highest value target</a:t>
            </a:r>
          </a:p>
        </p:txBody>
      </p:sp>
      <p:sp>
        <p:nvSpPr>
          <p:cNvPr id="7" name="Rounded Rectangle 6"/>
          <p:cNvSpPr/>
          <p:nvPr/>
        </p:nvSpPr>
        <p:spPr>
          <a:xfrm>
            <a:off x="502920" y="402336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3308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Everything the guests do depends on the hypervisor, so it is patched first and monitored hardest.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COMPUTE AND EDGE PLATFORMS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Containerisation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Shared kernel  </a:t>
            </a:r>
            <a:r>
              <a:rPr sz="1450">
                <a:solidFill>
                  <a:srgbClr val="D1D5DB"/>
                </a:solidFill>
                <a:latin typeface="Arial"/>
              </a:rPr>
              <a:t>no full operating system per instance, so it is lighter than a virtual machine</a:t>
            </a:r>
          </a:p>
          <a:p>
            <a:pPr marL="182880" indent="137160">
              <a:lnSpc>
                <a:spcPct val="108000"/>
              </a:lnSpc>
              <a:spcAft>
                <a:spcPts val="1152"/>
              </a:spcAft>
              <a:buFont typeface="Arial"/>
              <a:buChar char="•"/>
            </a:pPr>
            <a:r>
              <a:rPr sz="1450" b="1">
                <a:solidFill>
                  <a:srgbClr val="FFFFFF"/>
                </a:solidFill>
                <a:latin typeface="Arial"/>
              </a:rPr>
              <a:t>The image  </a:t>
            </a:r>
            <a:r>
              <a:rPr sz="1450">
                <a:solidFill>
                  <a:srgbClr val="D1D5DB"/>
                </a:solidFill>
                <a:latin typeface="Arial"/>
              </a:rPr>
              <a:t>packages the code with its libraries and configuration</a:t>
            </a:r>
          </a:p>
          <a:p>
            <a:pPr marL="182880" indent="137160">
              <a:lnSpc>
                <a:spcPct val="108000"/>
              </a:lnSpc>
              <a:spcAft>
                <a:spcPts val="1152"/>
              </a:spcAft>
              <a:buFont typeface="Arial"/>
              <a:buChar char="•"/>
            </a:pPr>
            <a:r>
              <a:rPr sz="1450" b="1">
                <a:solidFill>
                  <a:srgbClr val="FFFFFF"/>
                </a:solidFill>
                <a:latin typeface="Arial"/>
              </a:rPr>
              <a:t>Consistency  </a:t>
            </a:r>
            <a:r>
              <a:rPr sz="1450">
                <a:solidFill>
                  <a:srgbClr val="D1D5DB"/>
                </a:solidFill>
                <a:latin typeface="Arial"/>
              </a:rPr>
              <a:t>the same image behaves the same everywhere, which is why Docker spread fast</a:t>
            </a:r>
          </a:p>
          <a:p>
            <a:pPr marL="182880" indent="137160">
              <a:lnSpc>
                <a:spcPct val="108000"/>
              </a:lnSpc>
              <a:spcAft>
                <a:spcPts val="1152"/>
              </a:spcAft>
              <a:buFont typeface="Arial"/>
              <a:buChar char="•"/>
            </a:pPr>
            <a:r>
              <a:rPr sz="1450" b="1">
                <a:solidFill>
                  <a:srgbClr val="FFFFFF"/>
                </a:solidFill>
                <a:latin typeface="Arial"/>
              </a:rPr>
              <a:t>The risk  </a:t>
            </a:r>
            <a:r>
              <a:rPr sz="1450">
                <a:solidFill>
                  <a:srgbClr val="D1D5DB"/>
                </a:solidFill>
                <a:latin typeface="Arial"/>
              </a:rPr>
              <a:t>a vulnerable library inside the image is reproduced in every copy</a:t>
            </a:r>
          </a:p>
          <a:p>
            <a:pPr marL="182880" indent="137160">
              <a:lnSpc>
                <a:spcPct val="108000"/>
              </a:lnSpc>
              <a:spcAft>
                <a:spcPts val="1152"/>
              </a:spcAft>
              <a:buFont typeface="Arial"/>
              <a:buChar char="•"/>
            </a:pPr>
            <a:r>
              <a:rPr sz="1450" b="1">
                <a:solidFill>
                  <a:srgbClr val="FFFFFF"/>
                </a:solidFill>
                <a:latin typeface="Arial"/>
              </a:rPr>
              <a:t>Scan and trust  </a:t>
            </a:r>
            <a:r>
              <a:rPr sz="1450">
                <a:solidFill>
                  <a:srgbClr val="D1D5DB"/>
                </a:solidFill>
                <a:latin typeface="Arial"/>
              </a:rPr>
              <a:t>scan images and pull them from trusted sources</a:t>
            </a:r>
          </a:p>
          <a:p>
            <a:pPr marL="182880" indent="137160">
              <a:lnSpc>
                <a:spcPct val="108000"/>
              </a:lnSpc>
              <a:spcAft>
                <a:spcPts val="1152"/>
              </a:spcAft>
              <a:buFont typeface="Arial"/>
              <a:buChar char="•"/>
            </a:pPr>
            <a:r>
              <a:rPr sz="1450" b="1">
                <a:solidFill>
                  <a:srgbClr val="FFFFFF"/>
                </a:solidFill>
                <a:latin typeface="Arial"/>
              </a:rPr>
              <a:t>Orchestration  </a:t>
            </a:r>
            <a:r>
              <a:rPr sz="1450">
                <a:solidFill>
                  <a:srgbClr val="D1D5DB"/>
                </a:solidFill>
                <a:latin typeface="Arial"/>
              </a:rPr>
              <a:t>platforms such as Kubernetes need their own controls</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Containers are the same idea as virtualisation with a smaller boundary. The boundary is smaller, not absent.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COMPUTE AND EDGE PLATFORMS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Serverless Architecture</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The model  </a:t>
            </a:r>
            <a:r>
              <a:rPr sz="1450">
                <a:solidFill>
                  <a:srgbClr val="D1D5DB"/>
                </a:solidFill>
                <a:latin typeface="Arial"/>
              </a:rPr>
              <a:t>the provider runs the infrastructure; you write functions</a:t>
            </a:r>
          </a:p>
          <a:p>
            <a:pPr marL="182880" indent="137160">
              <a:lnSpc>
                <a:spcPct val="108000"/>
              </a:lnSpc>
              <a:spcAft>
                <a:spcPts val="1152"/>
              </a:spcAft>
              <a:buFont typeface="Arial"/>
              <a:buChar char="•"/>
            </a:pPr>
            <a:r>
              <a:rPr sz="1450" b="1">
                <a:solidFill>
                  <a:srgbClr val="FFFFFF"/>
                </a:solidFill>
                <a:latin typeface="Arial"/>
              </a:rPr>
              <a:t>Event driven  </a:t>
            </a:r>
            <a:r>
              <a:rPr sz="1450">
                <a:solidFill>
                  <a:srgbClr val="D1D5DB"/>
                </a:solidFill>
                <a:latin typeface="Arial"/>
              </a:rPr>
              <a:t>a function executes only when something triggers it</a:t>
            </a:r>
          </a:p>
          <a:p>
            <a:pPr marL="182880" indent="137160">
              <a:lnSpc>
                <a:spcPct val="108000"/>
              </a:lnSpc>
              <a:spcAft>
                <a:spcPts val="1152"/>
              </a:spcAft>
              <a:buFont typeface="Arial"/>
              <a:buChar char="•"/>
            </a:pPr>
            <a:r>
              <a:rPr sz="1450" b="1">
                <a:solidFill>
                  <a:srgbClr val="FFFFFF"/>
                </a:solidFill>
                <a:latin typeface="Arial"/>
              </a:rPr>
              <a:t>Stateless and ephemeral  </a:t>
            </a:r>
            <a:r>
              <a:rPr sz="1450">
                <a:solidFill>
                  <a:srgbClr val="D1D5DB"/>
                </a:solidFill>
                <a:latin typeface="Arial"/>
              </a:rPr>
              <a:t>it lives just for the execution, which shrinks the attack surface</a:t>
            </a:r>
          </a:p>
          <a:p>
            <a:pPr marL="182880" indent="137160">
              <a:lnSpc>
                <a:spcPct val="108000"/>
              </a:lnSpc>
              <a:spcAft>
                <a:spcPts val="1152"/>
              </a:spcAft>
              <a:buFont typeface="Arial"/>
              <a:buChar char="•"/>
            </a:pPr>
            <a:r>
              <a:rPr sz="1450" b="1">
                <a:solidFill>
                  <a:srgbClr val="FFFFFF"/>
                </a:solidFill>
                <a:latin typeface="Arial"/>
              </a:rPr>
              <a:t>Examples  </a:t>
            </a:r>
            <a:r>
              <a:rPr sz="1450">
                <a:solidFill>
                  <a:srgbClr val="D1D5DB"/>
                </a:solidFill>
                <a:latin typeface="Arial"/>
              </a:rPr>
              <a:t>Amazon Lambda, Azure Functions and Google Cloud Functions</a:t>
            </a:r>
          </a:p>
          <a:p>
            <a:pPr marL="182880" indent="137160">
              <a:lnSpc>
                <a:spcPct val="108000"/>
              </a:lnSpc>
              <a:spcAft>
                <a:spcPts val="1152"/>
              </a:spcAft>
              <a:buFont typeface="Arial"/>
              <a:buChar char="•"/>
            </a:pPr>
            <a:r>
              <a:rPr sz="1450" b="1">
                <a:solidFill>
                  <a:srgbClr val="FFFFFF"/>
                </a:solidFill>
                <a:latin typeface="Arial"/>
              </a:rPr>
              <a:t>The catch  </a:t>
            </a:r>
            <a:r>
              <a:rPr sz="1450">
                <a:solidFill>
                  <a:srgbClr val="D1D5DB"/>
                </a:solidFill>
                <a:latin typeface="Arial"/>
              </a:rPr>
              <a:t>the trigger is an entry point, so authenticate and validate every event</a:t>
            </a:r>
          </a:p>
          <a:p>
            <a:pPr marL="182880" indent="137160">
              <a:lnSpc>
                <a:spcPct val="108000"/>
              </a:lnSpc>
              <a:spcAft>
                <a:spcPts val="1152"/>
              </a:spcAft>
              <a:buFont typeface="Arial"/>
              <a:buChar char="•"/>
            </a:pPr>
            <a:r>
              <a:rPr sz="1450" b="1">
                <a:solidFill>
                  <a:srgbClr val="FFFFFF"/>
                </a:solidFill>
                <a:latin typeface="Arial"/>
              </a:rPr>
              <a:t>Blind spot  </a:t>
            </a:r>
            <a:r>
              <a:rPr sz="1450">
                <a:solidFill>
                  <a:srgbClr val="D1D5DB"/>
                </a:solidFill>
                <a:latin typeface="Arial"/>
              </a:rPr>
              <a:t>less visibility inside the provider platform</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You trade control for less to manage. What you cannot see, you cannot monitor, so lean on provider logging.</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COMPUTE AND EDGE PLATFORMS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Internet of Things Security</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Too small  </a:t>
            </a:r>
            <a:r>
              <a:rPr sz="1450">
                <a:solidFill>
                  <a:srgbClr val="D1D5DB"/>
                </a:solidFill>
                <a:latin typeface="Arial"/>
              </a:rPr>
              <a:t>limited processing power, so heavy security controls will not fit</a:t>
            </a:r>
          </a:p>
          <a:p>
            <a:pPr marL="182880" indent="137160">
              <a:lnSpc>
                <a:spcPct val="108000"/>
              </a:lnSpc>
              <a:spcAft>
                <a:spcPts val="1152"/>
              </a:spcAft>
              <a:buFont typeface="Arial"/>
              <a:buChar char="•"/>
            </a:pPr>
            <a:r>
              <a:rPr sz="1450" b="1">
                <a:solidFill>
                  <a:srgbClr val="FFFFFF"/>
                </a:solidFill>
                <a:latin typeface="Arial"/>
              </a:rPr>
              <a:t>Rarely updated  </a:t>
            </a:r>
            <a:r>
              <a:rPr sz="1450">
                <a:solidFill>
                  <a:srgbClr val="D1D5DB"/>
                </a:solidFill>
                <a:latin typeface="Arial"/>
              </a:rPr>
              <a:t>infrequent updates leave known flaws open for a long time</a:t>
            </a:r>
          </a:p>
          <a:p>
            <a:pPr marL="182880" indent="137160">
              <a:lnSpc>
                <a:spcPct val="108000"/>
              </a:lnSpc>
              <a:spcAft>
                <a:spcPts val="1152"/>
              </a:spcAft>
              <a:buFont typeface="Arial"/>
              <a:buChar char="•"/>
            </a:pPr>
            <a:r>
              <a:rPr sz="1450" b="1">
                <a:solidFill>
                  <a:srgbClr val="FFFFFF"/>
                </a:solidFill>
                <a:latin typeface="Arial"/>
              </a:rPr>
              <a:t>Default credentials  </a:t>
            </a:r>
            <a:r>
              <a:rPr sz="1450">
                <a:solidFill>
                  <a:srgbClr val="D1D5DB"/>
                </a:solidFill>
                <a:latin typeface="Arial"/>
              </a:rPr>
              <a:t>shipped with them, and nobody ever changes them</a:t>
            </a:r>
          </a:p>
          <a:p>
            <a:pPr marL="182880" indent="137160">
              <a:lnSpc>
                <a:spcPct val="108000"/>
              </a:lnSpc>
              <a:spcAft>
                <a:spcPts val="1152"/>
              </a:spcAft>
              <a:buFont typeface="Arial"/>
              <a:buChar char="•"/>
            </a:pPr>
            <a:r>
              <a:rPr sz="1450" b="1">
                <a:solidFill>
                  <a:srgbClr val="FFFFFF"/>
                </a:solidFill>
                <a:latin typeface="Arial"/>
              </a:rPr>
              <a:t>Huge scale  </a:t>
            </a:r>
            <a:r>
              <a:rPr sz="1450">
                <a:solidFill>
                  <a:srgbClr val="D1D5DB"/>
                </a:solidFill>
                <a:latin typeface="Arial"/>
              </a:rPr>
              <a:t>the sheer number means every device is another way in</a:t>
            </a:r>
          </a:p>
          <a:p>
            <a:pPr marL="182880" indent="137160">
              <a:lnSpc>
                <a:spcPct val="108000"/>
              </a:lnSpc>
              <a:spcAft>
                <a:spcPts val="1152"/>
              </a:spcAft>
              <a:buFont typeface="Arial"/>
              <a:buChar char="•"/>
            </a:pPr>
            <a:r>
              <a:rPr sz="1450" b="1">
                <a:solidFill>
                  <a:srgbClr val="FFFFFF"/>
                </a:solidFill>
                <a:latin typeface="Arial"/>
              </a:rPr>
              <a:t>Segment  </a:t>
            </a:r>
            <a:r>
              <a:rPr sz="1450">
                <a:solidFill>
                  <a:srgbClr val="D1D5DB"/>
                </a:solidFill>
                <a:latin typeface="Arial"/>
              </a:rPr>
              <a:t>keep devices away from critical systems</a:t>
            </a:r>
          </a:p>
          <a:p>
            <a:pPr marL="182880" indent="137160">
              <a:lnSpc>
                <a:spcPct val="108000"/>
              </a:lnSpc>
              <a:spcAft>
                <a:spcPts val="1152"/>
              </a:spcAft>
              <a:buFont typeface="Arial"/>
              <a:buChar char="•"/>
            </a:pPr>
            <a:r>
              <a:rPr sz="1450" b="1">
                <a:solidFill>
                  <a:srgbClr val="FFFFFF"/>
                </a:solidFill>
                <a:latin typeface="Arial"/>
              </a:rPr>
              <a:t>Monitor  </a:t>
            </a:r>
            <a:r>
              <a:rPr sz="1450">
                <a:solidFill>
                  <a:srgbClr val="D1D5DB"/>
                </a:solidFill>
                <a:latin typeface="Arial"/>
              </a:rPr>
              <a:t>continuous anomaly monitoring, and lifecycle management to decommissioning</a:t>
            </a:r>
          </a:p>
        </p:txBody>
      </p:sp>
      <p:sp>
        <p:nvSpPr>
          <p:cNvPr id="7" name="Rounded Rectangle 6"/>
          <p:cNvSpPr/>
          <p:nvPr/>
        </p:nvSpPr>
        <p:spPr>
          <a:xfrm>
            <a:off x="502920" y="384048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95020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Cheap devices, weak defences, and enormous numbers. You cannot patch your way out, so you segment and watch.</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2 · COMPUTE AND EDGE PLATFORMS</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Industrial Control Systems and SCADA</a:t>
            </a:r>
          </a:p>
        </p:txBody>
      </p:sp>
      <p:graphicFrame>
        <p:nvGraphicFramePr>
          <p:cNvPr id="6" name="Table 5"/>
          <p:cNvGraphicFramePr>
            <a:graphicFrameLocks noGrp="1"/>
          </p:cNvGraphicFramePr>
          <p:nvPr/>
        </p:nvGraphicFramePr>
        <p:xfrm>
          <a:off x="502920" y="1737360"/>
          <a:ext cx="8138160" cy="1975104"/>
        </p:xfrm>
        <a:graphic>
          <a:graphicData uri="http://schemas.openxmlformats.org/drawingml/2006/table">
            <a:tbl>
              <a:tblPr firstRow="1" bandRow="1">
                <a:tableStyleId>{5C22544A-7EE6-4342-B048-85BDC9FD1C3A}</a:tableStyleId>
              </a:tblPr>
              <a:tblGrid>
                <a:gridCol w="3108960"/>
                <a:gridCol w="5029200"/>
              </a:tblGrid>
              <a:tr h="329184">
                <a:tc>
                  <a:txBody>
                    <a:bodyPr/>
                    <a:lstStyle/>
                    <a:p>
                      <a:pPr algn="l"/>
                      <a:r>
                        <a:rPr sz="1100" b="1">
                          <a:solidFill>
                            <a:srgbClr val="FFFFFF"/>
                          </a:solidFill>
                          <a:latin typeface="Arial"/>
                        </a:rPr>
                        <a:t>Component or term</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What it does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Industrial control systems (ICS)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Distributed control systems and programmable logic controllers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SCADA</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Supervisory Control and Data Acquisition, the control overlay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Field devices and terminal units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Collect data and run commands in the plant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Human machine interface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Gives the operators their view of the process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Legacy protocols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No encryption and no authentication built in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794760"/>
            <a:ext cx="8138160" cy="7132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904488"/>
            <a:ext cx="7680960" cy="548640"/>
          </a:xfrm>
          <a:prstGeom prst="rect">
            <a:avLst/>
          </a:prstGeom>
          <a:noFill/>
        </p:spPr>
        <p:txBody>
          <a:bodyPr wrap="square" lIns="0" rIns="0" tIns="0" bIns="0">
            <a:spAutoFit/>
          </a:bodyPr>
          <a:lstStyle/>
          <a:p>
            <a:pPr>
              <a:lnSpc>
                <a:spcPct val="108000"/>
              </a:lnSpc>
            </a:pPr>
            <a:r>
              <a:rPr sz="1250">
                <a:solidFill>
                  <a:srgbClr val="F3D9D9"/>
                </a:solidFill>
                <a:latin typeface="Arial"/>
              </a:rPr>
              <a:t>Safety and availability outrank confidentiality here. Stopping a pump or a turbine can be dangerous, so a breach can damage equipment or hurt people.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822960"/>
            <a:ext cx="7315200" cy="292608"/>
          </a:xfrm>
          <a:prstGeom prst="rect">
            <a:avLst/>
          </a:prstGeom>
          <a:noFill/>
        </p:spPr>
        <p:txBody>
          <a:bodyPr wrap="square" anchor="t" lIns="0" rIns="0" tIns="0" bIns="0">
            <a:spAutoFit/>
          </a:bodyPr>
          <a:lstStyle/>
          <a:p>
            <a:pPr algn="l"/>
            <a:r>
              <a:rPr sz="1300" b="1" spc="300">
                <a:solidFill>
                  <a:srgbClr val="C22828"/>
                </a:solidFill>
                <a:latin typeface="Arial"/>
              </a:rPr>
              <a:t>DISCUSSION</a:t>
            </a:r>
          </a:p>
        </p:txBody>
      </p:sp>
      <p:sp>
        <p:nvSpPr>
          <p:cNvPr id="5" name="TextBox 4"/>
          <p:cNvSpPr txBox="1"/>
          <p:nvPr/>
        </p:nvSpPr>
        <p:spPr>
          <a:xfrm>
            <a:off x="502920" y="1234440"/>
            <a:ext cx="8138160" cy="1600200"/>
          </a:xfrm>
          <a:prstGeom prst="rect">
            <a:avLst/>
          </a:prstGeom>
          <a:noFill/>
        </p:spPr>
        <p:txBody>
          <a:bodyPr wrap="square" anchor="t" lIns="0" rIns="0" tIns="0" bIns="0">
            <a:spAutoFit/>
          </a:bodyPr>
          <a:lstStyle/>
          <a:p>
            <a:pPr algn="l">
              <a:lnSpc>
                <a:spcPct val="110000"/>
              </a:lnSpc>
            </a:pPr>
            <a:r>
              <a:rPr sz="2800" b="1">
                <a:solidFill>
                  <a:srgbClr val="FFFFFF"/>
                </a:solidFill>
                <a:latin typeface="Arial"/>
              </a:rPr>
              <a:t>IT protects confidentiality. OT protects safety. What happens when you join the two networks?</a:t>
            </a:r>
          </a:p>
        </p:txBody>
      </p:sp>
      <p:sp>
        <p:nvSpPr>
          <p:cNvPr id="6" name="Rounded Rectangle 5"/>
          <p:cNvSpPr/>
          <p:nvPr/>
        </p:nvSpPr>
        <p:spPr>
          <a:xfrm>
            <a:off x="502920" y="2971800"/>
            <a:ext cx="8138160" cy="914400"/>
          </a:xfrm>
          <a:prstGeom prst="roundRect">
            <a:avLst>
              <a:gd name="adj" fmla="val 8000"/>
            </a:avLst>
          </a:prstGeom>
          <a:solidFill>
            <a:srgbClr val="171717"/>
          </a:solidFill>
          <a:ln w="15875">
            <a:solidFill>
              <a:srgbClr val="A8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090672"/>
            <a:ext cx="7589520" cy="685800"/>
          </a:xfrm>
          <a:prstGeom prst="rect">
            <a:avLst/>
          </a:prstGeom>
          <a:noFill/>
        </p:spPr>
        <p:txBody>
          <a:bodyPr wrap="square" anchor="ctr" lIns="0" rIns="0" tIns="0" bIns="0">
            <a:spAutoFit/>
          </a:bodyPr>
          <a:lstStyle/>
          <a:p>
            <a:pPr algn="l">
              <a:lnSpc>
                <a:spcPct val="112000"/>
              </a:lnSpc>
            </a:pPr>
            <a:r>
              <a:rPr sz="1350" b="0">
                <a:solidFill>
                  <a:srgbClr val="D1D5DB"/>
                </a:solidFill>
                <a:latin typeface="Arial"/>
              </a:rPr>
              <a:t>Efficiency is the reason, and the attack surface is the cost. Once the networks are joined, an intruder who reaches the office can reach the plant. The answer is not to keep them apart forever, but to segment deliberately, place monitoring that understands industrial protocols, and test the result before you rely on it.</a:t>
            </a:r>
          </a:p>
        </p:txBody>
      </p:sp>
      <p:sp>
        <p:nvSpPr>
          <p:cNvPr id="8" name="TextBox 7"/>
          <p:cNvSpPr txBox="1"/>
          <p:nvPr/>
        </p:nvSpPr>
        <p:spPr>
          <a:xfrm>
            <a:off x="502920" y="4114800"/>
            <a:ext cx="8138160" cy="365760"/>
          </a:xfrm>
          <a:prstGeom prst="rect">
            <a:avLst/>
          </a:prstGeom>
          <a:noFill/>
        </p:spPr>
        <p:txBody>
          <a:bodyPr wrap="square" anchor="t" lIns="0" rIns="0" tIns="0" bIns="0">
            <a:spAutoFit/>
          </a:bodyPr>
          <a:lstStyle/>
          <a:p>
            <a:pPr algn="l"/>
            <a:r>
              <a:rPr sz="1150" b="0">
                <a:solidFill>
                  <a:srgbClr val="9CA3AF"/>
                </a:solidFill>
                <a:latin typeface="Arial"/>
              </a:rPr>
              <a:t>Information technology and operational technology protect different things, and they think differently. Convergence is a design decision, not an accident.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SECURE DESIGN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Secure Design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Infrastructure as code  </a:t>
            </a:r>
            <a:r>
              <a:rPr sz="1450">
                <a:solidFill>
                  <a:srgbClr val="D1D5DB"/>
                </a:solidFill>
                <a:latin typeface="Arial"/>
              </a:rPr>
              <a:t>machines configured from version controlled files</a:t>
            </a:r>
          </a:p>
          <a:p>
            <a:pPr marL="182880" indent="137160">
              <a:lnSpc>
                <a:spcPct val="108000"/>
              </a:lnSpc>
              <a:spcAft>
                <a:spcPts val="1152"/>
              </a:spcAft>
              <a:buFont typeface="Arial"/>
              <a:buChar char="•"/>
            </a:pPr>
            <a:r>
              <a:rPr sz="1450" b="1">
                <a:solidFill>
                  <a:srgbClr val="FFFFFF"/>
                </a:solidFill>
                <a:latin typeface="Arial"/>
              </a:rPr>
              <a:t>Secure network design  </a:t>
            </a:r>
            <a:r>
              <a:rPr sz="1450">
                <a:solidFill>
                  <a:srgbClr val="D1D5DB"/>
                </a:solidFill>
                <a:latin typeface="Arial"/>
              </a:rPr>
              <a:t>the patterns that contain an intruder</a:t>
            </a:r>
          </a:p>
          <a:p>
            <a:pPr marL="182880" indent="137160">
              <a:lnSpc>
                <a:spcPct val="108000"/>
              </a:lnSpc>
              <a:spcAft>
                <a:spcPts val="1152"/>
              </a:spcAft>
              <a:buFont typeface="Arial"/>
              <a:buChar char="•"/>
            </a:pPr>
            <a:r>
              <a:rPr sz="1450" b="1">
                <a:solidFill>
                  <a:srgbClr val="FFFFFF"/>
                </a:solidFill>
                <a:latin typeface="Arial"/>
              </a:rPr>
              <a:t>Control selection  </a:t>
            </a:r>
            <a:r>
              <a:rPr sz="1450">
                <a:solidFill>
                  <a:srgbClr val="D1D5DB"/>
                </a:solidFill>
                <a:latin typeface="Arial"/>
              </a:rPr>
              <a:t>how to choose a control and justify the choice</a:t>
            </a:r>
          </a:p>
          <a:p>
            <a:pPr marL="182880" indent="137160">
              <a:lnSpc>
                <a:spcPct val="108000"/>
              </a:lnSpc>
              <a:spcAft>
                <a:spcPts val="1152"/>
              </a:spcAft>
              <a:buFont typeface="Arial"/>
              <a:buChar char="•"/>
            </a:pPr>
            <a:r>
              <a:rPr sz="1450" b="1">
                <a:solidFill>
                  <a:srgbClr val="FFFFFF"/>
                </a:solidFill>
                <a:latin typeface="Arial"/>
              </a:rPr>
              <a:t>Why it matters  </a:t>
            </a:r>
            <a:r>
              <a:rPr sz="1450">
                <a:solidFill>
                  <a:srgbClr val="D1D5DB"/>
                </a:solidFill>
                <a:latin typeface="Arial"/>
              </a:rPr>
              <a:t>design decisions last for years, so they are worth getting right</a:t>
            </a:r>
          </a:p>
        </p:txBody>
      </p:sp>
      <p:sp>
        <p:nvSpPr>
          <p:cNvPr id="7" name="Rounded Rectangle 6"/>
          <p:cNvSpPr/>
          <p:nvPr/>
        </p:nvSpPr>
        <p:spPr>
          <a:xfrm>
            <a:off x="502920" y="3977639"/>
            <a:ext cx="8138160" cy="82296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087368"/>
            <a:ext cx="7680960" cy="658368"/>
          </a:xfrm>
          <a:prstGeom prst="rect">
            <a:avLst/>
          </a:prstGeom>
          <a:noFill/>
        </p:spPr>
        <p:txBody>
          <a:bodyPr wrap="square" lIns="0" rIns="0" tIns="0" bIns="0">
            <a:spAutoFit/>
          </a:bodyPr>
          <a:lstStyle/>
          <a:p>
            <a:pPr>
              <a:lnSpc>
                <a:spcPct val="108000"/>
              </a:lnSpc>
            </a:pPr>
            <a:r>
              <a:rPr sz="1250">
                <a:solidFill>
                  <a:srgbClr val="F3D9D9"/>
                </a:solidFill>
                <a:latin typeface="Arial"/>
              </a:rPr>
              <a:t>A network built without thought about containment is a network where one stolen laptop becomes an estate wide incident. Get the design right and everything after it is easier.</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SECURE DESIGN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Infrastructure as Code</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The idea  </a:t>
            </a:r>
            <a:r>
              <a:rPr sz="1450">
                <a:solidFill>
                  <a:srgbClr val="D1D5DB"/>
                </a:solidFill>
                <a:latin typeface="Arial"/>
              </a:rPr>
              <a:t>machine readable files replace manual setup by hand</a:t>
            </a:r>
          </a:p>
          <a:p>
            <a:pPr marL="182880" indent="137160">
              <a:lnSpc>
                <a:spcPct val="108000"/>
              </a:lnSpc>
              <a:spcAft>
                <a:spcPts val="1152"/>
              </a:spcAft>
              <a:buFont typeface="Arial"/>
              <a:buChar char="•"/>
            </a:pPr>
            <a:r>
              <a:rPr sz="1450" b="1">
                <a:solidFill>
                  <a:srgbClr val="FFFFFF"/>
                </a:solidFill>
                <a:latin typeface="Arial"/>
              </a:rPr>
              <a:t>Repeatable  </a:t>
            </a:r>
            <a:r>
              <a:rPr sz="1450">
                <a:solidFill>
                  <a:srgbClr val="D1D5DB"/>
                </a:solidFill>
                <a:latin typeface="Arial"/>
              </a:rPr>
              <a:t>the same file builds the same server every time</a:t>
            </a:r>
          </a:p>
          <a:p>
            <a:pPr marL="182880" indent="137160">
              <a:lnSpc>
                <a:spcPct val="108000"/>
              </a:lnSpc>
              <a:spcAft>
                <a:spcPts val="1152"/>
              </a:spcAft>
              <a:buFont typeface="Arial"/>
              <a:buChar char="•"/>
            </a:pPr>
            <a:r>
              <a:rPr sz="1450" b="1">
                <a:solidFill>
                  <a:srgbClr val="FFFFFF"/>
                </a:solidFill>
                <a:latin typeface="Arial"/>
              </a:rPr>
              <a:t>Version control  </a:t>
            </a:r>
            <a:r>
              <a:rPr sz="1450">
                <a:solidFill>
                  <a:srgbClr val="D1D5DB"/>
                </a:solidFill>
                <a:latin typeface="Arial"/>
              </a:rPr>
              <a:t>a history of every change, and rollback to a known good state</a:t>
            </a:r>
          </a:p>
          <a:p>
            <a:pPr marL="182880" indent="137160">
              <a:lnSpc>
                <a:spcPct val="108000"/>
              </a:lnSpc>
              <a:spcAft>
                <a:spcPts val="1152"/>
              </a:spcAft>
              <a:buFont typeface="Arial"/>
              <a:buChar char="•"/>
            </a:pPr>
            <a:r>
              <a:rPr sz="1450" b="1">
                <a:solidFill>
                  <a:srgbClr val="FFFFFF"/>
                </a:solidFill>
                <a:latin typeface="Arial"/>
              </a:rPr>
              <a:t>Automated checking  </a:t>
            </a:r>
            <a:r>
              <a:rPr sz="1450">
                <a:solidFill>
                  <a:srgbClr val="D1D5DB"/>
                </a:solidFill>
                <a:latin typeface="Arial"/>
              </a:rPr>
              <a:t>scanning catches a weak setting before it reaches production</a:t>
            </a:r>
          </a:p>
          <a:p>
            <a:pPr marL="182880" indent="137160">
              <a:lnSpc>
                <a:spcPct val="108000"/>
              </a:lnSpc>
              <a:spcAft>
                <a:spcPts val="1152"/>
              </a:spcAft>
              <a:buFont typeface="Arial"/>
              <a:buChar char="•"/>
            </a:pPr>
            <a:r>
              <a:rPr sz="1450" b="1">
                <a:solidFill>
                  <a:srgbClr val="FFFFFF"/>
                </a:solidFill>
                <a:latin typeface="Arial"/>
              </a:rPr>
              <a:t>The benefit  </a:t>
            </a:r>
            <a:r>
              <a:rPr sz="1450">
                <a:solidFill>
                  <a:srgbClr val="D1D5DB"/>
                </a:solidFill>
                <a:latin typeface="Arial"/>
              </a:rPr>
              <a:t>consistency, and consistency is where most security actually comes from</a:t>
            </a:r>
          </a:p>
        </p:txBody>
      </p:sp>
      <p:sp>
        <p:nvSpPr>
          <p:cNvPr id="7" name="Rounded Rectangle 6"/>
          <p:cNvSpPr/>
          <p:nvPr/>
        </p:nvSpPr>
        <p:spPr>
          <a:xfrm>
            <a:off x="502920" y="406908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7880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Consistency is a security control in its own right, because drift is where undocumented weaknesses live.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SECURE DESIGN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Infrastructure as Code Risks</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Misconfiguration at scale  </a:t>
            </a:r>
            <a:r>
              <a:rPr sz="1450">
                <a:solidFill>
                  <a:srgbClr val="D1D5DB"/>
                </a:solidFill>
                <a:latin typeface="Arial"/>
              </a:rPr>
              <a:t>one error in the file is reproduced in every environment that uses it</a:t>
            </a:r>
          </a:p>
          <a:p>
            <a:pPr marL="182880" indent="137160">
              <a:lnSpc>
                <a:spcPct val="108000"/>
              </a:lnSpc>
              <a:spcAft>
                <a:spcPts val="1152"/>
              </a:spcAft>
              <a:buFont typeface="Arial"/>
              <a:buChar char="•"/>
            </a:pPr>
            <a:r>
              <a:rPr sz="1450" b="1">
                <a:solidFill>
                  <a:srgbClr val="FFFFFF"/>
                </a:solidFill>
                <a:latin typeface="Arial"/>
              </a:rPr>
              <a:t>Secrets in the file  </a:t>
            </a:r>
            <a:r>
              <a:rPr sz="1450">
                <a:solidFill>
                  <a:srgbClr val="D1D5DB"/>
                </a:solidFill>
                <a:latin typeface="Arial"/>
              </a:rPr>
              <a:t>keys and passwords written into configuration leak through repositories</a:t>
            </a:r>
          </a:p>
          <a:p>
            <a:pPr marL="182880" indent="137160">
              <a:lnSpc>
                <a:spcPct val="108000"/>
              </a:lnSpc>
              <a:spcAft>
                <a:spcPts val="1152"/>
              </a:spcAft>
              <a:buFont typeface="Arial"/>
              <a:buChar char="•"/>
            </a:pPr>
            <a:r>
              <a:rPr sz="1450" b="1">
                <a:solidFill>
                  <a:srgbClr val="FFFFFF"/>
                </a:solidFill>
                <a:latin typeface="Arial"/>
              </a:rPr>
              <a:t>Use a secrets manager  </a:t>
            </a:r>
            <a:r>
              <a:rPr sz="1450">
                <a:solidFill>
                  <a:srgbClr val="D1D5DB"/>
                </a:solidFill>
                <a:latin typeface="Arial"/>
              </a:rPr>
              <a:t>dedicated storage for secrets, never the configuration file</a:t>
            </a:r>
          </a:p>
          <a:p>
            <a:pPr marL="182880" indent="137160">
              <a:lnSpc>
                <a:spcPct val="108000"/>
              </a:lnSpc>
              <a:spcAft>
                <a:spcPts val="1152"/>
              </a:spcAft>
              <a:buFont typeface="Arial"/>
              <a:buChar char="•"/>
            </a:pPr>
            <a:r>
              <a:rPr sz="1450" b="1">
                <a:solidFill>
                  <a:srgbClr val="FFFFFF"/>
                </a:solidFill>
                <a:latin typeface="Arial"/>
              </a:rPr>
              <a:t>Peer review  </a:t>
            </a:r>
            <a:r>
              <a:rPr sz="1450">
                <a:solidFill>
                  <a:srgbClr val="D1D5DB"/>
                </a:solidFill>
                <a:latin typeface="Arial"/>
              </a:rPr>
              <a:t>review every change before it deploys</a:t>
            </a:r>
          </a:p>
          <a:p>
            <a:pPr marL="182880" indent="137160">
              <a:lnSpc>
                <a:spcPct val="108000"/>
              </a:lnSpc>
              <a:spcAft>
                <a:spcPts val="1152"/>
              </a:spcAft>
              <a:buFont typeface="Arial"/>
              <a:buChar char="•"/>
            </a:pPr>
            <a:r>
              <a:rPr sz="1450" b="1">
                <a:solidFill>
                  <a:srgbClr val="FFFFFF"/>
                </a:solidFill>
                <a:latin typeface="Arial"/>
              </a:rPr>
              <a:t>Validate in the pipeline  </a:t>
            </a:r>
            <a:r>
              <a:rPr sz="1450">
                <a:solidFill>
                  <a:srgbClr val="D1D5DB"/>
                </a:solidFill>
                <a:latin typeface="Arial"/>
              </a:rPr>
              <a:t>and isolate development, test and production environments</a:t>
            </a:r>
          </a:p>
          <a:p>
            <a:pPr marL="182880" indent="137160">
              <a:lnSpc>
                <a:spcPct val="108000"/>
              </a:lnSpc>
              <a:spcAft>
                <a:spcPts val="1152"/>
              </a:spcAft>
              <a:buFont typeface="Arial"/>
              <a:buChar char="•"/>
            </a:pPr>
            <a:r>
              <a:rPr sz="1450" b="1">
                <a:solidFill>
                  <a:srgbClr val="FFFFFF"/>
                </a:solidFill>
                <a:latin typeface="Arial"/>
              </a:rPr>
              <a:t>Audit and test  </a:t>
            </a:r>
            <a:r>
              <a:rPr sz="1450">
                <a:solidFill>
                  <a:srgbClr val="D1D5DB"/>
                </a:solidFill>
                <a:latin typeface="Arial"/>
              </a:rPr>
              <a:t>penetration test the configurations as you would any system</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The same power that builds at speed can break at speed.</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SECURE DESIGN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Secure Network Design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Defence in depth  </a:t>
            </a:r>
            <a:r>
              <a:rPr sz="1450">
                <a:solidFill>
                  <a:srgbClr val="D1D5DB"/>
                </a:solidFill>
                <a:latin typeface="Arial"/>
              </a:rPr>
              <a:t>layers of control, so one failure is not fatal</a:t>
            </a:r>
          </a:p>
          <a:p>
            <a:pPr marL="182880" indent="137160">
              <a:lnSpc>
                <a:spcPct val="108000"/>
              </a:lnSpc>
              <a:spcAft>
                <a:spcPts val="1152"/>
              </a:spcAft>
              <a:buFont typeface="Arial"/>
              <a:buChar char="•"/>
            </a:pPr>
            <a:r>
              <a:rPr sz="1450" b="1">
                <a:solidFill>
                  <a:srgbClr val="FFFFFF"/>
                </a:solidFill>
                <a:latin typeface="Arial"/>
              </a:rPr>
              <a:t>Segmentation  </a:t>
            </a:r>
            <a:r>
              <a:rPr sz="1450">
                <a:solidFill>
                  <a:srgbClr val="D1D5DB"/>
                </a:solidFill>
                <a:latin typeface="Arial"/>
              </a:rPr>
              <a:t>virtual local area networks, with firewalls between them</a:t>
            </a:r>
          </a:p>
          <a:p>
            <a:pPr marL="182880" indent="137160">
              <a:lnSpc>
                <a:spcPct val="108000"/>
              </a:lnSpc>
              <a:spcAft>
                <a:spcPts val="1152"/>
              </a:spcAft>
              <a:buFont typeface="Arial"/>
              <a:buChar char="•"/>
            </a:pPr>
            <a:r>
              <a:rPr sz="1450" b="1">
                <a:solidFill>
                  <a:srgbClr val="FFFFFF"/>
                </a:solidFill>
                <a:latin typeface="Arial"/>
              </a:rPr>
              <a:t>Access control lists  </a:t>
            </a:r>
            <a:r>
              <a:rPr sz="1450">
                <a:solidFill>
                  <a:srgbClr val="D1D5DB"/>
                </a:solidFill>
                <a:latin typeface="Arial"/>
              </a:rPr>
              <a:t>state which segment may talk to which</a:t>
            </a:r>
          </a:p>
          <a:p>
            <a:pPr marL="182880" indent="137160">
              <a:lnSpc>
                <a:spcPct val="108000"/>
              </a:lnSpc>
              <a:spcAft>
                <a:spcPts val="1152"/>
              </a:spcAft>
              <a:buFont typeface="Arial"/>
              <a:buChar char="•"/>
            </a:pPr>
            <a:r>
              <a:rPr sz="1450" b="1">
                <a:solidFill>
                  <a:srgbClr val="FFFFFF"/>
                </a:solidFill>
                <a:latin typeface="Arial"/>
              </a:rPr>
              <a:t>Demilitarised zone  </a:t>
            </a:r>
            <a:r>
              <a:rPr sz="1450">
                <a:solidFill>
                  <a:srgbClr val="D1D5DB"/>
                </a:solidFill>
                <a:latin typeface="Arial"/>
              </a:rPr>
              <a:t>a buffer segment for services that face the public</a:t>
            </a:r>
          </a:p>
          <a:p>
            <a:pPr marL="182880" indent="137160">
              <a:lnSpc>
                <a:spcPct val="108000"/>
              </a:lnSpc>
              <a:spcAft>
                <a:spcPts val="1152"/>
              </a:spcAft>
              <a:buFont typeface="Arial"/>
              <a:buChar char="•"/>
            </a:pPr>
            <a:r>
              <a:rPr sz="1450" b="1">
                <a:solidFill>
                  <a:srgbClr val="FFFFFF"/>
                </a:solidFill>
                <a:latin typeface="Arial"/>
              </a:rPr>
              <a:t>Least connectivity  </a:t>
            </a:r>
            <a:r>
              <a:rPr sz="1450">
                <a:solidFill>
                  <a:srgbClr val="D1D5DB"/>
                </a:solidFill>
                <a:latin typeface="Arial"/>
              </a:rPr>
              <a:t>allow only the connections the business truly needs</a:t>
            </a:r>
          </a:p>
          <a:p>
            <a:pPr marL="182880" indent="137160">
              <a:lnSpc>
                <a:spcPct val="108000"/>
              </a:lnSpc>
              <a:spcAft>
                <a:spcPts val="1152"/>
              </a:spcAft>
              <a:buFont typeface="Arial"/>
              <a:buChar char="•"/>
            </a:pPr>
            <a:r>
              <a:rPr sz="1450" b="1">
                <a:solidFill>
                  <a:srgbClr val="FFFFFF"/>
                </a:solidFill>
                <a:latin typeface="Arial"/>
              </a:rPr>
              <a:t>The purpose  </a:t>
            </a:r>
            <a:r>
              <a:rPr sz="1450">
                <a:solidFill>
                  <a:srgbClr val="D1D5DB"/>
                </a:solidFill>
                <a:latin typeface="Arial"/>
              </a:rPr>
              <a:t>segmentation turns one breach into one contained breach</a:t>
            </a:r>
          </a:p>
        </p:txBody>
      </p:sp>
      <p:sp>
        <p:nvSpPr>
          <p:cNvPr id="7" name="Rounded Rectangle 6"/>
          <p:cNvSpPr/>
          <p:nvPr/>
        </p:nvSpPr>
        <p:spPr>
          <a:xfrm>
            <a:off x="502920" y="384048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95020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Layers buy you time, and containment buys you scope. Both are design decisions made before the incident, not during it.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SECURE DESIGN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Protecting the Channel</a:t>
            </a:r>
          </a:p>
        </p:txBody>
      </p:sp>
      <p:graphicFrame>
        <p:nvGraphicFramePr>
          <p:cNvPr id="6" name="Table 5"/>
          <p:cNvGraphicFramePr>
            <a:graphicFrameLocks noGrp="1"/>
          </p:cNvGraphicFramePr>
          <p:nvPr/>
        </p:nvGraphicFramePr>
        <p:xfrm>
          <a:off x="502920" y="1737360"/>
          <a:ext cx="8138160" cy="1975104"/>
        </p:xfrm>
        <a:graphic>
          <a:graphicData uri="http://schemas.openxmlformats.org/drawingml/2006/table">
            <a:tbl>
              <a:tblPr firstRow="1" bandRow="1">
                <a:tableStyleId>{5C22544A-7EE6-4342-B048-85BDC9FD1C3A}</a:tableStyleId>
              </a:tblPr>
              <a:tblGrid>
                <a:gridCol w="2743200"/>
                <a:gridCol w="5394960"/>
              </a:tblGrid>
              <a:tr h="329184">
                <a:tc>
                  <a:txBody>
                    <a:bodyPr/>
                    <a:lstStyle/>
                    <a:p>
                      <a:pPr algn="l"/>
                      <a:r>
                        <a:rPr sz="1100" b="1">
                          <a:solidFill>
                            <a:srgbClr val="FFFFFF"/>
                          </a:solidFill>
                          <a:latin typeface="Arial"/>
                        </a:rPr>
                        <a:t>Technology</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What it does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Virtual private network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Encrypts traffic across an untrusted network</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Transport Layer Security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Secures web traffic; the handshake authenticates and agrees keys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Internet Protocol Security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Network layer encryption, tunnel mode for VPNs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Jump server or bastion host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A controlled entry point for administrators, never direct access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Certificate management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Issue, renew and revoke through a trusted authority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794760"/>
            <a:ext cx="8138160" cy="7132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904488"/>
            <a:ext cx="7680960" cy="548640"/>
          </a:xfrm>
          <a:prstGeom prst="rect">
            <a:avLst/>
          </a:prstGeom>
          <a:noFill/>
        </p:spPr>
        <p:txBody>
          <a:bodyPr wrap="square" lIns="0" rIns="0" tIns="0" bIns="0">
            <a:spAutoFit/>
          </a:bodyPr>
          <a:lstStyle/>
          <a:p>
            <a:pPr>
              <a:lnSpc>
                <a:spcPct val="108000"/>
              </a:lnSpc>
            </a:pPr>
            <a:r>
              <a:rPr sz="1250">
                <a:solidFill>
                  <a:srgbClr val="F3D9D9"/>
                </a:solidFill>
                <a:latin typeface="Arial"/>
              </a:rPr>
              <a:t>Once data leaves a trusted segment you must protect it in transit. A stolen administrator session is as damaging as a stolen password.</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3 · SECURE DESIGN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Security Control Selection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Risk assessment  </a:t>
            </a:r>
            <a:r>
              <a:rPr sz="1450">
                <a:solidFill>
                  <a:srgbClr val="D1D5DB"/>
                </a:solidFill>
                <a:latin typeface="Arial"/>
              </a:rPr>
              <a:t>the results set the priority and tell you which threat deserves the budget</a:t>
            </a:r>
          </a:p>
          <a:p>
            <a:pPr marL="182880" indent="137160">
              <a:lnSpc>
                <a:spcPct val="108000"/>
              </a:lnSpc>
              <a:spcAft>
                <a:spcPts val="1152"/>
              </a:spcAft>
              <a:buFont typeface="Arial"/>
              <a:buChar char="•"/>
            </a:pPr>
            <a:r>
              <a:rPr sz="1450" b="1">
                <a:solidFill>
                  <a:srgbClr val="FFFFFF"/>
                </a:solidFill>
                <a:latin typeface="Arial"/>
              </a:rPr>
              <a:t>Compliance  </a:t>
            </a:r>
            <a:r>
              <a:rPr sz="1450">
                <a:solidFill>
                  <a:srgbClr val="D1D5DB"/>
                </a:solidFill>
                <a:latin typeface="Arial"/>
              </a:rPr>
              <a:t>some requirements dictate controls outright, such as encrypting cardholder data</a:t>
            </a:r>
          </a:p>
          <a:p>
            <a:pPr marL="182880" indent="137160">
              <a:lnSpc>
                <a:spcPct val="108000"/>
              </a:lnSpc>
              <a:spcAft>
                <a:spcPts val="1152"/>
              </a:spcAft>
              <a:buFont typeface="Arial"/>
              <a:buChar char="•"/>
            </a:pPr>
            <a:r>
              <a:rPr sz="1450" b="1">
                <a:solidFill>
                  <a:srgbClr val="FFFFFF"/>
                </a:solidFill>
                <a:latin typeface="Arial"/>
              </a:rPr>
              <a:t>Cost  </a:t>
            </a:r>
            <a:r>
              <a:rPr sz="1450">
                <a:solidFill>
                  <a:srgbClr val="D1D5DB"/>
                </a:solidFill>
                <a:latin typeface="Arial"/>
              </a:rPr>
              <a:t>the purchase cost and the ongoing cost of running the control</a:t>
            </a:r>
          </a:p>
          <a:p>
            <a:pPr marL="182880" indent="137160">
              <a:lnSpc>
                <a:spcPct val="108000"/>
              </a:lnSpc>
              <a:spcAft>
                <a:spcPts val="1152"/>
              </a:spcAft>
              <a:buFont typeface="Arial"/>
              <a:buChar char="•"/>
            </a:pPr>
            <a:r>
              <a:rPr sz="1450" b="1">
                <a:solidFill>
                  <a:srgbClr val="FFFFFF"/>
                </a:solidFill>
                <a:latin typeface="Arial"/>
              </a:rPr>
              <a:t>Operational impact  </a:t>
            </a:r>
            <a:r>
              <a:rPr sz="1450">
                <a:solidFill>
                  <a:srgbClr val="D1D5DB"/>
                </a:solidFill>
                <a:latin typeface="Arial"/>
              </a:rPr>
              <a:t>a control that blocks the business will simply be bypassed</a:t>
            </a:r>
          </a:p>
          <a:p>
            <a:pPr marL="182880" indent="137160">
              <a:lnSpc>
                <a:spcPct val="108000"/>
              </a:lnSpc>
              <a:spcAft>
                <a:spcPts val="1152"/>
              </a:spcAft>
              <a:buFont typeface="Arial"/>
              <a:buChar char="•"/>
            </a:pPr>
            <a:r>
              <a:rPr sz="1450" b="1">
                <a:solidFill>
                  <a:srgbClr val="FFFFFF"/>
                </a:solidFill>
                <a:latin typeface="Arial"/>
              </a:rPr>
              <a:t>Three categories  </a:t>
            </a:r>
            <a:r>
              <a:rPr sz="1450">
                <a:solidFill>
                  <a:srgbClr val="D1D5DB"/>
                </a:solidFill>
                <a:latin typeface="Arial"/>
              </a:rPr>
              <a:t>technical, administrative and physical controls working together</a:t>
            </a:r>
          </a:p>
          <a:p>
            <a:pPr marL="182880" indent="137160">
              <a:lnSpc>
                <a:spcPct val="108000"/>
              </a:lnSpc>
              <a:spcAft>
                <a:spcPts val="1152"/>
              </a:spcAft>
              <a:buFont typeface="Arial"/>
              <a:buChar char="•"/>
            </a:pPr>
            <a:r>
              <a:rPr sz="1450" b="1">
                <a:solidFill>
                  <a:srgbClr val="FFFFFF"/>
                </a:solidFill>
                <a:latin typeface="Arial"/>
              </a:rPr>
              <a:t>Then test and monitor  </a:t>
            </a:r>
            <a:r>
              <a:rPr sz="1450">
                <a:solidFill>
                  <a:srgbClr val="D1D5DB"/>
                </a:solidFill>
                <a:latin typeface="Arial"/>
              </a:rPr>
              <a:t>and watch it through a Security Information and Event Management system</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Control selection is a decision, not a shopping list. Confidentiality, integrity and availability guide every choice.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DATA PROTECTION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Data Protection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Data types  </a:t>
            </a:r>
            <a:r>
              <a:rPr sz="1450">
                <a:solidFill>
                  <a:srgbClr val="D1D5DB"/>
                </a:solidFill>
                <a:latin typeface="Arial"/>
              </a:rPr>
              <a:t>the categories that carry legal weight</a:t>
            </a:r>
          </a:p>
          <a:p>
            <a:pPr marL="182880" indent="137160">
              <a:lnSpc>
                <a:spcPct val="108000"/>
              </a:lnSpc>
              <a:spcAft>
                <a:spcPts val="1152"/>
              </a:spcAft>
              <a:buFont typeface="Arial"/>
              <a:buChar char="•"/>
            </a:pPr>
            <a:r>
              <a:rPr sz="1450" b="1">
                <a:solidFill>
                  <a:srgbClr val="FFFFFF"/>
                </a:solidFill>
                <a:latin typeface="Arial"/>
              </a:rPr>
              <a:t>Data states  </a:t>
            </a:r>
            <a:r>
              <a:rPr sz="1450">
                <a:solidFill>
                  <a:srgbClr val="D1D5DB"/>
                </a:solidFill>
                <a:latin typeface="Arial"/>
              </a:rPr>
              <a:t>at rest, in transit, and in use</a:t>
            </a:r>
          </a:p>
          <a:p>
            <a:pPr marL="182880" indent="137160">
              <a:lnSpc>
                <a:spcPct val="108000"/>
              </a:lnSpc>
              <a:spcAft>
                <a:spcPts val="1152"/>
              </a:spcAft>
              <a:buFont typeface="Arial"/>
              <a:buChar char="•"/>
            </a:pPr>
            <a:r>
              <a:rPr sz="1450" b="1">
                <a:solidFill>
                  <a:srgbClr val="FFFFFF"/>
                </a:solidFill>
                <a:latin typeface="Arial"/>
              </a:rPr>
              <a:t>Classification  </a:t>
            </a:r>
            <a:r>
              <a:rPr sz="1450">
                <a:solidFill>
                  <a:srgbClr val="D1D5DB"/>
                </a:solidFill>
                <a:latin typeface="Arial"/>
              </a:rPr>
              <a:t>the label that decides how data is handled</a:t>
            </a:r>
          </a:p>
          <a:p>
            <a:pPr marL="182880" indent="137160">
              <a:lnSpc>
                <a:spcPct val="108000"/>
              </a:lnSpc>
              <a:spcAft>
                <a:spcPts val="1152"/>
              </a:spcAft>
              <a:buFont typeface="Arial"/>
              <a:buChar char="•"/>
            </a:pPr>
            <a:r>
              <a:rPr sz="1450" b="1">
                <a:solidFill>
                  <a:srgbClr val="FFFFFF"/>
                </a:solidFill>
                <a:latin typeface="Arial"/>
              </a:rPr>
              <a:t>Protection  </a:t>
            </a:r>
            <a:r>
              <a:rPr sz="1450">
                <a:solidFill>
                  <a:srgbClr val="D1D5DB"/>
                </a:solidFill>
                <a:latin typeface="Arial"/>
              </a:rPr>
              <a:t>encryption at rest and in transit, and secure disposal</a:t>
            </a:r>
          </a:p>
        </p:txBody>
      </p:sp>
      <p:sp>
        <p:nvSpPr>
          <p:cNvPr id="7" name="Rounded Rectangle 6"/>
          <p:cNvSpPr/>
          <p:nvPr/>
        </p:nvSpPr>
        <p:spPr>
          <a:xfrm>
            <a:off x="502920" y="3703320"/>
            <a:ext cx="8138160" cy="82296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813048"/>
            <a:ext cx="7680960" cy="658368"/>
          </a:xfrm>
          <a:prstGeom prst="rect">
            <a:avLst/>
          </a:prstGeom>
          <a:noFill/>
        </p:spPr>
        <p:txBody>
          <a:bodyPr wrap="square" lIns="0" rIns="0" tIns="0" bIns="0">
            <a:spAutoFit/>
          </a:bodyPr>
          <a:lstStyle/>
          <a:p>
            <a:pPr>
              <a:lnSpc>
                <a:spcPct val="108000"/>
              </a:lnSpc>
            </a:pPr>
            <a:r>
              <a:rPr sz="1250">
                <a:solidFill>
                  <a:srgbClr val="F3D9D9"/>
                </a:solidFill>
                <a:latin typeface="Arial"/>
              </a:rPr>
              <a:t>You cannot defend what you have not identified. Identify the data and label it first, because type sets the legal obligation and state sets the control you need.</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DATA PROTECTION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Data Types and States</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Personally identifiable information  </a:t>
            </a:r>
            <a:r>
              <a:rPr sz="1450">
                <a:solidFill>
                  <a:srgbClr val="D1D5DB"/>
                </a:solidFill>
                <a:latin typeface="Arial"/>
              </a:rPr>
              <a:t>names, addresses and identifiers; exposure enables identity theft</a:t>
            </a:r>
          </a:p>
          <a:p>
            <a:pPr marL="182880" indent="137160">
              <a:lnSpc>
                <a:spcPct val="108000"/>
              </a:lnSpc>
              <a:spcAft>
                <a:spcPts val="1152"/>
              </a:spcAft>
              <a:buFont typeface="Arial"/>
              <a:buChar char="•"/>
            </a:pPr>
            <a:r>
              <a:rPr sz="1450" b="1">
                <a:solidFill>
                  <a:srgbClr val="FFFFFF"/>
                </a:solidFill>
                <a:latin typeface="Arial"/>
              </a:rPr>
              <a:t>Protected health information  </a:t>
            </a:r>
            <a:r>
              <a:rPr sz="1450">
                <a:solidFill>
                  <a:srgbClr val="D1D5DB"/>
                </a:solidFill>
                <a:latin typeface="Arial"/>
              </a:rPr>
              <a:t>medical records covered by health privacy law</a:t>
            </a:r>
          </a:p>
          <a:p>
            <a:pPr marL="182880" indent="137160">
              <a:lnSpc>
                <a:spcPct val="108000"/>
              </a:lnSpc>
              <a:spcAft>
                <a:spcPts val="1152"/>
              </a:spcAft>
              <a:buFont typeface="Arial"/>
              <a:buChar char="•"/>
            </a:pPr>
            <a:r>
              <a:rPr sz="1450" b="1">
                <a:solidFill>
                  <a:srgbClr val="FFFFFF"/>
                </a:solidFill>
                <a:latin typeface="Arial"/>
              </a:rPr>
              <a:t>Financial data  </a:t>
            </a:r>
            <a:r>
              <a:rPr sz="1450">
                <a:solidFill>
                  <a:srgbClr val="D1D5DB"/>
                </a:solidFill>
                <a:latin typeface="Arial"/>
              </a:rPr>
              <a:t>card numbers and account details, under the payment card industry standard</a:t>
            </a:r>
          </a:p>
          <a:p>
            <a:pPr marL="182880" indent="137160">
              <a:lnSpc>
                <a:spcPct val="108000"/>
              </a:lnSpc>
              <a:spcAft>
                <a:spcPts val="1152"/>
              </a:spcAft>
              <a:buFont typeface="Arial"/>
              <a:buChar char="•"/>
            </a:pPr>
            <a:r>
              <a:rPr sz="1450" b="1">
                <a:solidFill>
                  <a:srgbClr val="FFFFFF"/>
                </a:solidFill>
                <a:latin typeface="Arial"/>
              </a:rPr>
              <a:t>Data at rest  </a:t>
            </a:r>
            <a:r>
              <a:rPr sz="1450">
                <a:solidFill>
                  <a:srgbClr val="D1D5DB"/>
                </a:solidFill>
                <a:latin typeface="Arial"/>
              </a:rPr>
              <a:t>stored on media, drives and databases</a:t>
            </a:r>
          </a:p>
          <a:p>
            <a:pPr marL="182880" indent="137160">
              <a:lnSpc>
                <a:spcPct val="108000"/>
              </a:lnSpc>
              <a:spcAft>
                <a:spcPts val="1152"/>
              </a:spcAft>
              <a:buFont typeface="Arial"/>
              <a:buChar char="•"/>
            </a:pPr>
            <a:r>
              <a:rPr sz="1450" b="1">
                <a:solidFill>
                  <a:srgbClr val="FFFFFF"/>
                </a:solidFill>
                <a:latin typeface="Arial"/>
              </a:rPr>
              <a:t>Data in transit  </a:t>
            </a:r>
            <a:r>
              <a:rPr sz="1450">
                <a:solidFill>
                  <a:srgbClr val="D1D5DB"/>
                </a:solidFill>
                <a:latin typeface="Arial"/>
              </a:rPr>
              <a:t>moving across a network</a:t>
            </a:r>
          </a:p>
          <a:p>
            <a:pPr marL="182880" indent="137160">
              <a:lnSpc>
                <a:spcPct val="108000"/>
              </a:lnSpc>
              <a:spcAft>
                <a:spcPts val="1152"/>
              </a:spcAft>
              <a:buFont typeface="Arial"/>
              <a:buChar char="•"/>
            </a:pPr>
            <a:r>
              <a:rPr sz="1450" b="1">
                <a:solidFill>
                  <a:srgbClr val="FFFFFF"/>
                </a:solidFill>
                <a:latin typeface="Arial"/>
              </a:rPr>
              <a:t>Data in use  </a:t>
            </a:r>
            <a:r>
              <a:rPr sz="1450">
                <a:solidFill>
                  <a:srgbClr val="D1D5DB"/>
                </a:solidFill>
                <a:latin typeface="Arial"/>
              </a:rPr>
              <a:t>being processed in memory</a:t>
            </a:r>
          </a:p>
          <a:p>
            <a:pPr marL="182880" indent="137160">
              <a:lnSpc>
                <a:spcPct val="108000"/>
              </a:lnSpc>
              <a:spcAft>
                <a:spcPts val="1152"/>
              </a:spcAft>
              <a:buFont typeface="Arial"/>
              <a:buChar char="•"/>
            </a:pPr>
            <a:r>
              <a:rPr sz="1450" b="1">
                <a:solidFill>
                  <a:srgbClr val="FFFFFF"/>
                </a:solidFill>
                <a:latin typeface="Arial"/>
              </a:rPr>
              <a:t>The rule  </a:t>
            </a:r>
            <a:r>
              <a:rPr sz="1450">
                <a:solidFill>
                  <a:srgbClr val="D1D5DB"/>
                </a:solidFill>
                <a:latin typeface="Arial"/>
              </a:rPr>
              <a:t>each state has its own protection</a:t>
            </a:r>
          </a:p>
        </p:txBody>
      </p:sp>
      <p:sp>
        <p:nvSpPr>
          <p:cNvPr id="7" name="Rounded Rectangle 6"/>
          <p:cNvSpPr/>
          <p:nvPr/>
        </p:nvSpPr>
        <p:spPr>
          <a:xfrm>
            <a:off x="502920" y="402336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3308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Type sets the obligation. State sets the control.</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DATA PROTECTION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Classification Levels</a:t>
            </a:r>
          </a:p>
        </p:txBody>
      </p:sp>
      <p:graphicFrame>
        <p:nvGraphicFramePr>
          <p:cNvPr id="6" name="Table 5"/>
          <p:cNvGraphicFramePr>
            <a:graphicFrameLocks noGrp="1"/>
          </p:cNvGraphicFramePr>
          <p:nvPr/>
        </p:nvGraphicFramePr>
        <p:xfrm>
          <a:off x="502920" y="1737360"/>
          <a:ext cx="8138158" cy="1645919"/>
        </p:xfrm>
        <a:graphic>
          <a:graphicData uri="http://schemas.openxmlformats.org/drawingml/2006/table">
            <a:tbl>
              <a:tblPr firstRow="1" bandRow="1">
                <a:tableStyleId>{5C22544A-7EE6-4342-B048-85BDC9FD1C3A}</a:tableStyleId>
              </a:tblPr>
              <a:tblGrid>
                <a:gridCol w="1463040"/>
                <a:gridCol w="3291839"/>
                <a:gridCol w="3383279"/>
              </a:tblGrid>
              <a:tr h="329183">
                <a:tc>
                  <a:txBody>
                    <a:bodyPr/>
                    <a:lstStyle/>
                    <a:p>
                      <a:pPr algn="l"/>
                      <a:r>
                        <a:rPr sz="1100" b="1">
                          <a:solidFill>
                            <a:srgbClr val="FFFFFF"/>
                          </a:solidFill>
                          <a:latin typeface="Arial"/>
                        </a:rPr>
                        <a:t>Level</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Typical content</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Handling</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3">
                <a:tc>
                  <a:txBody>
                    <a:bodyPr/>
                    <a:lstStyle/>
                    <a:p>
                      <a:pPr algn="l"/>
                      <a:r>
                        <a:rPr sz="1100" b="0">
                          <a:solidFill>
                            <a:srgbClr val="D1D5DB"/>
                          </a:solidFill>
                          <a:latin typeface="Arial"/>
                        </a:rPr>
                        <a:t>Public</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Press releases, marketing material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No special protection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3">
                <a:tc>
                  <a:txBody>
                    <a:bodyPr/>
                    <a:lstStyle/>
                    <a:p>
                      <a:pPr algn="l"/>
                      <a:r>
                        <a:rPr sz="1100" b="0">
                          <a:solidFill>
                            <a:srgbClr val="D1D5DB"/>
                          </a:solidFill>
                          <a:latin typeface="Arial"/>
                        </a:rPr>
                        <a:t>Internal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Memos, handbooks, project reports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Not for public release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3">
                <a:tc>
                  <a:txBody>
                    <a:bodyPr/>
                    <a:lstStyle/>
                    <a:p>
                      <a:pPr algn="l"/>
                      <a:r>
                        <a:rPr sz="1100" b="0">
                          <a:solidFill>
                            <a:srgbClr val="D1D5DB"/>
                          </a:solidFill>
                          <a:latin typeface="Arial"/>
                        </a:rPr>
                        <a:t>Confidential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Personal information, customer data</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Encrypt and restrict access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7">
                <a:tc>
                  <a:txBody>
                    <a:bodyPr/>
                    <a:lstStyle/>
                    <a:p>
                      <a:pPr algn="l"/>
                      <a:r>
                        <a:rPr sz="1100" b="0">
                          <a:solidFill>
                            <a:srgbClr val="D1D5DB"/>
                          </a:solidFill>
                          <a:latin typeface="Arial"/>
                        </a:rPr>
                        <a:t>Restricted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Trade secrets, classified material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Highest protection, need to know only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bl>
          </a:graphicData>
        </a:graphic>
      </p:graphicFrame>
      <p:sp>
        <p:nvSpPr>
          <p:cNvPr id="7" name="Rounded Rectangle 6"/>
          <p:cNvSpPr/>
          <p:nvPr/>
        </p:nvSpPr>
        <p:spPr>
          <a:xfrm>
            <a:off x="502920" y="370332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81304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Classification tells you how much protection data deserves. You cannot protect what you have not labelled.</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DATA PROTECTION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Classification Drives Handling</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Storage  </a:t>
            </a:r>
            <a:r>
              <a:rPr sz="1450">
                <a:solidFill>
                  <a:srgbClr val="D1D5DB"/>
                </a:solidFill>
                <a:latin typeface="Arial"/>
              </a:rPr>
              <a:t>restricted data encrypted with tight access control; public data needs nothing special</a:t>
            </a:r>
          </a:p>
          <a:p>
            <a:pPr marL="182880" indent="137160">
              <a:lnSpc>
                <a:spcPct val="108000"/>
              </a:lnSpc>
              <a:spcAft>
                <a:spcPts val="1152"/>
              </a:spcAft>
              <a:buFont typeface="Arial"/>
              <a:buChar char="•"/>
            </a:pPr>
            <a:r>
              <a:rPr sz="1450" b="1">
                <a:solidFill>
                  <a:srgbClr val="FFFFFF"/>
                </a:solidFill>
                <a:latin typeface="Arial"/>
              </a:rPr>
              <a:t>Transmission  </a:t>
            </a:r>
            <a:r>
              <a:rPr sz="1450">
                <a:solidFill>
                  <a:srgbClr val="D1D5DB"/>
                </a:solidFill>
                <a:latin typeface="Arial"/>
              </a:rPr>
              <a:t>confidential and restricted data encrypted and sent over trusted channels</a:t>
            </a:r>
          </a:p>
          <a:p>
            <a:pPr marL="182880" indent="137160">
              <a:lnSpc>
                <a:spcPct val="108000"/>
              </a:lnSpc>
              <a:spcAft>
                <a:spcPts val="1152"/>
              </a:spcAft>
              <a:buFont typeface="Arial"/>
              <a:buChar char="•"/>
            </a:pPr>
            <a:r>
              <a:rPr sz="1450" b="1">
                <a:solidFill>
                  <a:srgbClr val="FFFFFF"/>
                </a:solidFill>
                <a:latin typeface="Arial"/>
              </a:rPr>
              <a:t>Disposal  </a:t>
            </a:r>
            <a:r>
              <a:rPr sz="1450">
                <a:solidFill>
                  <a:srgbClr val="D1D5DB"/>
                </a:solidFill>
                <a:latin typeface="Arial"/>
              </a:rPr>
              <a:t>secure wipe or physical destruction: a drive sold with restricted data is a breach</a:t>
            </a:r>
          </a:p>
          <a:p>
            <a:pPr marL="182880" indent="137160">
              <a:lnSpc>
                <a:spcPct val="108000"/>
              </a:lnSpc>
              <a:spcAft>
                <a:spcPts val="1152"/>
              </a:spcAft>
              <a:buFont typeface="Arial"/>
              <a:buChar char="•"/>
            </a:pPr>
            <a:r>
              <a:rPr sz="1450" b="1">
                <a:solidFill>
                  <a:srgbClr val="FFFFFF"/>
                </a:solidFill>
                <a:latin typeface="Arial"/>
              </a:rPr>
              <a:t>Label it  </a:t>
            </a:r>
            <a:r>
              <a:rPr sz="1450">
                <a:solidFill>
                  <a:srgbClr val="D1D5DB"/>
                </a:solidFill>
                <a:latin typeface="Arial"/>
              </a:rPr>
              <a:t>physically or as metadata, so users know what they are holding</a:t>
            </a:r>
          </a:p>
          <a:p>
            <a:pPr marL="182880" indent="137160">
              <a:lnSpc>
                <a:spcPct val="108000"/>
              </a:lnSpc>
              <a:spcAft>
                <a:spcPts val="1152"/>
              </a:spcAft>
              <a:buFont typeface="Arial"/>
              <a:buChar char="•"/>
            </a:pPr>
            <a:r>
              <a:rPr sz="1450" b="1">
                <a:solidFill>
                  <a:srgbClr val="FFFFFF"/>
                </a:solidFill>
                <a:latin typeface="Arial"/>
              </a:rPr>
              <a:t>Train people  </a:t>
            </a:r>
            <a:r>
              <a:rPr sz="1450">
                <a:solidFill>
                  <a:srgbClr val="D1D5DB"/>
                </a:solidFill>
                <a:latin typeface="Arial"/>
              </a:rPr>
              <a:t>until classification becomes habit rather than paperwork</a:t>
            </a:r>
          </a:p>
          <a:p>
            <a:pPr marL="182880" indent="137160">
              <a:lnSpc>
                <a:spcPct val="108000"/>
              </a:lnSpc>
              <a:spcAft>
                <a:spcPts val="1152"/>
              </a:spcAft>
              <a:buFont typeface="Arial"/>
              <a:buChar char="•"/>
            </a:pPr>
            <a:r>
              <a:rPr sz="1450" b="1">
                <a:solidFill>
                  <a:srgbClr val="FFFFFF"/>
                </a:solidFill>
                <a:latin typeface="Arial"/>
              </a:rPr>
              <a:t>Review the policy  </a:t>
            </a:r>
            <a:r>
              <a:rPr sz="1450">
                <a:solidFill>
                  <a:srgbClr val="D1D5DB"/>
                </a:solidFill>
                <a:latin typeface="Arial"/>
              </a:rPr>
              <a:t>as the business changes</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Classification only earns its keep when it changes behaviour. A label nobody reads is decoration.</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DATA PROTECTION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Protecting Data at Rest</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Full disk encryption  </a:t>
            </a:r>
            <a:r>
              <a:rPr sz="1450">
                <a:solidFill>
                  <a:srgbClr val="D1D5DB"/>
                </a:solidFill>
                <a:latin typeface="Arial"/>
              </a:rPr>
              <a:t>protects everything on the drive, which is what a stolen laptop needs</a:t>
            </a:r>
          </a:p>
          <a:p>
            <a:pPr marL="182880" indent="137160">
              <a:lnSpc>
                <a:spcPct val="108000"/>
              </a:lnSpc>
              <a:spcAft>
                <a:spcPts val="1152"/>
              </a:spcAft>
              <a:buFont typeface="Arial"/>
              <a:buChar char="•"/>
            </a:pPr>
            <a:r>
              <a:rPr sz="1450" b="1">
                <a:solidFill>
                  <a:srgbClr val="FFFFFF"/>
                </a:solidFill>
                <a:latin typeface="Arial"/>
              </a:rPr>
              <a:t>Examples  </a:t>
            </a:r>
            <a:r>
              <a:rPr sz="1450">
                <a:solidFill>
                  <a:srgbClr val="D1D5DB"/>
                </a:solidFill>
                <a:latin typeface="Arial"/>
              </a:rPr>
              <a:t>BitLocker on Windows, FileVault on macOS</a:t>
            </a:r>
          </a:p>
          <a:p>
            <a:pPr marL="182880" indent="137160">
              <a:lnSpc>
                <a:spcPct val="108000"/>
              </a:lnSpc>
              <a:spcAft>
                <a:spcPts val="1152"/>
              </a:spcAft>
              <a:buFont typeface="Arial"/>
              <a:buChar char="•"/>
            </a:pPr>
            <a:r>
              <a:rPr sz="1450" b="1">
                <a:solidFill>
                  <a:srgbClr val="FFFFFF"/>
                </a:solidFill>
                <a:latin typeface="Arial"/>
              </a:rPr>
              <a:t>File level encryption  </a:t>
            </a:r>
            <a:r>
              <a:rPr sz="1450">
                <a:solidFill>
                  <a:srgbClr val="D1D5DB"/>
                </a:solidFill>
                <a:latin typeface="Arial"/>
              </a:rPr>
              <a:t>selected files and directories; Encrypting File System on Windows</a:t>
            </a:r>
          </a:p>
          <a:p>
            <a:pPr marL="182880" indent="137160">
              <a:lnSpc>
                <a:spcPct val="108000"/>
              </a:lnSpc>
              <a:spcAft>
                <a:spcPts val="1152"/>
              </a:spcAft>
              <a:buFont typeface="Arial"/>
              <a:buChar char="•"/>
            </a:pPr>
            <a:r>
              <a:rPr sz="1450" b="1">
                <a:solidFill>
                  <a:srgbClr val="FFFFFF"/>
                </a:solidFill>
                <a:latin typeface="Arial"/>
              </a:rPr>
              <a:t>Database encryption  </a:t>
            </a:r>
            <a:r>
              <a:rPr sz="1450">
                <a:solidFill>
                  <a:srgbClr val="D1D5DB"/>
                </a:solidFill>
                <a:latin typeface="Arial"/>
              </a:rPr>
              <a:t>whole tablespaces, or single sensitive columns</a:t>
            </a:r>
          </a:p>
          <a:p>
            <a:pPr marL="182880" indent="137160">
              <a:lnSpc>
                <a:spcPct val="108000"/>
              </a:lnSpc>
              <a:spcAft>
                <a:spcPts val="1152"/>
              </a:spcAft>
              <a:buFont typeface="Arial"/>
              <a:buChar char="•"/>
            </a:pPr>
            <a:r>
              <a:rPr sz="1450" b="1">
                <a:solidFill>
                  <a:srgbClr val="FFFFFF"/>
                </a:solidFill>
                <a:latin typeface="Arial"/>
              </a:rPr>
              <a:t>Key management  </a:t>
            </a:r>
            <a:r>
              <a:rPr sz="1450">
                <a:solidFill>
                  <a:srgbClr val="D1D5DB"/>
                </a:solidFill>
                <a:latin typeface="Arial"/>
              </a:rPr>
              <a:t>generate keys securely, store them safely, rotate them, restrict their use</a:t>
            </a:r>
          </a:p>
          <a:p>
            <a:pPr marL="182880" indent="137160">
              <a:lnSpc>
                <a:spcPct val="108000"/>
              </a:lnSpc>
              <a:spcAft>
                <a:spcPts val="1152"/>
              </a:spcAft>
              <a:buFont typeface="Arial"/>
              <a:buChar char="•"/>
            </a:pPr>
            <a:r>
              <a:rPr sz="1450" b="1">
                <a:solidFill>
                  <a:srgbClr val="FFFFFF"/>
                </a:solidFill>
                <a:latin typeface="Arial"/>
              </a:rPr>
              <a:t>Hardware security module  </a:t>
            </a:r>
            <a:r>
              <a:rPr sz="1450">
                <a:solidFill>
                  <a:srgbClr val="D1D5DB"/>
                </a:solidFill>
                <a:latin typeface="Arial"/>
              </a:rPr>
              <a:t>holds keys in tamper resistant hardware</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Encryption is only as strong as the key handling behind it.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DATA PROTECTION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Secure Disposal and Physical Protection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Wiping  </a:t>
            </a:r>
            <a:r>
              <a:rPr sz="1450">
                <a:solidFill>
                  <a:srgbClr val="D1D5DB"/>
                </a:solidFill>
                <a:latin typeface="Arial"/>
              </a:rPr>
              <a:t>overwrites the data so it cannot be recovered, on hard disk drives and solid state drives</a:t>
            </a:r>
          </a:p>
          <a:p>
            <a:pPr marL="182880" indent="137160">
              <a:lnSpc>
                <a:spcPct val="108000"/>
              </a:lnSpc>
              <a:spcAft>
                <a:spcPts val="1152"/>
              </a:spcAft>
              <a:buFont typeface="Arial"/>
              <a:buChar char="•"/>
            </a:pPr>
            <a:r>
              <a:rPr sz="1450" b="1">
                <a:solidFill>
                  <a:srgbClr val="FFFFFF"/>
                </a:solidFill>
                <a:latin typeface="Arial"/>
              </a:rPr>
              <a:t>Degaussing  </a:t>
            </a:r>
            <a:r>
              <a:rPr sz="1450">
                <a:solidFill>
                  <a:srgbClr val="D1D5DB"/>
                </a:solidFill>
                <a:latin typeface="Arial"/>
              </a:rPr>
              <a:t>a strong magnet: destroys magnetic media, and does nothing useful to solid state drives</a:t>
            </a:r>
          </a:p>
          <a:p>
            <a:pPr marL="182880" indent="137160">
              <a:lnSpc>
                <a:spcPct val="108000"/>
              </a:lnSpc>
              <a:spcAft>
                <a:spcPts val="1152"/>
              </a:spcAft>
              <a:buFont typeface="Arial"/>
              <a:buChar char="•"/>
            </a:pPr>
            <a:r>
              <a:rPr sz="1450" b="1">
                <a:solidFill>
                  <a:srgbClr val="FFFFFF"/>
                </a:solidFill>
                <a:latin typeface="Arial"/>
              </a:rPr>
              <a:t>Destruction  </a:t>
            </a:r>
            <a:r>
              <a:rPr sz="1450">
                <a:solidFill>
                  <a:srgbClr val="D1D5DB"/>
                </a:solidFill>
                <a:latin typeface="Arial"/>
              </a:rPr>
              <a:t>shredding, crushing or incineration, the right answer for highly sensitive media</a:t>
            </a:r>
          </a:p>
          <a:p>
            <a:pPr marL="182880" indent="137160">
              <a:lnSpc>
                <a:spcPct val="108000"/>
              </a:lnSpc>
              <a:spcAft>
                <a:spcPts val="1152"/>
              </a:spcAft>
              <a:buFont typeface="Arial"/>
              <a:buChar char="•"/>
            </a:pPr>
            <a:r>
              <a:rPr sz="1450" b="1">
                <a:solidFill>
                  <a:srgbClr val="FFFFFF"/>
                </a:solidFill>
                <a:latin typeface="Arial"/>
              </a:rPr>
              <a:t>Physical access control  </a:t>
            </a:r>
            <a:r>
              <a:rPr sz="1450">
                <a:solidFill>
                  <a:srgbClr val="D1D5DB"/>
                </a:solidFill>
                <a:latin typeface="Arial"/>
              </a:rPr>
              <a:t>on server rooms and media stores</a:t>
            </a:r>
          </a:p>
          <a:p>
            <a:pPr marL="182880" indent="137160">
              <a:lnSpc>
                <a:spcPct val="108000"/>
              </a:lnSpc>
              <a:spcAft>
                <a:spcPts val="1152"/>
              </a:spcAft>
              <a:buFont typeface="Arial"/>
              <a:buChar char="•"/>
            </a:pPr>
            <a:r>
              <a:rPr sz="1450" b="1">
                <a:solidFill>
                  <a:srgbClr val="FFFFFF"/>
                </a:solidFill>
                <a:latin typeface="Arial"/>
              </a:rPr>
              <a:t>Environmental protection  </a:t>
            </a:r>
            <a:r>
              <a:rPr sz="1450">
                <a:solidFill>
                  <a:srgbClr val="D1D5DB"/>
                </a:solidFill>
                <a:latin typeface="Arial"/>
              </a:rPr>
              <a:t>against fire, flood and heat</a:t>
            </a:r>
          </a:p>
          <a:p>
            <a:pPr marL="182880" indent="137160">
              <a:lnSpc>
                <a:spcPct val="108000"/>
              </a:lnSpc>
              <a:spcAft>
                <a:spcPts val="1152"/>
              </a:spcAft>
              <a:buFont typeface="Arial"/>
              <a:buChar char="•"/>
            </a:pPr>
            <a:r>
              <a:rPr sz="1450" b="1">
                <a:solidFill>
                  <a:srgbClr val="FFFFFF"/>
                </a:solidFill>
                <a:latin typeface="Arial"/>
              </a:rPr>
              <a:t>Pair them  </a:t>
            </a:r>
            <a:r>
              <a:rPr sz="1450">
                <a:solidFill>
                  <a:srgbClr val="D1D5DB"/>
                </a:solidFill>
                <a:latin typeface="Arial"/>
              </a:rPr>
              <a:t>encryption plus physical control, never one alone</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The end of a device life is still part of its security. Disposal is where good intentions leak.</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4 · DATA PROTECTION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Protecting Data in Transit</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Use the secure version  </a:t>
            </a:r>
            <a:r>
              <a:rPr sz="1450">
                <a:solidFill>
                  <a:srgbClr val="D1D5DB"/>
                </a:solidFill>
                <a:latin typeface="Arial"/>
              </a:rPr>
              <a:t>of every protocol you already know</a:t>
            </a:r>
          </a:p>
          <a:p>
            <a:pPr marL="182880" indent="137160">
              <a:lnSpc>
                <a:spcPct val="108000"/>
              </a:lnSpc>
              <a:spcAft>
                <a:spcPts val="1152"/>
              </a:spcAft>
              <a:buFont typeface="Arial"/>
              <a:buChar char="•"/>
            </a:pPr>
            <a:r>
              <a:rPr sz="1450" b="1">
                <a:solidFill>
                  <a:srgbClr val="FFFFFF"/>
                </a:solidFill>
                <a:latin typeface="Arial"/>
              </a:rPr>
              <a:t>Web and files  </a:t>
            </a:r>
            <a:r>
              <a:rPr sz="1450">
                <a:solidFill>
                  <a:srgbClr val="D1D5DB"/>
                </a:solidFill>
                <a:latin typeface="Arial"/>
              </a:rPr>
              <a:t>Hypertext Transfer Protocol Secure for web, Secure File Transfer Protocol for files</a:t>
            </a:r>
          </a:p>
          <a:p>
            <a:pPr marL="182880" indent="137160">
              <a:lnSpc>
                <a:spcPct val="108000"/>
              </a:lnSpc>
              <a:spcAft>
                <a:spcPts val="1152"/>
              </a:spcAft>
              <a:buFont typeface="Arial"/>
              <a:buChar char="•"/>
            </a:pPr>
            <a:r>
              <a:rPr sz="1450" b="1">
                <a:solidFill>
                  <a:srgbClr val="FFFFFF"/>
                </a:solidFill>
                <a:latin typeface="Arial"/>
              </a:rPr>
              <a:t>Mail  </a:t>
            </a:r>
            <a:r>
              <a:rPr sz="1450">
                <a:solidFill>
                  <a:srgbClr val="D1D5DB"/>
                </a:solidFill>
                <a:latin typeface="Arial"/>
              </a:rPr>
              <a:t>Simple Mail Transfer Protocol Secure, and Pretty Good Privacy for message content</a:t>
            </a:r>
          </a:p>
          <a:p>
            <a:pPr marL="182880" indent="137160">
              <a:lnSpc>
                <a:spcPct val="108000"/>
              </a:lnSpc>
              <a:spcAft>
                <a:spcPts val="1152"/>
              </a:spcAft>
              <a:buFont typeface="Arial"/>
              <a:buChar char="•"/>
            </a:pPr>
            <a:r>
              <a:rPr sz="1450" b="1">
                <a:solidFill>
                  <a:srgbClr val="FFFFFF"/>
                </a:solidFill>
                <a:latin typeface="Arial"/>
              </a:rPr>
              <a:t>Data loss prevention  </a:t>
            </a:r>
            <a:r>
              <a:rPr sz="1450">
                <a:solidFill>
                  <a:srgbClr val="D1D5DB"/>
                </a:solidFill>
                <a:latin typeface="Arial"/>
              </a:rPr>
              <a:t>watches outbound traffic and blocks sensitive content from leaving</a:t>
            </a:r>
          </a:p>
          <a:p>
            <a:pPr marL="182880" indent="137160">
              <a:lnSpc>
                <a:spcPct val="108000"/>
              </a:lnSpc>
              <a:spcAft>
                <a:spcPts val="1152"/>
              </a:spcAft>
              <a:buFont typeface="Arial"/>
              <a:buChar char="•"/>
            </a:pPr>
            <a:r>
              <a:rPr sz="1450" b="1">
                <a:solidFill>
                  <a:srgbClr val="FFFFFF"/>
                </a:solidFill>
                <a:latin typeface="Arial"/>
              </a:rPr>
              <a:t>Validate certificates  </a:t>
            </a:r>
            <a:r>
              <a:rPr sz="1450">
                <a:solidFill>
                  <a:srgbClr val="D1D5DB"/>
                </a:solidFill>
                <a:latin typeface="Arial"/>
              </a:rPr>
              <a:t>signature, expiry and revocation status</a:t>
            </a:r>
          </a:p>
          <a:p>
            <a:pPr marL="182880" indent="137160">
              <a:lnSpc>
                <a:spcPct val="108000"/>
              </a:lnSpc>
              <a:spcAft>
                <a:spcPts val="1152"/>
              </a:spcAft>
              <a:buFont typeface="Arial"/>
              <a:buChar char="•"/>
            </a:pPr>
            <a:r>
              <a:rPr sz="1450" b="1">
                <a:solidFill>
                  <a:srgbClr val="FFFFFF"/>
                </a:solidFill>
                <a:latin typeface="Arial"/>
              </a:rPr>
              <a:t>The rule  </a:t>
            </a:r>
            <a:r>
              <a:rPr sz="1450">
                <a:solidFill>
                  <a:srgbClr val="D1D5DB"/>
                </a:solidFill>
                <a:latin typeface="Arial"/>
              </a:rPr>
              <a:t>never assume the network is safe, because sometimes it is not</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Accepting a certificate warning is exactly how an attacker in the middle succeeds.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RESILIENCE AND RECOVERY</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Resilience and Recovery</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Availability  </a:t>
            </a:r>
            <a:r>
              <a:rPr sz="1450">
                <a:solidFill>
                  <a:srgbClr val="D1D5DB"/>
                </a:solidFill>
                <a:latin typeface="Arial"/>
              </a:rPr>
              <a:t>redundancy in layers, and the removal of single points of failure</a:t>
            </a:r>
          </a:p>
          <a:p>
            <a:pPr marL="182880" indent="137160">
              <a:lnSpc>
                <a:spcPct val="108000"/>
              </a:lnSpc>
              <a:spcAft>
                <a:spcPts val="1152"/>
              </a:spcAft>
              <a:buFont typeface="Arial"/>
              <a:buChar char="•"/>
            </a:pPr>
            <a:r>
              <a:rPr sz="1450" b="1">
                <a:solidFill>
                  <a:srgbClr val="FFFFFF"/>
                </a:solidFill>
                <a:latin typeface="Arial"/>
              </a:rPr>
              <a:t>Alternate sites  </a:t>
            </a:r>
            <a:r>
              <a:rPr sz="1450">
                <a:solidFill>
                  <a:srgbClr val="D1D5DB"/>
                </a:solidFill>
                <a:latin typeface="Arial"/>
              </a:rPr>
              <a:t>hot, warm and cold, and the geography that suits them</a:t>
            </a:r>
          </a:p>
          <a:p>
            <a:pPr marL="182880" indent="137160">
              <a:lnSpc>
                <a:spcPct val="108000"/>
              </a:lnSpc>
              <a:spcAft>
                <a:spcPts val="1152"/>
              </a:spcAft>
              <a:buFont typeface="Arial"/>
              <a:buChar char="•"/>
            </a:pPr>
            <a:r>
              <a:rPr sz="1450" b="1">
                <a:solidFill>
                  <a:srgbClr val="FFFFFF"/>
                </a:solidFill>
                <a:latin typeface="Arial"/>
              </a:rPr>
              <a:t>Backup and recovery  </a:t>
            </a:r>
            <a:r>
              <a:rPr sz="1450">
                <a:solidFill>
                  <a:srgbClr val="D1D5DB"/>
                </a:solidFill>
                <a:latin typeface="Arial"/>
              </a:rPr>
              <a:t>the strategies, and the objectives that drive the design</a:t>
            </a:r>
          </a:p>
          <a:p>
            <a:pPr marL="182880" indent="137160">
              <a:lnSpc>
                <a:spcPct val="108000"/>
              </a:lnSpc>
              <a:spcAft>
                <a:spcPts val="1152"/>
              </a:spcAft>
              <a:buFont typeface="Arial"/>
              <a:buChar char="•"/>
            </a:pPr>
            <a:r>
              <a:rPr sz="1450" b="1">
                <a:solidFill>
                  <a:srgbClr val="FFFFFF"/>
                </a:solidFill>
                <a:latin typeface="Arial"/>
              </a:rPr>
              <a:t>Facilities  </a:t>
            </a:r>
            <a:r>
              <a:rPr sz="1450">
                <a:solidFill>
                  <a:srgbClr val="D1D5DB"/>
                </a:solidFill>
                <a:latin typeface="Arial"/>
              </a:rPr>
              <a:t>power, environment and platform diversity</a:t>
            </a:r>
          </a:p>
          <a:p>
            <a:pPr marL="182880" indent="137160">
              <a:lnSpc>
                <a:spcPct val="108000"/>
              </a:lnSpc>
              <a:spcAft>
                <a:spcPts val="1152"/>
              </a:spcAft>
              <a:buFont typeface="Arial"/>
              <a:buChar char="•"/>
            </a:pPr>
            <a:r>
              <a:rPr sz="1450" b="1">
                <a:solidFill>
                  <a:srgbClr val="FFFFFF"/>
                </a:solidFill>
                <a:latin typeface="Arial"/>
              </a:rPr>
              <a:t>Testing  </a:t>
            </a:r>
            <a:r>
              <a:rPr sz="1450">
                <a:solidFill>
                  <a:srgbClr val="D1D5DB"/>
                </a:solidFill>
                <a:latin typeface="Arial"/>
              </a:rPr>
              <a:t>because an untested plan is only a guess</a:t>
            </a:r>
          </a:p>
        </p:txBody>
      </p:sp>
      <p:sp>
        <p:nvSpPr>
          <p:cNvPr id="7" name="Rounded Rectangle 6"/>
          <p:cNvSpPr/>
          <p:nvPr/>
        </p:nvSpPr>
        <p:spPr>
          <a:xfrm>
            <a:off x="502920" y="4069080"/>
            <a:ext cx="8138160" cy="7132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78808"/>
            <a:ext cx="7680960" cy="548640"/>
          </a:xfrm>
          <a:prstGeom prst="rect">
            <a:avLst/>
          </a:prstGeom>
          <a:noFill/>
        </p:spPr>
        <p:txBody>
          <a:bodyPr wrap="square" lIns="0" rIns="0" tIns="0" bIns="0">
            <a:spAutoFit/>
          </a:bodyPr>
          <a:lstStyle/>
          <a:p>
            <a:pPr>
              <a:lnSpc>
                <a:spcPct val="108000"/>
              </a:lnSpc>
            </a:pPr>
            <a:r>
              <a:rPr sz="1250">
                <a:solidFill>
                  <a:srgbClr val="F3D9D9"/>
                </a:solidFill>
                <a:latin typeface="Arial"/>
              </a:rPr>
              <a:t>Resilience is a design habit, built from redundancy, planning and rehearsal. A service that has never been failed over on purpose is a service nobody really understands.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RESILIENCE AND RECOVERY</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High Availability Concepts</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Measured  </a:t>
            </a:r>
            <a:r>
              <a:rPr sz="1450">
                <a:solidFill>
                  <a:srgbClr val="D1D5DB"/>
                </a:solidFill>
                <a:latin typeface="Arial"/>
              </a:rPr>
              <a:t>uptime percentage and mean time between failures</a:t>
            </a:r>
          </a:p>
          <a:p>
            <a:pPr marL="182880" indent="137160">
              <a:lnSpc>
                <a:spcPct val="108000"/>
              </a:lnSpc>
              <a:spcAft>
                <a:spcPts val="1152"/>
              </a:spcAft>
              <a:buFont typeface="Arial"/>
              <a:buChar char="•"/>
            </a:pPr>
            <a:r>
              <a:rPr sz="1450" b="1">
                <a:solidFill>
                  <a:srgbClr val="FFFFFF"/>
                </a:solidFill>
                <a:latin typeface="Arial"/>
              </a:rPr>
              <a:t>RAID  </a:t>
            </a:r>
            <a:r>
              <a:rPr sz="1450">
                <a:solidFill>
                  <a:srgbClr val="D1D5DB"/>
                </a:solidFill>
                <a:latin typeface="Arial"/>
              </a:rPr>
              <a:t>a redundant array of independent disks, mirrored for fault tolerance</a:t>
            </a:r>
          </a:p>
          <a:p>
            <a:pPr marL="182880" indent="137160">
              <a:lnSpc>
                <a:spcPct val="108000"/>
              </a:lnSpc>
              <a:spcAft>
                <a:spcPts val="1152"/>
              </a:spcAft>
              <a:buFont typeface="Arial"/>
              <a:buChar char="•"/>
            </a:pPr>
            <a:r>
              <a:rPr sz="1450" b="1">
                <a:solidFill>
                  <a:srgbClr val="FFFFFF"/>
                </a:solidFill>
                <a:latin typeface="Arial"/>
              </a:rPr>
              <a:t>Teamed network cards  </a:t>
            </a:r>
            <a:r>
              <a:rPr sz="1450">
                <a:solidFill>
                  <a:srgbClr val="D1D5DB"/>
                </a:solidFill>
                <a:latin typeface="Arial"/>
              </a:rPr>
              <a:t>for redundancy and extra bandwidth</a:t>
            </a:r>
          </a:p>
          <a:p>
            <a:pPr marL="182880" indent="137160">
              <a:lnSpc>
                <a:spcPct val="108000"/>
              </a:lnSpc>
              <a:spcAft>
                <a:spcPts val="1152"/>
              </a:spcAft>
              <a:buFont typeface="Arial"/>
              <a:buChar char="•"/>
            </a:pPr>
            <a:r>
              <a:rPr sz="1450" b="1">
                <a:solidFill>
                  <a:srgbClr val="FFFFFF"/>
                </a:solidFill>
                <a:latin typeface="Arial"/>
              </a:rPr>
              <a:t>Clustered servers  </a:t>
            </a:r>
            <a:r>
              <a:rPr sz="1450">
                <a:solidFill>
                  <a:srgbClr val="D1D5DB"/>
                </a:solidFill>
                <a:latin typeface="Arial"/>
              </a:rPr>
              <a:t>take over from each other</a:t>
            </a:r>
          </a:p>
          <a:p>
            <a:pPr marL="182880" indent="137160">
              <a:lnSpc>
                <a:spcPct val="108000"/>
              </a:lnSpc>
              <a:spcAft>
                <a:spcPts val="1152"/>
              </a:spcAft>
              <a:buFont typeface="Arial"/>
              <a:buChar char="•"/>
            </a:pPr>
            <a:r>
              <a:rPr sz="1450" b="1">
                <a:solidFill>
                  <a:srgbClr val="FFFFFF"/>
                </a:solidFill>
                <a:latin typeface="Arial"/>
              </a:rPr>
              <a:t>Load balancing  </a:t>
            </a:r>
            <a:r>
              <a:rPr sz="1450">
                <a:solidFill>
                  <a:srgbClr val="D1D5DB"/>
                </a:solidFill>
                <a:latin typeface="Arial"/>
              </a:rPr>
              <a:t>spreads traffic and checks health before sending work</a:t>
            </a:r>
          </a:p>
          <a:p>
            <a:pPr marL="182880" indent="137160">
              <a:lnSpc>
                <a:spcPct val="108000"/>
              </a:lnSpc>
              <a:spcAft>
                <a:spcPts val="1152"/>
              </a:spcAft>
              <a:buFont typeface="Arial"/>
              <a:buChar char="•"/>
            </a:pPr>
            <a:r>
              <a:rPr sz="1450" b="1">
                <a:solidFill>
                  <a:srgbClr val="FFFFFF"/>
                </a:solidFill>
                <a:latin typeface="Arial"/>
              </a:rPr>
              <a:t>Failover  </a:t>
            </a:r>
            <a:r>
              <a:rPr sz="1450">
                <a:solidFill>
                  <a:srgbClr val="D1D5DB"/>
                </a:solidFill>
                <a:latin typeface="Arial"/>
              </a:rPr>
              <a:t>moves control to a standby system; automatic beats a human with a phone</a:t>
            </a:r>
          </a:p>
          <a:p>
            <a:pPr marL="182880" indent="137160">
              <a:lnSpc>
                <a:spcPct val="108000"/>
              </a:lnSpc>
              <a:spcAft>
                <a:spcPts val="1152"/>
              </a:spcAft>
              <a:buFont typeface="Arial"/>
              <a:buChar char="•"/>
            </a:pPr>
            <a:r>
              <a:rPr sz="1450" b="1">
                <a:solidFill>
                  <a:srgbClr val="FFFFFF"/>
                </a:solidFill>
                <a:latin typeface="Arial"/>
              </a:rPr>
              <a:t>The aim  </a:t>
            </a:r>
            <a:r>
              <a:rPr sz="1450">
                <a:solidFill>
                  <a:srgbClr val="D1D5DB"/>
                </a:solidFill>
                <a:latin typeface="Arial"/>
              </a:rPr>
              <a:t>remove single points of failure, including power supplies and switches</a:t>
            </a:r>
          </a:p>
        </p:txBody>
      </p:sp>
      <p:sp>
        <p:nvSpPr>
          <p:cNvPr id="7" name="Rounded Rectangle 6"/>
          <p:cNvSpPr/>
          <p:nvPr/>
        </p:nvSpPr>
        <p:spPr>
          <a:xfrm>
            <a:off x="502920" y="402336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3308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Availability is designed, not hoped for.</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RESILIENCE AND RECOVERY</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Alternate Sites and Geography</a:t>
            </a:r>
          </a:p>
        </p:txBody>
      </p:sp>
      <p:graphicFrame>
        <p:nvGraphicFramePr>
          <p:cNvPr id="6" name="Table 5"/>
          <p:cNvGraphicFramePr>
            <a:graphicFrameLocks noGrp="1"/>
          </p:cNvGraphicFramePr>
          <p:nvPr/>
        </p:nvGraphicFramePr>
        <p:xfrm>
          <a:off x="502920" y="1737360"/>
          <a:ext cx="8138160" cy="1316736"/>
        </p:xfrm>
        <a:graphic>
          <a:graphicData uri="http://schemas.openxmlformats.org/drawingml/2006/table">
            <a:tbl>
              <a:tblPr firstRow="1" bandRow="1">
                <a:tableStyleId>{5C22544A-7EE6-4342-B048-85BDC9FD1C3A}</a:tableStyleId>
              </a:tblPr>
              <a:tblGrid>
                <a:gridCol w="1097280"/>
                <a:gridCol w="5577840"/>
                <a:gridCol w="1463040"/>
              </a:tblGrid>
              <a:tr h="329184">
                <a:tc>
                  <a:txBody>
                    <a:bodyPr/>
                    <a:lstStyle/>
                    <a:p>
                      <a:pPr algn="l"/>
                      <a:r>
                        <a:rPr sz="1100" b="1">
                          <a:solidFill>
                            <a:srgbClr val="FFFFFF"/>
                          </a:solidFill>
                          <a:latin typeface="Arial"/>
                        </a:rPr>
                        <a:t>Site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Readiness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Relative cost</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Hot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Fully equipped with current data, immediate failover</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Highest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Warm</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Hardware in place, data must be restored and systems configured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Moderate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Cold</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Power and cooling only, an empty shell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Lowest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383280"/>
            <a:ext cx="8138160" cy="82296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493008"/>
            <a:ext cx="7680960" cy="658368"/>
          </a:xfrm>
          <a:prstGeom prst="rect">
            <a:avLst/>
          </a:prstGeom>
          <a:noFill/>
        </p:spPr>
        <p:txBody>
          <a:bodyPr wrap="square" lIns="0" rIns="0" tIns="0" bIns="0">
            <a:spAutoFit/>
          </a:bodyPr>
          <a:lstStyle/>
          <a:p>
            <a:pPr>
              <a:lnSpc>
                <a:spcPct val="108000"/>
              </a:lnSpc>
            </a:pPr>
            <a:r>
              <a:rPr sz="1250">
                <a:solidFill>
                  <a:srgbClr val="F3D9D9"/>
                </a:solidFill>
                <a:latin typeface="Arial"/>
              </a:rPr>
              <a:t>Geography is the balancing act: far enough apart that one flood cannot take both sites, close enough that replication stays acceptable.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RESILIENCE AND RECOVERY</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Backup Strategies and Recovery Objectives</a:t>
            </a:r>
          </a:p>
        </p:txBody>
      </p:sp>
      <p:graphicFrame>
        <p:nvGraphicFramePr>
          <p:cNvPr id="6" name="Table 5"/>
          <p:cNvGraphicFramePr>
            <a:graphicFrameLocks noGrp="1"/>
          </p:cNvGraphicFramePr>
          <p:nvPr/>
        </p:nvGraphicFramePr>
        <p:xfrm>
          <a:off x="502920" y="1737360"/>
          <a:ext cx="8138160" cy="1975104"/>
        </p:xfrm>
        <a:graphic>
          <a:graphicData uri="http://schemas.openxmlformats.org/drawingml/2006/table">
            <a:tbl>
              <a:tblPr firstRow="1" bandRow="1">
                <a:tableStyleId>{5C22544A-7EE6-4342-B048-85BDC9FD1C3A}</a:tableStyleId>
              </a:tblPr>
              <a:tblGrid>
                <a:gridCol w="2743200"/>
                <a:gridCol w="5394960"/>
              </a:tblGrid>
              <a:tr h="329184">
                <a:tc>
                  <a:txBody>
                    <a:bodyPr/>
                    <a:lstStyle/>
                    <a:p>
                      <a:pPr algn="l"/>
                      <a:r>
                        <a:rPr sz="1100" b="1">
                          <a:solidFill>
                            <a:srgbClr val="FFFFFF"/>
                          </a:solidFill>
                          <a:latin typeface="Arial"/>
                        </a:rPr>
                        <a:t>Strategy or objective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What it means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Full backup</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Copies everything: simplest restore, largest and slowest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Incremental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Changes since the last backup of any kind; restore needs the full plus every increment</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Differential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Everything since the last full backup; restores faster than incremental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Recovery Point Objective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How much data the business can afford to lose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Recovery Time Objective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How long the service can be unavailable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794760"/>
            <a:ext cx="8138160" cy="7132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904488"/>
            <a:ext cx="7680960" cy="548640"/>
          </a:xfrm>
          <a:prstGeom prst="rect">
            <a:avLst/>
          </a:prstGeom>
          <a:noFill/>
        </p:spPr>
        <p:txBody>
          <a:bodyPr wrap="square" lIns="0" rIns="0" tIns="0" bIns="0">
            <a:spAutoFit/>
          </a:bodyPr>
          <a:lstStyle/>
          <a:p>
            <a:pPr>
              <a:lnSpc>
                <a:spcPct val="108000"/>
              </a:lnSpc>
            </a:pPr>
            <a:r>
              <a:rPr sz="1250">
                <a:solidFill>
                  <a:srgbClr val="F3D9D9"/>
                </a:solidFill>
                <a:latin typeface="Arial"/>
              </a:rPr>
              <a:t>Backups are the last line of defence, and the recovery objective comes first. Design the backup to meet the objective, not the other way round.</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RESILIENCE AND RECOVERY</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Power, Environment and Platform Diversity</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Uninterruptible power supply  </a:t>
            </a:r>
            <a:r>
              <a:rPr sz="1450">
                <a:solidFill>
                  <a:srgbClr val="D1D5DB"/>
                </a:solidFill>
                <a:latin typeface="Arial"/>
              </a:rPr>
              <a:t>carries the load through a short outage</a:t>
            </a:r>
          </a:p>
          <a:p>
            <a:pPr marL="182880" indent="137160">
              <a:lnSpc>
                <a:spcPct val="108000"/>
              </a:lnSpc>
              <a:spcAft>
                <a:spcPts val="1152"/>
              </a:spcAft>
              <a:buFont typeface="Arial"/>
              <a:buChar char="•"/>
            </a:pPr>
            <a:r>
              <a:rPr sz="1450" b="1">
                <a:solidFill>
                  <a:srgbClr val="FFFFFF"/>
                </a:solidFill>
                <a:latin typeface="Arial"/>
              </a:rPr>
              <a:t>Generators  </a:t>
            </a:r>
            <a:r>
              <a:rPr sz="1450">
                <a:solidFill>
                  <a:srgbClr val="D1D5DB"/>
                </a:solidFill>
                <a:latin typeface="Arial"/>
              </a:rPr>
              <a:t>cover a long outage, and are used together with the UPS</a:t>
            </a:r>
          </a:p>
          <a:p>
            <a:pPr marL="182880" indent="137160">
              <a:lnSpc>
                <a:spcPct val="108000"/>
              </a:lnSpc>
              <a:spcAft>
                <a:spcPts val="1152"/>
              </a:spcAft>
              <a:buFont typeface="Arial"/>
              <a:buChar char="•"/>
            </a:pPr>
            <a:r>
              <a:rPr sz="1450" b="1">
                <a:solidFill>
                  <a:srgbClr val="FFFFFF"/>
                </a:solidFill>
                <a:latin typeface="Arial"/>
              </a:rPr>
              <a:t>Cooling  </a:t>
            </a:r>
            <a:r>
              <a:rPr sz="1450">
                <a:solidFill>
                  <a:srgbClr val="D1D5DB"/>
                </a:solidFill>
                <a:latin typeface="Arial"/>
              </a:rPr>
              <a:t>prevents overheating and hardware failure</a:t>
            </a:r>
          </a:p>
          <a:p>
            <a:pPr marL="182880" indent="137160">
              <a:lnSpc>
                <a:spcPct val="108000"/>
              </a:lnSpc>
              <a:spcAft>
                <a:spcPts val="1152"/>
              </a:spcAft>
              <a:buFont typeface="Arial"/>
              <a:buChar char="•"/>
            </a:pPr>
            <a:r>
              <a:rPr sz="1450" b="1">
                <a:solidFill>
                  <a:srgbClr val="FFFFFF"/>
                </a:solidFill>
                <a:latin typeface="Arial"/>
              </a:rPr>
              <a:t>Fire suppression  </a:t>
            </a:r>
            <a:r>
              <a:rPr sz="1450">
                <a:solidFill>
                  <a:srgbClr val="D1D5DB"/>
                </a:solidFill>
                <a:latin typeface="Arial"/>
              </a:rPr>
              <a:t>protects the equipment</a:t>
            </a:r>
          </a:p>
          <a:p>
            <a:pPr marL="182880" indent="137160">
              <a:lnSpc>
                <a:spcPct val="108000"/>
              </a:lnSpc>
              <a:spcAft>
                <a:spcPts val="1152"/>
              </a:spcAft>
              <a:buFont typeface="Arial"/>
              <a:buChar char="•"/>
            </a:pPr>
            <a:r>
              <a:rPr sz="1450" b="1">
                <a:solidFill>
                  <a:srgbClr val="FFFFFF"/>
                </a:solidFill>
                <a:latin typeface="Arial"/>
              </a:rPr>
              <a:t>Humidity control  </a:t>
            </a:r>
            <a:r>
              <a:rPr sz="1450">
                <a:solidFill>
                  <a:srgbClr val="D1D5DB"/>
                </a:solidFill>
                <a:latin typeface="Arial"/>
              </a:rPr>
              <a:t>stops static discharge and condensation</a:t>
            </a:r>
          </a:p>
          <a:p>
            <a:pPr marL="182880" indent="137160">
              <a:lnSpc>
                <a:spcPct val="108000"/>
              </a:lnSpc>
              <a:spcAft>
                <a:spcPts val="1152"/>
              </a:spcAft>
              <a:buFont typeface="Arial"/>
              <a:buChar char="•"/>
            </a:pPr>
            <a:r>
              <a:rPr sz="1450" b="1">
                <a:solidFill>
                  <a:srgbClr val="FFFFFF"/>
                </a:solidFill>
                <a:latin typeface="Arial"/>
              </a:rPr>
              <a:t>Platform diversity  </a:t>
            </a:r>
            <a:r>
              <a:rPr sz="1450">
                <a:solidFill>
                  <a:srgbClr val="D1D5DB"/>
                </a:solidFill>
                <a:latin typeface="Arial"/>
              </a:rPr>
              <a:t>different technologies, more than one vendor</a:t>
            </a:r>
          </a:p>
          <a:p>
            <a:pPr marL="182880" indent="137160">
              <a:lnSpc>
                <a:spcPct val="108000"/>
              </a:lnSpc>
              <a:spcAft>
                <a:spcPts val="1152"/>
              </a:spcAft>
              <a:buFont typeface="Arial"/>
              <a:buChar char="•"/>
            </a:pPr>
            <a:r>
              <a:rPr sz="1450" b="1">
                <a:solidFill>
                  <a:srgbClr val="FFFFFF"/>
                </a:solidFill>
                <a:latin typeface="Arial"/>
              </a:rPr>
              <a:t>The payoff  </a:t>
            </a:r>
            <a:r>
              <a:rPr sz="1450">
                <a:solidFill>
                  <a:srgbClr val="D1D5DB"/>
                </a:solidFill>
                <a:latin typeface="Arial"/>
              </a:rPr>
              <a:t>a single flaw or one supplier failing cannot take everything down at once</a:t>
            </a:r>
          </a:p>
        </p:txBody>
      </p:sp>
      <p:sp>
        <p:nvSpPr>
          <p:cNvPr id="7" name="Rounded Rectangle 6"/>
          <p:cNvSpPr/>
          <p:nvPr/>
        </p:nvSpPr>
        <p:spPr>
          <a:xfrm>
            <a:off x="502920" y="402336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13308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Do not put every system on one platform. Diversity is cheap insurance.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5 · RESILIENCE AND RECOVERY</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Testing Resilience and Recovery</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Tabletop exercise  </a:t>
            </a:r>
            <a:r>
              <a:rPr sz="1450">
                <a:solidFill>
                  <a:srgbClr val="D1D5DB"/>
                </a:solidFill>
                <a:latin typeface="Arial"/>
              </a:rPr>
              <a:t>a discussion that finds gaps in plans, roles and communication</a:t>
            </a:r>
          </a:p>
          <a:p>
            <a:pPr marL="182880" indent="137160">
              <a:lnSpc>
                <a:spcPct val="108000"/>
              </a:lnSpc>
              <a:spcAft>
                <a:spcPts val="1152"/>
              </a:spcAft>
              <a:buFont typeface="Arial"/>
              <a:buChar char="•"/>
            </a:pPr>
            <a:r>
              <a:rPr sz="1450" b="1">
                <a:solidFill>
                  <a:srgbClr val="FFFFFF"/>
                </a:solidFill>
                <a:latin typeface="Arial"/>
              </a:rPr>
              <a:t>Simulation testing  </a:t>
            </a:r>
            <a:r>
              <a:rPr sz="1450">
                <a:solidFill>
                  <a:srgbClr val="D1D5DB"/>
                </a:solidFill>
                <a:latin typeface="Arial"/>
              </a:rPr>
              <a:t>runs the components under stress and modelled failure</a:t>
            </a:r>
          </a:p>
          <a:p>
            <a:pPr marL="182880" indent="137160">
              <a:lnSpc>
                <a:spcPct val="108000"/>
              </a:lnSpc>
              <a:spcAft>
                <a:spcPts val="1152"/>
              </a:spcAft>
              <a:buFont typeface="Arial"/>
              <a:buChar char="•"/>
            </a:pPr>
            <a:r>
              <a:rPr sz="1450" b="1">
                <a:solidFill>
                  <a:srgbClr val="FFFFFF"/>
                </a:solidFill>
                <a:latin typeface="Arial"/>
              </a:rPr>
              <a:t>Full failover testing  </a:t>
            </a:r>
            <a:r>
              <a:rPr sz="1450">
                <a:solidFill>
                  <a:srgbClr val="D1D5DB"/>
                </a:solidFill>
                <a:latin typeface="Arial"/>
              </a:rPr>
              <a:t>shuts the primary down on purpose and proves the backup carries the load</a:t>
            </a:r>
          </a:p>
          <a:p>
            <a:pPr marL="182880" indent="137160">
              <a:lnSpc>
                <a:spcPct val="108000"/>
              </a:lnSpc>
              <a:spcAft>
                <a:spcPts val="1152"/>
              </a:spcAft>
              <a:buFont typeface="Arial"/>
              <a:buChar char="•"/>
            </a:pPr>
            <a:r>
              <a:rPr sz="1450" b="1">
                <a:solidFill>
                  <a:srgbClr val="FFFFFF"/>
                </a:solidFill>
                <a:latin typeface="Arial"/>
              </a:rPr>
              <a:t>Parallel processing  </a:t>
            </a:r>
            <a:r>
              <a:rPr sz="1450">
                <a:solidFill>
                  <a:srgbClr val="D1D5DB"/>
                </a:solidFill>
                <a:latin typeface="Arial"/>
              </a:rPr>
              <a:t>validates recovery alongside production, without disruption</a:t>
            </a:r>
          </a:p>
          <a:p>
            <a:pPr marL="182880" indent="137160">
              <a:lnSpc>
                <a:spcPct val="108000"/>
              </a:lnSpc>
              <a:spcAft>
                <a:spcPts val="1152"/>
              </a:spcAft>
              <a:buFont typeface="Arial"/>
              <a:buChar char="•"/>
            </a:pPr>
            <a:r>
              <a:rPr sz="1450" b="1">
                <a:solidFill>
                  <a:srgbClr val="FFFFFF"/>
                </a:solidFill>
                <a:latin typeface="Arial"/>
              </a:rPr>
              <a:t>Document it  </a:t>
            </a:r>
            <a:r>
              <a:rPr sz="1450">
                <a:solidFill>
                  <a:srgbClr val="D1D5DB"/>
                </a:solidFill>
                <a:latin typeface="Arial"/>
              </a:rPr>
              <a:t>the scenarios, the actions and the lessons learned</a:t>
            </a:r>
          </a:p>
          <a:p>
            <a:pPr marL="182880" indent="137160">
              <a:lnSpc>
                <a:spcPct val="108000"/>
              </a:lnSpc>
              <a:spcAft>
                <a:spcPts val="1152"/>
              </a:spcAft>
              <a:buFont typeface="Arial"/>
              <a:buChar char="•"/>
            </a:pPr>
            <a:r>
              <a:rPr sz="1450" b="1">
                <a:solidFill>
                  <a:srgbClr val="FFFFFF"/>
                </a:solidFill>
                <a:latin typeface="Arial"/>
              </a:rPr>
              <a:t>Repeat it  </a:t>
            </a:r>
            <a:r>
              <a:rPr sz="1450">
                <a:solidFill>
                  <a:srgbClr val="D1D5DB"/>
                </a:solidFill>
                <a:latin typeface="Arial"/>
              </a:rPr>
              <a:t>test regularly, because systems and threats both change</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An untested plan is only a guess. The lessons learned are the real output of a test.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1371600"/>
            <a:ext cx="5486400" cy="2194560"/>
          </a:xfrm>
          <a:prstGeom prst="roundRect">
            <a:avLst>
              <a:gd name="adj" fmla="val 6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691640"/>
            <a:ext cx="5486400" cy="640080"/>
          </a:xfrm>
          <a:prstGeom prst="rect">
            <a:avLst/>
          </a:prstGeom>
          <a:noFill/>
        </p:spPr>
        <p:txBody>
          <a:bodyPr wrap="square" anchor="t" lIns="0" rIns="0" tIns="0" bIns="0">
            <a:spAutoFit/>
          </a:bodyPr>
          <a:lstStyle/>
          <a:p>
            <a:pPr algn="ctr"/>
            <a:r>
              <a:rPr sz="4400" b="1" spc="500">
                <a:solidFill>
                  <a:srgbClr val="FFFFFF"/>
                </a:solidFill>
                <a:latin typeface="Arial"/>
              </a:rPr>
              <a:t>BREAK</a:t>
            </a:r>
          </a:p>
        </p:txBody>
      </p:sp>
      <p:sp>
        <p:nvSpPr>
          <p:cNvPr id="6" name="TextBox 5"/>
          <p:cNvSpPr txBox="1"/>
          <p:nvPr/>
        </p:nvSpPr>
        <p:spPr>
          <a:xfrm>
            <a:off x="1828800" y="2377440"/>
            <a:ext cx="5486400" cy="457200"/>
          </a:xfrm>
          <a:prstGeom prst="rect">
            <a:avLst/>
          </a:prstGeom>
          <a:noFill/>
        </p:spPr>
        <p:txBody>
          <a:bodyPr wrap="square" anchor="t" lIns="0" rIns="0" tIns="0" bIns="0">
            <a:spAutoFit/>
          </a:bodyPr>
          <a:lstStyle/>
          <a:p>
            <a:pPr algn="ctr"/>
            <a:r>
              <a:rPr sz="2000" b="1" spc="200">
                <a:solidFill>
                  <a:srgbClr val="F3D9D9"/>
                </a:solidFill>
                <a:latin typeface="Arial"/>
              </a:rPr>
              <a:t>10 MINUTES</a:t>
            </a:r>
          </a:p>
        </p:txBody>
      </p:sp>
      <p:sp>
        <p:nvSpPr>
          <p:cNvPr id="7" name="TextBox 6"/>
          <p:cNvSpPr txBox="1"/>
          <p:nvPr/>
        </p:nvSpPr>
        <p:spPr>
          <a:xfrm>
            <a:off x="1371600" y="3794760"/>
            <a:ext cx="6400800" cy="640080"/>
          </a:xfrm>
          <a:prstGeom prst="rect">
            <a:avLst/>
          </a:prstGeom>
          <a:noFill/>
        </p:spPr>
        <p:txBody>
          <a:bodyPr wrap="square" anchor="t" lIns="0" rIns="0" tIns="0" bIns="0">
            <a:spAutoFit/>
          </a:bodyPr>
          <a:lstStyle/>
          <a:p>
            <a:pPr algn="ctr">
              <a:lnSpc>
                <a:spcPct val="115000"/>
              </a:lnSpc>
            </a:pPr>
            <a:r>
              <a:rPr sz="1300" b="0">
                <a:solidFill>
                  <a:srgbClr val="D1D5DB"/>
                </a:solidFill>
                <a:latin typeface="Arial"/>
              </a:rPr>
              <a:t>Back soon: business continuity planning, the exam map, and the quiz.</a:t>
            </a:r>
          </a:p>
        </p:txBody>
      </p:sp>
      <p:sp>
        <p:nvSpPr>
          <p:cNvPr id="8" name="TextBox 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9" name="TextBox 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0" name="Picture 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1" name="TextBox 1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6 · CONSOLIDATION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Consolidation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Business continuity planning  </a:t>
            </a:r>
            <a:r>
              <a:rPr sz="1450">
                <a:solidFill>
                  <a:srgbClr val="D1D5DB"/>
                </a:solidFill>
                <a:latin typeface="Arial"/>
              </a:rPr>
              <a:t>the umbrella that holds recovery and resilience together</a:t>
            </a:r>
          </a:p>
          <a:p>
            <a:pPr marL="182880" indent="137160">
              <a:lnSpc>
                <a:spcPct val="108000"/>
              </a:lnSpc>
              <a:spcAft>
                <a:spcPts val="1152"/>
              </a:spcAft>
              <a:buFont typeface="Arial"/>
              <a:buChar char="•"/>
            </a:pPr>
            <a:r>
              <a:rPr sz="1450" b="1">
                <a:solidFill>
                  <a:srgbClr val="FFFFFF"/>
                </a:solidFill>
                <a:latin typeface="Arial"/>
              </a:rPr>
              <a:t>Where decisions land  </a:t>
            </a:r>
            <a:r>
              <a:rPr sz="1450">
                <a:solidFill>
                  <a:srgbClr val="D1D5DB"/>
                </a:solidFill>
                <a:latin typeface="Arial"/>
              </a:rPr>
              <a:t>a technical choice becomes a business commitment</a:t>
            </a:r>
          </a:p>
          <a:p>
            <a:pPr marL="182880" indent="137160">
              <a:lnSpc>
                <a:spcPct val="108000"/>
              </a:lnSpc>
              <a:spcAft>
                <a:spcPts val="1152"/>
              </a:spcAft>
              <a:buFont typeface="Arial"/>
              <a:buChar char="•"/>
            </a:pPr>
            <a:r>
              <a:rPr sz="1450" b="1">
                <a:solidFill>
                  <a:srgbClr val="FFFFFF"/>
                </a:solidFill>
                <a:latin typeface="Arial"/>
              </a:rPr>
              <a:t>The test of a plan  </a:t>
            </a:r>
            <a:r>
              <a:rPr sz="1450">
                <a:solidFill>
                  <a:srgbClr val="D1D5DB"/>
                </a:solidFill>
                <a:latin typeface="Arial"/>
              </a:rPr>
              <a:t>whether it is rehearsed, or quietly abandoned</a:t>
            </a:r>
          </a:p>
          <a:p>
            <a:pPr marL="182880" indent="137160">
              <a:lnSpc>
                <a:spcPct val="108000"/>
              </a:lnSpc>
              <a:spcAft>
                <a:spcPts val="1152"/>
              </a:spcAft>
              <a:buFont typeface="Arial"/>
              <a:buChar char="•"/>
            </a:pPr>
            <a:r>
              <a:rPr sz="1450" b="1">
                <a:solidFill>
                  <a:srgbClr val="FFFFFF"/>
                </a:solidFill>
                <a:latin typeface="Arial"/>
              </a:rPr>
              <a:t>What follows  </a:t>
            </a:r>
            <a:r>
              <a:rPr sz="1450">
                <a:solidFill>
                  <a:srgbClr val="D1D5DB"/>
                </a:solidFill>
                <a:latin typeface="Arial"/>
              </a:rPr>
              <a:t>the exam map, the quiz, and your revision checklist</a:t>
            </a:r>
          </a:p>
        </p:txBody>
      </p:sp>
      <p:sp>
        <p:nvSpPr>
          <p:cNvPr id="7" name="Rounded Rectangle 6"/>
          <p:cNvSpPr/>
          <p:nvPr/>
        </p:nvSpPr>
        <p:spPr>
          <a:xfrm>
            <a:off x="502920" y="3977639"/>
            <a:ext cx="8138160" cy="822960"/>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087368"/>
            <a:ext cx="7680960" cy="658368"/>
          </a:xfrm>
          <a:prstGeom prst="rect">
            <a:avLst/>
          </a:prstGeom>
          <a:noFill/>
        </p:spPr>
        <p:txBody>
          <a:bodyPr wrap="square" lIns="0" rIns="0" tIns="0" bIns="0">
            <a:spAutoFit/>
          </a:bodyPr>
          <a:lstStyle/>
          <a:p>
            <a:pPr>
              <a:lnSpc>
                <a:spcPct val="108000"/>
              </a:lnSpc>
            </a:pPr>
            <a:r>
              <a:rPr sz="1250">
                <a:solidFill>
                  <a:srgbClr val="F3D9D9"/>
                </a:solidFill>
                <a:latin typeface="Arial"/>
              </a:rPr>
              <a:t>Continuity is not a document that lives in a drawer. It is a set of rehearsed actions owned by named people.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CHAPTER 6 · CONSOLIDATION</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Business Continuity Planning</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Business impact analysis  </a:t>
            </a:r>
            <a:r>
              <a:rPr sz="1450">
                <a:solidFill>
                  <a:srgbClr val="D1D5DB"/>
                </a:solidFill>
                <a:latin typeface="Arial"/>
              </a:rPr>
              <a:t>identifies the critical processes and their dependencies</a:t>
            </a:r>
          </a:p>
          <a:p>
            <a:pPr marL="182880" indent="137160">
              <a:lnSpc>
                <a:spcPct val="108000"/>
              </a:lnSpc>
              <a:spcAft>
                <a:spcPts val="1152"/>
              </a:spcAft>
              <a:buFont typeface="Arial"/>
              <a:buChar char="•"/>
            </a:pPr>
            <a:r>
              <a:rPr sz="1450" b="1">
                <a:solidFill>
                  <a:srgbClr val="FFFFFF"/>
                </a:solidFill>
                <a:latin typeface="Arial"/>
              </a:rPr>
              <a:t>Acceptable downtime  </a:t>
            </a:r>
            <a:r>
              <a:rPr sz="1450">
                <a:solidFill>
                  <a:srgbClr val="D1D5DB"/>
                </a:solidFill>
                <a:latin typeface="Arial"/>
              </a:rPr>
              <a:t>set it for each critical process, using the recovery objectives</a:t>
            </a:r>
          </a:p>
          <a:p>
            <a:pPr marL="182880" indent="137160">
              <a:lnSpc>
                <a:spcPct val="108000"/>
              </a:lnSpc>
              <a:spcAft>
                <a:spcPts val="1152"/>
              </a:spcAft>
              <a:buFont typeface="Arial"/>
              <a:buChar char="•"/>
            </a:pPr>
            <a:r>
              <a:rPr sz="1450" b="1">
                <a:solidFill>
                  <a:srgbClr val="FFFFFF"/>
                </a:solidFill>
                <a:latin typeface="Arial"/>
              </a:rPr>
              <a:t>Continuity of operations  </a:t>
            </a:r>
            <a:r>
              <a:rPr sz="1450">
                <a:solidFill>
                  <a:srgbClr val="D1D5DB"/>
                </a:solidFill>
                <a:latin typeface="Arial"/>
              </a:rPr>
              <a:t>keeps those functions running from an alternative arrangement</a:t>
            </a:r>
          </a:p>
          <a:p>
            <a:pPr marL="182880" indent="137160">
              <a:lnSpc>
                <a:spcPct val="108000"/>
              </a:lnSpc>
              <a:spcAft>
                <a:spcPts val="1152"/>
              </a:spcAft>
              <a:buFont typeface="Arial"/>
              <a:buChar char="•"/>
            </a:pPr>
            <a:r>
              <a:rPr sz="1450" b="1">
                <a:solidFill>
                  <a:srgbClr val="FFFFFF"/>
                </a:solidFill>
                <a:latin typeface="Arial"/>
              </a:rPr>
              <a:t>IT disaster recovery  </a:t>
            </a:r>
            <a:r>
              <a:rPr sz="1450">
                <a:solidFill>
                  <a:srgbClr val="D1D5DB"/>
                </a:solidFill>
                <a:latin typeface="Arial"/>
              </a:rPr>
              <a:t>the part that restores systems and data</a:t>
            </a:r>
          </a:p>
          <a:p>
            <a:pPr marL="182880" indent="137160">
              <a:lnSpc>
                <a:spcPct val="108000"/>
              </a:lnSpc>
              <a:spcAft>
                <a:spcPts val="1152"/>
              </a:spcAft>
              <a:buFont typeface="Arial"/>
              <a:buChar char="•"/>
            </a:pPr>
            <a:r>
              <a:rPr sz="1450" b="1">
                <a:solidFill>
                  <a:srgbClr val="FFFFFF"/>
                </a:solidFill>
                <a:latin typeface="Arial"/>
              </a:rPr>
              <a:t>The plan is never finished  </a:t>
            </a:r>
            <a:r>
              <a:rPr sz="1450">
                <a:solidFill>
                  <a:srgbClr val="D1D5DB"/>
                </a:solidFill>
                <a:latin typeface="Arial"/>
              </a:rPr>
              <a:t>update it when the business changes</a:t>
            </a:r>
          </a:p>
          <a:p>
            <a:pPr marL="182880" indent="137160">
              <a:lnSpc>
                <a:spcPct val="108000"/>
              </a:lnSpc>
              <a:spcAft>
                <a:spcPts val="1152"/>
              </a:spcAft>
              <a:buFont typeface="Arial"/>
              <a:buChar char="•"/>
            </a:pPr>
            <a:r>
              <a:rPr sz="1450" b="1">
                <a:solidFill>
                  <a:srgbClr val="FFFFFF"/>
                </a:solidFill>
                <a:latin typeface="Arial"/>
              </a:rPr>
              <a:t>Rehearse it  </a:t>
            </a:r>
            <a:r>
              <a:rPr sz="1450">
                <a:solidFill>
                  <a:srgbClr val="D1D5DB"/>
                </a:solidFill>
                <a:latin typeface="Arial"/>
              </a:rPr>
              <a:t>train with the people who will have to use it</a:t>
            </a:r>
          </a:p>
        </p:txBody>
      </p:sp>
      <p:sp>
        <p:nvSpPr>
          <p:cNvPr id="7" name="Rounded Rectangle 6"/>
          <p:cNvSpPr/>
          <p:nvPr/>
        </p:nvSpPr>
        <p:spPr>
          <a:xfrm>
            <a:off x="502920" y="4343400"/>
            <a:ext cx="8138160" cy="65836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453128"/>
            <a:ext cx="7680960" cy="493776"/>
          </a:xfrm>
          <a:prstGeom prst="rect">
            <a:avLst/>
          </a:prstGeom>
          <a:noFill/>
        </p:spPr>
        <p:txBody>
          <a:bodyPr wrap="square" lIns="0" rIns="0" tIns="0" bIns="0">
            <a:spAutoFit/>
          </a:bodyPr>
          <a:lstStyle/>
          <a:p>
            <a:pPr>
              <a:lnSpc>
                <a:spcPct val="108000"/>
              </a:lnSpc>
            </a:pPr>
            <a:r>
              <a:rPr sz="1250">
                <a:solidFill>
                  <a:srgbClr val="F3D9D9"/>
                </a:solidFill>
                <a:latin typeface="Arial"/>
              </a:rPr>
              <a:t>Continuity is a business plan with IT inside it.</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EXAM ALIGNMENT</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What this maps to in the exam</a:t>
            </a:r>
          </a:p>
        </p:txBody>
      </p:sp>
      <p:graphicFrame>
        <p:nvGraphicFramePr>
          <p:cNvPr id="6" name="Table 5"/>
          <p:cNvGraphicFramePr>
            <a:graphicFrameLocks noGrp="1"/>
          </p:cNvGraphicFramePr>
          <p:nvPr/>
        </p:nvGraphicFramePr>
        <p:xfrm>
          <a:off x="502920" y="1737360"/>
          <a:ext cx="8138160" cy="1975104"/>
        </p:xfrm>
        <a:graphic>
          <a:graphicData uri="http://schemas.openxmlformats.org/drawingml/2006/table">
            <a:tbl>
              <a:tblPr firstRow="1" bandRow="1">
                <a:tableStyleId>{5C22544A-7EE6-4342-B048-85BDC9FD1C3A}</a:tableStyleId>
              </a:tblPr>
              <a:tblGrid>
                <a:gridCol w="2194560"/>
                <a:gridCol w="5943600"/>
              </a:tblGrid>
              <a:tr h="329184">
                <a:tc>
                  <a:txBody>
                    <a:bodyPr/>
                    <a:lstStyle/>
                    <a:p>
                      <a:pPr algn="l"/>
                      <a:r>
                        <a:rPr sz="1100" b="1">
                          <a:solidFill>
                            <a:srgbClr val="FFFFFF"/>
                          </a:solidFill>
                          <a:latin typeface="Arial"/>
                        </a:rPr>
                        <a:t>Objective</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c>
                  <a:txBody>
                    <a:bodyPr/>
                    <a:lstStyle/>
                    <a:p>
                      <a:pPr algn="l"/>
                      <a:r>
                        <a:rPr sz="1100" b="1">
                          <a:solidFill>
                            <a:srgbClr val="FFFFFF"/>
                          </a:solidFill>
                          <a:latin typeface="Arial"/>
                        </a:rPr>
                        <a:t>What the exam tests</a:t>
                      </a:r>
                    </a:p>
                  </a:txBody>
                  <a:tcPr anchor="ctr" marL="91440" marR="91440" marT="27432" marB="27432">
                    <a:lnB w="6350" cap="flat">
                      <a:solidFill>
                        <a:srgbClr val="5C1010"/>
                      </a:solidFill>
                    </a:lnB>
                    <a:lnT w="6350" cap="flat">
                      <a:solidFill>
                        <a:srgbClr val="5C1010"/>
                      </a:solidFill>
                    </a:lnT>
                    <a:lnR w="6350" cap="flat">
                      <a:solidFill>
                        <a:srgbClr val="5C1010"/>
                      </a:solidFill>
                    </a:lnR>
                    <a:lnL w="6350" cap="flat">
                      <a:solidFill>
                        <a:srgbClr val="5C1010"/>
                      </a:solidFill>
                    </a:lnL>
                    <a:solidFill>
                      <a:srgbClr val="7F1414"/>
                    </a:solidFill>
                  </a:tcPr>
                </a:tc>
              </a:tr>
              <a:tr h="329184">
                <a:tc>
                  <a:txBody>
                    <a:bodyPr/>
                    <a:lstStyle/>
                    <a:p>
                      <a:pPr algn="l"/>
                      <a:r>
                        <a:rPr sz="1100" b="0">
                          <a:solidFill>
                            <a:srgbClr val="D1D5DB"/>
                          </a:solidFill>
                          <a:latin typeface="Arial"/>
                        </a:rPr>
                        <a:t>Architecture models</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On premises, cloud deployment and service models, shared responsibility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Compute and edge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Hypervisor types, virtual machine escape, containers, serverless, IoT, ICS and SCADA</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Secure design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Infrastructure as code, defence in depth, segmentation, control selection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r h="329184">
                <a:tc>
                  <a:txBody>
                    <a:bodyPr/>
                    <a:lstStyle/>
                    <a:p>
                      <a:pPr algn="l"/>
                      <a:r>
                        <a:rPr sz="1100" b="0">
                          <a:solidFill>
                            <a:srgbClr val="D1D5DB"/>
                          </a:solidFill>
                          <a:latin typeface="Arial"/>
                        </a:rPr>
                        <a:t>Data protection</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c>
                  <a:txBody>
                    <a:bodyPr/>
                    <a:lstStyle/>
                    <a:p>
                      <a:pPr algn="l"/>
                      <a:r>
                        <a:rPr sz="1100" b="0">
                          <a:solidFill>
                            <a:srgbClr val="D1D5DB"/>
                          </a:solidFill>
                          <a:latin typeface="Arial"/>
                        </a:rPr>
                        <a:t>Data types and states, classification, encryption at rest and in transit, disposal</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262626"/>
                    </a:solidFill>
                  </a:tcPr>
                </a:tc>
              </a:tr>
              <a:tr h="329184">
                <a:tc>
                  <a:txBody>
                    <a:bodyPr/>
                    <a:lstStyle/>
                    <a:p>
                      <a:pPr algn="l"/>
                      <a:r>
                        <a:rPr sz="1100" b="0">
                          <a:solidFill>
                            <a:srgbClr val="D1D5DB"/>
                          </a:solidFill>
                          <a:latin typeface="Arial"/>
                        </a:rPr>
                        <a:t>Resilience</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c>
                  <a:txBody>
                    <a:bodyPr/>
                    <a:lstStyle/>
                    <a:p>
                      <a:pPr algn="l"/>
                      <a:r>
                        <a:rPr sz="1100" b="0">
                          <a:solidFill>
                            <a:srgbClr val="D1D5DB"/>
                          </a:solidFill>
                          <a:latin typeface="Arial"/>
                        </a:rPr>
                        <a:t>High availability, alternate sites, backup strategies, RPO and RTO, continuity</a:t>
                      </a:r>
                    </a:p>
                  </a:txBody>
                  <a:tcPr anchor="ctr" marL="91440" marR="91440" marT="27432" marB="27432">
                    <a:lnB w="6350" cap="flat">
                      <a:solidFill>
                        <a:srgbClr val="3A3A3A"/>
                      </a:solidFill>
                    </a:lnB>
                    <a:lnT w="6350" cap="flat">
                      <a:solidFill>
                        <a:srgbClr val="3A3A3A"/>
                      </a:solidFill>
                    </a:lnT>
                    <a:lnR w="6350" cap="flat">
                      <a:solidFill>
                        <a:srgbClr val="3A3A3A"/>
                      </a:solidFill>
                    </a:lnR>
                    <a:lnL w="6350" cap="flat">
                      <a:solidFill>
                        <a:srgbClr val="3A3A3A"/>
                      </a:solidFill>
                    </a:lnL>
                    <a:solidFill>
                      <a:srgbClr val="1E1E1E"/>
                    </a:solidFill>
                  </a:tcPr>
                </a:tc>
              </a:tr>
            </a:tbl>
          </a:graphicData>
        </a:graphic>
      </p:graphicFrame>
      <p:sp>
        <p:nvSpPr>
          <p:cNvPr id="7" name="Rounded Rectangle 6"/>
          <p:cNvSpPr/>
          <p:nvPr/>
        </p:nvSpPr>
        <p:spPr>
          <a:xfrm>
            <a:off x="502920" y="3794760"/>
            <a:ext cx="8138160" cy="713232"/>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3904488"/>
            <a:ext cx="7680960" cy="548640"/>
          </a:xfrm>
          <a:prstGeom prst="rect">
            <a:avLst/>
          </a:prstGeom>
          <a:noFill/>
        </p:spPr>
        <p:txBody>
          <a:bodyPr wrap="square" lIns="0" rIns="0" tIns="0" bIns="0">
            <a:spAutoFit/>
          </a:bodyPr>
          <a:lstStyle/>
          <a:p>
            <a:pPr>
              <a:lnSpc>
                <a:spcPct val="108000"/>
              </a:lnSpc>
            </a:pPr>
            <a:r>
              <a:rPr sz="1250">
                <a:solidFill>
                  <a:srgbClr val="F3D9D9"/>
                </a:solidFill>
                <a:latin typeface="Arial"/>
              </a:rPr>
              <a:t>Architecture and data protection questions appear across multiple domains. Expect scenarios that ask where the responsibility line sits, and which control fits the data state.</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QUIZ</a:t>
            </a:r>
          </a:p>
        </p:txBody>
      </p:sp>
      <p:sp>
        <p:nvSpPr>
          <p:cNvPr id="5" name="TextBox 4"/>
          <p:cNvSpPr txBox="1"/>
          <p:nvPr/>
        </p:nvSpPr>
        <p:spPr>
          <a:xfrm>
            <a:off x="502920" y="914400"/>
            <a:ext cx="8138160" cy="640080"/>
          </a:xfrm>
          <a:prstGeom prst="rect">
            <a:avLst/>
          </a:prstGeom>
          <a:noFill/>
        </p:spPr>
        <p:txBody>
          <a:bodyPr wrap="square" anchor="t" lIns="0" rIns="0" tIns="0" bIns="0">
            <a:spAutoFit/>
          </a:bodyPr>
          <a:lstStyle/>
          <a:p>
            <a:pPr algn="l"/>
            <a:r>
              <a:rPr sz="2400" b="1">
                <a:solidFill>
                  <a:srgbClr val="FFFFFF"/>
                </a:solidFill>
                <a:latin typeface="Arial"/>
              </a:rPr>
              <a:t>Check your understanding</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00">
                <a:solidFill>
                  <a:srgbClr val="D1D5DB"/>
                </a:solidFill>
                <a:latin typeface="Arial"/>
              </a:rPr>
              <a:t>Open Quiz_Session_07.html in your browser.</a:t>
            </a:r>
          </a:p>
          <a:p>
            <a:pPr marL="182880" indent="137160">
              <a:lnSpc>
                <a:spcPct val="108000"/>
              </a:lnSpc>
              <a:spcAft>
                <a:spcPts val="1152"/>
              </a:spcAft>
              <a:buFont typeface="Arial"/>
              <a:buChar char="•"/>
            </a:pPr>
            <a:r>
              <a:rPr sz="1400">
                <a:solidFill>
                  <a:srgbClr val="D1D5DB"/>
                </a:solidFill>
                <a:latin typeface="Arial"/>
              </a:rPr>
              <a:t>20 questions, immediate feedback, and a domain and area tag on every question.</a:t>
            </a:r>
          </a:p>
          <a:p>
            <a:pPr marL="182880" indent="137160">
              <a:lnSpc>
                <a:spcPct val="108000"/>
              </a:lnSpc>
              <a:spcAft>
                <a:spcPts val="1152"/>
              </a:spcAft>
              <a:buFont typeface="Arial"/>
              <a:buChar char="•"/>
            </a:pPr>
            <a:r>
              <a:rPr sz="1400">
                <a:solidFill>
                  <a:srgbClr val="D1D5DB"/>
                </a:solidFill>
                <a:latin typeface="Arial"/>
              </a:rPr>
              <a:t>Read each explanation: the distractors teach as much as the answer.</a:t>
            </a:r>
          </a:p>
          <a:p>
            <a:pPr marL="182880" indent="137160">
              <a:lnSpc>
                <a:spcPct val="108000"/>
              </a:lnSpc>
              <a:spcAft>
                <a:spcPts val="1152"/>
              </a:spcAft>
              <a:buFont typeface="Arial"/>
              <a:buChar char="•"/>
            </a:pPr>
            <a:r>
              <a:rPr sz="1400">
                <a:solidFill>
                  <a:srgbClr val="D1D5DB"/>
                </a:solidFill>
                <a:latin typeface="Arial"/>
              </a:rPr>
              <a:t>Score 70% or better before moving on.</a:t>
            </a:r>
          </a:p>
        </p:txBody>
      </p:sp>
      <p:sp>
        <p:nvSpPr>
          <p:cNvPr id="7" name="Rounded Rectangle 6"/>
          <p:cNvSpPr/>
          <p:nvPr/>
        </p:nvSpPr>
        <p:spPr>
          <a:xfrm>
            <a:off x="502920" y="3931920"/>
            <a:ext cx="8138160" cy="566928"/>
          </a:xfrm>
          <a:prstGeom prst="roundRect">
            <a:avLst>
              <a:gd name="adj" fmla="val 7000"/>
            </a:avLst>
          </a:prstGeom>
          <a:solidFill>
            <a:srgbClr val="A81C1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8000"/>
              </a:lnSpc>
            </a:pPr>
            <a:r>
              <a:rPr sz="1250" b="0">
                <a:solidFill>
                  <a:srgbClr val="FFFFFF"/>
                </a:solidFill>
                <a:latin typeface="Arial"/>
              </a:rPr>
              <a:t/>
            </a:r>
          </a:p>
        </p:txBody>
      </p:sp>
      <p:sp>
        <p:nvSpPr>
          <p:cNvPr id="8" name="TextBox 7"/>
          <p:cNvSpPr txBox="1"/>
          <p:nvPr/>
        </p:nvSpPr>
        <p:spPr>
          <a:xfrm>
            <a:off x="731520" y="4041648"/>
            <a:ext cx="7680960" cy="402336"/>
          </a:xfrm>
          <a:prstGeom prst="rect">
            <a:avLst/>
          </a:prstGeom>
          <a:noFill/>
        </p:spPr>
        <p:txBody>
          <a:bodyPr wrap="square" lIns="0" rIns="0" tIns="0" bIns="0">
            <a:spAutoFit/>
          </a:bodyPr>
          <a:lstStyle/>
          <a:p>
            <a:pPr>
              <a:lnSpc>
                <a:spcPct val="108000"/>
              </a:lnSpc>
            </a:pPr>
            <a:r>
              <a:rPr sz="1150">
                <a:solidFill>
                  <a:srgbClr val="F3D9D9"/>
                </a:solidFill>
                <a:latin typeface="Arial"/>
              </a:rPr>
              <a:t>Every question is tagged with the syllabus domain and area it tests.</a:t>
            </a:r>
          </a:p>
        </p:txBody>
      </p:sp>
      <p:sp>
        <p:nvSpPr>
          <p:cNvPr id="9" name="TextBox 8"/>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10" name="TextBox 9"/>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1" name="Picture 10"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2" name="TextBox 11"/>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KEY TAKEAWAYS</a:t>
            </a:r>
          </a:p>
        </p:txBody>
      </p:sp>
      <p:sp>
        <p:nvSpPr>
          <p:cNvPr id="5" name="TextBox 4"/>
          <p:cNvSpPr txBox="1"/>
          <p:nvPr/>
        </p:nvSpPr>
        <p:spPr>
          <a:xfrm>
            <a:off x="502920" y="1051560"/>
            <a:ext cx="8138160" cy="3474720"/>
          </a:xfrm>
          <a:prstGeom prst="rect">
            <a:avLst/>
          </a:prstGeom>
          <a:noFill/>
        </p:spPr>
        <p:txBody>
          <a:bodyPr wrap="square" lIns="0" rIns="0" tIns="0" bIns="0">
            <a:spAutoFit/>
          </a:bodyPr>
          <a:lstStyle/>
          <a:p>
            <a:pPr marL="182880" indent="137160">
              <a:lnSpc>
                <a:spcPct val="110000"/>
              </a:lnSpc>
              <a:spcAft>
                <a:spcPts val="1872"/>
              </a:spcAft>
              <a:buFont typeface="Arial"/>
              <a:buChar char="•"/>
            </a:pPr>
            <a:r>
              <a:rPr sz="1600" b="1">
                <a:solidFill>
                  <a:srgbClr val="C22828"/>
                </a:solidFill>
                <a:latin typeface="Arial"/>
              </a:rPr>
              <a:t>Architecture sets where the trust sits  </a:t>
            </a:r>
            <a:r>
              <a:rPr sz="1600">
                <a:solidFill>
                  <a:srgbClr val="FFFFFF"/>
                </a:solidFill>
                <a:latin typeface="Arial"/>
              </a:rPr>
              <a:t>know the shared responsibility line, and secure the hypervisor.</a:t>
            </a:r>
          </a:p>
          <a:p>
            <a:pPr marL="182880" indent="137160">
              <a:lnSpc>
                <a:spcPct val="110000"/>
              </a:lnSpc>
              <a:spcAft>
                <a:spcPts val="1872"/>
              </a:spcAft>
              <a:buFont typeface="Arial"/>
              <a:buChar char="•"/>
            </a:pPr>
            <a:r>
              <a:rPr sz="1600" b="1">
                <a:solidFill>
                  <a:srgbClr val="C22828"/>
                </a:solidFill>
                <a:latin typeface="Arial"/>
              </a:rPr>
              <a:t>Compute models move the boundary  </a:t>
            </a:r>
            <a:r>
              <a:rPr sz="1600">
                <a:solidFill>
                  <a:srgbClr val="FFFFFF"/>
                </a:solidFill>
                <a:latin typeface="Arial"/>
              </a:rPr>
              <a:t>virtualisation, containers and serverless shrink what you manage, not what you must secure.</a:t>
            </a:r>
          </a:p>
          <a:p>
            <a:pPr marL="182880" indent="137160">
              <a:lnSpc>
                <a:spcPct val="110000"/>
              </a:lnSpc>
              <a:spcAft>
                <a:spcPts val="1872"/>
              </a:spcAft>
              <a:buFont typeface="Arial"/>
              <a:buChar char="•"/>
            </a:pPr>
            <a:r>
              <a:rPr sz="1600" b="1">
                <a:solidFill>
                  <a:srgbClr val="C22828"/>
                </a:solidFill>
                <a:latin typeface="Arial"/>
              </a:rPr>
              <a:t>Edge and industrial systems need discipline  </a:t>
            </a:r>
            <a:r>
              <a:rPr sz="1600">
                <a:solidFill>
                  <a:srgbClr val="FFFFFF"/>
                </a:solidFill>
                <a:latin typeface="Arial"/>
              </a:rPr>
              <a:t>segmentation, monitoring and lifecycle management to decommissioning.</a:t>
            </a:r>
          </a:p>
          <a:p>
            <a:pPr marL="182880" indent="137160">
              <a:lnSpc>
                <a:spcPct val="110000"/>
              </a:lnSpc>
              <a:spcAft>
                <a:spcPts val="1872"/>
              </a:spcAft>
              <a:buFont typeface="Arial"/>
              <a:buChar char="•"/>
            </a:pPr>
            <a:r>
              <a:rPr sz="1600" b="1">
                <a:solidFill>
                  <a:srgbClr val="C22828"/>
                </a:solidFill>
                <a:latin typeface="Arial"/>
              </a:rPr>
              <a:t>Infrastructure as code cuts both ways  </a:t>
            </a:r>
            <a:r>
              <a:rPr sz="1600">
                <a:solidFill>
                  <a:srgbClr val="FFFFFF"/>
                </a:solidFill>
                <a:latin typeface="Arial"/>
              </a:rPr>
              <a:t>it gives consistency, and misconfiguration at scale. Keep secrets out of the file.</a:t>
            </a:r>
          </a:p>
          <a:p>
            <a:pPr marL="182880" indent="137160">
              <a:lnSpc>
                <a:spcPct val="110000"/>
              </a:lnSpc>
              <a:spcAft>
                <a:spcPts val="1872"/>
              </a:spcAft>
              <a:buFont typeface="Arial"/>
              <a:buChar char="•"/>
            </a:pPr>
            <a:r>
              <a:rPr sz="1600" b="1">
                <a:solidFill>
                  <a:srgbClr val="C22828"/>
                </a:solidFill>
                <a:latin typeface="Arial"/>
              </a:rPr>
              <a:t>Classification decides handling  </a:t>
            </a:r>
            <a:r>
              <a:rPr sz="1600">
                <a:solidFill>
                  <a:srgbClr val="FFFFFF"/>
                </a:solidFill>
                <a:latin typeface="Arial"/>
              </a:rPr>
              <a:t>type sets the obligation, state sets the control, and labels make it real.</a:t>
            </a:r>
          </a:p>
          <a:p>
            <a:pPr marL="182880" indent="137160">
              <a:lnSpc>
                <a:spcPct val="110000"/>
              </a:lnSpc>
              <a:spcAft>
                <a:spcPts val="1872"/>
              </a:spcAft>
              <a:buFont typeface="Arial"/>
              <a:buChar char="•"/>
            </a:pPr>
            <a:r>
              <a:rPr sz="1600" b="1">
                <a:solidFill>
                  <a:srgbClr val="C22828"/>
                </a:solidFill>
                <a:latin typeface="Arial"/>
              </a:rPr>
              <a:t>Resilience is built and tested  </a:t>
            </a:r>
            <a:r>
              <a:rPr sz="1600">
                <a:solidFill>
                  <a:srgbClr val="FFFFFF"/>
                </a:solidFill>
                <a:latin typeface="Arial"/>
              </a:rPr>
              <a:t>redundancy, recovery objectives, and plans you have actually rehearsed.</a:t>
            </a:r>
          </a:p>
        </p:txBody>
      </p:sp>
      <p:sp>
        <p:nvSpPr>
          <p:cNvPr id="6" name="TextBox 5"/>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7" name="TextBox 6"/>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8" name="Picture 7"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9" name="TextBox 8"/>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7772400" cy="274320"/>
          </a:xfrm>
          <a:prstGeom prst="rect">
            <a:avLst/>
          </a:prstGeom>
          <a:noFill/>
        </p:spPr>
        <p:txBody>
          <a:bodyPr wrap="square" anchor="t" lIns="0" rIns="0" tIns="0" bIns="0">
            <a:spAutoFit/>
          </a:bodyPr>
          <a:lstStyle/>
          <a:p>
            <a:pPr algn="l"/>
            <a:r>
              <a:rPr sz="1250" b="1" spc="300">
                <a:solidFill>
                  <a:srgbClr val="C22828"/>
                </a:solidFill>
                <a:latin typeface="Arial"/>
              </a:rPr>
              <a:t>REVISION CHECKLIST</a:t>
            </a:r>
          </a:p>
        </p:txBody>
      </p:sp>
      <p:sp>
        <p:nvSpPr>
          <p:cNvPr id="5" name="TextBox 4"/>
          <p:cNvSpPr txBox="1"/>
          <p:nvPr/>
        </p:nvSpPr>
        <p:spPr>
          <a:xfrm>
            <a:off x="502920" y="694944"/>
            <a:ext cx="8138160" cy="868680"/>
          </a:xfrm>
          <a:prstGeom prst="rect">
            <a:avLst/>
          </a:prstGeom>
          <a:noFill/>
        </p:spPr>
        <p:txBody>
          <a:bodyPr wrap="square" anchor="t" lIns="0" rIns="0" tIns="0" bIns="0">
            <a:spAutoFit/>
          </a:bodyPr>
          <a:lstStyle/>
          <a:p>
            <a:pPr algn="l"/>
            <a:r>
              <a:rPr sz="2600" b="1">
                <a:solidFill>
                  <a:srgbClr val="FFFFFF"/>
                </a:solidFill>
                <a:latin typeface="Arial"/>
              </a:rPr>
              <a:t>Before next session</a:t>
            </a:r>
          </a:p>
        </p:txBody>
      </p:sp>
      <p:sp>
        <p:nvSpPr>
          <p:cNvPr id="6" name="TextBox 5"/>
          <p:cNvSpPr txBox="1"/>
          <p:nvPr/>
        </p:nvSpPr>
        <p:spPr>
          <a:xfrm>
            <a:off x="502920" y="1691640"/>
            <a:ext cx="8138160" cy="299466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450" b="1">
                <a:solidFill>
                  <a:srgbClr val="FFFFFF"/>
                </a:solidFill>
                <a:latin typeface="Arial"/>
              </a:rPr>
              <a:t>Retake the quiz  </a:t>
            </a:r>
            <a:r>
              <a:rPr sz="1450">
                <a:solidFill>
                  <a:srgbClr val="D1D5DB"/>
                </a:solidFill>
                <a:latin typeface="Arial"/>
              </a:rPr>
              <a:t>until you score 70% or better without guessing</a:t>
            </a:r>
          </a:p>
          <a:p>
            <a:pPr marL="182880" indent="137160">
              <a:lnSpc>
                <a:spcPct val="108000"/>
              </a:lnSpc>
              <a:spcAft>
                <a:spcPts val="1152"/>
              </a:spcAft>
              <a:buFont typeface="Arial"/>
              <a:buChar char="•"/>
            </a:pPr>
            <a:r>
              <a:rPr sz="1450" b="1">
                <a:solidFill>
                  <a:srgbClr val="FFFFFF"/>
                </a:solidFill>
                <a:latin typeface="Arial"/>
              </a:rPr>
              <a:t>Find the line  </a:t>
            </a:r>
            <a:r>
              <a:rPr sz="1450">
                <a:solidFill>
                  <a:srgbClr val="D1D5DB"/>
                </a:solidFill>
                <a:latin typeface="Arial"/>
              </a:rPr>
              <a:t>pick one cloud service you use, and write down what you still own in it</a:t>
            </a:r>
          </a:p>
          <a:p>
            <a:pPr marL="182880" indent="137160">
              <a:lnSpc>
                <a:spcPct val="108000"/>
              </a:lnSpc>
              <a:spcAft>
                <a:spcPts val="1152"/>
              </a:spcAft>
              <a:buFont typeface="Arial"/>
              <a:buChar char="•"/>
            </a:pPr>
            <a:r>
              <a:rPr sz="1450" b="1">
                <a:solidFill>
                  <a:srgbClr val="FFFFFF"/>
                </a:solidFill>
                <a:latin typeface="Arial"/>
              </a:rPr>
              <a:t>Classify something real  </a:t>
            </a:r>
            <a:r>
              <a:rPr sz="1450">
                <a:solidFill>
                  <a:srgbClr val="D1D5DB"/>
                </a:solidFill>
                <a:latin typeface="Arial"/>
              </a:rPr>
              <a:t>choose a dataset at work and assign it a classification level</a:t>
            </a:r>
          </a:p>
          <a:p>
            <a:pPr marL="182880" indent="137160">
              <a:lnSpc>
                <a:spcPct val="108000"/>
              </a:lnSpc>
              <a:spcAft>
                <a:spcPts val="1152"/>
              </a:spcAft>
              <a:buFont typeface="Arial"/>
              <a:buChar char="•"/>
            </a:pPr>
            <a:r>
              <a:rPr sz="1450" b="1">
                <a:solidFill>
                  <a:srgbClr val="FFFFFF"/>
                </a:solidFill>
                <a:latin typeface="Arial"/>
              </a:rPr>
              <a:t>Name your recovery objectives  </a:t>
            </a:r>
            <a:r>
              <a:rPr sz="1450">
                <a:solidFill>
                  <a:srgbClr val="D1D5DB"/>
                </a:solidFill>
                <a:latin typeface="Arial"/>
              </a:rPr>
              <a:t>what are the RPO and RTO for your most critical system?</a:t>
            </a:r>
          </a:p>
          <a:p>
            <a:pPr marL="182880" indent="137160">
              <a:lnSpc>
                <a:spcPct val="108000"/>
              </a:lnSpc>
              <a:spcAft>
                <a:spcPts val="1152"/>
              </a:spcAft>
              <a:buFont typeface="Arial"/>
              <a:buChar char="•"/>
            </a:pPr>
            <a:r>
              <a:rPr sz="1450" b="1">
                <a:solidFill>
                  <a:srgbClr val="FFFFFF"/>
                </a:solidFill>
                <a:latin typeface="Arial"/>
              </a:rPr>
              <a:t>Read ahead  </a:t>
            </a:r>
            <a:r>
              <a:rPr sz="1450">
                <a:solidFill>
                  <a:srgbClr val="D1D5DB"/>
                </a:solidFill>
                <a:latin typeface="Arial"/>
              </a:rPr>
              <a:t>Session 8: network security controls and segmentation</a:t>
            </a:r>
          </a:p>
        </p:txBody>
      </p:sp>
      <p:sp>
        <p:nvSpPr>
          <p:cNvPr id="7" name="TextBox 6"/>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8" name="TextBox 7"/>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9" name="Picture 8"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0" name="TextBox 9"/>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c.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143500"/>
          </a:xfrm>
          <a:prstGeom prst="rect">
            <a:avLst/>
          </a:prstGeom>
          <a:solidFill>
            <a:srgbClr val="141414">
              <a:alpha val="7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502920"/>
            <a:ext cx="7315200" cy="320040"/>
          </a:xfrm>
          <a:prstGeom prst="rect">
            <a:avLst/>
          </a:prstGeom>
          <a:noFill/>
        </p:spPr>
        <p:txBody>
          <a:bodyPr wrap="square" anchor="t" lIns="0" rIns="0" tIns="0" bIns="0">
            <a:spAutoFit/>
          </a:bodyPr>
          <a:lstStyle/>
          <a:p>
            <a:pPr algn="l"/>
            <a:r>
              <a:rPr sz="1300" b="1" spc="300">
                <a:solidFill>
                  <a:srgbClr val="C22828"/>
                </a:solidFill>
                <a:latin typeface="Arial"/>
              </a:rPr>
              <a:t>NEXT SESSION</a:t>
            </a:r>
          </a:p>
        </p:txBody>
      </p:sp>
      <p:sp>
        <p:nvSpPr>
          <p:cNvPr id="5" name="TextBox 4"/>
          <p:cNvSpPr txBox="1"/>
          <p:nvPr/>
        </p:nvSpPr>
        <p:spPr>
          <a:xfrm>
            <a:off x="502920" y="914400"/>
            <a:ext cx="8138160" cy="685800"/>
          </a:xfrm>
          <a:prstGeom prst="rect">
            <a:avLst/>
          </a:prstGeom>
          <a:noFill/>
        </p:spPr>
        <p:txBody>
          <a:bodyPr wrap="square" anchor="t" lIns="0" rIns="0" tIns="0" bIns="0">
            <a:spAutoFit/>
          </a:bodyPr>
          <a:lstStyle/>
          <a:p>
            <a:pPr algn="l"/>
            <a:r>
              <a:rPr sz="2400" b="1">
                <a:solidFill>
                  <a:srgbClr val="FFFFFF"/>
                </a:solidFill>
                <a:latin typeface="Arial"/>
              </a:rPr>
              <a:t>Session 8 — Network Security Controls &amp; Segmentation</a:t>
            </a:r>
          </a:p>
        </p:txBody>
      </p:sp>
      <p:sp>
        <p:nvSpPr>
          <p:cNvPr id="6" name="TextBox 5"/>
          <p:cNvSpPr txBox="1"/>
          <p:nvPr/>
        </p:nvSpPr>
        <p:spPr>
          <a:xfrm>
            <a:off x="502920" y="1600200"/>
            <a:ext cx="8138160" cy="457200"/>
          </a:xfrm>
          <a:prstGeom prst="rect">
            <a:avLst/>
          </a:prstGeom>
          <a:noFill/>
        </p:spPr>
        <p:txBody>
          <a:bodyPr wrap="square" anchor="t" lIns="0" rIns="0" tIns="0" bIns="0">
            <a:spAutoFit/>
          </a:bodyPr>
          <a:lstStyle/>
          <a:p>
            <a:pPr algn="l"/>
            <a:r>
              <a:rPr sz="1400" b="0">
                <a:solidFill>
                  <a:srgbClr val="9CA3AF"/>
                </a:solidFill>
                <a:latin typeface="Arial"/>
              </a:rPr>
              <a:t>Physical security and deception, audits and compliance, segmentation, hardening and filtering (Lesson 5)</a:t>
            </a:r>
          </a:p>
        </p:txBody>
      </p:sp>
      <p:sp>
        <p:nvSpPr>
          <p:cNvPr id="7" name="TextBox 6"/>
          <p:cNvSpPr txBox="1"/>
          <p:nvPr/>
        </p:nvSpPr>
        <p:spPr>
          <a:xfrm>
            <a:off x="502920" y="2194560"/>
            <a:ext cx="8138160" cy="2491740"/>
          </a:xfrm>
          <a:prstGeom prst="rect">
            <a:avLst/>
          </a:prstGeom>
          <a:noFill/>
        </p:spPr>
        <p:txBody>
          <a:bodyPr wrap="square" lIns="0" rIns="0" tIns="0" bIns="0">
            <a:spAutoFit/>
          </a:bodyPr>
          <a:lstStyle/>
          <a:p>
            <a:pPr marL="182880" indent="137160">
              <a:lnSpc>
                <a:spcPct val="108000"/>
              </a:lnSpc>
              <a:spcAft>
                <a:spcPts val="1152"/>
              </a:spcAft>
              <a:buFont typeface="Arial"/>
              <a:buChar char="•"/>
            </a:pPr>
            <a:r>
              <a:rPr sz="1350">
                <a:solidFill>
                  <a:srgbClr val="D1D5DB"/>
                </a:solidFill>
                <a:latin typeface="Arial"/>
              </a:rPr>
              <a:t>Physical security and deception technologies</a:t>
            </a:r>
          </a:p>
          <a:p>
            <a:pPr marL="182880" indent="137160">
              <a:lnSpc>
                <a:spcPct val="108000"/>
              </a:lnSpc>
              <a:spcAft>
                <a:spcPts val="1152"/>
              </a:spcAft>
              <a:buFont typeface="Arial"/>
              <a:buChar char="•"/>
            </a:pPr>
            <a:r>
              <a:rPr sz="1350">
                <a:solidFill>
                  <a:srgbClr val="D1D5DB"/>
                </a:solidFill>
                <a:latin typeface="Arial"/>
              </a:rPr>
              <a:t>Audits, regulatory compliance and key management</a:t>
            </a:r>
          </a:p>
          <a:p>
            <a:pPr marL="182880" indent="137160">
              <a:lnSpc>
                <a:spcPct val="108000"/>
              </a:lnSpc>
              <a:spcAft>
                <a:spcPts val="1152"/>
              </a:spcAft>
              <a:buFont typeface="Arial"/>
              <a:buChar char="•"/>
            </a:pPr>
            <a:r>
              <a:rPr sz="1350">
                <a:solidFill>
                  <a:srgbClr val="D1D5DB"/>
                </a:solidFill>
                <a:latin typeface="Arial"/>
              </a:rPr>
              <a:t>Segmentation for special environments, guests and BYOD</a:t>
            </a:r>
          </a:p>
          <a:p>
            <a:pPr marL="182880" indent="137160">
              <a:lnSpc>
                <a:spcPct val="108000"/>
              </a:lnSpc>
              <a:spcAft>
                <a:spcPts val="1152"/>
              </a:spcAft>
              <a:buFont typeface="Arial"/>
              <a:buChar char="•"/>
            </a:pPr>
            <a:r>
              <a:rPr sz="1350">
                <a:solidFill>
                  <a:srgbClr val="D1D5DB"/>
                </a:solidFill>
                <a:latin typeface="Arial"/>
              </a:rPr>
              <a:t>Device hardening, network access control and filtering</a:t>
            </a:r>
          </a:p>
        </p:txBody>
      </p:sp>
      <p:sp>
        <p:nvSpPr>
          <p:cNvPr id="8" name="TextBox 7"/>
          <p:cNvSpPr txBox="1"/>
          <p:nvPr/>
        </p:nvSpPr>
        <p:spPr>
          <a:xfrm>
            <a:off x="411480" y="4846320"/>
            <a:ext cx="5120640" cy="201168"/>
          </a:xfrm>
          <a:prstGeom prst="rect">
            <a:avLst/>
          </a:prstGeom>
          <a:noFill/>
        </p:spPr>
        <p:txBody>
          <a:bodyPr wrap="square" anchor="t" lIns="0" rIns="0" tIns="0" bIns="0">
            <a:spAutoFit/>
          </a:bodyPr>
          <a:lstStyle/>
          <a:p>
            <a:pPr algn="l"/>
            <a:r>
              <a:rPr sz="900" b="0">
                <a:solidFill>
                  <a:srgbClr val="6B7280"/>
                </a:solidFill>
                <a:latin typeface="Arial"/>
              </a:rPr>
              <a:t>Network Fundamentals + CompTIA Security+ SY0-701 · Session 7</a:t>
            </a:r>
          </a:p>
        </p:txBody>
      </p:sp>
      <p:sp>
        <p:nvSpPr>
          <p:cNvPr id="9" name="TextBox 8"/>
          <p:cNvSpPr txBox="1"/>
          <p:nvPr/>
        </p:nvSpPr>
        <p:spPr>
          <a:xfrm>
            <a:off x="2377440" y="4846320"/>
            <a:ext cx="4663440" cy="201168"/>
          </a:xfrm>
          <a:prstGeom prst="rect">
            <a:avLst/>
          </a:prstGeom>
          <a:noFill/>
        </p:spPr>
        <p:txBody>
          <a:bodyPr wrap="square" anchor="t" lIns="0" rIns="0" tIns="0" bIns="0">
            <a:spAutoFit/>
          </a:bodyPr>
          <a:lstStyle/>
          <a:p>
            <a:pPr algn="ctr"/>
            <a:r>
              <a:rPr sz="850" b="0">
                <a:solidFill>
                  <a:srgbClr val="6B7280"/>
                </a:solidFill>
                <a:latin typeface="Arial"/>
              </a:rPr>
              <a:t>© Billy Forrest</a:t>
            </a:r>
          </a:p>
        </p:txBody>
      </p:sp>
      <p:pic>
        <p:nvPicPr>
          <p:cNvPr id="10" name="Picture 9" descr="fozzie_fto_logo.png"/>
          <p:cNvPicPr>
            <a:picLocks noChangeAspect="1"/>
          </p:cNvPicPr>
          <p:nvPr/>
        </p:nvPicPr>
        <p:blipFill>
          <a:blip r:embed="rId3"/>
          <a:stretch>
            <a:fillRect/>
          </a:stretch>
        </p:blipFill>
        <p:spPr>
          <a:xfrm>
            <a:off x="10625328" y="4718304"/>
            <a:ext cx="274320" cy="413756"/>
          </a:xfrm>
          <a:prstGeom prst="rect">
            <a:avLst/>
          </a:prstGeom>
        </p:spPr>
      </p:pic>
      <p:sp>
        <p:nvSpPr>
          <p:cNvPr id="11" name="TextBox 10"/>
          <p:cNvSpPr txBox="1"/>
          <p:nvPr/>
        </p:nvSpPr>
        <p:spPr>
          <a:xfrm>
            <a:off x="8641080" y="292608"/>
            <a:ext cx="365760" cy="228600"/>
          </a:xfrm>
          <a:prstGeom prst="rect">
            <a:avLst/>
          </a:prstGeom>
          <a:noFill/>
        </p:spPr>
        <p:txBody>
          <a:bodyPr wrap="square" anchor="t" lIns="0" rIns="0" tIns="0" bIns="0">
            <a:spAutoFit/>
          </a:bodyPr>
          <a:lstStyle/>
          <a:p>
            <a:pPr algn="r"/>
            <a:r>
              <a:rPr sz="1000" b="0">
                <a:solidFill>
                  <a:srgbClr val="6B7280"/>
                </a:solidFill>
                <a:latin typeface="Arial"/>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