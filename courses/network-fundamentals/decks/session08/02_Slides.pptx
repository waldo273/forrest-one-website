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8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Enterprise Network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Firewalls, IDS/IPS, VPNs and the secure protocols: defence at the network boundary.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1886" y="4224528"/>
            <a:ext cx="109910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FIREWALLS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7299" y="4224528"/>
            <a:ext cx="919886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IDS/IPS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3489" y="4224528"/>
            <a:ext cx="561441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VPN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7" name="Picture 16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network foundation pays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1–3  </a:t>
            </a:r>
            <a:r>
              <a:rPr sz="1450">
                <a:solidFill>
                  <a:srgbClr val="D1D5DB"/>
                </a:solidFill>
                <a:latin typeface="Arial"/>
              </a:rPr>
              <a:t>addressing, switching and services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4–7  </a:t>
            </a:r>
            <a:r>
              <a:rPr sz="1450">
                <a:solidFill>
                  <a:srgbClr val="D1D5DB"/>
                </a:solidFill>
                <a:latin typeface="Arial"/>
              </a:rPr>
              <a:t>security concepts, threats, cryptography and identity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controls that defend an enterprise network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spine  </a:t>
            </a:r>
            <a:r>
              <a:rPr sz="1450">
                <a:solidFill>
                  <a:srgbClr val="D1D5DB"/>
                </a:solidFill>
                <a:latin typeface="Arial"/>
              </a:rPr>
              <a:t>physical space, segmentation, admission, keys and zones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scenario questions: pick the control that fits 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the physical layer  </a:t>
            </a:r>
            <a:r>
              <a:rPr sz="1450">
                <a:solidFill>
                  <a:srgbClr val="D1D5DB"/>
                </a:solidFill>
                <a:latin typeface="Arial"/>
              </a:rPr>
              <a:t>rooms, closets, access control and surveillance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Plan deception  </a:t>
            </a:r>
            <a:r>
              <a:rPr sz="1450">
                <a:solidFill>
                  <a:srgbClr val="D1D5DB"/>
                </a:solidFill>
                <a:latin typeface="Arial"/>
              </a:rPr>
              <a:t>honeypots and honeynets, lawfully and isolated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Prove controls with audits  </a:t>
            </a:r>
            <a:r>
              <a:rPr sz="1450">
                <a:solidFill>
                  <a:srgbClr val="D1D5DB"/>
                </a:solidFill>
                <a:latin typeface="Arial"/>
              </a:rPr>
              <a:t>internal, external and the regulatory regimes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Segment the network  </a:t>
            </a:r>
            <a:r>
              <a:rPr sz="1450">
                <a:solidFill>
                  <a:srgbClr val="D1D5DB"/>
                </a:solidFill>
                <a:latin typeface="Arial"/>
              </a:rPr>
              <a:t>VLANs, zones and micro-segmentation by data sensitivity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Handle special environments  </a:t>
            </a:r>
            <a:r>
              <a:rPr sz="1450">
                <a:solidFill>
                  <a:srgbClr val="D1D5DB"/>
                </a:solidFill>
                <a:latin typeface="Arial"/>
              </a:rPr>
              <a:t>internet of things and industrial control systems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Onboard guests and personal devices  </a:t>
            </a:r>
            <a:r>
              <a:rPr sz="1450">
                <a:solidFill>
                  <a:srgbClr val="D1D5DB"/>
                </a:solidFill>
                <a:latin typeface="Arial"/>
              </a:rPr>
              <a:t>separate segments, captive portals and enrolment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Harden and admit  </a:t>
            </a:r>
            <a:r>
              <a:rPr sz="1450">
                <a:solidFill>
                  <a:srgbClr val="D1D5DB"/>
                </a:solidFill>
                <a:latin typeface="Arial"/>
              </a:rPr>
              <a:t>baselines, minimal functionality, NAC and 802.1X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Protect keys and content  </a:t>
            </a:r>
            <a:r>
              <a:rPr sz="1450">
                <a:solidFill>
                  <a:srgbClr val="D1D5DB"/>
                </a:solidFill>
                <a:latin typeface="Arial"/>
              </a:rPr>
              <a:t>the key lifecycle, filtering, inspection and trust 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8E · PHYSICAL, DECEPTION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physical layer starts at the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Equipment rooms  </a:t>
            </a:r>
            <a:r>
              <a:rPr sz="1450">
                <a:solidFill>
                  <a:srgbClr val="D1D5DB"/>
                </a:solidFill>
                <a:latin typeface="Arial"/>
              </a:rPr>
              <a:t>hold servers and the core hardware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Wiring closets  </a:t>
            </a:r>
            <a:r>
              <a:rPr sz="1450">
                <a:solidFill>
                  <a:srgbClr val="D1D5DB"/>
                </a:solidFill>
                <a:latin typeface="Arial"/>
              </a:rPr>
              <a:t>hold cabling and switches, and are often overlooked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centres  </a:t>
            </a:r>
            <a:r>
              <a:rPr sz="1450">
                <a:solidFill>
                  <a:srgbClr val="D1D5DB"/>
                </a:solidFill>
                <a:latin typeface="Arial"/>
              </a:rPr>
              <a:t>need the strictest controls of all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Key and combination locks  </a:t>
            </a:r>
            <a:r>
              <a:rPr sz="1450">
                <a:solidFill>
                  <a:srgbClr val="D1D5DB"/>
                </a:solidFill>
                <a:latin typeface="Arial"/>
              </a:rPr>
              <a:t>cheap and keyless, but pickable or a shared code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Electronic access control  </a:t>
            </a:r>
            <a:r>
              <a:rPr sz="1450">
                <a:solidFill>
                  <a:srgbClr val="D1D5DB"/>
                </a:solidFill>
                <a:latin typeface="Arial"/>
              </a:rPr>
              <a:t>cards and fobs, and a lost card can be revoked instantly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Biometrics  </a:t>
            </a:r>
            <a:r>
              <a:rPr sz="1450">
                <a:solidFill>
                  <a:srgbClr val="D1D5DB"/>
                </a:solidFill>
                <a:latin typeface="Arial"/>
              </a:rPr>
              <a:t>hardest to share, and the costliest to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Why it comes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Physical access defeats every logical control above it, so secure the rooms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8E · PHYSICAL, DECEPTION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Controls around the room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2179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Cameras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Cover every entry point, and minimise blind spots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Retention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Keep footage long enough to investigate an incident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Visitor management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Sign in, and escort visitors at all times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Access logs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Record who entered each secure space, and when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guards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visible deterrent, plus a person who can respond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49039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Policy decides 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1596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retention period is set by policy and often by regulation. Footage you have already deleted proves nothing during an investigation.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8E · PHYSICAL, DECEPTION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Honeypots and honeynets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honeypot  </a:t>
            </a:r>
            <a:r>
              <a:rPr sz="1450">
                <a:solidFill>
                  <a:srgbClr val="D1D5DB"/>
                </a:solidFill>
                <a:latin typeface="Arial"/>
              </a:rPr>
              <a:t>a decoy system built to attract an attacker away from real targets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Low interaction  </a:t>
            </a:r>
            <a:r>
              <a:rPr sz="1450">
                <a:solidFill>
                  <a:srgbClr val="D1D5DB"/>
                </a:solidFill>
                <a:latin typeface="Arial"/>
              </a:rPr>
              <a:t>few services simulated: simple, safe to run and shallow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High interaction  </a:t>
            </a:r>
            <a:r>
              <a:rPr sz="1450">
                <a:solidFill>
                  <a:srgbClr val="D1D5DB"/>
                </a:solidFill>
                <a:latin typeface="Arial"/>
              </a:rPr>
              <a:t>a full operating system: rich detail, and more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honeynet  </a:t>
            </a:r>
            <a:r>
              <a:rPr sz="1450">
                <a:solidFill>
                  <a:srgbClr val="D1D5DB"/>
                </a:solidFill>
                <a:latin typeface="Arial"/>
              </a:rPr>
              <a:t>a whole network of decoys, which makes lateral movement visible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value  </a:t>
            </a:r>
            <a:r>
              <a:rPr sz="1450">
                <a:solidFill>
                  <a:srgbClr val="D1D5DB"/>
                </a:solidFill>
                <a:latin typeface="Arial"/>
              </a:rPr>
              <a:t>you learn attacker tools and techniques, and get early warning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Isolation  </a:t>
            </a:r>
            <a:r>
              <a:rPr sz="1450">
                <a:solidFill>
                  <a:srgbClr val="D1D5DB"/>
                </a:solidFill>
                <a:latin typeface="Arial"/>
              </a:rPr>
              <a:t>mandatory: a decoy must never reach production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Contain the decoy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decoy you cannot contain is a foothold you gave away. Internal decoys also catch insiders.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8E · PHYSICAL, DECEPTION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Deceiving lawfully: consent, privacy and entrapment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Consent  </a:t>
            </a:r>
            <a:r>
              <a:rPr sz="1450">
                <a:solidFill>
                  <a:srgbClr val="D1D5DB"/>
                </a:solidFill>
                <a:latin typeface="Arial"/>
              </a:rPr>
              <a:t>obtain consent to monitor, and tell staff what may be captured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Privacy  </a:t>
            </a:r>
            <a:r>
              <a:rPr sz="1450">
                <a:solidFill>
                  <a:srgbClr val="D1D5DB"/>
                </a:solidFill>
                <a:latin typeface="Arial"/>
              </a:rPr>
              <a:t>a decoy can capture personal data by accident, so configure it narrowly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Entrapment  </a:t>
            </a:r>
            <a:r>
              <a:rPr sz="1450">
                <a:solidFill>
                  <a:srgbClr val="D1D5DB"/>
                </a:solidFill>
                <a:latin typeface="Arial"/>
              </a:rPr>
              <a:t>a genuine legal risk, so never solicit or encourage an attack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 decoy waits, observes and records. It does not invite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Legal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75887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Get the paperwork right before you get clever. A decoy that breaks the law is worse than no decoy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8E · PHYSICAL, DECEPTION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Internal and external audits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question  </a:t>
            </a:r>
            <a:r>
              <a:rPr sz="1450">
                <a:solidFill>
                  <a:srgbClr val="D1D5DB"/>
                </a:solidFill>
                <a:latin typeface="Arial"/>
              </a:rPr>
              <a:t>an audit asks whether controls exist AND whether they 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Internal audit  </a:t>
            </a:r>
            <a:r>
              <a:rPr sz="1450">
                <a:solidFill>
                  <a:srgbClr val="D1D5DB"/>
                </a:solidFill>
                <a:latin typeface="Arial"/>
              </a:rPr>
              <a:t>run by your own team, who know the systems deeply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External assessment  </a:t>
            </a:r>
            <a:r>
              <a:rPr sz="1450">
                <a:solidFill>
                  <a:srgbClr val="D1D5DB"/>
                </a:solidFill>
                <a:latin typeface="Arial"/>
              </a:rPr>
              <a:t>an independent third party, often required by a regulator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Preparation  </a:t>
            </a:r>
            <a:r>
              <a:rPr sz="1450">
                <a:solidFill>
                  <a:srgbClr val="D1D5DB"/>
                </a:solidFill>
                <a:latin typeface="Arial"/>
              </a:rPr>
              <a:t>documentation, evidence, a staff briefing and a mock audit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Afterwards  </a:t>
            </a:r>
            <a:r>
              <a:rPr sz="1450">
                <a:solidFill>
                  <a:srgbClr val="D1D5DB"/>
                </a:solidFill>
                <a:latin typeface="Arial"/>
              </a:rPr>
              <a:t>remediate every finding, then follow up and verify the fix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Evidence means logs, configurations and access records. A control nobody tests is only a hope.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8E · PHYSICAL, DECEPTION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regimes you will meet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21792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Regime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Demands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PCI DSS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Protect cardholder data; need to know access; monitor and test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GDPR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EU personal data: consent, access, correction and deletion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locality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 countries require citizens' records to stay in country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Logs, configurations and access records prove compliance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38328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Where the data may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5020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Data locality decides which cloud regions you may use. Compliance you cannot evidence is compliance you cannot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8A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Campus network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Tiered model  </a:t>
            </a:r>
            <a:r>
              <a:rPr sz="1450">
                <a:solidFill>
                  <a:srgbClr val="D1D5DB"/>
                </a:solidFill>
                <a:latin typeface="Arial"/>
              </a:rPr>
              <a:t>core (fast transport), distribution (policy), access (endpoints)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Spine-leaf  </a:t>
            </a:r>
            <a:r>
              <a:rPr sz="1450">
                <a:solidFill>
                  <a:srgbClr val="D1D5DB"/>
                </a:solidFill>
                <a:latin typeface="Arial"/>
              </a:rPr>
              <a:t>data-centre fabric: every leaf to every spine, for low latency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SMB model  </a:t>
            </a:r>
            <a:r>
              <a:rPr sz="1450">
                <a:solidFill>
                  <a:srgbClr val="D1D5DB"/>
                </a:solidFill>
                <a:latin typeface="Arial"/>
              </a:rPr>
              <a:t>flat and single-layer: fewer devices, simpler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Redundancy  </a:t>
            </a:r>
            <a:r>
              <a:rPr sz="1450">
                <a:solidFill>
                  <a:srgbClr val="D1D5DB"/>
                </a:solidFill>
                <a:latin typeface="Arial"/>
              </a:rPr>
              <a:t>duplicate paths and devices, so nothing is a single point of failure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choice  </a:t>
            </a:r>
            <a:r>
              <a:rPr sz="1450">
                <a:solidFill>
                  <a:srgbClr val="D1D5DB"/>
                </a:solidFill>
                <a:latin typeface="Arial"/>
              </a:rPr>
              <a:t>scale, budget, reliability and control drive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8F · SEGMENTATION &amp; SPECIAL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we divide the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tool  </a:t>
            </a:r>
            <a:r>
              <a:rPr sz="1450">
                <a:solidFill>
                  <a:srgbClr val="D1D5DB"/>
                </a:solidFill>
                <a:latin typeface="Arial"/>
              </a:rPr>
              <a:t>a virtual local area network splits one physical switch into logical networks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Departments  </a:t>
            </a:r>
            <a:r>
              <a:rPr sz="1450">
                <a:solidFill>
                  <a:srgbClr val="D1D5DB"/>
                </a:solidFill>
                <a:latin typeface="Arial"/>
              </a:rPr>
              <a:t>HR, Finance and IT each get their own segment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Firewall zones  </a:t>
            </a:r>
            <a:r>
              <a:rPr sz="1450">
                <a:solidFill>
                  <a:srgbClr val="D1D5DB"/>
                </a:solidFill>
                <a:latin typeface="Arial"/>
              </a:rPr>
              <a:t>define what may cross between segments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Micro-segmentation  </a:t>
            </a:r>
            <a:r>
              <a:rPr sz="1450">
                <a:solidFill>
                  <a:srgbClr val="D1D5DB"/>
                </a:solidFill>
                <a:latin typeface="Arial"/>
              </a:rPr>
              <a:t>applies policy per workload, not per rack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Benefits  </a:t>
            </a:r>
            <a:r>
              <a:rPr sz="1450">
                <a:solidFill>
                  <a:srgbClr val="D1D5DB"/>
                </a:solidFill>
                <a:latin typeface="Arial"/>
              </a:rPr>
              <a:t>limit lateral movement, shrink the attack surface, meet compliance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plan  </a:t>
            </a:r>
            <a:r>
              <a:rPr sz="1450">
                <a:solidFill>
                  <a:srgbClr val="D1D5DB"/>
                </a:solidFill>
                <a:latin typeface="Arial"/>
              </a:rPr>
              <a:t>start from data sensitivity and trust level, never from convenience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Containment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Segmentation is containment. Everything else is detection.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8F · SEGMENTATION &amp; SPECIAL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Let data sensitivity set the trust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Classify first  </a:t>
            </a:r>
            <a:r>
              <a:rPr sz="1450">
                <a:solidFill>
                  <a:srgbClr val="D1D5DB"/>
                </a:solidFill>
                <a:latin typeface="Arial"/>
              </a:rPr>
              <a:t>and let the classification drive the design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Highest controls  </a:t>
            </a:r>
            <a:r>
              <a:rPr sz="1450">
                <a:solidFill>
                  <a:srgbClr val="D1D5DB"/>
                </a:solidFill>
                <a:latin typeface="Arial"/>
              </a:rPr>
              <a:t>cardholder or health data, reached only by known devices and users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Looser zone  </a:t>
            </a:r>
            <a:r>
              <a:rPr sz="1450">
                <a:solidFill>
                  <a:srgbClr val="D1D5DB"/>
                </a:solidFill>
                <a:latin typeface="Arial"/>
              </a:rPr>
              <a:t>a public facing web server, because strangers must reach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Still controlled  </a:t>
            </a:r>
            <a:r>
              <a:rPr sz="1450">
                <a:solidFill>
                  <a:srgbClr val="D1D5DB"/>
                </a:solidFill>
                <a:latin typeface="Arial"/>
              </a:rPr>
              <a:t>it gets monitoring and control, just not the same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Segmentation by data sensitivity and trust level is exactly what the card and health regimes expect to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8A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Segmentation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VLANs  </a:t>
            </a:r>
            <a:r>
              <a:rPr sz="1450">
                <a:solidFill>
                  <a:srgbClr val="D1D5DB"/>
                </a:solidFill>
                <a:latin typeface="Arial"/>
              </a:rPr>
              <a:t>logical separation within a switch: different zones, different rules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DMZ  </a:t>
            </a:r>
            <a:r>
              <a:rPr sz="1450">
                <a:solidFill>
                  <a:srgbClr val="D1D5DB"/>
                </a:solidFill>
                <a:latin typeface="Arial"/>
              </a:rPr>
              <a:t>a buffer zone hosting public services, ringed by two firewalls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Micro-segmentation  </a:t>
            </a:r>
            <a:r>
              <a:rPr sz="1450">
                <a:solidFill>
                  <a:srgbClr val="D1D5DB"/>
                </a:solidFill>
                <a:latin typeface="Arial"/>
              </a:rPr>
              <a:t>fine-grained isolation, even within a single workload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connectivity  </a:t>
            </a:r>
            <a:r>
              <a:rPr sz="1450">
                <a:solidFill>
                  <a:srgbClr val="D1D5DB"/>
                </a:solidFill>
                <a:latin typeface="Arial"/>
              </a:rPr>
              <a:t>allow only the connections that are actually necessary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benefit  </a:t>
            </a:r>
            <a:r>
              <a:rPr sz="1450">
                <a:solidFill>
                  <a:srgbClr val="D1D5DB"/>
                </a:solidFill>
                <a:latin typeface="Arial"/>
              </a:rPr>
              <a:t>a compromise in one segment does not spread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8F · SEGMENTATION &amp; SPECIAL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Internet of things and industrial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IoT devices  </a:t>
            </a:r>
            <a:r>
              <a:rPr sz="1450">
                <a:solidFill>
                  <a:srgbClr val="D1D5DB"/>
                </a:solidFill>
                <a:latin typeface="Arial"/>
              </a:rPr>
              <a:t>low power, rarely patched, often shipped with default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Industrial IoT  </a:t>
            </a:r>
            <a:r>
              <a:rPr sz="1450">
                <a:solidFill>
                  <a:srgbClr val="D1D5DB"/>
                </a:solidFill>
                <a:latin typeface="Arial"/>
              </a:rPr>
              <a:t>runs manufacturing, energy and logistics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Operational technology  </a:t>
            </a:r>
            <a:r>
              <a:rPr sz="1450">
                <a:solidFill>
                  <a:srgbClr val="D1D5DB"/>
                </a:solidFill>
                <a:latin typeface="Arial"/>
              </a:rPr>
              <a:t>controls physical processes: availability outranks confidentiality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SCADA and ICS  </a:t>
            </a:r>
            <a:r>
              <a:rPr sz="1450">
                <a:solidFill>
                  <a:srgbClr val="D1D5DB"/>
                </a:solidFill>
                <a:latin typeface="Arial"/>
              </a:rPr>
              <a:t>industrial control systems, legacy by design and by necessity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Give each family a segment  </a:t>
            </a:r>
            <a:r>
              <a:rPr sz="1450">
                <a:solidFill>
                  <a:srgbClr val="D1D5DB"/>
                </a:solidFill>
                <a:latin typeface="Arial"/>
              </a:rPr>
              <a:t>with strict rules and close monitoring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 compromised sensor must never reach the corporate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Untrusted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These devices are untrusted whatever the vendor claims, because they cannot be patched like a laptop.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8F · SEGMENTATION &amp; SPECIAL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Purdue model for industrial networks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Level 0 and 1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Field devices: sensors and actuators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Level 2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Process control: programmable logic controllers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Level 3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Site operations: manufacturing execution systems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Level 4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Enterprise systems: planning and business applications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Air gap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Physical isolation, used where intrusion risk must be near zero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0332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Between every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024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Traffic between each level is controlled and monitored, even before you decide that an air gap is warranted.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8F · SEGMENTATION &amp; SPECIAL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Availability first in operational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patching window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patch an industrial controller during a production run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Reboot risk  </a:t>
            </a:r>
            <a:r>
              <a:rPr sz="1450">
                <a:solidFill>
                  <a:srgbClr val="D1D5DB"/>
                </a:solidFill>
                <a:latin typeface="Arial"/>
              </a:rPr>
              <a:t>a restart may be physically dangerous, so uptime outranks confidentiality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shift  </a:t>
            </a:r>
            <a:r>
              <a:rPr sz="1450">
                <a:solidFill>
                  <a:srgbClr val="D1D5DB"/>
                </a:solidFill>
                <a:latin typeface="Arial"/>
              </a:rPr>
              <a:t>move from hardening the device to containing the segment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controls  </a:t>
            </a:r>
            <a:r>
              <a:rPr sz="1450">
                <a:solidFill>
                  <a:srgbClr val="D1D5DB"/>
                </a:solidFill>
                <a:latin typeface="Arial"/>
              </a:rPr>
              <a:t>isolate behind firewalls, restrict what crosses, watch for anomalies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Security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75887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If you cannot fix the device, control its neighbourhood: filter the traffic and monitor it closely.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Why do internet of things sensors belong on their own segment, and what breaks if they share the office network?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Weak patching, default credentials and no authentication. Industrial devices add a harder constraint: availability outranks confidentiality. Compromised, they become pivot points into the whole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Segment by trust, not by convenience. These devices are untrusted by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8G · GUESTS AND BYOD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Designing a guest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Separate segment  </a:t>
            </a:r>
            <a:r>
              <a:rPr sz="1450">
                <a:solidFill>
                  <a:srgbClr val="D1D5DB"/>
                </a:solidFill>
                <a:latin typeface="Arial"/>
              </a:rPr>
              <a:t>guests get their own VLAN, away from every internal resource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internal access  </a:t>
            </a:r>
            <a:r>
              <a:rPr sz="1450">
                <a:solidFill>
                  <a:srgbClr val="D1D5DB"/>
                </a:solidFill>
                <a:latin typeface="Arial"/>
              </a:rPr>
              <a:t>firewall rules and access control lists block the path inward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Bandwidth cap  </a:t>
            </a:r>
            <a:r>
              <a:rPr sz="1450">
                <a:solidFill>
                  <a:srgbClr val="D1D5DB"/>
                </a:solidFill>
                <a:latin typeface="Arial"/>
              </a:rPr>
              <a:t>so guest traffic cannot crowd out business traffic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Captive portal  </a:t>
            </a:r>
            <a:r>
              <a:rPr sz="1450">
                <a:solidFill>
                  <a:srgbClr val="D1D5DB"/>
                </a:solidFill>
                <a:latin typeface="Arial"/>
              </a:rPr>
              <a:t>presents acceptable use terms before access is granted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log  </a:t>
            </a:r>
            <a:r>
              <a:rPr sz="1450">
                <a:solidFill>
                  <a:srgbClr val="D1D5DB"/>
                </a:solidFill>
                <a:latin typeface="Arial"/>
              </a:rPr>
              <a:t>the portal also captures a name or address for the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Guest means internet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Internet only, with no route inward. Design the guest network as a dead end, not a shortcut.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8G · GUESTS AND BYOD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captive portal earns its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Redirection  </a:t>
            </a:r>
            <a:r>
              <a:rPr sz="1450">
                <a:solidFill>
                  <a:srgbClr val="D1D5DB"/>
                </a:solidFill>
                <a:latin typeface="Arial"/>
              </a:rPr>
              <a:t>the guest is sent to a web page before any internet access is granted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Terms  </a:t>
            </a:r>
            <a:r>
              <a:rPr sz="1450">
                <a:solidFill>
                  <a:srgbClr val="D1D5DB"/>
                </a:solidFill>
                <a:latin typeface="Arial"/>
              </a:rPr>
              <a:t>that page carries your acceptable use policy, and agreement is recorded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Identity  </a:t>
            </a:r>
            <a:r>
              <a:rPr sz="1450">
                <a:solidFill>
                  <a:srgbClr val="D1D5DB"/>
                </a:solidFill>
                <a:latin typeface="Arial"/>
              </a:rPr>
              <a:t>it captures a name or an address for the access log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Change control  </a:t>
            </a:r>
            <a:r>
              <a:rPr sz="1450">
                <a:solidFill>
                  <a:srgbClr val="D1D5DB"/>
                </a:solidFill>
                <a:latin typeface="Arial"/>
              </a:rPr>
              <a:t>it gives you one place to publish changed terms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Practice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portal is a control point, not just a splash screen. It records who accepted what, and when.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8G · GUESTS AND BYOD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Bring your own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appeal  </a:t>
            </a:r>
            <a:r>
              <a:rPr sz="1450">
                <a:solidFill>
                  <a:srgbClr val="D1D5DB"/>
                </a:solidFill>
                <a:latin typeface="Arial"/>
              </a:rPr>
              <a:t>personal devices are convenient, and far harder to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problem  </a:t>
            </a:r>
            <a:r>
              <a:rPr sz="1450">
                <a:solidFill>
                  <a:srgbClr val="D1D5DB"/>
                </a:solidFill>
                <a:latin typeface="Arial"/>
              </a:rPr>
              <a:t>you do not own the hardware, or know what else runs on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Segment them  </a:t>
            </a:r>
            <a:r>
              <a:rPr sz="1450">
                <a:solidFill>
                  <a:srgbClr val="D1D5DB"/>
                </a:solidFill>
                <a:latin typeface="Arial"/>
              </a:rPr>
              <a:t>and limit what personal devices can reach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Enrol them  </a:t>
            </a:r>
            <a:r>
              <a:rPr sz="1450">
                <a:solidFill>
                  <a:srgbClr val="D1D5DB"/>
                </a:solidFill>
                <a:latin typeface="Arial"/>
              </a:rPr>
              <a:t>in mobile device management, so policy can be enforced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Certificates  </a:t>
            </a:r>
            <a:r>
              <a:rPr sz="1450">
                <a:solidFill>
                  <a:srgbClr val="D1D5DB"/>
                </a:solidFill>
                <a:latin typeface="Arial"/>
              </a:rPr>
              <a:t>certificate based authentication proves the device is one you know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trade  </a:t>
            </a:r>
            <a:r>
              <a:rPr sz="1450">
                <a:solidFill>
                  <a:srgbClr val="D1D5DB"/>
                </a:solidFill>
                <a:latin typeface="Arial"/>
              </a:rPr>
              <a:t>user convenience against a larger attack surface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Manage 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Manage the trade deliberately, not by accident. A device you cannot revoke is a device you cannot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8G · GUESTS AND BYOD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Making personal devices safe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Define compliance  </a:t>
            </a:r>
            <a:r>
              <a:rPr sz="1450">
                <a:solidFill>
                  <a:srgbClr val="D1D5DB"/>
                </a:solidFill>
                <a:latin typeface="Arial"/>
              </a:rPr>
              <a:t>write down what a compliant personal device looks like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Enrol or deny  </a:t>
            </a:r>
            <a:r>
              <a:rPr sz="1450">
                <a:solidFill>
                  <a:srgbClr val="D1D5DB"/>
                </a:solidFill>
                <a:latin typeface="Arial"/>
              </a:rPr>
              <a:t>if the device does not enrol, it does not connect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Issue a certificate  </a:t>
            </a:r>
            <a:r>
              <a:rPr sz="1450">
                <a:solidFill>
                  <a:srgbClr val="D1D5DB"/>
                </a:solidFill>
                <a:latin typeface="Arial"/>
              </a:rPr>
              <a:t>so the network recognises the device, and can revoke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Separate data  </a:t>
            </a:r>
            <a:r>
              <a:rPr sz="1450">
                <a:solidFill>
                  <a:srgbClr val="D1D5DB"/>
                </a:solidFill>
                <a:latin typeface="Arial"/>
              </a:rPr>
              <a:t>keep work data apart from personal data where the platform allows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Prepare to wipe  </a:t>
            </a:r>
            <a:r>
              <a:rPr sz="1450">
                <a:solidFill>
                  <a:srgbClr val="D1D5DB"/>
                </a:solidFill>
                <a:latin typeface="Arial"/>
              </a:rPr>
              <a:t>be ready to remove corporate data from a lost device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Publish the policy  </a:t>
            </a:r>
            <a:r>
              <a:rPr sz="1450">
                <a:solidFill>
                  <a:srgbClr val="D1D5DB"/>
                </a:solidFill>
                <a:latin typeface="Arial"/>
              </a:rPr>
              <a:t>users accept the rules before they enrol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Rules people can 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Convenience is fine. Unmanaged convenience is not. People accept rules they can 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hardening the devices you own, then admission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HARDENING &amp; ADMISSION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Reducing the attack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Hardening  </a:t>
            </a:r>
            <a:r>
              <a:rPr sz="1450">
                <a:solidFill>
                  <a:srgbClr val="D1D5DB"/>
                </a:solidFill>
                <a:latin typeface="Arial"/>
              </a:rPr>
              <a:t>remove everything the device does not need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Credentials first  </a:t>
            </a:r>
            <a:r>
              <a:rPr sz="1450">
                <a:solidFill>
                  <a:srgbClr val="D1D5DB"/>
                </a:solidFill>
                <a:latin typeface="Arial"/>
              </a:rPr>
              <a:t>change default usernames and passwords immediately, everywhere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Close the doors  </a:t>
            </a:r>
            <a:r>
              <a:rPr sz="1450">
                <a:solidFill>
                  <a:srgbClr val="D1D5DB"/>
                </a:solidFill>
                <a:latin typeface="Arial"/>
              </a:rPr>
              <a:t>disable unused services, close unused ports, drop unused protocols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 promptly  </a:t>
            </a:r>
            <a:r>
              <a:rPr sz="1450">
                <a:solidFill>
                  <a:srgbClr val="D1D5DB"/>
                </a:solidFill>
                <a:latin typeface="Arial"/>
              </a:rPr>
              <a:t>apply firmware updates and security patches, and automate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Baseline  </a:t>
            </a:r>
            <a:r>
              <a:rPr sz="1450">
                <a:solidFill>
                  <a:srgbClr val="D1D5DB"/>
                </a:solidFill>
                <a:latin typeface="Arial"/>
              </a:rPr>
              <a:t>build a secure configuration baseline, then audit against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  </a:t>
            </a:r>
            <a:r>
              <a:rPr sz="1450">
                <a:solidFill>
                  <a:srgbClr val="D1D5DB"/>
                </a:solidFill>
                <a:latin typeface="Arial"/>
              </a:rPr>
              <a:t>minimal functionality: only the job you bought it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Somewhere to knock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Every service, port and protocol you leave running is somewhere an attacker can knock.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HARDENING &amp; ADMISSION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Baselines, compliance and minimal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baseline  </a:t>
            </a:r>
            <a:r>
              <a:rPr sz="1450">
                <a:solidFill>
                  <a:srgbClr val="D1D5DB"/>
                </a:solidFill>
                <a:latin typeface="Arial"/>
              </a:rPr>
              <a:t>one documented standard for each type of device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Compliance verification  </a:t>
            </a:r>
            <a:r>
              <a:rPr sz="1450">
                <a:solidFill>
                  <a:srgbClr val="D1D5DB"/>
                </a:solidFill>
                <a:latin typeface="Arial"/>
              </a:rPr>
              <a:t>audit every device against that baseline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Automation  </a:t>
            </a:r>
            <a:r>
              <a:rPr sz="1450">
                <a:solidFill>
                  <a:srgbClr val="D1D5DB"/>
                </a:solidFill>
                <a:latin typeface="Arial"/>
              </a:rPr>
              <a:t>automated tools catch configuration drift before an auditor does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Minimal functionality  </a:t>
            </a:r>
            <a:r>
              <a:rPr sz="1450">
                <a:solidFill>
                  <a:srgbClr val="D1D5DB"/>
                </a:solidFill>
                <a:latin typeface="Arial"/>
              </a:rPr>
              <a:t>a router routes, it does not host a website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fewer features means less to patch, manage and explain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Drift is the enemy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Devices change: someone alters a setting and nobody records it. Audit to catch the difference.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HARDENING &amp; ADMISSION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Use a published guide, not your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CIS benchmarks  </a:t>
            </a:r>
            <a:r>
              <a:rPr sz="1450">
                <a:solidFill>
                  <a:srgbClr val="D1D5DB"/>
                </a:solidFill>
                <a:latin typeface="Arial"/>
              </a:rPr>
              <a:t>the Centre for Internet Security publishes them for common systems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NIST publications  </a:t>
            </a:r>
            <a:r>
              <a:rPr sz="1450">
                <a:solidFill>
                  <a:srgbClr val="D1D5DB"/>
                </a:solidFill>
                <a:latin typeface="Arial"/>
              </a:rPr>
              <a:t>the National Institute of Standards and Technology frameworks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Vendor guides  </a:t>
            </a:r>
            <a:r>
              <a:rPr sz="1450">
                <a:solidFill>
                  <a:srgbClr val="D1D5DB"/>
                </a:solidFill>
                <a:latin typeface="Arial"/>
              </a:rPr>
              <a:t>most vendors publish a hardening guide for their own products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Then verify  </a:t>
            </a:r>
            <a:r>
              <a:rPr sz="1450">
                <a:solidFill>
                  <a:srgbClr val="D1D5DB"/>
                </a:solidFill>
                <a:latin typeface="Arial"/>
              </a:rPr>
              <a:t>run automated checks and regular audits against your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Exam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Do not invent a baseline from memory. A baseline nobody checks is only a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HARDENING &amp; ADMISSION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Network access control: posture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gatekeeper  </a:t>
            </a:r>
            <a:r>
              <a:rPr sz="1450">
                <a:solidFill>
                  <a:srgbClr val="D1D5DB"/>
                </a:solidFill>
                <a:latin typeface="Arial"/>
              </a:rPr>
              <a:t>network access control checks a device before it joins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Antivirus  </a:t>
            </a:r>
            <a:r>
              <a:rPr sz="1450">
                <a:solidFill>
                  <a:srgbClr val="D1D5DB"/>
                </a:solidFill>
                <a:latin typeface="Arial"/>
              </a:rPr>
              <a:t>presence and currency, checked at the door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Patches, settings and user  </a:t>
            </a:r>
            <a:r>
              <a:rPr sz="1450">
                <a:solidFill>
                  <a:srgbClr val="D1D5DB"/>
                </a:solidFill>
                <a:latin typeface="Arial"/>
              </a:rPr>
              <a:t>operating system updates, configuration,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Outcomes  </a:t>
            </a:r>
            <a:r>
              <a:rPr sz="1450">
                <a:solidFill>
                  <a:srgbClr val="D1D5DB"/>
                </a:solidFill>
                <a:latin typeface="Arial"/>
              </a:rPr>
              <a:t>deny outright, or quarantine into a restricted segment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Remediation network  </a:t>
            </a:r>
            <a:r>
              <a:rPr sz="1450">
                <a:solidFill>
                  <a:srgbClr val="D1D5DB"/>
                </a:solidFill>
                <a:latin typeface="Arial"/>
              </a:rPr>
              <a:t>lets a failing device reach patch servers, then try again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Two checking styles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Agent based checking gives rich detail; agentless installs nothing, so it is shallower.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HARDENING &amp; ADMISSION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Port based authentication: 802.1X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802.1X  </a:t>
            </a:r>
            <a:r>
              <a:rPr sz="1450">
                <a:solidFill>
                  <a:srgbClr val="D1D5DB"/>
                </a:solidFill>
                <a:latin typeface="Arial"/>
              </a:rPr>
              <a:t>authenticates a device at the switch port, before traffic flows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Three roles  </a:t>
            </a:r>
            <a:r>
              <a:rPr sz="1450">
                <a:solidFill>
                  <a:srgbClr val="D1D5DB"/>
                </a:solidFill>
                <a:latin typeface="Arial"/>
              </a:rPr>
              <a:t>the device is the supplicant, the switch is the authenticator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decision  </a:t>
            </a:r>
            <a:r>
              <a:rPr sz="1450">
                <a:solidFill>
                  <a:srgbClr val="D1D5DB"/>
                </a:solidFill>
                <a:latin typeface="Arial"/>
              </a:rPr>
              <a:t>the switch relays credentials, and a central server judges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RADIUS  </a:t>
            </a:r>
            <a:r>
              <a:rPr sz="1450">
                <a:solidFill>
                  <a:srgbClr val="D1D5DB"/>
                </a:solidFill>
                <a:latin typeface="Arial"/>
              </a:rPr>
              <a:t>remote authentication dial in user service: authentication and accounting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Scale  </a:t>
            </a:r>
            <a:r>
              <a:rPr sz="1450">
                <a:solidFill>
                  <a:srgbClr val="D1D5DB"/>
                </a:solidFill>
                <a:latin typeface="Arial"/>
              </a:rPr>
              <a:t>it handles thousands of devices, and can use certificates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Failure  </a:t>
            </a:r>
            <a:r>
              <a:rPr sz="1450">
                <a:solidFill>
                  <a:srgbClr val="D1D5DB"/>
                </a:solidFill>
                <a:latin typeface="Arial"/>
              </a:rPr>
              <a:t>an unauthenticated port can be shut, or dropped into a guest 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whole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No authentication, no traffic. The switch port stays closed until the device proves who it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HARDENING &amp; ADMISSION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Roll network access control out in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risk  </a:t>
            </a:r>
            <a:r>
              <a:rPr sz="1450">
                <a:solidFill>
                  <a:srgbClr val="D1D5DB"/>
                </a:solidFill>
                <a:latin typeface="Arial"/>
              </a:rPr>
              <a:t>it is easy to lock out your own staff by accident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Monitor mode  </a:t>
            </a:r>
            <a:r>
              <a:rPr sz="1450">
                <a:solidFill>
                  <a:srgbClr val="D1D5DB"/>
                </a:solidFill>
                <a:latin typeface="Arial"/>
              </a:rPr>
              <a:t>run it first to see what it would have blocked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Pilot  </a:t>
            </a:r>
            <a:r>
              <a:rPr sz="1450">
                <a:solidFill>
                  <a:srgbClr val="D1D5DB"/>
                </a:solidFill>
                <a:latin typeface="Arial"/>
              </a:rPr>
              <a:t>start with a small, controlled group, then refine the policies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Expand  </a:t>
            </a:r>
            <a:r>
              <a:rPr sz="1450">
                <a:solidFill>
                  <a:srgbClr val="D1D5DB"/>
                </a:solidFill>
                <a:latin typeface="Arial"/>
              </a:rPr>
              <a:t>segment by segment, watching for false positives as you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Practice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Test before you enforce, and you keep both security and goodwill. False positives are the main complaint.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8H · KEY MANAGEMENT &amp; CONTENT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life of a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Generation  </a:t>
            </a:r>
            <a:r>
              <a:rPr sz="1450">
                <a:solidFill>
                  <a:srgbClr val="D1D5DB"/>
                </a:solidFill>
                <a:latin typeface="Arial"/>
              </a:rPr>
              <a:t>secure random values, seeded from real entropy such as hardware noise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Distribution  </a:t>
            </a:r>
            <a:r>
              <a:rPr sz="1450">
                <a:solidFill>
                  <a:srgbClr val="D1D5DB"/>
                </a:solidFill>
                <a:latin typeface="Arial"/>
              </a:rPr>
              <a:t>getting the key to the right party without exposing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hard part  </a:t>
            </a:r>
            <a:r>
              <a:rPr sz="1450">
                <a:solidFill>
                  <a:srgbClr val="D1D5DB"/>
                </a:solidFill>
                <a:latin typeface="Arial"/>
              </a:rPr>
              <a:t>symmetric keys, because both sides must hold the same value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Storage  </a:t>
            </a:r>
            <a:r>
              <a:rPr sz="1450">
                <a:solidFill>
                  <a:srgbClr val="D1D5DB"/>
                </a:solidFill>
                <a:latin typeface="Arial"/>
              </a:rPr>
              <a:t>hardware security modules, key vaults and secure enclaves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Rotation  </a:t>
            </a:r>
            <a:r>
              <a:rPr sz="1450">
                <a:solidFill>
                  <a:srgbClr val="D1D5DB"/>
                </a:solidFill>
                <a:latin typeface="Arial"/>
              </a:rPr>
              <a:t>change keys on a schedule, to limit the damage of a leak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Revocation and destruction  </a:t>
            </a:r>
            <a:r>
              <a:rPr sz="1450">
                <a:solidFill>
                  <a:srgbClr val="D1D5DB"/>
                </a:solidFill>
                <a:latin typeface="Arial"/>
              </a:rPr>
              <a:t>invalidate the key, then erase it everywhere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Cryptography is only as strong as the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Poor key management defeats perfect cryptography. Every stage of the key lifecycle can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8H · KEY MANAGEMENT &amp; CONTENT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Where keys live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gives you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Hardware security module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physical device that performs crypto without exposing the key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Key vault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Software storage with access control, auditing and logging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 enclave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Isolated execution inside the processor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Key management system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Central control of the whole key lifecycle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3832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Out of casual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502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Store keys where they cannot be casually read by the host, an administrator or a backup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8H · KEY MANAGEMENT &amp; CONTENT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Rotation limits the blast radius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rotate  </a:t>
            </a:r>
            <a:r>
              <a:rPr sz="1450">
                <a:solidFill>
                  <a:srgbClr val="D1D5DB"/>
                </a:solidFill>
                <a:latin typeface="Arial"/>
              </a:rPr>
              <a:t>a key that never changes is a key an attacker keeps forever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schedule  </a:t>
            </a:r>
            <a:r>
              <a:rPr sz="1450">
                <a:solidFill>
                  <a:srgbClr val="D1D5DB"/>
                </a:solidFill>
                <a:latin typeface="Arial"/>
              </a:rPr>
              <a:t>rotating limits how much any single compromise can expose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overlap  </a:t>
            </a:r>
            <a:r>
              <a:rPr sz="1450">
                <a:solidFill>
                  <a:srgbClr val="D1D5DB"/>
                </a:solidFill>
                <a:latin typeface="Arial"/>
              </a:rPr>
              <a:t>keep the retired key only as long as you must read old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Then finish it  </a:t>
            </a:r>
            <a:r>
              <a:rPr sz="1450">
                <a:solidFill>
                  <a:srgbClr val="D1D5DB"/>
                </a:solidFill>
                <a:latin typeface="Arial"/>
              </a:rPr>
              <a:t>revoke it, then destroy it everywhere, including backups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Analyst's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Rotation limits the blast radius. Destruction is the last stage of the lifecycle, not an afterthought.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8H · KEY MANAGEMENT &amp; CONTENT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Access control lists and URL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Access control list  </a:t>
            </a:r>
            <a:r>
              <a:rPr sz="1450">
                <a:solidFill>
                  <a:srgbClr val="D1D5DB"/>
                </a:solidFill>
                <a:latin typeface="Arial"/>
              </a:rPr>
              <a:t>allows or denies by source, destination, port or protocol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Order matters  </a:t>
            </a:r>
            <a:r>
              <a:rPr sz="1450">
                <a:solidFill>
                  <a:srgbClr val="D1D5DB"/>
                </a:solidFill>
                <a:latin typeface="Arial"/>
              </a:rPr>
              <a:t>rules are evaluated in sequence, and the first match wins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classic error  </a:t>
            </a:r>
            <a:r>
              <a:rPr sz="1450">
                <a:solidFill>
                  <a:srgbClr val="D1D5DB"/>
                </a:solidFill>
                <a:latin typeface="Arial"/>
              </a:rPr>
              <a:t>a permit everything rule at the top makes the rest decoration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URL filtering  </a:t>
            </a:r>
            <a:r>
              <a:rPr sz="1450">
                <a:solidFill>
                  <a:srgbClr val="D1D5DB"/>
                </a:solidFill>
                <a:latin typeface="Arial"/>
              </a:rPr>
              <a:t>blocks whole categories: social media, gaming, malicious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 filtering  </a:t>
            </a:r>
            <a:r>
              <a:rPr sz="1450">
                <a:solidFill>
                  <a:srgbClr val="D1D5DB"/>
                </a:solidFill>
                <a:latin typeface="Arial"/>
              </a:rPr>
              <a:t>blocks the name lookup, before any connection exists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Plan the rule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Plan the rule set, or you will break something legitimate. Review it regularly.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8H · KEY MANAGEMENT &amp; CONTENT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Inspecting what 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Content filtering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Scan traffic for malicious content, and block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Deep packet inspection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Examine packet contents in real time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loss prevention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Stop sensitive data leaving the organisation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Web proxy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Enforce policy, cache content, and hide internal addresses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3832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Two different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502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Filtering decides what is allowed; inspection decides what is safe. You need both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8A · TRUST ZONES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Trust zones and the screened subnet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Untrusted zone  </a:t>
            </a:r>
            <a:r>
              <a:rPr sz="1450">
                <a:solidFill>
                  <a:srgbClr val="D1D5DB"/>
                </a:solidFill>
                <a:latin typeface="Arial"/>
              </a:rPr>
              <a:t>the internet, which anyone can reach and nobody controls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Trusted zone  </a:t>
            </a:r>
            <a:r>
              <a:rPr sz="1450">
                <a:solidFill>
                  <a:srgbClr val="D1D5DB"/>
                </a:solidFill>
                <a:latin typeface="Arial"/>
              </a:rPr>
              <a:t>internal networks, data centres and private cloud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Semi-trusted  </a:t>
            </a:r>
            <a:r>
              <a:rPr sz="1450">
                <a:solidFill>
                  <a:srgbClr val="D1D5DB"/>
                </a:solidFill>
                <a:latin typeface="Arial"/>
              </a:rPr>
              <a:t>partner networks, branch offices and guest networks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Screened subnet  </a:t>
            </a:r>
            <a:r>
              <a:rPr sz="1450">
                <a:solidFill>
                  <a:srgbClr val="D1D5DB"/>
                </a:solidFill>
                <a:latin typeface="Arial"/>
              </a:rPr>
              <a:t>also called a demilitarised zone, or DMZ, for public services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is a buffer  </a:t>
            </a:r>
            <a:r>
              <a:rPr sz="1450">
                <a:solidFill>
                  <a:srgbClr val="D1D5DB"/>
                </a:solidFill>
                <a:latin typeface="Arial"/>
              </a:rPr>
              <a:t>reachable from outside, and deliberately separated from inside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Zone policy  </a:t>
            </a:r>
            <a:r>
              <a:rPr sz="1450">
                <a:solidFill>
                  <a:srgbClr val="D1D5DB"/>
                </a:solidFill>
                <a:latin typeface="Arial"/>
              </a:rPr>
              <a:t>zone based firewall policies govern every path between zones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 design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Trust is a design decision, not a location. A zone is a boundary you can write a rule against.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8A · TRUST ZONES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Zone policy, defence in depth and zero trust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Zone based policy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Rules decide what may cross between zones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Deliberate asymmetry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Internal users reach the DMZ; the DMZ cannot reach back 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Defence in depth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Several layers of control, because no single one is foolproof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Zero trust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No implicit trust from location; verify identity and context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38328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habit to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5020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compromised public server must not become a doorway. Verify identity and context on every request, then prove the control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8B · SECURITY APPLIANCES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Exam reference: the appliance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Firewall, stateless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Filters each packet by address, port and protocol, with no context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Firewall, stateful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Tracks connections in a state table, and allows established flows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NGFW and UTM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 awareness, deep packet inspection and threat intelligence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IDS and IPS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Detection alerts and logs; prevention sits inline and blocks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Signature or anomaly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Signatures catch known attacks; anomaly detection flags deviations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Exam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IDS detects and alerts; IPS sits inline and blocks. A load balancer that fails is a single point of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place the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appliance inspects application-layer web attacks?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appliance blocks malicious traffic inline?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appliance should NOT be a single point of failure?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appliance hides the internal topology?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what happens when each fails?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WAF for web apps · IPS blocks inline · load balancers need redundancy · proxies mask topology.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8C · SECURE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Exam reference: remote access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Site-to-site VPN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Connects whole networks, branch to headquarters, often IPsec tunnel mode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Remote access VPN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Connects one device: client-based, or an SSL VPN in the browser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Split tunnel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Only some traffic crosses the tunnel, and the rest goes direct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ZTNA and SASE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Verify identity and posture per request; SASE delivers it as a 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29184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Every remote path needs all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Authentication, encryption and monitoring. RDP is a favourite target: MFA, firewall allowlists, patching, monitoring, and jump servers or bastion hosts for administrators.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lock down remote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RDP must stay enabled for one admin. List the controls you add.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Branch users need the HQ systems. Which VPN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contractor needs browser-only access. Which option?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control is non-negotiable?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MFA, firewall allowlists, patching, monitoring, and MFA again. Site-to-site for branches; SSL VPN for browser-only.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8D · SECURE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Exam reference: the secure protocol toolkit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4008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Protocol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TLS / HTTPS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Transport encryption for web and APIs (TLS 1.2 and 1.3)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SSH / SFTP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 remote administration and file transfer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IPsec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Network-layer encryption for VPNs, in tunnel mode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S/MIME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Email signing and encryption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DNSSEC / HSTS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DNS response integrity; browsers refuse plaintext HTTP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Exam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768096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Perfect forward secrecy uses ephemeral keys, so past traffic stays secret if a key leaks. Certificate validation checks the chain, hostname, expiry and revocation, which is what defeats a man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Secure the rooms first  </a:t>
            </a:r>
            <a:r>
              <a:rPr sz="1600">
                <a:solidFill>
                  <a:srgbClr val="FFFFFF"/>
                </a:solidFill>
                <a:latin typeface="Arial"/>
              </a:rPr>
              <a:t>physical access defeats every logical control.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Isolate your decoys  </a:t>
            </a:r>
            <a:r>
              <a:rPr sz="1600">
                <a:solidFill>
                  <a:srgbClr val="FFFFFF"/>
                </a:solidFill>
                <a:latin typeface="Arial"/>
              </a:rPr>
              <a:t>and keep the monitoring lawful.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Audit to prove it works  </a:t>
            </a:r>
            <a:r>
              <a:rPr sz="1600">
                <a:solidFill>
                  <a:srgbClr val="FFFFFF"/>
                </a:solidFill>
                <a:latin typeface="Arial"/>
              </a:rPr>
              <a:t>evidence is logs and configurations.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Segment by data sensitivity  </a:t>
            </a:r>
            <a:r>
              <a:rPr sz="1600">
                <a:solidFill>
                  <a:srgbClr val="FFFFFF"/>
                </a:solidFill>
                <a:latin typeface="Arial"/>
              </a:rPr>
              <a:t>then contain industrial systems.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Trust guests and BYOD with a segment  </a:t>
            </a:r>
            <a:r>
              <a:rPr sz="1600">
                <a:solidFill>
                  <a:srgbClr val="FFFFFF"/>
                </a:solidFill>
                <a:latin typeface="Arial"/>
              </a:rPr>
              <a:t>never with internal access.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Rotate keys and filter content  </a:t>
            </a:r>
            <a:r>
              <a:rPr sz="1600">
                <a:solidFill>
                  <a:srgbClr val="FFFFFF"/>
                </a:solidFill>
                <a:latin typeface="Arial"/>
              </a:rPr>
              <a:t>and verify identity per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Draw a zone diagram  </a:t>
            </a:r>
            <a:r>
              <a:rPr sz="1450">
                <a:solidFill>
                  <a:srgbClr val="D1D5DB"/>
                </a:solidFill>
                <a:latin typeface="Arial"/>
              </a:rPr>
              <a:t>untrusted, screened subnet, internal and management, for a network you know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Match the controls to the risk  </a:t>
            </a:r>
            <a:r>
              <a:rPr sz="1450">
                <a:solidFill>
                  <a:srgbClr val="D1D5DB"/>
                </a:solidFill>
                <a:latin typeface="Arial"/>
              </a:rPr>
              <a:t>physical, segmentation, NAC, keys, filtering, zones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9: endpoint, application, cloud and virtualisation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Quiz_Session_08.html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topic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explanation: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session topic, e.g. 8C Secure Remote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9 — Endpoint, Application, Cloud &amp; Virtualisation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Hardening the hosts, the code and the shared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Endpoint hardening, EDR and mobile device management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Secure development lifecycle and application-layer attacks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Cloud service models, shared responsibility and the hypervisor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