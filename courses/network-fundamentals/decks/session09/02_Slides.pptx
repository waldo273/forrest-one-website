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141414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50292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spc="300">
                <a:solidFill>
                  <a:srgbClr val="9CA3AF"/>
                </a:solidFill>
                <a:latin typeface="Arial"/>
              </a:rPr>
              <a:t>TRAINING @ FORREST.ONE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23444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spc="300">
                <a:solidFill>
                  <a:srgbClr val="C22828"/>
                </a:solidFill>
                <a:latin typeface="Arial"/>
              </a:rPr>
              <a:t>SESSION 9 OF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276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Network Fundamentals + CompTIA Security+ SY0-701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057400"/>
            <a:ext cx="4892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Arial"/>
              </a:rPr>
              <a:t>Endpoint, Application, Cloud &amp; Virtualisation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361188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Hardening the hosts, securing the code and defending the shared estate.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4224528"/>
            <a:ext cx="1009497" cy="310896"/>
          </a:xfrm>
          <a:prstGeom prst="roundRect">
            <a:avLst>
              <a:gd name="adj" fmla="val 50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3441" y="4224528"/>
            <a:ext cx="1457553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SECURE CODING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37299" y="422452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4267" y="4224528"/>
            <a:ext cx="1547164" cy="310896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 spc="100">
                <a:solidFill>
                  <a:srgbClr val="FFFFFF"/>
                </a:solidFill>
                <a:latin typeface="Arial"/>
              </a:rPr>
              <a:t>VIRTUALISATION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484632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7" name="Picture 16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4718304"/>
            <a:ext cx="301752" cy="455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WELCOME · WHERE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Defence beyond the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Session 8  </a:t>
            </a:r>
            <a:r>
              <a:rPr sz="1450">
                <a:solidFill>
                  <a:srgbClr val="D1D5DB"/>
                </a:solidFill>
                <a:latin typeface="Arial"/>
              </a:rPr>
              <a:t>secured the network boundary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Today  </a:t>
            </a:r>
            <a:r>
              <a:rPr sz="1450">
                <a:solidFill>
                  <a:srgbClr val="D1D5DB"/>
                </a:solidFill>
                <a:latin typeface="Arial"/>
              </a:rPr>
              <a:t>the hosts, the code and the cloud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thread  </a:t>
            </a:r>
            <a:r>
              <a:rPr sz="1450">
                <a:solidFill>
                  <a:srgbClr val="D1D5DB"/>
                </a:solidFill>
                <a:latin typeface="Arial"/>
              </a:rPr>
              <a:t>every layer carries its own controls, none trusted alone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pick the control for the asset, not 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SESSION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By the end of this session you will be able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endpoint protection  </a:t>
            </a:r>
            <a:r>
              <a:rPr sz="1450">
                <a:solidFill>
                  <a:srgbClr val="D1D5DB"/>
                </a:solidFill>
                <a:latin typeface="Arial"/>
              </a:rPr>
              <a:t>hardening, EDR, app control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mobile management  </a:t>
            </a:r>
            <a:r>
              <a:rPr sz="1450">
                <a:solidFill>
                  <a:srgbClr val="D1D5DB"/>
                </a:solidFill>
                <a:latin typeface="Arial"/>
              </a:rPr>
              <a:t>MDM, BYOD and mobile threats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the SDLC  </a:t>
            </a:r>
            <a:r>
              <a:rPr sz="1450">
                <a:solidFill>
                  <a:srgbClr val="D1D5DB"/>
                </a:solidFill>
                <a:latin typeface="Arial"/>
              </a:rPr>
              <a:t>DevSecOps and secure coding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Describe app attacks  </a:t>
            </a:r>
            <a:r>
              <a:rPr sz="1450">
                <a:solidFill>
                  <a:srgbClr val="D1D5DB"/>
                </a:solidFill>
                <a:latin typeface="Arial"/>
              </a:rPr>
              <a:t>injection, XSS, CSRF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Explain cloud security  </a:t>
            </a:r>
            <a:r>
              <a:rPr sz="1450">
                <a:solidFill>
                  <a:srgbClr val="D1D5DB"/>
                </a:solidFill>
                <a:latin typeface="Arial"/>
              </a:rPr>
              <a:t>models, shared responsibility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virtualisation  </a:t>
            </a:r>
            <a:r>
              <a:rPr sz="1450">
                <a:solidFill>
                  <a:srgbClr val="D1D5DB"/>
                </a:solidFill>
                <a:latin typeface="Arial"/>
              </a:rPr>
              <a:t>hypervisors, containers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9A · ENDPOINT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Endpoint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endpoint  </a:t>
            </a:r>
            <a:r>
              <a:rPr sz="1450">
                <a:solidFill>
                  <a:srgbClr val="D1D5DB"/>
                </a:solidFill>
                <a:latin typeface="Arial"/>
              </a:rPr>
              <a:t>any device that touches the network, whatever its role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Antivirus and EDR  </a:t>
            </a:r>
            <a:r>
              <a:rPr sz="1450">
                <a:solidFill>
                  <a:srgbClr val="D1D5DB"/>
                </a:solidFill>
                <a:latin typeface="Arial"/>
              </a:rPr>
              <a:t>signature detection plus behaviour monitoring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gap  </a:t>
            </a:r>
            <a:r>
              <a:rPr sz="1450">
                <a:solidFill>
                  <a:srgbClr val="D1D5DB"/>
                </a:solidFill>
                <a:latin typeface="Arial"/>
              </a:rPr>
              <a:t>signatures miss unknown threats, behaviour catches them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stack  </a:t>
            </a:r>
            <a:r>
              <a:rPr sz="1450">
                <a:solidFill>
                  <a:srgbClr val="D1D5DB"/>
                </a:solidFill>
                <a:latin typeface="Arial"/>
              </a:rPr>
              <a:t>AV/EDR, host firewall, hardening, patching, app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9A · ENDPOINT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Hardening the endpoint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Baseline  </a:t>
            </a:r>
            <a:r>
              <a:rPr sz="1450">
                <a:solidFill>
                  <a:srgbClr val="D1D5DB"/>
                </a:solidFill>
                <a:latin typeface="Arial"/>
              </a:rPr>
              <a:t>a documented secure configuration from a known state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Sources  </a:t>
            </a:r>
            <a:r>
              <a:rPr sz="1450">
                <a:solidFill>
                  <a:srgbClr val="D1D5DB"/>
                </a:solidFill>
                <a:latin typeface="Arial"/>
              </a:rPr>
              <a:t>CIS benchmarks and vendor hardening guides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Patch management  </a:t>
            </a:r>
            <a:r>
              <a:rPr sz="1450">
                <a:solidFill>
                  <a:srgbClr val="D1D5DB"/>
                </a:solidFill>
                <a:latin typeface="Arial"/>
              </a:rPr>
              <a:t>close the known holes first, then verify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Disable what you do not use  </a:t>
            </a:r>
            <a:r>
              <a:rPr sz="1450">
                <a:solidFill>
                  <a:srgbClr val="D1D5DB"/>
                </a:solidFill>
                <a:latin typeface="Arial"/>
              </a:rPr>
              <a:t>services, ports, default accounts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test  </a:t>
            </a:r>
            <a:r>
              <a:rPr sz="1450">
                <a:solidFill>
                  <a:srgbClr val="D1D5DB"/>
                </a:solidFill>
                <a:latin typeface="Arial"/>
              </a:rPr>
              <a:t>would a default install fail your policy?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9A · ENDPOINT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Application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Allowlisting  </a:t>
            </a:r>
            <a:r>
              <a:rPr sz="1450">
                <a:solidFill>
                  <a:srgbClr val="D1D5DB"/>
                </a:solidFill>
                <a:latin typeface="Arial"/>
              </a:rPr>
              <a:t>only pre-approved software runs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Blocklisting  </a:t>
            </a:r>
            <a:r>
              <a:rPr sz="1450">
                <a:solidFill>
                  <a:srgbClr val="D1D5DB"/>
                </a:solidFill>
                <a:latin typeface="Arial"/>
              </a:rPr>
              <a:t>known bad software is denied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Code signing  </a:t>
            </a:r>
            <a:r>
              <a:rPr sz="1450">
                <a:solidFill>
                  <a:srgbClr val="D1D5DB"/>
                </a:solidFill>
                <a:latin typeface="Arial"/>
              </a:rPr>
              <a:t>verify origin and integrity before execution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modern choice  </a:t>
            </a:r>
            <a:r>
              <a:rPr sz="1450">
                <a:solidFill>
                  <a:srgbClr val="D1D5DB"/>
                </a:solidFill>
                <a:latin typeface="Arial"/>
              </a:rPr>
              <a:t>allowlisting wins, blocklists miss unknowns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benefit  </a:t>
            </a:r>
            <a:r>
              <a:rPr sz="1450">
                <a:solidFill>
                  <a:srgbClr val="D1D5DB"/>
                </a:solidFill>
                <a:latin typeface="Arial"/>
              </a:rPr>
              <a:t>malware cannot execute if it is not approved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9A · ENDPOINT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Mobile device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MDM  </a:t>
            </a:r>
            <a:r>
              <a:rPr sz="1450">
                <a:solidFill>
                  <a:srgbClr val="D1D5DB"/>
                </a:solidFill>
                <a:latin typeface="Arial"/>
              </a:rPr>
              <a:t>enrol, configure, enforce, wipe centrally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BYOD  </a:t>
            </a:r>
            <a:r>
              <a:rPr sz="1450">
                <a:solidFill>
                  <a:srgbClr val="D1D5DB"/>
                </a:solidFill>
                <a:latin typeface="Arial"/>
              </a:rPr>
              <a:t>personal devices carrying corporate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Application vetting  </a:t>
            </a:r>
            <a:r>
              <a:rPr sz="1450">
                <a:solidFill>
                  <a:srgbClr val="D1D5DB"/>
                </a:solidFill>
                <a:latin typeface="Arial"/>
              </a:rPr>
              <a:t>assess, comply and check reputation before install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Containers  </a:t>
            </a:r>
            <a:r>
              <a:rPr sz="1450">
                <a:solidFill>
                  <a:srgbClr val="D1D5DB"/>
                </a:solidFill>
                <a:latin typeface="Arial"/>
              </a:rPr>
              <a:t>separate work and personal data on the device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controls  </a:t>
            </a:r>
            <a:r>
              <a:rPr sz="1450">
                <a:solidFill>
                  <a:srgbClr val="D1D5DB"/>
                </a:solidFill>
                <a:latin typeface="Arial"/>
              </a:rPr>
              <a:t>remote wipe, encryption, jailbreak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secure the fleet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laptop runs an unknown executable: which control stops it?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manager's phone holds corporate mail: which model fits?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Which device should never join the domain?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what is the one control every endpoint needs?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Allowlisting blocks unknown executables · MDM with containers fits BYOD · guest/IoT stays off the domain · patching is the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9A · ENDPOINT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Operating system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User accounts  </a:t>
            </a:r>
            <a:r>
              <a:rPr sz="1450">
                <a:solidFill>
                  <a:srgbClr val="D1D5DB"/>
                </a:solidFill>
                <a:latin typeface="Arial"/>
              </a:rPr>
              <a:t>least privilege, no admin by default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Secure boot  </a:t>
            </a:r>
            <a:r>
              <a:rPr sz="1450">
                <a:solidFill>
                  <a:srgbClr val="D1D5DB"/>
                </a:solidFill>
                <a:latin typeface="Arial"/>
              </a:rPr>
              <a:t>verified boot chain blocks tampered firmware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Full disk encryption  </a:t>
            </a:r>
            <a:r>
              <a:rPr sz="1450">
                <a:solidFill>
                  <a:srgbClr val="D1D5DB"/>
                </a:solidFill>
                <a:latin typeface="Arial"/>
              </a:rPr>
              <a:t>protects data at rest on lost media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Firmware updates  </a:t>
            </a:r>
            <a:r>
              <a:rPr sz="1450">
                <a:solidFill>
                  <a:srgbClr val="D1D5DB"/>
                </a:solidFill>
                <a:latin typeface="Arial"/>
              </a:rPr>
              <a:t>close hardware-level vulnerabilities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habit  </a:t>
            </a:r>
            <a:r>
              <a:rPr sz="1450">
                <a:solidFill>
                  <a:srgbClr val="D1D5DB"/>
                </a:solidFill>
                <a:latin typeface="Arial"/>
              </a:rPr>
              <a:t>update, reboot,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7315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8138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FFFFF"/>
                </a:solidFill>
                <a:latin typeface="Arial"/>
              </a:rPr>
              <a:t>Your AV never fired, yet a workstation was compromised. What went wrong?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171717"/>
          </a:solidFill>
          <a:ln w="15875">
            <a:solidFill>
              <a:srgbClr val="A8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090672"/>
            <a:ext cx="7589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D1D5DB"/>
                </a:solidFill>
                <a:latin typeface="Arial"/>
              </a:rPr>
              <a:t>Signatures miss zero-days. Behaviour monitoring, allowlisting and patching would have caught or prevented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8138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9CA3AF"/>
                </a:solidFill>
                <a:latin typeface="Arial"/>
              </a:rPr>
              <a:t>Detection is a stack, not a single product; layer the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69164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spc="500">
                <a:solidFill>
                  <a:srgbClr val="FFFFFF"/>
                </a:solidFill>
                <a:latin typeface="Arial"/>
              </a:rPr>
              <a:t>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spc="200">
                <a:solidFill>
                  <a:srgbClr val="F3D9D9"/>
                </a:solidFill>
                <a:latin typeface="Arial"/>
              </a:rPr>
              <a:t>10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94760"/>
            <a:ext cx="6400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D1D5DB"/>
                </a:solidFill>
                <a:latin typeface="Arial"/>
              </a:rPr>
              <a:t>Back soon: the application lifecycle, secure coding and application attacks.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9B · THE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Security in the SDLC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Shift left  </a:t>
            </a:r>
            <a:r>
              <a:rPr sz="1450">
                <a:solidFill>
                  <a:srgbClr val="D1D5DB"/>
                </a:solidFill>
                <a:latin typeface="Arial"/>
              </a:rPr>
              <a:t>security from the first design, not the last test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Threat modelling  </a:t>
            </a:r>
            <a:r>
              <a:rPr sz="1450">
                <a:solidFill>
                  <a:srgbClr val="D1D5DB"/>
                </a:solidFill>
                <a:latin typeface="Arial"/>
              </a:rPr>
              <a:t>find the attack surface before code exists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Code review  </a:t>
            </a:r>
            <a:r>
              <a:rPr sz="1450">
                <a:solidFill>
                  <a:srgbClr val="D1D5DB"/>
                </a:solidFill>
                <a:latin typeface="Arial"/>
              </a:rPr>
              <a:t>human and automated checks at every change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Testing  </a:t>
            </a:r>
            <a:r>
              <a:rPr sz="1450">
                <a:solidFill>
                  <a:srgbClr val="D1D5DB"/>
                </a:solidFill>
                <a:latin typeface="Arial"/>
              </a:rPr>
              <a:t>SAST for source, DAST for running apps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Input validation  </a:t>
            </a:r>
            <a:r>
              <a:rPr sz="1450">
                <a:solidFill>
                  <a:srgbClr val="D1D5DB"/>
                </a:solidFill>
                <a:latin typeface="Arial"/>
              </a:rPr>
              <a:t>whitelisting, sanitisation and boundary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9B · THE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DevSecOps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idea  </a:t>
            </a:r>
            <a:r>
              <a:rPr sz="1450">
                <a:solidFill>
                  <a:srgbClr val="D1D5DB"/>
                </a:solidFill>
                <a:latin typeface="Arial"/>
              </a:rPr>
              <a:t>security is part of the pipeline, not a gate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CI/CD  </a:t>
            </a:r>
            <a:r>
              <a:rPr sz="1450">
                <a:solidFill>
                  <a:srgbClr val="D1D5DB"/>
                </a:solidFill>
                <a:latin typeface="Arial"/>
              </a:rPr>
              <a:t>every build is scanned and tested automatically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Infrastructure as code  </a:t>
            </a:r>
            <a:r>
              <a:rPr sz="1450">
                <a:solidFill>
                  <a:srgbClr val="D1D5DB"/>
                </a:solidFill>
                <a:latin typeface="Arial"/>
              </a:rPr>
              <a:t>scan templates, manage secrets centrally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failure mode  </a:t>
            </a:r>
            <a:r>
              <a:rPr sz="1450">
                <a:solidFill>
                  <a:srgbClr val="D1D5DB"/>
                </a:solidFill>
                <a:latin typeface="Arial"/>
              </a:rPr>
              <a:t>security bolted on at the end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outcome  </a:t>
            </a:r>
            <a:r>
              <a:rPr sz="1450">
                <a:solidFill>
                  <a:srgbClr val="D1D5DB"/>
                </a:solidFill>
                <a:latin typeface="Arial"/>
              </a:rPr>
              <a:t>secure code ships as fast as insecure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9C · APPLICATION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SQL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flaw  </a:t>
            </a:r>
            <a:r>
              <a:rPr sz="1450">
                <a:solidFill>
                  <a:srgbClr val="D1D5DB"/>
                </a:solidFill>
                <a:latin typeface="Arial"/>
              </a:rPr>
              <a:t>user input treated as part of the query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impact  </a:t>
            </a:r>
            <a:r>
              <a:rPr sz="1450">
                <a:solidFill>
                  <a:srgbClr val="D1D5DB"/>
                </a:solidFill>
                <a:latin typeface="Arial"/>
              </a:rPr>
              <a:t>read, modify or delete database data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classic fix  </a:t>
            </a:r>
            <a:r>
              <a:rPr sz="1450">
                <a:solidFill>
                  <a:srgbClr val="D1D5DB"/>
                </a:solidFill>
                <a:latin typeface="Arial"/>
              </a:rPr>
              <a:t>parameterised queries, input is data not code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Input validation  </a:t>
            </a:r>
            <a:r>
              <a:rPr sz="1450">
                <a:solidFill>
                  <a:srgbClr val="D1D5DB"/>
                </a:solidFill>
                <a:latin typeface="Arial"/>
              </a:rPr>
              <a:t>whitelist, sanitise and bound every field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test  </a:t>
            </a:r>
            <a:r>
              <a:rPr sz="1450">
                <a:solidFill>
                  <a:srgbClr val="D1D5DB"/>
                </a:solidFill>
                <a:latin typeface="Arial"/>
              </a:rPr>
              <a:t>any input field is a potential injection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9C · APPLICATION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XSS and CSRF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XSS  </a:t>
            </a:r>
            <a:r>
              <a:rPr sz="1450">
                <a:solidFill>
                  <a:srgbClr val="D1D5DB"/>
                </a:solidFill>
                <a:latin typeface="Arial"/>
              </a:rPr>
              <a:t>attacker script runs in another user's browser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CSRF  </a:t>
            </a:r>
            <a:r>
              <a:rPr sz="1450">
                <a:solidFill>
                  <a:srgbClr val="D1D5DB"/>
                </a:solidFill>
                <a:latin typeface="Arial"/>
              </a:rPr>
              <a:t>forged request rides a victim's session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fixes  </a:t>
            </a:r>
            <a:r>
              <a:rPr sz="1450">
                <a:solidFill>
                  <a:srgbClr val="D1D5DB"/>
                </a:solidFill>
                <a:latin typeface="Arial"/>
              </a:rPr>
              <a:t>output encoding, same-site cookies, tokens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Defence  </a:t>
            </a:r>
            <a:r>
              <a:rPr sz="1450">
                <a:solidFill>
                  <a:srgbClr val="D1D5DB"/>
                </a:solidFill>
                <a:latin typeface="Arial"/>
              </a:rPr>
              <a:t>a WAF filters and monitors web traffic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difference  </a:t>
            </a:r>
            <a:r>
              <a:rPr sz="1450">
                <a:solidFill>
                  <a:srgbClr val="D1D5DB"/>
                </a:solidFill>
                <a:latin typeface="Arial"/>
              </a:rPr>
              <a:t>XSS hijacks the browser; CSRF hijacks the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9C · APPLICATION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More application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Buffer overflow  </a:t>
            </a:r>
            <a:r>
              <a:rPr sz="1450">
                <a:solidFill>
                  <a:srgbClr val="D1D5DB"/>
                </a:solidFill>
                <a:latin typeface="Arial"/>
              </a:rPr>
              <a:t>excess input overwrites memory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Directory traversal  </a:t>
            </a:r>
            <a:r>
              <a:rPr sz="1450">
                <a:solidFill>
                  <a:srgbClr val="D1D5DB"/>
                </a:solidFill>
                <a:latin typeface="Arial"/>
              </a:rPr>
              <a:t>dot dot slash escapes the web root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Race condition  </a:t>
            </a:r>
            <a:r>
              <a:rPr sz="1450">
                <a:solidFill>
                  <a:srgbClr val="D1D5DB"/>
                </a:solidFill>
                <a:latin typeface="Arial"/>
              </a:rPr>
              <a:t>timing gap between check and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Sandboxing  </a:t>
            </a:r>
            <a:r>
              <a:rPr sz="1450">
                <a:solidFill>
                  <a:srgbClr val="D1D5DB"/>
                </a:solidFill>
                <a:latin typeface="Arial"/>
              </a:rPr>
              <a:t>isolate risky code to contain any compromise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pattern  </a:t>
            </a:r>
            <a:r>
              <a:rPr sz="1450">
                <a:solidFill>
                  <a:srgbClr val="D1D5DB"/>
                </a:solidFill>
                <a:latin typeface="Arial"/>
              </a:rPr>
              <a:t>input validation and least privilege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Activity: find the flaw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login field accepts ' OR 1=1: which attack?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script tag appears in another user's browser: which attack?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A forged form submission uses a logged-in session: which attack?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Debrief: which two fixes cover most of these?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SQL injection · XSS · CSRF · parameterised queries and output encoding.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9D · CLOUD &amp; VIRTUALISATION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Cloud deployment and service models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83080"/>
          <a:ext cx="81381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What it means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5C1010"/>
                      </a:solidFill>
                    </a:lnB>
                    <a:lnT w="6350" cap="flat">
                      <a:solidFill>
                        <a:srgbClr val="5C1010"/>
                      </a:solidFill>
                    </a:lnT>
                    <a:lnR w="6350" cap="flat">
                      <a:solidFill>
                        <a:srgbClr val="5C1010"/>
                      </a:solidFill>
                    </a:lnR>
                    <a:lnL w="6350" cap="flat">
                      <a:solidFill>
                        <a:srgbClr val="5C1010"/>
                      </a:solidFill>
                    </a:lnL>
                    <a:solidFill>
                      <a:srgbClr val="7F14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IaaS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VMs, storage, network. You secure everything above the hypervisor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PaaS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Platform provided. You secure the app and its data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SaaS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Software delivered. The vendor secures nearly everything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Public / private / hybrid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Who owns and operates the infrastructure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Community cloud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D1D5DB"/>
                          </a:solidFill>
                          <a:latin typeface="Arial"/>
                        </a:rPr>
                        <a:t>Shared by organisations with common needs</a:t>
                      </a:r>
                    </a:p>
                  </a:txBody>
                  <a:tcPr anchor="ctr" marL="91440" marR="91440" marT="27432" marB="27432">
                    <a:lnB w="6350" cap="flat">
                      <a:solidFill>
                        <a:srgbClr val="3A3A3A"/>
                      </a:solidFill>
                    </a:lnB>
                    <a:lnT w="6350" cap="flat">
                      <a:solidFill>
                        <a:srgbClr val="3A3A3A"/>
                      </a:solidFill>
                    </a:lnT>
                    <a:lnR w="6350" cap="flat">
                      <a:solidFill>
                        <a:srgbClr val="3A3A3A"/>
                      </a:solidFill>
                    </a:lnR>
                    <a:lnL w="6350" cap="flat">
                      <a:solidFill>
                        <a:srgbClr val="3A3A3A"/>
                      </a:solidFill>
                    </a:lnL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9D · CLOUD &amp; VIRTUALISATION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Shared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vendor  </a:t>
            </a:r>
            <a:r>
              <a:rPr sz="1450">
                <a:solidFill>
                  <a:srgbClr val="D1D5DB"/>
                </a:solidFill>
                <a:latin typeface="Arial"/>
              </a:rPr>
              <a:t>secures the cloud, the infrastructure underneath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customer  </a:t>
            </a:r>
            <a:r>
              <a:rPr sz="1450">
                <a:solidFill>
                  <a:srgbClr val="D1D5DB"/>
                </a:solidFill>
                <a:latin typeface="Arial"/>
              </a:rPr>
              <a:t>secures what is in the cloud, config, data, access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line moves  </a:t>
            </a:r>
            <a:r>
              <a:rPr sz="1450">
                <a:solidFill>
                  <a:srgbClr val="D1D5DB"/>
                </a:solidFill>
                <a:latin typeface="Arial"/>
              </a:rPr>
              <a:t>IaaS you secure the guest; SaaS the vendor does more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Community cloud  </a:t>
            </a:r>
            <a:r>
              <a:rPr sz="1450">
                <a:solidFill>
                  <a:srgbClr val="D1D5DB"/>
                </a:solidFill>
                <a:latin typeface="Arial"/>
              </a:rPr>
              <a:t>responsibilities shared across members and provider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exam line  </a:t>
            </a:r>
            <a:r>
              <a:rPr sz="1450">
                <a:solidFill>
                  <a:srgbClr val="D1D5DB"/>
                </a:solidFill>
                <a:latin typeface="Arial"/>
              </a:rPr>
              <a:t>misunderstanding the line is a failing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9D · CLOUD &amp; VIRTUALISATION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Misconfiguration is the number one cloud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cause  </a:t>
            </a:r>
            <a:r>
              <a:rPr sz="1450">
                <a:solidFill>
                  <a:srgbClr val="D1D5DB"/>
                </a:solidFill>
                <a:latin typeface="Arial"/>
              </a:rPr>
              <a:t>defaults, open buckets, permissive policies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exposure  </a:t>
            </a:r>
            <a:r>
              <a:rPr sz="1450">
                <a:solidFill>
                  <a:srgbClr val="D1D5DB"/>
                </a:solidFill>
                <a:latin typeface="Arial"/>
              </a:rPr>
              <a:t>data leaks reachable from the internet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tooling  </a:t>
            </a:r>
            <a:r>
              <a:rPr sz="1450">
                <a:solidFill>
                  <a:srgbClr val="D1D5DB"/>
                </a:solidFill>
                <a:latin typeface="Arial"/>
              </a:rPr>
              <a:t>CASB, posture management, policy as code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IaC guardrails  </a:t>
            </a:r>
            <a:r>
              <a:rPr sz="1450">
                <a:solidFill>
                  <a:srgbClr val="D1D5DB"/>
                </a:solidFill>
                <a:latin typeface="Arial"/>
              </a:rPr>
              <a:t>scan templates and check compliance automatically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habit  </a:t>
            </a:r>
            <a:r>
              <a:rPr sz="1450">
                <a:solidFill>
                  <a:srgbClr val="D1D5DB"/>
                </a:solidFill>
                <a:latin typeface="Arial"/>
              </a:rPr>
              <a:t>assume misconfiguration until proven otherwise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TOPIC 9D · CLOUD &amp; VIRTUALISATION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Securing the virtual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Hypervisor  </a:t>
            </a:r>
            <a:r>
              <a:rPr sz="1450">
                <a:solidFill>
                  <a:srgbClr val="D1D5DB"/>
                </a:solidFill>
                <a:latin typeface="Arial"/>
              </a:rPr>
              <a:t>separates the VMs, attack it and you own all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Type 1 vs Type 2  </a:t>
            </a:r>
            <a:r>
              <a:rPr sz="1450">
                <a:solidFill>
                  <a:srgbClr val="D1D5DB"/>
                </a:solidFill>
                <a:latin typeface="Arial"/>
              </a:rPr>
              <a:t>bare metal is smaller and safer than hosted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VM escape  </a:t>
            </a:r>
            <a:r>
              <a:rPr sz="1450">
                <a:solidFill>
                  <a:srgbClr val="D1D5DB"/>
                </a:solidFill>
                <a:latin typeface="Arial"/>
              </a:rPr>
              <a:t>breaking out of the guest into the host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Containers  </a:t>
            </a:r>
            <a:r>
              <a:rPr sz="1450">
                <a:solidFill>
                  <a:srgbClr val="D1D5DB"/>
                </a:solidFill>
                <a:latin typeface="Arial"/>
              </a:rPr>
              <a:t>share the kernel, isolate with namespaces and seccomp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The controls  </a:t>
            </a:r>
            <a:r>
              <a:rPr sz="1450">
                <a:solidFill>
                  <a:srgbClr val="D1D5DB"/>
                </a:solidFill>
                <a:latin typeface="Arial"/>
              </a:rPr>
              <a:t>patch the hypervisor, least privilege, network isolation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Check your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Open Quiz_Session_09.html in your browser.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20 questions, immediate feedback, topic tag on every question.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Read each explanation: the distractors teach as much as the answer.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rial"/>
              </a:rPr>
              <a:t>Score 70%+ before moving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7000"/>
            </a:avLst>
          </a:prstGeom>
          <a:solidFill>
            <a:srgbClr val="A8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18288" bIns="18288"/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150">
                <a:solidFill>
                  <a:srgbClr val="F3D9D9"/>
                </a:solidFill>
                <a:latin typeface="Arial"/>
              </a:rPr>
              <a:t>Every question maps to a session topic, e.g. 9C Application Attacks.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1" name="Picture 10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Endpoints need a stack  </a:t>
            </a:r>
            <a:r>
              <a:rPr sz="1600">
                <a:solidFill>
                  <a:srgbClr val="FFFFFF"/>
                </a:solidFill>
                <a:latin typeface="Arial"/>
              </a:rPr>
              <a:t>AV/EDR, hardening, patching, app control.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Mobile is managed, not trusted  </a:t>
            </a:r>
            <a:r>
              <a:rPr sz="1600">
                <a:solidFill>
                  <a:srgbClr val="FFFFFF"/>
                </a:solidFill>
                <a:latin typeface="Arial"/>
              </a:rPr>
              <a:t>MDM, containers and remote wipe.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Secure code shifts left  </a:t>
            </a:r>
            <a:r>
              <a:rPr sz="1600">
                <a:solidFill>
                  <a:srgbClr val="FFFFFF"/>
                </a:solidFill>
                <a:latin typeface="Arial"/>
              </a:rPr>
              <a:t>threat modelling, review, SAST/DAST in the pipeline.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Injection is input as code  </a:t>
            </a:r>
            <a:r>
              <a:rPr sz="1600">
                <a:solidFill>
                  <a:srgbClr val="FFFFFF"/>
                </a:solidFill>
                <a:latin typeface="Arial"/>
              </a:rPr>
              <a:t>parameterised queries and output encoding.</a:t>
            </a:r>
          </a:p>
          <a:p>
            <a:pPr marL="182880" indent="137160">
              <a:lnSpc>
                <a:spcPct val="110000"/>
              </a:lnSpc>
              <a:spcAft>
                <a:spcPts val="1872"/>
              </a:spcAft>
              <a:buFont typeface="Arial"/>
              <a:buChar char="•"/>
            </a:pPr>
            <a:r>
              <a:rPr sz="1600" b="1">
                <a:solidFill>
                  <a:srgbClr val="C22828"/>
                </a:solidFill>
                <a:latin typeface="Arial"/>
              </a:rPr>
              <a:t>Cloud is shared responsibility  </a:t>
            </a:r>
            <a:r>
              <a:rPr sz="1600">
                <a:solidFill>
                  <a:srgbClr val="FFFFFF"/>
                </a:solidFill>
                <a:latin typeface="Arial"/>
              </a:rPr>
              <a:t>you secure what is in the cloud, never assume.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8" name="Picture 7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spc="300">
                <a:solidFill>
                  <a:srgbClr val="C22828"/>
                </a:solidFill>
                <a:latin typeface="Arial"/>
              </a:rPr>
              <a:t>REVISION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8138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Before next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8138160" cy="2994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Retake the quiz  </a:t>
            </a:r>
            <a:r>
              <a:rPr sz="1450">
                <a:solidFill>
                  <a:srgbClr val="D1D5DB"/>
                </a:solidFill>
                <a:latin typeface="Arial"/>
              </a:rPr>
              <a:t>until you score 70%+ without guessing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Audit an app  </a:t>
            </a:r>
            <a:r>
              <a:rPr sz="1450">
                <a:solidFill>
                  <a:srgbClr val="D1D5DB"/>
                </a:solidFill>
                <a:latin typeface="Arial"/>
              </a:rPr>
              <a:t>find one input field and its validation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Map the responsibility line  </a:t>
            </a:r>
            <a:r>
              <a:rPr sz="1450">
                <a:solidFill>
                  <a:srgbClr val="D1D5DB"/>
                </a:solidFill>
                <a:latin typeface="Arial"/>
              </a:rPr>
              <a:t>for a SaaS and an IaaS you use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Classify the data  </a:t>
            </a:r>
            <a:r>
              <a:rPr sz="1450">
                <a:solidFill>
                  <a:srgbClr val="D1D5DB"/>
                </a:solidFill>
                <a:latin typeface="Arial"/>
              </a:rPr>
              <a:t>label a sample by type and state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450" b="1">
                <a:solidFill>
                  <a:srgbClr val="FFFFFF"/>
                </a:solidFill>
                <a:latin typeface="Arial"/>
              </a:rPr>
              <a:t>Read ahead  </a:t>
            </a:r>
            <a:r>
              <a:rPr sz="1450">
                <a:solidFill>
                  <a:srgbClr val="D1D5DB"/>
                </a:solidFill>
                <a:latin typeface="Arial"/>
              </a:rPr>
              <a:t>Session 10, vulnerability management, resiliency and asset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9" name="Picture 8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spc="300">
                <a:solidFill>
                  <a:srgbClr val="C22828"/>
                </a:solidFill>
                <a:latin typeface="Arial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8138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Session 10 — Vulnerability Management, Resiliency &amp; Asset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Finding the holes, fixing them, and surviving what gets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8138160" cy="2491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Scanning, CVSS and prioritisation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Patching, compensating controls and disclosure</a:t>
            </a:r>
          </a:p>
          <a:p>
            <a:pPr marL="182880" indent="137160">
              <a:lnSpc>
                <a:spcPct val="108000"/>
              </a:lnSpc>
              <a:spcAft>
                <a:spcPts val="1152"/>
              </a:spcAft>
              <a:buFont typeface="Arial"/>
              <a:buChar char="•"/>
            </a:pPr>
            <a:r>
              <a:rPr sz="1350">
                <a:solidFill>
                  <a:srgbClr val="D1D5DB"/>
                </a:solidFill>
                <a:latin typeface="Arial"/>
              </a:rPr>
              <a:t>Backups, redundancy and site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46320"/>
            <a:ext cx="51206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Arial"/>
              </a:rPr>
              <a:t>Network Fundamentals + CompTIA Security+ SY0-701 · Session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846320"/>
            <a:ext cx="46634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6B7280"/>
                </a:solidFill>
                <a:latin typeface="Arial"/>
              </a:rPr>
              <a:t>© Billy Forrest</a:t>
            </a:r>
          </a:p>
        </p:txBody>
      </p:sp>
      <p:pic>
        <p:nvPicPr>
          <p:cNvPr id="10" name="Picture 9" descr="fozzie_fto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28" y="4718304"/>
            <a:ext cx="274320" cy="4137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41080" y="29260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