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000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141414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39" y="5029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300">
                <a:solidFill>
                  <a:srgbClr val="9CA3AF"/>
                </a:solidFill>
                <a:latin typeface="Arial"/>
              </a:rPr>
              <a:t>TRAINING @ FORREST.ONE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2344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C22828"/>
                </a:solidFill>
                <a:latin typeface="Arial"/>
              </a:rPr>
              <a:t>SESSION 10 OF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6276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Network Fundamentals + CompTIA Security+ SY0-701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057400"/>
            <a:ext cx="4892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FFFFFF"/>
                </a:solidFill>
                <a:latin typeface="Arial"/>
              </a:rPr>
              <a:t>Vulnerability Management, Resiliency &amp; Asset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361188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Harden from a known good state, secure the edge, then run the vulnerability loop.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4224528"/>
            <a:ext cx="1099108" cy="310896"/>
          </a:xfrm>
          <a:prstGeom prst="roundRect">
            <a:avLst>
              <a:gd name="adj" fmla="val 50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BASELINES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23052" y="4224528"/>
            <a:ext cx="1099108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HARDENING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68465" y="4224528"/>
            <a:ext cx="830275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MOBILE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45044" y="4224528"/>
            <a:ext cx="1457553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VULNERABILITY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484632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7" name="Picture 16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4718304"/>
            <a:ext cx="301752" cy="4551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WELCOME · THE SESSION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Six chapters, from a secure baseline to a tuned alert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1 · Baselines and hardening  </a:t>
            </a:r>
            <a:r>
              <a:rPr sz="1450">
                <a:solidFill>
                  <a:srgbClr val="D1D5DB"/>
                </a:solidFill>
                <a:latin typeface="Arial"/>
              </a:rPr>
              <a:t>the known good state you build from, and hold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2 · Mobile and wireless  </a:t>
            </a:r>
            <a:r>
              <a:rPr sz="1450">
                <a:solidFill>
                  <a:srgbClr val="D1D5DB"/>
                </a:solidFill>
                <a:latin typeface="Arial"/>
              </a:rPr>
              <a:t>the devices that leave, and the air inside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3 · Applications and monitoring  </a:t>
            </a:r>
            <a:r>
              <a:rPr sz="1450">
                <a:solidFill>
                  <a:srgbClr val="D1D5DB"/>
                </a:solidFill>
                <a:latin typeface="Arial"/>
              </a:rPr>
              <a:t>harden the software, then watch what it touches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4 · The asset lifecycle  </a:t>
            </a:r>
            <a:r>
              <a:rPr sz="1450">
                <a:solidFill>
                  <a:srgbClr val="D1D5DB"/>
                </a:solidFill>
                <a:latin typeface="Arial"/>
              </a:rPr>
              <a:t>acquisition, assignment, tracking and disposal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5 · Vulnerability management  </a:t>
            </a:r>
            <a:r>
              <a:rPr sz="1450">
                <a:solidFill>
                  <a:srgbClr val="D1D5DB"/>
                </a:solidFill>
                <a:latin typeface="Arial"/>
              </a:rPr>
              <a:t>identify, analyse, prioritise, remediate, report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6 · Monitoring tooling  </a:t>
            </a:r>
            <a:r>
              <a:rPr sz="1450">
                <a:solidFill>
                  <a:srgbClr val="D1D5DB"/>
                </a:solidFill>
                <a:latin typeface="Arial"/>
              </a:rPr>
              <a:t>collect, correlate, tune, and act in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The thread through all six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5312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You cannot protect what you have not hardened, and you cannot fix what you cannot find. A finding nobody prioritised is a decision made by default.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SESSION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By the end of this session you will be able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Implement a baseline  </a:t>
            </a:r>
            <a:r>
              <a:rPr sz="1450">
                <a:solidFill>
                  <a:srgbClr val="D1D5DB"/>
                </a:solidFill>
                <a:latin typeface="Arial"/>
              </a:rPr>
              <a:t>and detect configuration drift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Harden three layers  </a:t>
            </a:r>
            <a:r>
              <a:rPr sz="1450">
                <a:solidFill>
                  <a:srgbClr val="D1D5DB"/>
                </a:solidFill>
                <a:latin typeface="Arial"/>
              </a:rPr>
              <a:t>operating system, application and firmware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Secure mobile and wireless  </a:t>
            </a:r>
            <a:r>
              <a:rPr sz="1450">
                <a:solidFill>
                  <a:srgbClr val="D1D5DB"/>
                </a:solidFill>
                <a:latin typeface="Arial"/>
              </a:rPr>
              <a:t>central control, current encryption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Defend the application  </a:t>
            </a:r>
            <a:r>
              <a:rPr sz="1450">
                <a:solidFill>
                  <a:srgbClr val="D1D5DB"/>
                </a:solidFill>
                <a:latin typeface="Arial"/>
              </a:rPr>
              <a:t>validation, allow listing, sandboxing, signing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Monitor the estate  </a:t>
            </a:r>
            <a:r>
              <a:rPr sz="1450">
                <a:solidFill>
                  <a:srgbClr val="D1D5DB"/>
                </a:solidFill>
                <a:latin typeface="Arial"/>
              </a:rPr>
              <a:t>authentication, privilege, traffic, change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Manage the asset lifecycle  </a:t>
            </a:r>
            <a:r>
              <a:rPr sz="1450">
                <a:solidFill>
                  <a:srgbClr val="D1D5DB"/>
                </a:solidFill>
                <a:latin typeface="Arial"/>
              </a:rPr>
              <a:t>acquire, assign, track, sanitise, dispose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Run the vulnerability loop  </a:t>
            </a:r>
            <a:r>
              <a:rPr sz="1450">
                <a:solidFill>
                  <a:srgbClr val="D1D5DB"/>
                </a:solidFill>
                <a:latin typeface="Arial"/>
              </a:rPr>
              <a:t>scan, score, prioritise, remediate, report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Tune the tooling  </a:t>
            </a:r>
            <a:r>
              <a:rPr sz="1450">
                <a:solidFill>
                  <a:srgbClr val="D1D5DB"/>
                </a:solidFill>
                <a:latin typeface="Arial"/>
              </a:rPr>
              <a:t>SIEM, behaviour analytics, dashboards, alerts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1 OF 6 · BASELINES AND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Building from a known good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Secure baseline  </a:t>
            </a:r>
            <a:r>
              <a:rPr sz="1450">
                <a:solidFill>
                  <a:srgbClr val="D1D5DB"/>
                </a:solidFill>
                <a:latin typeface="Arial"/>
              </a:rPr>
              <a:t>the documented minimum configuration a system must have before deployment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Configuration drift  </a:t>
            </a:r>
            <a:r>
              <a:rPr sz="1450">
                <a:solidFill>
                  <a:srgbClr val="D1D5DB"/>
                </a:solidFill>
                <a:latin typeface="Arial"/>
              </a:rPr>
              <a:t>the divergence that arrives through unauthorised changes and missed updates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it matters  </a:t>
            </a:r>
            <a:r>
              <a:rPr sz="1450">
                <a:solidFill>
                  <a:srgbClr val="D1D5DB"/>
                </a:solidFill>
                <a:latin typeface="Arial"/>
              </a:rPr>
              <a:t>compliance becomes a comparison against a written standard, not an argument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This chapter  </a:t>
            </a:r>
            <a:r>
              <a:rPr sz="1450">
                <a:solidFill>
                  <a:srgbClr val="D1D5DB"/>
                </a:solidFill>
                <a:latin typeface="Arial"/>
              </a:rPr>
              <a:t>baselines, the tools that enforce them, and hardening at three layers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42900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The premise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9592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Every system should start from a known secure state. Start secure, then prove you stayed secure.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10A ·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 known secure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Secure baseline  </a:t>
            </a:r>
            <a:r>
              <a:rPr sz="1450">
                <a:solidFill>
                  <a:srgbClr val="D1D5DB"/>
                </a:solidFill>
                <a:latin typeface="Arial"/>
              </a:rPr>
              <a:t>the documented set of minimum security settings a system needs before deployment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Configuration drift  </a:t>
            </a:r>
            <a:r>
              <a:rPr sz="1450">
                <a:solidFill>
                  <a:srgbClr val="D1D5DB"/>
                </a:solidFill>
                <a:latin typeface="Arial"/>
              </a:rPr>
              <a:t>two machines that should be identical, quietly diverging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Compliance made verifiable  </a:t>
            </a:r>
            <a:r>
              <a:rPr sz="1450">
                <a:solidFill>
                  <a:srgbClr val="D1D5DB"/>
                </a:solidFill>
                <a:latin typeface="Arial"/>
              </a:rPr>
              <a:t>an auditor compares the machine against the standard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Two identical machines  </a:t>
            </a:r>
            <a:r>
              <a:rPr sz="1450">
                <a:solidFill>
                  <a:srgbClr val="D1D5DB"/>
                </a:solidFill>
                <a:latin typeface="Arial"/>
              </a:rPr>
              <a:t>without a baseline they drift, and normal is undefined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rule  </a:t>
            </a:r>
            <a:r>
              <a:rPr sz="1450">
                <a:solidFill>
                  <a:srgbClr val="D1D5DB"/>
                </a:solidFill>
                <a:latin typeface="Arial"/>
              </a:rPr>
              <a:t>start secure, then prove you stayed secure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10A ·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Implementing a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1 · Identify the requirements  </a:t>
            </a:r>
            <a:r>
              <a:rPr sz="1450">
                <a:solidFill>
                  <a:srgbClr val="D1D5DB"/>
                </a:solidFill>
                <a:latin typeface="Arial"/>
              </a:rPr>
              <a:t>regulation, industry standards and your own policy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2 · Develop the configuration  </a:t>
            </a:r>
            <a:r>
              <a:rPr sz="1450">
                <a:solidFill>
                  <a:srgbClr val="D1D5DB"/>
                </a:solidFill>
                <a:latin typeface="Arial"/>
              </a:rPr>
              <a:t>operating system, application and network settings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3 · Test and validate  </a:t>
            </a:r>
            <a:r>
              <a:rPr sz="1450">
                <a:solidFill>
                  <a:srgbClr val="D1D5DB"/>
                </a:solidFill>
                <a:latin typeface="Arial"/>
              </a:rPr>
              <a:t>in a controlled environment before live use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4 · Deploy, then monitor  </a:t>
            </a:r>
            <a:r>
              <a:rPr sz="1450">
                <a:solidFill>
                  <a:srgbClr val="D1D5DB"/>
                </a:solidFill>
                <a:latin typeface="Arial"/>
              </a:rPr>
              <a:t>deploy before production, then watch for drift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9184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5876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Centre for Internet Security Benchmarks and vendor hardening guides give you a defensible starting configuration.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10A ·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Configuration management tools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59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749039"/>
                <a:gridCol w="301752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Tool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How it is defined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Ansible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Automates provisioning, configuration and deployment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Human readable YAML files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Puppet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Manages infrastructure across its lifecycle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Declarative language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Chef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Automates deployment and ongoing management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Domain specific language on Ruby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SaltStack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Fast and scalable for large estates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Master and minion architecture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84048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Why automate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0740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Automation applies the approved settings, watches for drift and reports the system that left the standard. It is the only realistic way to hold thousands of systems to one baseline.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10B ·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System hardening: shrink the attack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Attack surface  </a:t>
            </a:r>
            <a:r>
              <a:rPr sz="1450">
                <a:solidFill>
                  <a:srgbClr val="D1D5DB"/>
                </a:solidFill>
                <a:latin typeface="Arial"/>
              </a:rPr>
              <a:t>every point where an attacker can send or take data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Audit services  </a:t>
            </a:r>
            <a:r>
              <a:rPr sz="1450">
                <a:solidFill>
                  <a:srgbClr val="D1D5DB"/>
                </a:solidFill>
                <a:latin typeface="Arial"/>
              </a:rPr>
              <a:t>disable what the system does not need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Close unused ports  </a:t>
            </a:r>
            <a:r>
              <a:rPr sz="1450">
                <a:solidFill>
                  <a:srgbClr val="D1D5DB"/>
                </a:solidFill>
                <a:latin typeface="Arial"/>
              </a:rPr>
              <a:t>many systems enable a wide range by default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Default accounts  </a:t>
            </a:r>
            <a:r>
              <a:rPr sz="1450">
                <a:solidFill>
                  <a:srgbClr val="D1D5DB"/>
                </a:solidFill>
                <a:latin typeface="Arial"/>
              </a:rPr>
              <a:t>remove them, or give a unique password and minimal rights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Least privilege  </a:t>
            </a:r>
            <a:r>
              <a:rPr sz="1450">
                <a:solidFill>
                  <a:srgbClr val="D1D5DB"/>
                </a:solidFill>
                <a:latin typeface="Arial"/>
              </a:rPr>
              <a:t>a practice, not a setting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payoff  </a:t>
            </a:r>
            <a:r>
              <a:rPr sz="1450">
                <a:solidFill>
                  <a:srgbClr val="D1D5DB"/>
                </a:solidFill>
                <a:latin typeface="Arial"/>
              </a:rPr>
              <a:t>less to patch, less to monitor, less to explain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10B ·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Three layers: operating system, application, firmware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58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19"/>
                <a:gridCol w="3291839"/>
                <a:gridCol w="32004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hardening means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The exam point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Operating system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Patch, disable services, mandatory access control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Confines each program to what it should touch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Application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Secure configuration, updates, input validation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Input validation belongs in the build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Firmware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Current versions, and secure boot enabled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Secure boot refuses unauthorised firmware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79476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Why all three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6168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Skip one layer and the others still carry risk, because an attacker takes the easiest path 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10B ·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Balancing security and functionality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risk of over-hardening  </a:t>
            </a:r>
            <a:r>
              <a:rPr sz="1450">
                <a:solidFill>
                  <a:srgbClr val="D1D5DB"/>
                </a:solidFill>
                <a:latin typeface="Arial"/>
              </a:rPr>
              <a:t>a control that blocks a process gets switched off quietly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Assess the impact  </a:t>
            </a:r>
            <a:r>
              <a:rPr sz="1450">
                <a:solidFill>
                  <a:srgbClr val="D1D5DB"/>
                </a:solidFill>
                <a:latin typeface="Arial"/>
              </a:rPr>
              <a:t>before you apply the change, not after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Test somewhere safe  </a:t>
            </a:r>
            <a:r>
              <a:rPr sz="1450">
                <a:solidFill>
                  <a:srgbClr val="D1D5DB"/>
                </a:solidFill>
                <a:latin typeface="Arial"/>
              </a:rPr>
              <a:t>a controlled environment, never production first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Document and review  </a:t>
            </a:r>
            <a:r>
              <a:rPr sz="1450">
                <a:solidFill>
                  <a:srgbClr val="D1D5DB"/>
                </a:solidFill>
                <a:latin typeface="Arial"/>
              </a:rPr>
              <a:t>record the change, then revisit it against operational need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goal  </a:t>
            </a:r>
            <a:r>
              <a:rPr sz="1450">
                <a:solidFill>
                  <a:srgbClr val="D1D5DB"/>
                </a:solidFill>
                <a:latin typeface="Arial"/>
              </a:rPr>
              <a:t>the most secure machine the business can actually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65760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Analyst's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2452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Documented and tested hardening survives. Heroic hardening is rolled back, usually without telling the security team.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2 OF 6 · MOBILE AND WIRELESS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Mobile devices and wireless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problem  </a:t>
            </a:r>
            <a:r>
              <a:rPr sz="1450">
                <a:solidFill>
                  <a:srgbClr val="D1D5DB"/>
                </a:solidFill>
                <a:latin typeface="Arial"/>
              </a:rPr>
              <a:t>devices leave your control every day and join networks you do not own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airwaves  </a:t>
            </a:r>
            <a:r>
              <a:rPr sz="1450">
                <a:solidFill>
                  <a:srgbClr val="D1D5DB"/>
                </a:solidFill>
                <a:latin typeface="Arial"/>
              </a:rPr>
              <a:t>wireless is a shared medium that spills past your walls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response  </a:t>
            </a:r>
            <a:r>
              <a:rPr sz="1450">
                <a:solidFill>
                  <a:srgbClr val="D1D5DB"/>
                </a:solidFill>
                <a:latin typeface="Arial"/>
              </a:rPr>
              <a:t>secure the device, the data on it, and the air it speaks over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This chapter  </a:t>
            </a:r>
            <a:r>
              <a:rPr sz="1450">
                <a:solidFill>
                  <a:srgbClr val="D1D5DB"/>
                </a:solidFill>
                <a:latin typeface="Arial"/>
              </a:rPr>
              <a:t>mobile risk, ownership models, wireless encryption and authentication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42900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The mindset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9592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Treat a phone like the server it has become, because it holds more of your data than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10C · 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Mobile devices: the unique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Portability  </a:t>
            </a:r>
            <a:r>
              <a:rPr sz="1450">
                <a:solidFill>
                  <a:srgbClr val="D1D5DB"/>
                </a:solidFill>
                <a:latin typeface="Arial"/>
              </a:rPr>
              <a:t>loss and theft are likely, not hypothetical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Many platforms  </a:t>
            </a:r>
            <a:r>
              <a:rPr sz="1450">
                <a:solidFill>
                  <a:srgbClr val="D1D5DB"/>
                </a:solidFill>
                <a:latin typeface="Arial"/>
              </a:rPr>
              <a:t>different operating systems, different security models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App ecosystem  </a:t>
            </a:r>
            <a:r>
              <a:rPr sz="1450">
                <a:solidFill>
                  <a:srgbClr val="D1D5DB"/>
                </a:solidFill>
                <a:latin typeface="Arial"/>
              </a:rPr>
              <a:t>third party applications arrive unvetted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Connectivity  </a:t>
            </a:r>
            <a:r>
              <a:rPr sz="1450">
                <a:solidFill>
                  <a:srgbClr val="D1D5DB"/>
                </a:solidFill>
                <a:latin typeface="Arial"/>
              </a:rPr>
              <a:t>public Wi-Fi invites interception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Mobile device management  </a:t>
            </a:r>
            <a:r>
              <a:rPr sz="1450">
                <a:solidFill>
                  <a:srgbClr val="D1D5DB"/>
                </a:solidFill>
                <a:latin typeface="Arial"/>
              </a:rPr>
              <a:t>policy, configuration, compliance checks, remote wipe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rule  </a:t>
            </a:r>
            <a:r>
              <a:rPr sz="1450">
                <a:solidFill>
                  <a:srgbClr val="D1D5DB"/>
                </a:solidFill>
                <a:latin typeface="Arial"/>
              </a:rPr>
              <a:t>the device you cannot reach is the device you cannot defend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10C · 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BYOD or corporate owned?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59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91839"/>
                <a:gridCol w="301752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Strategy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you gain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you give up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BYOD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Flexibility, lower hardware cost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Less control over the device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Corporate owned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Strict configuration and compliance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Higher cost, less user freedom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Containerisation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Work data isolated from personal data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Depends on MDM and clear policy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Application vetting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Only assessed apps reach corporate data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Slower, less user choice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84048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What vetting 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0740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Weak storage, poor encryption, policy compliance and developer reputation decide whether an app may touch corporate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10D · WIRELESS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Wireless encryption: four generations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937760"/>
                <a:gridCol w="201168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Standard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Cipher and handshake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WEP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RC4 with a weak integrity check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Broken and obsolete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WPA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Temporal Key Integrity Protocol: a key per packet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Still RC4, superseded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WPA2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Advanced Encryption Standard, pre-shared key or enterprise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The current baseline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WPA3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Simultaneous Authentication of Equals handshake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Resists offline guessing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84048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Each generation exists because the last one failed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0740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WPA3 also adds forward secrecy, so a stolen key cannot unlock past sessions.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10D · WIRELESS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Authentication and rogue access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Pre-shared key  </a:t>
            </a:r>
            <a:r>
              <a:rPr sz="1450">
                <a:solidFill>
                  <a:srgbClr val="D1D5DB"/>
                </a:solidFill>
                <a:latin typeface="Arial"/>
              </a:rPr>
              <a:t>one passphrase for everyone: simple at home, weak at scale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Enterprise  </a:t>
            </a:r>
            <a:r>
              <a:rPr sz="1450">
                <a:solidFill>
                  <a:srgbClr val="D1D5DB"/>
                </a:solidFill>
                <a:latin typeface="Arial"/>
              </a:rPr>
              <a:t>each credential checked by a RADIUS server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enterprise wins  </a:t>
            </a:r>
            <a:r>
              <a:rPr sz="1450">
                <a:solidFill>
                  <a:srgbClr val="D1D5DB"/>
                </a:solidFill>
                <a:latin typeface="Arial"/>
              </a:rPr>
              <a:t>one user can be removed without changing everybody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Rogue access point  </a:t>
            </a:r>
            <a:r>
              <a:rPr sz="1450">
                <a:solidFill>
                  <a:srgbClr val="D1D5DB"/>
                </a:solidFill>
                <a:latin typeface="Arial"/>
              </a:rPr>
              <a:t>unauthorised hardware on your premises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Detection  </a:t>
            </a:r>
            <a:r>
              <a:rPr sz="1450">
                <a:solidFill>
                  <a:srgbClr val="D1D5DB"/>
                </a:solidFill>
                <a:latin typeface="Arial"/>
              </a:rPr>
              <a:t>wireless scanning and prevention on the spectrum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Site survey  </a:t>
            </a:r>
            <a:r>
              <a:rPr sz="1450">
                <a:solidFill>
                  <a:srgbClr val="D1D5DB"/>
                </a:solidFill>
                <a:latin typeface="Arial"/>
              </a:rPr>
              <a:t>coverage that stops at your walls, plus security zones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spc="500">
                <a:solidFill>
                  <a:srgbClr val="FFFFFF"/>
                </a:solidFill>
                <a:latin typeface="Arial"/>
              </a:rPr>
              <a:t>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spc="200">
                <a:solidFill>
                  <a:srgbClr val="F3D9D9"/>
                </a:solidFill>
                <a:latin typeface="Arial"/>
              </a:rPr>
              <a:t>10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D1D5DB"/>
                </a:solidFill>
                <a:latin typeface="Arial"/>
              </a:rPr>
              <a:t>Back soon: applications, assets, and the vulnerability loop.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OF 6 · APPLICATIONS AND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Applications and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applications  </a:t>
            </a:r>
            <a:r>
              <a:rPr sz="1450">
                <a:solidFill>
                  <a:srgbClr val="D1D5DB"/>
                </a:solidFill>
                <a:latin typeface="Arial"/>
              </a:rPr>
              <a:t>they face users, they accept input, and most attacks land there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Two moves  </a:t>
            </a:r>
            <a:r>
              <a:rPr sz="1450">
                <a:solidFill>
                  <a:srgbClr val="D1D5DB"/>
                </a:solidFill>
                <a:latin typeface="Arial"/>
              </a:rPr>
              <a:t>harden how software is built, then watch what it touches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defences  </a:t>
            </a:r>
            <a:r>
              <a:rPr sz="1450">
                <a:solidFill>
                  <a:srgbClr val="D1D5DB"/>
                </a:solidFill>
                <a:latin typeface="Arial"/>
              </a:rPr>
              <a:t>a firewall in front, sandboxing inside, allow listing on the host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This chapter  </a:t>
            </a:r>
            <a:r>
              <a:rPr sz="1450">
                <a:solidFill>
                  <a:srgbClr val="D1D5DB"/>
                </a:solidFill>
                <a:latin typeface="Arial"/>
              </a:rPr>
              <a:t>secure coding, application defences, and monitoring fundamentals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42900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The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9592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An application that accepts input is talking to a stranger. Validate what it says 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10E ·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Secure coding and input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Least privilege  </a:t>
            </a:r>
            <a:r>
              <a:rPr sz="1450">
                <a:solidFill>
                  <a:srgbClr val="D1D5DB"/>
                </a:solidFill>
                <a:latin typeface="Arial"/>
              </a:rPr>
              <a:t>run code with the minimum rights it needs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Error handling  </a:t>
            </a:r>
            <a:r>
              <a:rPr sz="1450">
                <a:solidFill>
                  <a:srgbClr val="D1D5DB"/>
                </a:solidFill>
                <a:latin typeface="Arial"/>
              </a:rPr>
              <a:t>never leak internal detail in a message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Code review  </a:t>
            </a:r>
            <a:r>
              <a:rPr sz="1450">
                <a:solidFill>
                  <a:srgbClr val="D1D5DB"/>
                </a:solidFill>
                <a:latin typeface="Arial"/>
              </a:rPr>
              <a:t>find flaws before release, not after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Input validation  </a:t>
            </a:r>
            <a:r>
              <a:rPr sz="1450">
                <a:solidFill>
                  <a:srgbClr val="D1D5DB"/>
                </a:solidFill>
                <a:latin typeface="Arial"/>
              </a:rPr>
              <a:t>allow known good data, sanitise the rest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Boundary checking  </a:t>
            </a:r>
            <a:r>
              <a:rPr sz="1450">
                <a:solidFill>
                  <a:srgbClr val="D1D5DB"/>
                </a:solidFill>
                <a:latin typeface="Arial"/>
              </a:rPr>
              <a:t>enforce length and format limits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payoff  </a:t>
            </a:r>
            <a:r>
              <a:rPr sz="1450">
                <a:solidFill>
                  <a:srgbClr val="D1D5DB"/>
                </a:solidFill>
                <a:latin typeface="Arial"/>
              </a:rPr>
              <a:t>most injection attacks die at a well written input 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Allow list, not block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5312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List the good rather than trying to enumerate every bad, because the bad list is never finished.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10E ·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Application defences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37360"/>
          <a:ext cx="8138159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91839"/>
                <a:gridCol w="256032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Defence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Where it earns its place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Web application firewall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Filters and monitors web traffic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Internet facing applications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Sandboxing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Runs code isolated with limited access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Untrusted content and testing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Allow listing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Only pre-approved applications may run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Servers and fixed function endpoints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Code signing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Signature proves origin and integrity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Software distribution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Runtime self-protection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Watches behaviour live and blocks the attack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Production applications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Assume something malicious will arrive. What stops it running, what contains it, and what proves it is genuine?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An allow list decides what may run, a sandbox limits what running code may touch, code signing verifies the binary, and monitoring catches what slips past all three.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Layer them and you cover prevent, contain, verify and detect, in that order of intent.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10F ·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Security monitoring: what to 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monitoring is  </a:t>
            </a:r>
            <a:r>
              <a:rPr sz="1450">
                <a:solidFill>
                  <a:srgbClr val="D1D5DB"/>
                </a:solidFill>
                <a:latin typeface="Arial"/>
              </a:rPr>
              <a:t>continuous observation, to spot an event in time to act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Authentication attempts  </a:t>
            </a:r>
            <a:r>
              <a:rPr sz="1450">
                <a:solidFill>
                  <a:srgbClr val="D1D5DB"/>
                </a:solidFill>
                <a:latin typeface="Arial"/>
              </a:rPr>
              <a:t>a burst of failures is a credential attack in progress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Privilege usage  </a:t>
            </a:r>
            <a:r>
              <a:rPr sz="1450">
                <a:solidFill>
                  <a:srgbClr val="D1D5DB"/>
                </a:solidFill>
                <a:latin typeface="Arial"/>
              </a:rPr>
              <a:t>administrator accounts are the prize, especially at odd hours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Network traffic  </a:t>
            </a:r>
            <a:r>
              <a:rPr sz="1450">
                <a:solidFill>
                  <a:srgbClr val="D1D5DB"/>
                </a:solidFill>
                <a:latin typeface="Arial"/>
              </a:rPr>
              <a:t>a sudden outbound spike suggests exfiltration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System changes  </a:t>
            </a:r>
            <a:r>
              <a:rPr sz="1450">
                <a:solidFill>
                  <a:srgbClr val="D1D5DB"/>
                </a:solidFill>
                <a:latin typeface="Arial"/>
              </a:rPr>
              <a:t>new services, modified configuration, altered critical files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rule  </a:t>
            </a:r>
            <a:r>
              <a:rPr sz="1450">
                <a:solidFill>
                  <a:srgbClr val="D1D5DB"/>
                </a:solidFill>
                <a:latin typeface="Arial"/>
              </a:rPr>
              <a:t>you cannot spot abnormal until you know 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10F ·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Alerting strategy and monitoring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Real-time alerting  </a:t>
            </a:r>
            <a:r>
              <a:rPr sz="1450">
                <a:solidFill>
                  <a:srgbClr val="D1D5DB"/>
                </a:solidFill>
                <a:latin typeface="Arial"/>
              </a:rPr>
              <a:t>catch the active threat now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Trend analysis  </a:t>
            </a:r>
            <a:r>
              <a:rPr sz="1450">
                <a:solidFill>
                  <a:srgbClr val="D1D5DB"/>
                </a:solidFill>
                <a:latin typeface="Arial"/>
              </a:rPr>
              <a:t>read the history to see the campaign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Scope  </a:t>
            </a:r>
            <a:r>
              <a:rPr sz="1450">
                <a:solidFill>
                  <a:srgbClr val="D1D5DB"/>
                </a:solidFill>
                <a:latin typeface="Arial"/>
              </a:rPr>
              <a:t>more sources give a fuller picture, and far more data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Storage  </a:t>
            </a:r>
            <a:r>
              <a:rPr sz="1450">
                <a:solidFill>
                  <a:srgbClr val="D1D5DB"/>
                </a:solidFill>
                <a:latin typeface="Arial"/>
              </a:rPr>
              <a:t>a wider scope needs capacity and a retention policy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Detection  </a:t>
            </a:r>
            <a:r>
              <a:rPr sz="1450">
                <a:solidFill>
                  <a:srgbClr val="D1D5DB"/>
                </a:solidFill>
                <a:latin typeface="Arial"/>
              </a:rPr>
              <a:t>more data needs better filtering to stay useful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Alert fatigue  </a:t>
            </a:r>
            <a:r>
              <a:rPr sz="1450">
                <a:solidFill>
                  <a:srgbClr val="D1D5DB"/>
                </a:solidFill>
                <a:latin typeface="Arial"/>
              </a:rPr>
              <a:t>too many alerts hide the one that mattered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767328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The trade 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34256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Scope sets both your storage bill and your detection ceiling, so choose it deliberately.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OF 6 · THE ASSET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asset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premise  </a:t>
            </a:r>
            <a:r>
              <a:rPr sz="1450">
                <a:solidFill>
                  <a:srgbClr val="D1D5DB"/>
                </a:solidFill>
                <a:latin typeface="Arial"/>
              </a:rPr>
              <a:t>you cannot protect what you do not know you own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journey  </a:t>
            </a:r>
            <a:r>
              <a:rPr sz="1450">
                <a:solidFill>
                  <a:srgbClr val="D1D5DB"/>
                </a:solidFill>
                <a:latin typeface="Arial"/>
              </a:rPr>
              <a:t>specify, acquire, assign, track, and destroy at end of life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unglamorous work  </a:t>
            </a:r>
            <a:r>
              <a:rPr sz="1450">
                <a:solidFill>
                  <a:srgbClr val="D1D5DB"/>
                </a:solidFill>
                <a:latin typeface="Arial"/>
              </a:rPr>
              <a:t>inventory, ownership, custody, licensing, disposal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it matters  </a:t>
            </a:r>
            <a:r>
              <a:rPr sz="1450">
                <a:solidFill>
                  <a:srgbClr val="D1D5DB"/>
                </a:solidFill>
                <a:latin typeface="Arial"/>
              </a:rPr>
              <a:t>these decide whether an incident stays small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42900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The line to remember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9592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You cannot patch what you cannot find, and the first question after a compromise is what else touched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10G · ACQUISITION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Asset acquisition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Start at the purchase order  </a:t>
            </a:r>
            <a:r>
              <a:rPr sz="1450">
                <a:solidFill>
                  <a:srgbClr val="D1D5DB"/>
                </a:solidFill>
                <a:latin typeface="Arial"/>
              </a:rPr>
              <a:t>write the security requirements into procurement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Assess the vendor  </a:t>
            </a:r>
            <a:r>
              <a:rPr sz="1450">
                <a:solidFill>
                  <a:srgbClr val="D1D5DB"/>
                </a:solidFill>
                <a:latin typeface="Arial"/>
              </a:rPr>
              <a:t>reputation, compliance record and security practice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Verify the supply chain  </a:t>
            </a:r>
            <a:r>
              <a:rPr sz="1450">
                <a:solidFill>
                  <a:srgbClr val="D1D5DB"/>
                </a:solidFill>
                <a:latin typeface="Arial"/>
              </a:rPr>
              <a:t>audits, and traceability of every component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this defends  </a:t>
            </a:r>
            <a:r>
              <a:rPr sz="1450">
                <a:solidFill>
                  <a:srgbClr val="D1D5DB"/>
                </a:solidFill>
                <a:latin typeface="Arial"/>
              </a:rPr>
              <a:t>a malicious change during manufacture or delivery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rule  </a:t>
            </a:r>
            <a:r>
              <a:rPr sz="1450">
                <a:solidFill>
                  <a:srgbClr val="D1D5DB"/>
                </a:solidFill>
                <a:latin typeface="Arial"/>
              </a:rPr>
              <a:t>an asset chosen carelessly is risk you never scanned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10G ·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Assignment: owner and custodian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Owner  </a:t>
            </a:r>
            <a:r>
              <a:rPr sz="1450">
                <a:solidFill>
                  <a:srgbClr val="D1D5DB"/>
                </a:solidFill>
                <a:latin typeface="Arial"/>
              </a:rPr>
              <a:t>accountable for the asset, and decides how it may be used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Custodian  </a:t>
            </a:r>
            <a:r>
              <a:rPr sz="1450">
                <a:solidFill>
                  <a:srgbClr val="D1D5DB"/>
                </a:solidFill>
                <a:latin typeface="Arial"/>
              </a:rPr>
              <a:t>updates, access control, and keeping the record current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Inventory  </a:t>
            </a:r>
            <a:r>
              <a:rPr sz="1450">
                <a:solidFill>
                  <a:srgbClr val="D1D5DB"/>
                </a:solidFill>
                <a:latin typeface="Arial"/>
              </a:rPr>
              <a:t>what exists, where it is, who holds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Classification  </a:t>
            </a:r>
            <a:r>
              <a:rPr sz="1450">
                <a:solidFill>
                  <a:srgbClr val="D1D5DB"/>
                </a:solidFill>
                <a:latin typeface="Arial"/>
              </a:rPr>
              <a:t>how sensitive it is, and how damaging to lose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accuracy matters  </a:t>
            </a:r>
            <a:r>
              <a:rPr sz="1450">
                <a:solidFill>
                  <a:srgbClr val="D1D5DB"/>
                </a:solidFill>
                <a:latin typeface="Arial"/>
              </a:rPr>
              <a:t>the first question after a compromise is what else touched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10H ·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Tracking location, configuration and patch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Location  </a:t>
            </a:r>
            <a:r>
              <a:rPr sz="1450">
                <a:solidFill>
                  <a:srgbClr val="D1D5DB"/>
                </a:solidFill>
                <a:latin typeface="Arial"/>
              </a:rPr>
              <a:t>track the laptops and phones that move, so you can find and wipe them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Configuration  </a:t>
            </a:r>
            <a:r>
              <a:rPr sz="1450">
                <a:solidFill>
                  <a:srgbClr val="D1D5DB"/>
                </a:solidFill>
                <a:latin typeface="Arial"/>
              </a:rPr>
              <a:t>hardware, software, network settings and permissions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Patch state  </a:t>
            </a:r>
            <a:r>
              <a:rPr sz="1450">
                <a:solidFill>
                  <a:srgbClr val="D1D5DB"/>
                </a:solidFill>
                <a:latin typeface="Arial"/>
              </a:rPr>
              <a:t>current, pending, or deliberately refused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Licences  </a:t>
            </a:r>
            <a:r>
              <a:rPr sz="1450">
                <a:solidFill>
                  <a:srgbClr val="D1D5DB"/>
                </a:solidFill>
                <a:latin typeface="Arial"/>
              </a:rPr>
              <a:t>know how many you own and how many are installed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Unauthorised installs  </a:t>
            </a:r>
            <a:r>
              <a:rPr sz="1450">
                <a:solidFill>
                  <a:srgbClr val="D1D5DB"/>
                </a:solidFill>
                <a:latin typeface="Arial"/>
              </a:rPr>
              <a:t>find them by audit and allow listing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65760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Why it counts twice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2452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An unapproved application is a licensing risk and a security one at the same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10H · DISPOSAL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Secure disposal and data sanitisation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265176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Best for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Overwriting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Replaces the data with random data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Media returning to service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Degaussing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 strong magnetic field erases magnetic media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Disks, and no good for flash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Physical destruction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Shredding or crushing the device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End of life hardware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Verification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Confirms nothing can be recovered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Every disposal, without exception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84048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The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0740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 destruction process nobody checked is a hope rather than a control. Document the method and the people involved.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10H · DISPOSAL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Chain of custody and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Chain of custody  </a:t>
            </a:r>
            <a:r>
              <a:rPr sz="1450">
                <a:solidFill>
                  <a:srgbClr val="D1D5DB"/>
                </a:solidFill>
                <a:latin typeface="Arial"/>
              </a:rPr>
              <a:t>a unique identifier, every transfer, and the disposal record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Record the detail  </a:t>
            </a:r>
            <a:r>
              <a:rPr sz="1450">
                <a:solidFill>
                  <a:srgbClr val="D1D5DB"/>
                </a:solidFill>
                <a:latin typeface="Arial"/>
              </a:rPr>
              <a:t>dates, times and personnel at every handover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Regulation  </a:t>
            </a:r>
            <a:r>
              <a:rPr sz="1450">
                <a:solidFill>
                  <a:srgbClr val="D1D5DB"/>
                </a:solidFill>
                <a:latin typeface="Arial"/>
              </a:rPr>
              <a:t>personal and health data duties under the GDPR and HIPAA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Audit the process  </a:t>
            </a:r>
            <a:r>
              <a:rPr sz="1450">
                <a:solidFill>
                  <a:srgbClr val="D1D5DB"/>
                </a:solidFill>
                <a:latin typeface="Arial"/>
              </a:rPr>
              <a:t>and close the gaps the audit finds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evidence  </a:t>
            </a:r>
            <a:r>
              <a:rPr sz="1450">
                <a:solidFill>
                  <a:srgbClr val="D1D5DB"/>
                </a:solidFill>
                <a:latin typeface="Arial"/>
              </a:rPr>
              <a:t>documentation is how you prove compliance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65760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The overlooked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2452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 discarded drive is a data breach waiting to be discovered, and the paperwork is what protects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5 OF 6 · VULNERABILITY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Vulnerability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loop  </a:t>
            </a:r>
            <a:r>
              <a:rPr sz="1450">
                <a:solidFill>
                  <a:srgbClr val="D1D5DB"/>
                </a:solidFill>
                <a:latin typeface="Arial"/>
              </a:rPr>
              <a:t>identify, analyse, prioritise, remediate, validate, report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It never closes  </a:t>
            </a:r>
            <a:r>
              <a:rPr sz="1450">
                <a:solidFill>
                  <a:srgbClr val="D1D5DB"/>
                </a:solidFill>
                <a:latin typeface="Arial"/>
              </a:rPr>
              <a:t>the estate and the threat both keep changing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Identify  </a:t>
            </a:r>
            <a:r>
              <a:rPr sz="1450">
                <a:solidFill>
                  <a:srgbClr val="D1D5DB"/>
                </a:solidFill>
                <a:latin typeface="Arial"/>
              </a:rPr>
              <a:t>scanners and current intelligence feeds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Then judge  </a:t>
            </a:r>
            <a:r>
              <a:rPr sz="1450">
                <a:solidFill>
                  <a:srgbClr val="D1D5DB"/>
                </a:solidFill>
                <a:latin typeface="Arial"/>
              </a:rPr>
              <a:t>severity is a number, risk is a 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42900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The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9592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 finding nobody prioritised is a decision made by default, and the report is how you prove the loop is running.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10I ·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Vulnerability identification: scanning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Network scanners  </a:t>
            </a:r>
            <a:r>
              <a:rPr sz="1450">
                <a:solidFill>
                  <a:srgbClr val="D1D5DB"/>
                </a:solidFill>
                <a:latin typeface="Arial"/>
              </a:rPr>
              <a:t>routers, switches and firewalls: open ports, old protocols, old versions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Host scanners  </a:t>
            </a:r>
            <a:r>
              <a:rPr sz="1450">
                <a:solidFill>
                  <a:srgbClr val="D1D5DB"/>
                </a:solidFill>
                <a:latin typeface="Arial"/>
              </a:rPr>
              <a:t>one device at a time: operating system, applications, configuration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Application scanners  </a:t>
            </a:r>
            <a:r>
              <a:rPr sz="1450">
                <a:solidFill>
                  <a:srgbClr val="D1D5DB"/>
                </a:solidFill>
                <a:latin typeface="Arial"/>
              </a:rPr>
              <a:t>injection, cross-site scripting and weak authentication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they find  </a:t>
            </a:r>
            <a:r>
              <a:rPr sz="1450">
                <a:solidFill>
                  <a:srgbClr val="D1D5DB"/>
                </a:solidFill>
                <a:latin typeface="Arial"/>
              </a:rPr>
              <a:t>known weaknesses on the systems you know about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blind spot  </a:t>
            </a:r>
            <a:r>
              <a:rPr sz="1450">
                <a:solidFill>
                  <a:srgbClr val="D1D5DB"/>
                </a:solidFill>
                <a:latin typeface="Arial"/>
              </a:rPr>
              <a:t>no scanner finds a design flaw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65760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Remember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2452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Scanning is necessary, and never sufficient.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10I ·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Scanning modes and coverage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37360"/>
          <a:ext cx="81381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265176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The option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The limit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Credentialed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Sees internal state and missing patches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Needs valid credentials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Non-credentialed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Sees what an unauthenticated attacker sees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Misses everything inside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Schedule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Matches how fast your risk changes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Must not disrupt operations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Scope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Covers every critical asset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 missed database is a false comfort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Feeds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CVE identifiers keep tooling current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Only as current as the feed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10J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CVSS: three metric 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Base  </a:t>
            </a:r>
            <a:r>
              <a:rPr sz="1450">
                <a:solidFill>
                  <a:srgbClr val="D1D5DB"/>
                </a:solidFill>
                <a:latin typeface="Arial"/>
              </a:rPr>
              <a:t>attack vector, complexity, privileges, impact on the three pillars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Temporal  </a:t>
            </a:r>
            <a:r>
              <a:rPr sz="1450">
                <a:solidFill>
                  <a:srgbClr val="D1D5DB"/>
                </a:solidFill>
                <a:latin typeface="Arial"/>
              </a:rPr>
              <a:t>exploit code available, fix available, report confidence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Environmental  </a:t>
            </a:r>
            <a:r>
              <a:rPr sz="1450">
                <a:solidFill>
                  <a:srgbClr val="D1D5DB"/>
                </a:solidFill>
                <a:latin typeface="Arial"/>
              </a:rPr>
              <a:t>how much this asset matters to your organisation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two move  </a:t>
            </a:r>
            <a:r>
              <a:rPr sz="1450">
                <a:solidFill>
                  <a:srgbClr val="D1D5DB"/>
                </a:solidFill>
                <a:latin typeface="Arial"/>
              </a:rPr>
              <a:t>the world changes, so temporal and environmental scores change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exam line  </a:t>
            </a:r>
            <a:r>
              <a:rPr sz="1450">
                <a:solidFill>
                  <a:srgbClr val="D1D5DB"/>
                </a:solidFill>
                <a:latin typeface="Arial"/>
              </a:rPr>
              <a:t>a high base score with no exploit and no exposure is not an emergency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65760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The distinction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2452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Base scores the flaw. Temporal and environmental score your risk.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10J · PRIORITISATION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Beyond the score: deciding priority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3736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657600"/>
                <a:gridCol w="256032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Factor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The question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Why it changes priority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Asset criticality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Does it run a critical function or hold crown jewels?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Business impact sets urgency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Exposure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Is it internet facing or well connected?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Reachable flaws get attacked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Exploitability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Is working exploit code used in the wild?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Active exploitation outranks a score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False positive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Does the finding survive a manual check?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Validation protects scarce effort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79476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The exam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6168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Exposure and active exploitation beat the raw score, and a score is not a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prioritise and validate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An internet facing service scores 7.5 (medium) with exploit code in the wild: priority?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An isolated test server scores 9.8 (critical) with no exploit: same queue?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scan reports a flaw the engineer cannot reproduce: what now?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Debrief: which factors outweigh the score?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Exposure and active exploitation outrank the number. Validate a suspected false positive before you act, because a manual check protects scarce effort.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10K · 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Remediation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Patch  </a:t>
            </a:r>
            <a:r>
              <a:rPr sz="1450">
                <a:solidFill>
                  <a:srgbClr val="D1D5DB"/>
                </a:solidFill>
                <a:latin typeface="Arial"/>
              </a:rPr>
              <a:t>update the software and remove the flaw, once a vendor fix exists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Configuration change  </a:t>
            </a:r>
            <a:r>
              <a:rPr sz="1450">
                <a:solidFill>
                  <a:srgbClr val="D1D5DB"/>
                </a:solidFill>
                <a:latin typeface="Arial"/>
              </a:rPr>
              <a:t>disable a service or tighten a default to close the door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Compensating control  </a:t>
            </a:r>
            <a:r>
              <a:rPr sz="1450">
                <a:solidFill>
                  <a:srgbClr val="D1D5DB"/>
                </a:solidFill>
                <a:latin typeface="Arial"/>
              </a:rPr>
              <a:t>extra monitoring, logging or detection where you cannot fix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Risk acceptance  </a:t>
            </a:r>
            <a:r>
              <a:rPr sz="1450">
                <a:solidFill>
                  <a:srgbClr val="D1D5DB"/>
                </a:solidFill>
                <a:latin typeface="Arial"/>
              </a:rPr>
              <a:t>a documented decision that fixing costs more than the impact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rule  </a:t>
            </a:r>
            <a:r>
              <a:rPr sz="1450">
                <a:solidFill>
                  <a:srgbClr val="D1D5DB"/>
                </a:solidFill>
                <a:latin typeface="Arial"/>
              </a:rPr>
              <a:t>every exception needs an owner, a risk statement and a 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65760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Unpatchable is not unmanageable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2452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It reduces the risk without removing the flaw, so it needs an owner and a review date on the record.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10K ·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Validation, exceptions and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Rescan  </a:t>
            </a:r>
            <a:r>
              <a:rPr sz="1450">
                <a:solidFill>
                  <a:srgbClr val="D1D5DB"/>
                </a:solidFill>
                <a:latin typeface="Arial"/>
              </a:rPr>
              <a:t>confirm the patch applied and nothing residual remains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Exceptions  </a:t>
            </a:r>
            <a:r>
              <a:rPr sz="1450">
                <a:solidFill>
                  <a:srgbClr val="D1D5DB"/>
                </a:solidFill>
                <a:latin typeface="Arial"/>
              </a:rPr>
              <a:t>document why, assess the risk, compensate, set a date, review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Metrics  </a:t>
            </a:r>
            <a:r>
              <a:rPr sz="1450">
                <a:solidFill>
                  <a:srgbClr val="D1D5DB"/>
                </a:solidFill>
                <a:latin typeface="Arial"/>
              </a:rPr>
              <a:t>counts by severity, average time to patch, percentage patched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Trends  </a:t>
            </a:r>
            <a:r>
              <a:rPr sz="1450">
                <a:solidFill>
                  <a:srgbClr val="D1D5DB"/>
                </a:solidFill>
                <a:latin typeface="Arial"/>
              </a:rPr>
              <a:t>recurring weaknesses, and whether the work is helping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Stakeholders  </a:t>
            </a:r>
            <a:r>
              <a:rPr sz="1450">
                <a:solidFill>
                  <a:srgbClr val="D1D5DB"/>
                </a:solidFill>
                <a:latin typeface="Arial"/>
              </a:rPr>
              <a:t>executives want impact, engineers want detail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65760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Remember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2452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An unreported finding is an unmanaged finding, and never let one disappear because it became inconvenient.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6 OF 6 · MONITORING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Monitoring tools and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purpose  </a:t>
            </a:r>
            <a:r>
              <a:rPr sz="1450">
                <a:solidFill>
                  <a:srgbClr val="D1D5DB"/>
                </a:solidFill>
                <a:latin typeface="Arial"/>
              </a:rPr>
              <a:t>turn raw events into decisions you can act 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platforms  </a:t>
            </a:r>
            <a:r>
              <a:rPr sz="1450">
                <a:solidFill>
                  <a:srgbClr val="D1D5DB"/>
                </a:solidFill>
                <a:latin typeface="Arial"/>
              </a:rPr>
              <a:t>collect, correlate, store and query the evidence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discipline  </a:t>
            </a:r>
            <a:r>
              <a:rPr sz="1450">
                <a:solidFill>
                  <a:srgbClr val="D1D5DB"/>
                </a:solidFill>
                <a:latin typeface="Arial"/>
              </a:rPr>
              <a:t>dashboards and thresholds that stay useful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rule  </a:t>
            </a:r>
            <a:r>
              <a:rPr sz="1450">
                <a:solidFill>
                  <a:srgbClr val="D1D5DB"/>
                </a:solidFill>
                <a:latin typeface="Arial"/>
              </a:rPr>
              <a:t>a tool nobody tunes is an expensive log 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42900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Why tooling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9592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Every control we have discussed produces logs, and logs on their own change nothing.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10L · TOOLING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Monitoring tooling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3736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200400"/>
                <a:gridCol w="228600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Tool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The value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Security information and event management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Aggregates and correlates logs from many sources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Patterns no single log shows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Log management platform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Collects, stores and queries log data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Forensics and retention duties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Network traffic analysis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Captures and inspects packets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Exfiltration and denial of service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File integrity monitoring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Watches critical files against a baseline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Tampering and persistence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79476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The point of correlation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6168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An event that looks harmless in one log becomes obvious across three, which is why aggregation comes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10L · TOOLING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Behaviour analytics, dashboards and alert 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User and entity behaviour analytics  </a:t>
            </a:r>
            <a:r>
              <a:rPr sz="1450">
                <a:solidFill>
                  <a:srgbClr val="D1D5DB"/>
                </a:solidFill>
                <a:latin typeface="Arial"/>
              </a:rPr>
              <a:t>learn normal per account and device, then flag the deviation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Risk scoring  </a:t>
            </a:r>
            <a:r>
              <a:rPr sz="1450">
                <a:solidFill>
                  <a:srgbClr val="D1D5DB"/>
                </a:solidFill>
                <a:latin typeface="Arial"/>
              </a:rPr>
              <a:t>rank investigations by strange behaviour, not by noise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Dashboard design  </a:t>
            </a:r>
            <a:r>
              <a:rPr sz="1450">
                <a:solidFill>
                  <a:srgbClr val="D1D5DB"/>
                </a:solidFill>
                <a:latin typeface="Arial"/>
              </a:rPr>
              <a:t>few metrics, drawn clearly, showing the trend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Alert tuning  </a:t>
            </a:r>
            <a:r>
              <a:rPr sz="1450">
                <a:solidFill>
                  <a:srgbClr val="D1D5DB"/>
                </a:solidFill>
                <a:latin typeface="Arial"/>
              </a:rPr>
              <a:t>adjust thresholds and rules to cut false positives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cost of noise  </a:t>
            </a:r>
            <a:r>
              <a:rPr sz="1450">
                <a:solidFill>
                  <a:srgbClr val="D1D5DB"/>
                </a:solidFill>
                <a:latin typeface="Arial"/>
              </a:rPr>
              <a:t>an analyst drowning in alerts will miss the one that mattered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657600"/>
            <a:ext cx="8138160" cy="86868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The closing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24528"/>
            <a:ext cx="768096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Tune your alerts, or your analysts will miss the real one when it arrives.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Check your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Open Quiz_Session_10.html in your browser.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20 questions, immediate feedback, topic tag on every question.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Read each explanation: the distractors teach as much as the answer.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Score 70%+ before moving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Every question maps to a session topic, and each explanation teaches as much as the answer.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Build from a baseline  </a:t>
            </a:r>
            <a:r>
              <a:rPr sz="1600">
                <a:solidFill>
                  <a:srgbClr val="FFFFFF"/>
                </a:solidFill>
                <a:latin typeface="Arial"/>
              </a:rPr>
              <a:t>drift is the enemy.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Harden three layers  </a:t>
            </a:r>
            <a:r>
              <a:rPr sz="1600">
                <a:solidFill>
                  <a:srgbClr val="FFFFFF"/>
                </a:solidFill>
                <a:latin typeface="Arial"/>
              </a:rPr>
              <a:t>fewer services, ports, accounts.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Secure the edge  </a:t>
            </a:r>
            <a:r>
              <a:rPr sz="1600">
                <a:solidFill>
                  <a:srgbClr val="FFFFFF"/>
                </a:solidFill>
                <a:latin typeface="Arial"/>
              </a:rPr>
              <a:t>current encryption, central control.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Defend the application  </a:t>
            </a:r>
            <a:r>
              <a:rPr sz="1600">
                <a:solidFill>
                  <a:srgbClr val="FFFFFF"/>
                </a:solidFill>
                <a:latin typeface="Arial"/>
              </a:rPr>
              <a:t>validate, allow list, sandbox, sign.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Account for assets  </a:t>
            </a:r>
            <a:r>
              <a:rPr sz="1600">
                <a:solidFill>
                  <a:srgbClr val="FFFFFF"/>
                </a:solidFill>
                <a:latin typeface="Arial"/>
              </a:rPr>
              <a:t>acquire, assign, track, sanitise, destroy.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Run the loop  </a:t>
            </a:r>
            <a:r>
              <a:rPr sz="1600">
                <a:solidFill>
                  <a:srgbClr val="FFFFFF"/>
                </a:solidFill>
                <a:latin typeface="Arial"/>
              </a:rPr>
              <a:t>scan, score, remediate, rescan, report.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Tune the tooling  </a:t>
            </a:r>
            <a:r>
              <a:rPr sz="1600">
                <a:solidFill>
                  <a:srgbClr val="FFFFFF"/>
                </a:solidFill>
                <a:latin typeface="Arial"/>
              </a:rPr>
              <a:t>or your analysts miss the real alert.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8" name="Picture 7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REVISION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Before next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Retake the quiz  </a:t>
            </a:r>
            <a:r>
              <a:rPr sz="1450">
                <a:solidFill>
                  <a:srgbClr val="D1D5DB"/>
                </a:solidFill>
                <a:latin typeface="Arial"/>
              </a:rPr>
              <a:t>until you score 70%+ without guessing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Write a baseline  </a:t>
            </a:r>
            <a:r>
              <a:rPr sz="1450">
                <a:solidFill>
                  <a:srgbClr val="D1D5DB"/>
                </a:solidFill>
                <a:latin typeface="Arial"/>
              </a:rPr>
              <a:t>pick one system and list the settings you would enforce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Inventory a room  </a:t>
            </a:r>
            <a:r>
              <a:rPr sz="1450">
                <a:solidFill>
                  <a:srgbClr val="D1D5DB"/>
                </a:solidFill>
                <a:latin typeface="Arial"/>
              </a:rPr>
              <a:t>count the assets, name the owner, note the patch state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Find one unpatchable flaw  </a:t>
            </a:r>
            <a:r>
              <a:rPr sz="1450">
                <a:solidFill>
                  <a:srgbClr val="D1D5DB"/>
                </a:solidFill>
                <a:latin typeface="Arial"/>
              </a:rPr>
              <a:t>and write its compensating control and review date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Read ahead  </a:t>
            </a:r>
            <a:r>
              <a:rPr sz="1450">
                <a:solidFill>
                  <a:srgbClr val="D1D5DB"/>
                </a:solidFill>
                <a:latin typeface="Arial"/>
              </a:rPr>
              <a:t>Session 11: security operations, monitoring and incident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NEXT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Session 11 - Security Operations: Monitoring, Incident Response &amp; Forensics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Watching, responding and proving: the operational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8138160" cy="2491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Monitoring, alerting and log analysis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The incident response lifecycle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Forensics: evidence, chain of custody and timelines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977639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8736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Watching, responding and proving: the operational core, where the evidence from this session gets used.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2" name="Picture 11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