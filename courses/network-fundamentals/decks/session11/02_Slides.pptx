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11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Security Operations: Monitoring, Incident Response &amp; Forensics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When the alarm rings: monitoring that works, a response lifecycle that contains the damage, and forensics that stand up in court.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457553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LESSONS 12–13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1497" y="4224528"/>
            <a:ext cx="1815998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INCIDENT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24528"/>
            <a:ext cx="1099108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FORENSICS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When the alarm 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Sessions 1–10  </a:t>
            </a:r>
            <a:r>
              <a:rPr sz="1450">
                <a:solidFill>
                  <a:srgbClr val="D1D5DB"/>
                </a:solidFill>
                <a:latin typeface="Arial"/>
              </a:rPr>
              <a:t>prevented, detected, hardened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the controls that watch, the response that contains, the forensics that prove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Six chapters  </a:t>
            </a:r>
            <a:r>
              <a:rPr sz="1450">
                <a:solidFill>
                  <a:srgbClr val="D1D5DB"/>
                </a:solidFill>
                <a:latin typeface="Arial"/>
              </a:rPr>
              <a:t>monitoring devices, endpoint and data controls, identity, response, hunting, logs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 </a:t>
            </a:r>
            <a:r>
              <a:rPr sz="1450">
                <a:solidFill>
                  <a:srgbClr val="D1D5DB"/>
                </a:solidFill>
                <a:latin typeface="Arial"/>
              </a:rPr>
              <a:t>Domain 4 is the largest: phases, controls and evidence are direct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Design monitoring  </a:t>
            </a:r>
            <a:r>
              <a:rPr sz="1450">
                <a:solidFill>
                  <a:srgbClr val="D1D5DB"/>
                </a:solidFill>
                <a:latin typeface="Arial"/>
              </a:rPr>
              <a:t>firewall, IDS/IPS, and signature against anomaly detection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Place the controls  </a:t>
            </a:r>
            <a:r>
              <a:rPr sz="1450">
                <a:solidFill>
                  <a:srgbClr val="D1D5DB"/>
                </a:solidFill>
                <a:latin typeface="Arial"/>
              </a:rPr>
              <a:t>DNS filtering, DLP, NAC, EDR and XDR at the right layer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Protect identity  </a:t>
            </a:r>
            <a:r>
              <a:rPr sz="1450">
                <a:solidFill>
                  <a:srgbClr val="D1D5DB"/>
                </a:solidFill>
                <a:latin typeface="Arial"/>
              </a:rPr>
              <a:t>provisioning, SSO, federation, MFA and privileged access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Automate safely  </a:t>
            </a:r>
            <a:r>
              <a:rPr sz="1450">
                <a:solidFill>
                  <a:srgbClr val="D1D5DB"/>
                </a:solidFill>
                <a:latin typeface="Arial"/>
              </a:rPr>
              <a:t>playbooks, orchestration and human oversight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Run incident response  </a:t>
            </a:r>
            <a:r>
              <a:rPr sz="1450">
                <a:solidFill>
                  <a:srgbClr val="D1D5DB"/>
                </a:solidFill>
                <a:latin typeface="Arial"/>
              </a:rPr>
              <a:t>four phases, classification, severity, roles and testing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Hunt and investigate  </a:t>
            </a:r>
            <a:r>
              <a:rPr sz="1450">
                <a:solidFill>
                  <a:srgbClr val="D1D5DB"/>
                </a:solidFill>
                <a:latin typeface="Arial"/>
              </a:rPr>
              <a:t>threat hunting, root cause analysis, forensics and logs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indicators  </a:t>
            </a:r>
            <a:r>
              <a:rPr sz="1450">
                <a:solidFill>
                  <a:srgbClr val="D1D5DB"/>
                </a:solidFill>
                <a:latin typeface="Arial"/>
              </a:rPr>
              <a:t>malware, network, application and behavioural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MONITORING AND NETWORK SECURITY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Firewall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Packet filtering  </a:t>
            </a:r>
            <a:r>
              <a:rPr sz="1450">
                <a:solidFill>
                  <a:srgbClr val="D1D5DB"/>
                </a:solidFill>
                <a:latin typeface="Arial"/>
              </a:rPr>
              <a:t>network layer: matches source, destination, protocol and port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Its limit  </a:t>
            </a:r>
            <a:r>
              <a:rPr sz="1450">
                <a:solidFill>
                  <a:srgbClr val="D1D5DB"/>
                </a:solidFill>
                <a:latin typeface="Arial"/>
              </a:rPr>
              <a:t>fast, but no connection state and no inspection inside the payload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Stateful inspection  </a:t>
            </a:r>
            <a:r>
              <a:rPr sz="1450">
                <a:solidFill>
                  <a:srgbClr val="D1D5DB"/>
                </a:solidFill>
                <a:latin typeface="Arial"/>
              </a:rPr>
              <a:t>keeps a state table and judges each packet by its conversation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Next-generation firewall (NGFW)  </a:t>
            </a:r>
            <a:r>
              <a:rPr sz="1450">
                <a:solidFill>
                  <a:srgbClr val="D1D5DB"/>
                </a:solidFill>
                <a:latin typeface="Arial"/>
              </a:rPr>
              <a:t>application awareness, deep packet inspection, intrusion prevention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progression  </a:t>
            </a:r>
            <a:r>
              <a:rPr sz="1450">
                <a:solidFill>
                  <a:srgbClr val="D1D5DB"/>
                </a:solidFill>
                <a:latin typeface="Arial"/>
              </a:rPr>
              <a:t>each type adds context the one before it could not see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an NGFW sees the application, not merely the 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MONITORING AND NETWORK SECURITY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Firewall rules and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Rule creation  </a:t>
            </a:r>
            <a:r>
              <a:rPr sz="1450">
                <a:solidFill>
                  <a:srgbClr val="D1D5DB"/>
                </a:solidFill>
                <a:latin typeface="Arial"/>
              </a:rPr>
              <a:t>specific rules, so only authorised traffic passes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Change control  </a:t>
            </a:r>
            <a:r>
              <a:rPr sz="1450">
                <a:solidFill>
                  <a:srgbClr val="D1D5DB"/>
                </a:solidFill>
                <a:latin typeface="Arial"/>
              </a:rPr>
              <a:t>documentation, review and approval before any rule changes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Regular review  </a:t>
            </a:r>
            <a:r>
              <a:rPr sz="1450">
                <a:solidFill>
                  <a:srgbClr val="D1D5DB"/>
                </a:solidFill>
                <a:latin typeface="Arial"/>
              </a:rPr>
              <a:t>remove obsolete and redundant rules nobody can justify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Segmentation  </a:t>
            </a:r>
            <a:r>
              <a:rPr sz="1450">
                <a:solidFill>
                  <a:srgbClr val="D1D5DB"/>
                </a:solidFill>
                <a:latin typeface="Arial"/>
              </a:rPr>
              <a:t>corporate against guest, demilitarized zone (DMZ) against internal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each area carries its own policy, and the attack surface shrinks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warning  </a:t>
            </a:r>
            <a:r>
              <a:rPr sz="1450">
                <a:solidFill>
                  <a:srgbClr val="D1D5DB"/>
                </a:solidFill>
                <a:latin typeface="Arial"/>
              </a:rPr>
              <a:t>a forgotten allow rule is a permanent hole in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MONITORING AND NETWORK SECURITY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Web application firewalls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Web application firewall (WAF)  </a:t>
            </a:r>
            <a:r>
              <a:rPr sz="1450">
                <a:solidFill>
                  <a:srgbClr val="D1D5DB"/>
                </a:solidFill>
                <a:latin typeface="Arial"/>
              </a:rPr>
              <a:t>layer 7 protection for web applications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reads  </a:t>
            </a:r>
            <a:r>
              <a:rPr sz="1450">
                <a:solidFill>
                  <a:srgbClr val="D1D5DB"/>
                </a:solidFill>
                <a:latin typeface="Arial"/>
              </a:rPr>
              <a:t>HTTP and HTTPS requests, not merely packets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blocks  </a:t>
            </a:r>
            <a:r>
              <a:rPr sz="1450">
                <a:solidFill>
                  <a:srgbClr val="D1D5DB"/>
                </a:solidFill>
                <a:latin typeface="Arial"/>
              </a:rPr>
              <a:t>Structured Query Language (SQL) injection, cross-site scripting and similar web attacks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Deployment  </a:t>
            </a:r>
            <a:r>
              <a:rPr sz="1450">
                <a:solidFill>
                  <a:srgbClr val="D1D5DB"/>
                </a:solidFill>
                <a:latin typeface="Arial"/>
              </a:rPr>
              <a:t>as an appliance, as software, or as a cloud service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web applications  </a:t>
            </a:r>
            <a:r>
              <a:rPr sz="1450">
                <a:solidFill>
                  <a:srgbClr val="D1D5DB"/>
                </a:solidFill>
                <a:latin typeface="Arial"/>
              </a:rPr>
              <a:t>internet-facing applications are the ones attackers reach first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principle  </a:t>
            </a:r>
            <a:r>
              <a:rPr sz="1450">
                <a:solidFill>
                  <a:srgbClr val="D1D5DB"/>
                </a:solidFill>
                <a:latin typeface="Arial"/>
              </a:rPr>
              <a:t>the request is where the attack arrives, so that is where you answer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MONITORING AND NETWORK SECURITY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Intrusion detection and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Intrusion detection system (IDS)  </a:t>
            </a:r>
            <a:r>
              <a:rPr sz="1450">
                <a:solidFill>
                  <a:srgbClr val="D1D5DB"/>
                </a:solidFill>
                <a:latin typeface="Arial"/>
              </a:rPr>
              <a:t>passive: detects and alerts, but takes no direct action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Intrusion prevention system (IPS)  </a:t>
            </a:r>
            <a:r>
              <a:rPr sz="1450">
                <a:solidFill>
                  <a:srgbClr val="D1D5DB"/>
                </a:solidFill>
                <a:latin typeface="Arial"/>
              </a:rPr>
              <a:t>inline: drops packets, blocks addresses, resets connections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Network-based sensor  </a:t>
            </a:r>
            <a:r>
              <a:rPr sz="1450">
                <a:solidFill>
                  <a:srgbClr val="D1D5DB"/>
                </a:solidFill>
                <a:latin typeface="Arial"/>
              </a:rPr>
              <a:t>sits at a gateway and sees traffic entering and leaving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Host-based agent  </a:t>
            </a:r>
            <a:r>
              <a:rPr sz="1450">
                <a:solidFill>
                  <a:srgbClr val="D1D5DB"/>
                </a:solidFill>
                <a:latin typeface="Arial"/>
              </a:rPr>
              <a:t>sits on a server or workstation and catches activity from inside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distinction  </a:t>
            </a:r>
            <a:r>
              <a:rPr sz="1450">
                <a:solidFill>
                  <a:srgbClr val="D1D5DB"/>
                </a:solidFill>
                <a:latin typeface="Arial"/>
              </a:rPr>
              <a:t>detection informs, prevention intervenes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MONITORING AND NETWORK SECURITY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Two ways to detect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01752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 it works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Strength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Weakness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Signature-based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Matches traffic against a database of known attack patterns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Very effective on known threats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Blind to a novel technique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Anomaly-based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Builds a baseline of normal activity, alerts on deviation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Can catch unknown threats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More false positives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718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Tuning balances the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387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Update the signatures, adjust the thresholds, allowlist known good activity, and review alerts regularly. An untuned sensor becomes wallpaper.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MONITORING AND NETWORK SECURITY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Analyst's lens: the host's own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source  </a:t>
            </a:r>
            <a:r>
              <a:rPr sz="1450">
                <a:solidFill>
                  <a:srgbClr val="D1D5DB"/>
                </a:solidFill>
                <a:latin typeface="Arial"/>
              </a:rPr>
              <a:t>on a Kali Linux box, the xrdp system log records every RDP connection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holds  </a:t>
            </a:r>
            <a:r>
              <a:rPr sz="1450">
                <a:solidFill>
                  <a:srgbClr val="D1D5DB"/>
                </a:solidFill>
                <a:latin typeface="Arial"/>
              </a:rPr>
              <a:t>successful and failed authentication, session start and stop, source address and port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pattern to hunt  </a:t>
            </a:r>
            <a:r>
              <a:rPr sz="1450">
                <a:solidFill>
                  <a:srgbClr val="D1D5DB"/>
                </a:solidFill>
                <a:latin typeface="Arial"/>
              </a:rPr>
              <a:t>a run of failures then a success from one address suggests brute force that worked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anomaly  </a:t>
            </a:r>
            <a:r>
              <a:rPr sz="1450">
                <a:solidFill>
                  <a:srgbClr val="D1D5DB"/>
                </a:solidFill>
                <a:latin typeface="Arial"/>
              </a:rPr>
              <a:t>a login at an unusual hour, or from a network that never normally connects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Analyst's lens: reading a Remote Desktop Protocol (RDP) session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47288"/>
            <a:ext cx="7680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Monitor the host, not only the network. Host logs record the attempts that network sensors never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The IDS has been alerting all week and the team has stopped reading it. What has failed, and what do you fix first?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Probe: this is an alerting failure, not a detection failure. Baselines, thresholds and tuning restore the signal; an untuned sensor is just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Detection without tuning becomes wallpaper.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ENDPOINT AND DATA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Domain Name System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does  </a:t>
            </a:r>
            <a:r>
              <a:rPr sz="1450">
                <a:solidFill>
                  <a:srgbClr val="D1D5DB"/>
                </a:solidFill>
                <a:latin typeface="Arial"/>
              </a:rPr>
              <a:t>blocks access to domains that are malicious or against policy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Where it acts  </a:t>
            </a:r>
            <a:r>
              <a:rPr sz="1450">
                <a:solidFill>
                  <a:srgbClr val="D1D5DB"/>
                </a:solidFill>
                <a:latin typeface="Arial"/>
              </a:rPr>
              <a:t>intercepts the name resolution query, before any connection is established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decision  </a:t>
            </a:r>
            <a:r>
              <a:rPr sz="1450">
                <a:solidFill>
                  <a:srgbClr val="D1D5DB"/>
                </a:solidFill>
                <a:latin typeface="Arial"/>
              </a:rPr>
              <a:t>checks the requested domain against a blocklist or an allowlist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the user sees  </a:t>
            </a:r>
            <a:r>
              <a:rPr sz="1450">
                <a:solidFill>
                  <a:srgbClr val="D1D5DB"/>
                </a:solidFill>
                <a:latin typeface="Arial"/>
              </a:rPr>
              <a:t>the request is denied, with a warning page or an error message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works  </a:t>
            </a:r>
            <a:r>
              <a:rPr sz="1450">
                <a:solidFill>
                  <a:srgbClr val="D1D5DB"/>
                </a:solidFill>
                <a:latin typeface="Arial"/>
              </a:rPr>
              <a:t>phishing and malware distribution sites never get a connection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principle  </a:t>
            </a:r>
            <a:r>
              <a:rPr sz="1450">
                <a:solidFill>
                  <a:srgbClr val="D1D5DB"/>
                </a:solidFill>
                <a:latin typeface="Arial"/>
              </a:rPr>
              <a:t>the cheapest place to stop a connection is before it starts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ENDPOINT AND DATA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Data loss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loss prevention (DLP)  </a:t>
            </a:r>
            <a:r>
              <a:rPr sz="1450">
                <a:solidFill>
                  <a:srgbClr val="D1D5DB"/>
                </a:solidFill>
                <a:latin typeface="Arial"/>
              </a:rPr>
              <a:t>monitors, detects and controls the movement of sensitive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Network DLP  </a:t>
            </a:r>
            <a:r>
              <a:rPr sz="1450">
                <a:solidFill>
                  <a:srgbClr val="D1D5DB"/>
                </a:solidFill>
                <a:latin typeface="Arial"/>
              </a:rPr>
              <a:t>data in motion across the network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Endpoint DLP  </a:t>
            </a:r>
            <a:r>
              <a:rPr sz="1450">
                <a:solidFill>
                  <a:srgbClr val="D1D5DB"/>
                </a:solidFill>
                <a:latin typeface="Arial"/>
              </a:rPr>
              <a:t>data at rest and data in use on the device itself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Rules match  </a:t>
            </a:r>
            <a:r>
              <a:rPr sz="1450">
                <a:solidFill>
                  <a:srgbClr val="D1D5DB"/>
                </a:solidFill>
                <a:latin typeface="Arial"/>
              </a:rPr>
              <a:t>content, context and user action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actions  </a:t>
            </a:r>
            <a:r>
              <a:rPr sz="1450">
                <a:solidFill>
                  <a:srgbClr val="D1D5DB"/>
                </a:solidFill>
                <a:latin typeface="Arial"/>
              </a:rPr>
              <a:t>alert an administrator, block the transfer, or encrypt the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classic case  </a:t>
            </a:r>
            <a:r>
              <a:rPr sz="1450">
                <a:solidFill>
                  <a:srgbClr val="D1D5DB"/>
                </a:solidFill>
                <a:latin typeface="Arial"/>
              </a:rPr>
              <a:t>an employee emails a client file to a personal address, and the system stops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ENDPOINT AND DATA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Network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Network access control (NAC)  </a:t>
            </a:r>
            <a:r>
              <a:rPr sz="1450">
                <a:solidFill>
                  <a:srgbClr val="D1D5DB"/>
                </a:solidFill>
                <a:latin typeface="Arial"/>
              </a:rPr>
              <a:t>decides who gets onto the network in the first place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posture check  </a:t>
            </a:r>
            <a:r>
              <a:rPr sz="1450">
                <a:solidFill>
                  <a:srgbClr val="D1D5DB"/>
                </a:solidFill>
                <a:latin typeface="Arial"/>
              </a:rPr>
              <a:t>antivirus status, operating system updates and user credentials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compliant device  </a:t>
            </a:r>
            <a:r>
              <a:rPr sz="1450">
                <a:solidFill>
                  <a:srgbClr val="D1D5DB"/>
                </a:solidFill>
                <a:latin typeface="Arial"/>
              </a:rPr>
              <a:t>allowed on, with the access the policy intends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non-compliant device  </a:t>
            </a:r>
            <a:r>
              <a:rPr sz="1450">
                <a:solidFill>
                  <a:srgbClr val="D1D5DB"/>
                </a:solidFill>
                <a:latin typeface="Arial"/>
              </a:rPr>
              <a:t>denied, or placed in a restricted segment until it complies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Where it is used  </a:t>
            </a:r>
            <a:r>
              <a:rPr sz="1450">
                <a:solidFill>
                  <a:srgbClr val="D1D5DB"/>
                </a:solidFill>
                <a:latin typeface="Arial"/>
              </a:rPr>
              <a:t>offices, schools and healthcare, where trust must be earned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three together  </a:t>
            </a:r>
            <a:r>
              <a:rPr sz="1450">
                <a:solidFill>
                  <a:srgbClr val="D1D5DB"/>
                </a:solidFill>
                <a:latin typeface="Arial"/>
              </a:rPr>
              <a:t>filtering guards the domains, DLP guards the data, NAC guards the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ENDPOINT AND DATA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Endpoint detection and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Traditional antivirus  </a:t>
            </a:r>
            <a:r>
              <a:rPr sz="1450">
                <a:solidFill>
                  <a:srgbClr val="D1D5DB"/>
                </a:solidFill>
                <a:latin typeface="Arial"/>
              </a:rPr>
              <a:t>scans files against a database of known malware signatures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Its blind spot  </a:t>
            </a:r>
            <a:r>
              <a:rPr sz="1450">
                <a:solidFill>
                  <a:srgbClr val="D1D5DB"/>
                </a:solidFill>
                <a:latin typeface="Arial"/>
              </a:rPr>
              <a:t>zero-day attacks and advanced persistent threats (APTs)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Endpoint detection and response (EDR)  </a:t>
            </a:r>
            <a:r>
              <a:rPr sz="1450">
                <a:solidFill>
                  <a:srgbClr val="D1D5DB"/>
                </a:solidFill>
                <a:latin typeface="Arial"/>
              </a:rPr>
              <a:t>watches behaviour, not just signatures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telemetry  </a:t>
            </a:r>
            <a:r>
              <a:rPr sz="1450">
                <a:solidFill>
                  <a:srgbClr val="D1D5DB"/>
                </a:solidFill>
                <a:latin typeface="Arial"/>
              </a:rPr>
              <a:t>process trees, file modifications and network connections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flags  </a:t>
            </a:r>
            <a:r>
              <a:rPr sz="1450">
                <a:solidFill>
                  <a:srgbClr val="D1D5DB"/>
                </a:solidFill>
                <a:latin typeface="Arial"/>
              </a:rPr>
              <a:t>a process that opens sensitive files or makes an unusual connection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output  </a:t>
            </a:r>
            <a:r>
              <a:rPr sz="1450">
                <a:solidFill>
                  <a:srgbClr val="D1D5DB"/>
                </a:solidFill>
                <a:latin typeface="Arial"/>
              </a:rPr>
              <a:t>process trees and telemetry, rather than a simple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ENDPOINT AND DATA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Alert investigation workflow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7607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 Alert triage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Prioritise by severity and potential impact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 Threat analysis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Review the telemetry: process activity, file changes, connections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 Contextualisation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Establish origin, affected systems, indicators of compromise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 Response planning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Decide to contain, eradicate, or add controls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 Remediation and recovery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Restore the system, patch it, then review the lessons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Extended detection and response (XDR)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Correlates endpoint, network and cloud data in one view, and can isolate an endpoint, quarantine a file, block an address or revoke credentials.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IDENTITY, ACCESS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Provisioning and the user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Identity and access management (IAM)  </a:t>
            </a:r>
            <a:r>
              <a:rPr sz="1450">
                <a:solidFill>
                  <a:srgbClr val="D1D5DB"/>
                </a:solidFill>
                <a:latin typeface="Arial"/>
              </a:rPr>
              <a:t>controls who has access to what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Onboarding  </a:t>
            </a:r>
            <a:r>
              <a:rPr sz="1450">
                <a:solidFill>
                  <a:srgbClr val="D1D5DB"/>
                </a:solidFill>
                <a:latin typeface="Arial"/>
              </a:rPr>
              <a:t>create accounts with the roles and permissions the job requires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Role change  </a:t>
            </a:r>
            <a:r>
              <a:rPr sz="1450">
                <a:solidFill>
                  <a:srgbClr val="D1D5DB"/>
                </a:solidFill>
                <a:latin typeface="Arial"/>
              </a:rPr>
              <a:t>modify the account, so old rights are removed with the old job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Offboarding  </a:t>
            </a:r>
            <a:r>
              <a:rPr sz="1450">
                <a:solidFill>
                  <a:srgbClr val="D1D5DB"/>
                </a:solidFill>
                <a:latin typeface="Arial"/>
              </a:rPr>
              <a:t>deactivate or remove the account when someone leaves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common failure  </a:t>
            </a:r>
            <a:r>
              <a:rPr sz="1450">
                <a:solidFill>
                  <a:srgbClr val="D1D5DB"/>
                </a:solidFill>
                <a:latin typeface="Arial"/>
              </a:rPr>
              <a:t>offboarding done late is one of the most common audit findings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principle  </a:t>
            </a:r>
            <a:r>
              <a:rPr sz="1450">
                <a:solidFill>
                  <a:srgbClr val="D1D5DB"/>
                </a:solidFill>
                <a:latin typeface="Arial"/>
              </a:rPr>
              <a:t>access should follow the job, and leave when the person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IDENTITY, ACCESS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Single sign-on, directories and federation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Single sign-on (SSO)  </a:t>
            </a:r>
            <a:r>
              <a:rPr sz="1450">
                <a:solidFill>
                  <a:srgbClr val="D1D5DB"/>
                </a:solidFill>
                <a:latin typeface="Arial"/>
              </a:rPr>
              <a:t>one credential opens many systems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Its cost  </a:t>
            </a:r>
            <a:r>
              <a:rPr sz="1450">
                <a:solidFill>
                  <a:srgbClr val="D1D5DB"/>
                </a:solidFill>
                <a:latin typeface="Arial"/>
              </a:rPr>
              <a:t>a single point of failure, so pair it with multifactor authentication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Directory services  </a:t>
            </a:r>
            <a:r>
              <a:rPr sz="1450">
                <a:solidFill>
                  <a:srgbClr val="D1D5DB"/>
                </a:solidFill>
                <a:latin typeface="Arial"/>
              </a:rPr>
              <a:t>Active Directory, Lightweight Directory Access Protocol (LDAP), cloud directories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Federation  </a:t>
            </a:r>
            <a:r>
              <a:rPr sz="1450">
                <a:solidFill>
                  <a:srgbClr val="D1D5DB"/>
                </a:solidFill>
                <a:latin typeface="Arial"/>
              </a:rPr>
              <a:t>trust between an identity provider and a service provider, proven by a token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Identity governance  </a:t>
            </a:r>
            <a:r>
              <a:rPr sz="1450">
                <a:solidFill>
                  <a:srgbClr val="D1D5DB"/>
                </a:solidFill>
                <a:latin typeface="Arial"/>
              </a:rPr>
              <a:t>access reviews, policy enforcement, and audit reporting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tension  </a:t>
            </a:r>
            <a:r>
              <a:rPr sz="1450">
                <a:solidFill>
                  <a:srgbClr val="D1D5DB"/>
                </a:solidFill>
                <a:latin typeface="Arial"/>
              </a:rPr>
              <a:t>one password to steal is also one password to protect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IDENTITY, ACCESS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Multifactor authentication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39"/>
                <a:gridCol w="28346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Typical weakness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Something you know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Password, pin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Phishing and reuse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Something you have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Phone, smart card, hardware token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Can be stolen with the device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Something you 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Fingerprint, face, iris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Cannot be changed if compromised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29184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Two passwords are still a single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58768"/>
            <a:ext cx="7680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Combining factors from different categories is what defeats a stolen password. Implementations include time-based one-time passwords (TOTP), hardware tokens and biometrics.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IDENTITY, ACCESS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Privileged access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Privileged access management (PAM)  </a:t>
            </a:r>
            <a:r>
              <a:rPr sz="1450">
                <a:solidFill>
                  <a:srgbClr val="D1D5DB"/>
                </a:solidFill>
                <a:latin typeface="Arial"/>
              </a:rPr>
              <a:t>controls the accounts that can do real damage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Just-in-time access  </a:t>
            </a:r>
            <a:r>
              <a:rPr sz="1450">
                <a:solidFill>
                  <a:srgbClr val="D1D5DB"/>
                </a:solidFill>
                <a:latin typeface="Arial"/>
              </a:rPr>
              <a:t>elevated rights granted when needed, revoked automatically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 recording  </a:t>
            </a:r>
            <a:r>
              <a:rPr sz="1450">
                <a:solidFill>
                  <a:srgbClr val="D1D5DB"/>
                </a:solidFill>
                <a:latin typeface="Arial"/>
              </a:rPr>
              <a:t>keystrokes, commands and applications captured for audit and forensics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Password vaulting  </a:t>
            </a:r>
            <a:r>
              <a:rPr sz="1450">
                <a:solidFill>
                  <a:srgbClr val="D1D5DB"/>
                </a:solidFill>
                <a:latin typeface="Arial"/>
              </a:rPr>
              <a:t>privileged credentials stored encrypted and rotated automatically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outcome  </a:t>
            </a:r>
            <a:r>
              <a:rPr sz="1450">
                <a:solidFill>
                  <a:srgbClr val="D1D5DB"/>
                </a:solidFill>
                <a:latin typeface="Arial"/>
              </a:rPr>
              <a:t>nobody memorises the password, and every use is logged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standard  </a:t>
            </a:r>
            <a:r>
              <a:rPr sz="1450">
                <a:solidFill>
                  <a:srgbClr val="D1D5DB"/>
                </a:solidFill>
                <a:latin typeface="Arial"/>
              </a:rPr>
              <a:t>every use of a privileged credential is attributable to a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IDENTITY, ACCESS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Automation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automation buys  </a:t>
            </a:r>
            <a:r>
              <a:rPr sz="1450">
                <a:solidFill>
                  <a:srgbClr val="D1D5DB"/>
                </a:solidFill>
                <a:latin typeface="Arial"/>
              </a:rPr>
              <a:t>security tasks with little human intervention, less delay and less error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Automated patching  </a:t>
            </a:r>
            <a:r>
              <a:rPr sz="1450">
                <a:solidFill>
                  <a:srgbClr val="D1D5DB"/>
                </a:solidFill>
                <a:latin typeface="Arial"/>
              </a:rPr>
              <a:t>scan, test in a controlled environment, deploy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patching  </a:t>
            </a:r>
            <a:r>
              <a:rPr sz="1450">
                <a:solidFill>
                  <a:srgbClr val="D1D5DB"/>
                </a:solidFill>
                <a:latin typeface="Arial"/>
              </a:rPr>
              <a:t>it shortens the window of exposure to a known vulnerability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Account provisioning  </a:t>
            </a:r>
            <a:r>
              <a:rPr sz="1450">
                <a:solidFill>
                  <a:srgbClr val="D1D5DB"/>
                </a:solidFill>
                <a:latin typeface="Arial"/>
              </a:rPr>
              <a:t>access granted and revoked promptly where staff change role often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Incident response playbooks  </a:t>
            </a:r>
            <a:r>
              <a:rPr sz="1450">
                <a:solidFill>
                  <a:srgbClr val="D1D5DB"/>
                </a:solidFill>
                <a:latin typeface="Arial"/>
              </a:rPr>
              <a:t>isolate, notify the right people, collect forensic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difference  </a:t>
            </a:r>
            <a:r>
              <a:rPr sz="1450">
                <a:solidFill>
                  <a:srgbClr val="D1D5DB"/>
                </a:solidFill>
                <a:latin typeface="Arial"/>
              </a:rPr>
              <a:t>responding in seconds, rather than responding tomorrow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IDENTITY, ACCESS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Orchestration, scripting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Orchestration  </a:t>
            </a:r>
            <a:r>
              <a:rPr sz="1450">
                <a:solidFill>
                  <a:srgbClr val="D1D5DB"/>
                </a:solidFill>
                <a:latin typeface="Arial"/>
              </a:rPr>
              <a:t>automated tasks coordinated into one workflow, in the correct sequence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workflow  </a:t>
            </a:r>
            <a:r>
              <a:rPr sz="1450">
                <a:solidFill>
                  <a:srgbClr val="D1D5DB"/>
                </a:solidFill>
                <a:latin typeface="Arial"/>
              </a:rPr>
              <a:t>detect a threat, trigger a patch, update threat intelligence, untouched by hand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Scripting  </a:t>
            </a:r>
            <a:r>
              <a:rPr sz="1450">
                <a:solidFill>
                  <a:srgbClr val="D1D5DB"/>
                </a:solidFill>
                <a:latin typeface="Arial"/>
              </a:rPr>
              <a:t>customisation, efficiency and consistency, because a script repeats exactly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Guardrails  </a:t>
            </a:r>
            <a:r>
              <a:rPr sz="1450">
                <a:solidFill>
                  <a:srgbClr val="D1D5DB"/>
                </a:solidFill>
                <a:latin typeface="Arial"/>
              </a:rPr>
              <a:t>test changes, restrict who may edit scripts, log every automated action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Human oversight  </a:t>
            </a:r>
            <a:r>
              <a:rPr sz="1450">
                <a:solidFill>
                  <a:srgbClr val="D1D5DB"/>
                </a:solidFill>
                <a:latin typeface="Arial"/>
              </a:rPr>
              <a:t>for complex judgement, exceptions and decisions with ethical weight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balance  </a:t>
            </a:r>
            <a:r>
              <a:rPr sz="1450">
                <a:solidFill>
                  <a:srgbClr val="D1D5DB"/>
                </a:solidFill>
                <a:latin typeface="Arial"/>
              </a:rPr>
              <a:t>automate the routine, keep a person on the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incident response. Preparation, detection, containment, eradication, recovery, and lessons learned.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four phases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90195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77439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4320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policy, tools, a written plan, trained people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73736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90195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77439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Detection and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74320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identify it, scope it, grade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73736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90195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77439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Containment, eradication,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74320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isolate, remove the cause, restore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73736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90195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77439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Lessons learned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74320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document it, update the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74720"/>
            <a:ext cx="8138160" cy="77724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order is examined directly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41648"/>
            <a:ext cx="7680960" cy="1554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Preparation comes first, always. Get the sequence wrong in a scenario question and you lose the mark.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6" name="Picture 25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Containment, eradication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Containment strategy  </a:t>
            </a:r>
            <a:r>
              <a:rPr sz="1450">
                <a:solidFill>
                  <a:srgbClr val="D1D5DB"/>
                </a:solidFill>
                <a:latin typeface="Arial"/>
              </a:rPr>
              <a:t>short-term isolation first, then long-term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trade-off  </a:t>
            </a:r>
            <a:r>
              <a:rPr sz="1450">
                <a:solidFill>
                  <a:srgbClr val="D1D5DB"/>
                </a:solidFill>
                <a:latin typeface="Arial"/>
              </a:rPr>
              <a:t>containment preserves evidence, but can alert the adversary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Eradication  </a:t>
            </a:r>
            <a:r>
              <a:rPr sz="1450">
                <a:solidFill>
                  <a:srgbClr val="D1D5DB"/>
                </a:solidFill>
                <a:latin typeface="Arial"/>
              </a:rPr>
              <a:t>remove the malware, revoke the credentials, close the hole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Recovery  </a:t>
            </a:r>
            <a:r>
              <a:rPr sz="1450">
                <a:solidFill>
                  <a:srgbClr val="D1D5DB"/>
                </a:solidFill>
                <a:latin typeface="Arial"/>
              </a:rPr>
              <a:t>restore from validated backups, then verify integrity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Post-incident monitoring  </a:t>
            </a:r>
            <a:r>
              <a:rPr sz="1450">
                <a:solidFill>
                  <a:srgbClr val="D1D5DB"/>
                </a:solidFill>
                <a:latin typeface="Arial"/>
              </a:rPr>
              <a:t>intensified, watching for re-infection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containment stops the bleeding, eradication stops the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Classification, severity and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Classification  </a:t>
            </a:r>
            <a:r>
              <a:rPr sz="1450">
                <a:solidFill>
                  <a:srgbClr val="D1D5DB"/>
                </a:solidFill>
                <a:latin typeface="Arial"/>
              </a:rPr>
              <a:t>unauthorised access, malware, denial of service, data breach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Severity  </a:t>
            </a:r>
            <a:r>
              <a:rPr sz="1450">
                <a:solidFill>
                  <a:srgbClr val="D1D5DB"/>
                </a:solidFill>
                <a:latin typeface="Arial"/>
              </a:rPr>
              <a:t>low, medium, high, critical, which drives the urgency of response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Incident handlers  </a:t>
            </a:r>
            <a:r>
              <a:rPr sz="1450">
                <a:solidFill>
                  <a:srgbClr val="D1D5DB"/>
                </a:solidFill>
                <a:latin typeface="Arial"/>
              </a:rPr>
              <a:t>detect, analyse, contain, eradicate and recover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Management  </a:t>
            </a:r>
            <a:r>
              <a:rPr sz="1450">
                <a:solidFill>
                  <a:srgbClr val="D1D5DB"/>
                </a:solidFill>
                <a:latin typeface="Arial"/>
              </a:rPr>
              <a:t>resources, oversight and external stakeholders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Legal  </a:t>
            </a:r>
            <a:r>
              <a:rPr sz="1450">
                <a:solidFill>
                  <a:srgbClr val="D1D5DB"/>
                </a:solidFill>
                <a:latin typeface="Arial"/>
              </a:rPr>
              <a:t>regulatory compliance and the protection of evidence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Communications  </a:t>
            </a:r>
            <a:r>
              <a:rPr sz="1450">
                <a:solidFill>
                  <a:srgbClr val="D1D5DB"/>
                </a:solidFill>
                <a:latin typeface="Arial"/>
              </a:rPr>
              <a:t>internal and external messaging, and reputation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principle  </a:t>
            </a:r>
            <a:r>
              <a:rPr sz="1450">
                <a:solidFill>
                  <a:srgbClr val="D1D5DB"/>
                </a:solidFill>
                <a:latin typeface="Arial"/>
              </a:rPr>
              <a:t>severity drives urgency, and named roles prevent hesitation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Tabletop, functional and full-scale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Tabletop  </a:t>
            </a:r>
            <a:r>
              <a:rPr sz="1450">
                <a:solidFill>
                  <a:srgbClr val="D1D5DB"/>
                </a:solidFill>
                <a:latin typeface="Arial"/>
              </a:rPr>
              <a:t>discussion-based: the team walks a scenario and talks through the decisions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tabletop  </a:t>
            </a:r>
            <a:r>
              <a:rPr sz="1450">
                <a:solidFill>
                  <a:srgbClr val="D1D5DB"/>
                </a:solidFill>
                <a:latin typeface="Arial"/>
              </a:rPr>
              <a:t>it exposes gaps in the plan and the communication flow at very low cost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Functional  </a:t>
            </a:r>
            <a:r>
              <a:rPr sz="1450">
                <a:solidFill>
                  <a:srgbClr val="D1D5DB"/>
                </a:solidFill>
                <a:latin typeface="Arial"/>
              </a:rPr>
              <a:t>hands-on with real tools, testing specific capabilities under pressure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Full-scale  </a:t>
            </a:r>
            <a:r>
              <a:rPr sz="1450">
                <a:solidFill>
                  <a:srgbClr val="D1D5DB"/>
                </a:solidFill>
                <a:latin typeface="Arial"/>
              </a:rPr>
              <a:t>multiple teams, all roles performed, end to end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graduation  </a:t>
            </a:r>
            <a:r>
              <a:rPr sz="1450">
                <a:solidFill>
                  <a:srgbClr val="D1D5DB"/>
                </a:solidFill>
                <a:latin typeface="Arial"/>
              </a:rPr>
              <a:t>each kind tests more of the plan than the one before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warning  </a:t>
            </a:r>
            <a:r>
              <a:rPr sz="1450">
                <a:solidFill>
                  <a:srgbClr val="D1D5DB"/>
                </a:solidFill>
                <a:latin typeface="Arial"/>
              </a:rPr>
              <a:t>a plan that has never been exercised is a document, not a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Training and after-action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Responder training  </a:t>
            </a:r>
            <a:r>
              <a:rPr sz="1450">
                <a:solidFill>
                  <a:srgbClr val="D1D5DB"/>
                </a:solidFill>
                <a:latin typeface="Arial"/>
              </a:rPr>
              <a:t>ongoing: detection, analysis, response strategy and the tools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General staff awareness  </a:t>
            </a:r>
            <a:r>
              <a:rPr sz="1450">
                <a:solidFill>
                  <a:srgbClr val="D1D5DB"/>
                </a:solidFill>
                <a:latin typeface="Arial"/>
              </a:rPr>
              <a:t>recognise phishing, report suspicious activity, follow policy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After-action review  </a:t>
            </a:r>
            <a:r>
              <a:rPr sz="1450">
                <a:solidFill>
                  <a:srgbClr val="D1D5DB"/>
                </a:solidFill>
                <a:latin typeface="Arial"/>
              </a:rPr>
              <a:t>what went well, what was difficult, what must change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loop  </a:t>
            </a:r>
            <a:r>
              <a:rPr sz="1450">
                <a:solidFill>
                  <a:srgbClr val="D1D5DB"/>
                </a:solidFill>
                <a:latin typeface="Arial"/>
              </a:rPr>
              <a:t>findings feed straight back into the plan and future exercises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example  </a:t>
            </a:r>
            <a:r>
              <a:rPr sz="1450">
                <a:solidFill>
                  <a:srgbClr val="D1D5DB"/>
                </a:solidFill>
                <a:latin typeface="Arial"/>
              </a:rPr>
              <a:t>communication gaps between departments become clearer protocols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point  </a:t>
            </a:r>
            <a:r>
              <a:rPr sz="1450">
                <a:solidFill>
                  <a:srgbClr val="D1D5DB"/>
                </a:solidFill>
                <a:latin typeface="Arial"/>
              </a:rPr>
              <a:t>the review is where the improvement actually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THREAT HUNTING AND FORENSIC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Threat hunting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assumption  </a:t>
            </a:r>
            <a:r>
              <a:rPr sz="1450">
                <a:solidFill>
                  <a:srgbClr val="D1D5DB"/>
                </a:solidFill>
                <a:latin typeface="Arial"/>
              </a:rPr>
              <a:t>an attacker is already inside, and the alerts missed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Hypothesis-driven  </a:t>
            </a:r>
            <a:r>
              <a:rPr sz="1450">
                <a:solidFill>
                  <a:srgbClr val="D1D5DB"/>
                </a:solidFill>
                <a:latin typeface="Arial"/>
              </a:rPr>
              <a:t>form an idea, then test it with targeted searches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 example  </a:t>
            </a:r>
            <a:r>
              <a:rPr sz="1450">
                <a:solidFill>
                  <a:srgbClr val="D1D5DB"/>
                </a:solidFill>
                <a:latin typeface="Arial"/>
              </a:rPr>
              <a:t>rising failed logins suggest brute force, so search one address against many accounts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Indicator sweeping  </a:t>
            </a:r>
            <a:r>
              <a:rPr sz="1450">
                <a:solidFill>
                  <a:srgbClr val="D1D5DB"/>
                </a:solidFill>
                <a:latin typeface="Arial"/>
              </a:rPr>
              <a:t>search the estate for known indicators of compromise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indicators  </a:t>
            </a:r>
            <a:r>
              <a:rPr sz="1450">
                <a:solidFill>
                  <a:srgbClr val="D1D5DB"/>
                </a:solidFill>
                <a:latin typeface="Arial"/>
              </a:rPr>
              <a:t>addresses, file hashes and domain names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return  </a:t>
            </a:r>
            <a:r>
              <a:rPr sz="1450">
                <a:solidFill>
                  <a:srgbClr val="D1D5DB"/>
                </a:solidFill>
                <a:latin typeface="Arial"/>
              </a:rPr>
              <a:t>findings sharpen the detection rules for the next attempt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THREAT HUNTING AND FORENSIC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question  </a:t>
            </a:r>
            <a:r>
              <a:rPr sz="1450">
                <a:solidFill>
                  <a:srgbClr val="D1D5DB"/>
                </a:solidFill>
                <a:latin typeface="Arial"/>
              </a:rPr>
              <a:t>why, not just what: past the symptoms to the underlying weakness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Identify  </a:t>
            </a:r>
            <a:r>
              <a:rPr sz="1450">
                <a:solidFill>
                  <a:srgbClr val="D1D5DB"/>
                </a:solidFill>
                <a:latin typeface="Arial"/>
              </a:rPr>
              <a:t>state the problem clearly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Gather  </a:t>
            </a:r>
            <a:r>
              <a:rPr sz="1450">
                <a:solidFill>
                  <a:srgbClr val="D1D5DB"/>
                </a:solidFill>
                <a:latin typeface="Arial"/>
              </a:rPr>
              <a:t>collect data from logs, alerts and other sources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Analyse  </a:t>
            </a:r>
            <a:r>
              <a:rPr sz="1450">
                <a:solidFill>
                  <a:srgbClr val="D1D5DB"/>
                </a:solidFill>
                <a:latin typeface="Arial"/>
              </a:rPr>
              <a:t>look for patterns and anomalies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Find the causes  </a:t>
            </a:r>
            <a:r>
              <a:rPr sz="1450">
                <a:solidFill>
                  <a:srgbClr val="D1D5DB"/>
                </a:solidFill>
                <a:latin typeface="Arial"/>
              </a:rPr>
              <a:t>a configuration, a behaviour, or a vulnerability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Fix and verify  </a:t>
            </a:r>
            <a:r>
              <a:rPr sz="1450">
                <a:solidFill>
                  <a:srgbClr val="D1D5DB"/>
                </a:solidFill>
                <a:latin typeface="Arial"/>
              </a:rPr>
              <a:t>develop and implement solutions, then monitor their effect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warning  </a:t>
            </a:r>
            <a:r>
              <a:rPr sz="1450">
                <a:solidFill>
                  <a:srgbClr val="D1D5DB"/>
                </a:solidFill>
                <a:latin typeface="Arial"/>
              </a:rPr>
              <a:t>without that last step, the same incident comes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THREAT HUNTING AND FORENSIC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Collecting and preserving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Digital forensics  </a:t>
            </a:r>
            <a:r>
              <a:rPr sz="1450">
                <a:solidFill>
                  <a:srgbClr val="D1D5DB"/>
                </a:solidFill>
                <a:latin typeface="Arial"/>
              </a:rPr>
              <a:t>collects, preserves and analyses electronic evidence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Collection  </a:t>
            </a:r>
            <a:r>
              <a:rPr sz="1450">
                <a:solidFill>
                  <a:srgbClr val="D1D5DB"/>
                </a:solidFill>
                <a:latin typeface="Arial"/>
              </a:rPr>
              <a:t>computers, mobile devices and network systems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Write blockers  </a:t>
            </a:r>
            <a:r>
              <a:rPr sz="1450">
                <a:solidFill>
                  <a:srgbClr val="D1D5DB"/>
                </a:solidFill>
                <a:latin typeface="Arial"/>
              </a:rPr>
              <a:t>prevent any change to the original storage device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Forensic imaging  </a:t>
            </a:r>
            <a:r>
              <a:rPr sz="1450">
                <a:solidFill>
                  <a:srgbClr val="D1D5DB"/>
                </a:solidFill>
                <a:latin typeface="Arial"/>
              </a:rPr>
              <a:t>an exact bit-by-bit copy, including deleted and hidden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Hash verification  </a:t>
            </a:r>
            <a:r>
              <a:rPr sz="1450">
                <a:solidFill>
                  <a:srgbClr val="D1D5DB"/>
                </a:solidFill>
                <a:latin typeface="Arial"/>
              </a:rPr>
              <a:t>compare the hash of the original against the hash of the image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File carving  </a:t>
            </a:r>
            <a:r>
              <a:rPr sz="1450">
                <a:solidFill>
                  <a:srgbClr val="D1D5DB"/>
                </a:solidFill>
                <a:latin typeface="Arial"/>
              </a:rPr>
              <a:t>recovering files from raw disk without the filesystem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Capture order  </a:t>
            </a:r>
            <a:r>
              <a:rPr sz="1450">
                <a:solidFill>
                  <a:srgbClr val="D1D5DB"/>
                </a:solidFill>
                <a:latin typeface="Arial"/>
              </a:rPr>
              <a:t>volatile evidence first: registers, then memory, then disk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analyse the copy, never the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THREAT HUNTING AND FORENSIC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Chain of custody and legal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Chain of custody  </a:t>
            </a:r>
            <a:r>
              <a:rPr sz="1450">
                <a:solidFill>
                  <a:srgbClr val="D1D5DB"/>
                </a:solidFill>
                <a:latin typeface="Arial"/>
              </a:rPr>
              <a:t>every person who handled the evidence, when it moved, and why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an unbroken chain proves control, and a break makes evidence inadmissible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Authorisation  </a:t>
            </a:r>
            <a:r>
              <a:rPr sz="1450">
                <a:solidFill>
                  <a:srgbClr val="D1D5DB"/>
                </a:solidFill>
                <a:latin typeface="Arial"/>
              </a:rPr>
              <a:t>a search warrant or the consent of the data owner, before collection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Privacy law  </a:t>
            </a:r>
            <a:r>
              <a:rPr sz="1450">
                <a:solidFill>
                  <a:srgbClr val="D1D5DB"/>
                </a:solidFill>
                <a:latin typeface="Arial"/>
              </a:rPr>
              <a:t>the General Data Protection Regulation (GDPR) still applies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 law  </a:t>
            </a:r>
            <a:r>
              <a:rPr sz="1450">
                <a:solidFill>
                  <a:srgbClr val="D1D5DB"/>
                </a:solidFill>
                <a:latin typeface="Arial"/>
              </a:rPr>
              <a:t>the Electronic Communications Privacy Act (ECPA) shapes what you may keep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Presentation  </a:t>
            </a:r>
            <a:r>
              <a:rPr sz="1450">
                <a:solidFill>
                  <a:srgbClr val="D1D5DB"/>
                </a:solidFill>
                <a:latin typeface="Arial"/>
              </a:rPr>
              <a:t>evidence must be organised, documented and reported to be credible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handle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compromised server is found: what do you capture first, and why?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An analyst needs the RAM: what happens before any analysis?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Two investigators handle the disk: what must they record?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what breaks the case in court?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Volatile first (RAM, connections); image and hash before analysing; document every handover: break the chain and it is inadmissible.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LOGS, INVESTIGATION AND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Key log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Security logs  </a:t>
            </a:r>
            <a:r>
              <a:rPr sz="1450">
                <a:solidFill>
                  <a:srgbClr val="D1D5DB"/>
                </a:solidFill>
                <a:latin typeface="Arial"/>
              </a:rPr>
              <a:t>successful and failed logins, privilege changes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System logs  </a:t>
            </a:r>
            <a:r>
              <a:rPr sz="1450">
                <a:solidFill>
                  <a:srgbClr val="D1D5DB"/>
                </a:solidFill>
                <a:latin typeface="Arial"/>
              </a:rPr>
              <a:t>boot events, hardware changes, system errors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Application logs  </a:t>
            </a:r>
            <a:r>
              <a:rPr sz="1450">
                <a:solidFill>
                  <a:srgbClr val="D1D5DB"/>
                </a:solidFill>
                <a:latin typeface="Arial"/>
              </a:rPr>
              <a:t>errors, user interactions, transactions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Network device logs  </a:t>
            </a:r>
            <a:r>
              <a:rPr sz="1450">
                <a:solidFill>
                  <a:srgbClr val="D1D5DB"/>
                </a:solidFill>
                <a:latin typeface="Arial"/>
              </a:rPr>
              <a:t>routers and switches: traffic, status, configuration change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Firewall logs  </a:t>
            </a:r>
            <a:r>
              <a:rPr sz="1450">
                <a:solidFill>
                  <a:srgbClr val="D1D5DB"/>
                </a:solidFill>
                <a:latin typeface="Arial"/>
              </a:rPr>
              <a:t>allowed and denied traffic, which shows the attack arriving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principle  </a:t>
            </a:r>
            <a:r>
              <a:rPr sz="1450">
                <a:solidFill>
                  <a:srgbClr val="D1D5DB"/>
                </a:solidFill>
                <a:latin typeface="Arial"/>
              </a:rPr>
              <a:t>different sources, one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LOGS, INVESTIGATION AND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Collection, centralisation and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Collection  </a:t>
            </a:r>
            <a:r>
              <a:rPr sz="1450">
                <a:solidFill>
                  <a:srgbClr val="D1D5DB"/>
                </a:solidFill>
                <a:latin typeface="Arial"/>
              </a:rPr>
              <a:t>gather from every source, in real time where possible, usually by agents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Centralisation  </a:t>
            </a:r>
            <a:r>
              <a:rPr sz="1450">
                <a:solidFill>
                  <a:srgbClr val="D1D5DB"/>
                </a:solidFill>
                <a:latin typeface="Arial"/>
              </a:rPr>
              <a:t>aggregate into one repository, commonly a SIEM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Correlation  </a:t>
            </a:r>
            <a:r>
              <a:rPr sz="1450">
                <a:solidFill>
                  <a:srgbClr val="D1D5DB"/>
                </a:solidFill>
                <a:latin typeface="Arial"/>
              </a:rPr>
              <a:t>events from different systems become a single story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Retention policy  </a:t>
            </a:r>
            <a:r>
              <a:rPr sz="1450">
                <a:solidFill>
                  <a:srgbClr val="D1D5DB"/>
                </a:solidFill>
                <a:latin typeface="Arial"/>
              </a:rPr>
              <a:t>how long logs are kept, when they are archived, when deleted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sets retention  </a:t>
            </a:r>
            <a:r>
              <a:rPr sz="1450">
                <a:solidFill>
                  <a:srgbClr val="D1D5DB"/>
                </a:solidFill>
                <a:latin typeface="Arial"/>
              </a:rPr>
              <a:t>regulation, and the needs of your own investigations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consequence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investigate what you never kept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LOGS, INVESTIGATION AND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Beyond logs: captures, memory and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Network capture  </a:t>
            </a:r>
            <a:r>
              <a:rPr sz="1450">
                <a:solidFill>
                  <a:srgbClr val="D1D5DB"/>
                </a:solidFill>
                <a:latin typeface="Arial"/>
              </a:rPr>
              <a:t>the traffic itself, for anomaly and intrusion analysis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Memory forensics  </a:t>
            </a:r>
            <a:r>
              <a:rPr sz="1450">
                <a:solidFill>
                  <a:srgbClr val="D1D5DB"/>
                </a:solidFill>
                <a:latin typeface="Arial"/>
              </a:rPr>
              <a:t>running processes, open connections, malware remnants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memory  </a:t>
            </a:r>
            <a:r>
              <a:rPr sz="1450">
                <a:solidFill>
                  <a:srgbClr val="D1D5DB"/>
                </a:solidFill>
                <a:latin typeface="Arial"/>
              </a:rPr>
              <a:t>often the only trace a sophisticated attack leaves behind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Metadata analysis  </a:t>
            </a:r>
            <a:r>
              <a:rPr sz="1450">
                <a:solidFill>
                  <a:srgbClr val="D1D5DB"/>
                </a:solidFill>
                <a:latin typeface="Arial"/>
              </a:rPr>
              <a:t>creation dates, authorship, modification history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principle  </a:t>
            </a:r>
            <a:r>
              <a:rPr sz="1450">
                <a:solidFill>
                  <a:srgbClr val="D1D5DB"/>
                </a:solidFill>
                <a:latin typeface="Arial"/>
              </a:rPr>
              <a:t>each one covers what a plain log cannot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INDICATORS · MALWARE AND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Malware indicators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58367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Indicator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looks like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Virus / worm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Self-replicating code; spreading files, scanning activity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Trojan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Benign-looking software doing malicious 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Ransomware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Encrypted files, ransom notes, mass renames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Spyware / keylogger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Silent exfiltration of credentials and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Rootkit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Hidden presence, with privileges maintained stealthily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Botnet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Command-and-control traffic, coordinated activity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INDICATORS · NETWORK, APPLICATION AND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Reading the indicators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48463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Indicator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looks like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Port scanning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Rapid probes across ports and hosts: reconnaissance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exfiltration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Sudden outbound spikes as data leaves the network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Command and 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Small, regular connections to a suspicious host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Application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Web and email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Injection probes, scanning paths, spoofed senders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Behaviour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Privilege escalation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Accounts gaining rights they should not have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Behaviour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Impossible travel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Logins from locations too far apart in time to be real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069080"/>
            <a:ext cx="8138160" cy="68580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7680960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The lesson: traffic and behaviour anomalies are often the first signal, and different monitoring layers catch different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read the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server sends 1MB every 10 minutes to an unknown IP: what is it?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user logs in from London and Sydney in 10 minutes: what is it?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Files are renamed to .locked with a note file: what is it?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which indicator would you have caught first?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C2 beacon, impossible travel, ransomware: monitoring layers catch different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this maps to in the exam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tests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11.1 Monitoring &amp; alerting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sources; baselines; thresholds; alert fatigue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11.2 Incident response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Lifecycle phases; containment; eradication; recovery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11.3 Forensics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Chain of custody; order of volatility; imaging; techniques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11.4 Indicators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Malware, network, application and behavioural IoCs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56616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chapter map behind those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33087"/>
            <a:ext cx="7680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Monitoring devices, endpoint and data controls, identity and automation, incident response, hunting and forensics, then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Quiz_Session_11.html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exam-objective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explanation, because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CompTIA exam objective, for example 11.2 Incident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Monitoring  </a:t>
            </a:r>
            <a:r>
              <a:rPr sz="1600">
                <a:solidFill>
                  <a:srgbClr val="FFFFFF"/>
                </a:solidFill>
                <a:latin typeface="Arial"/>
              </a:rPr>
              <a:t>use the right sources and tune the alerts, or good alarms get ignored.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Match control to layer  </a:t>
            </a:r>
            <a:r>
              <a:rPr sz="1600">
                <a:solidFill>
                  <a:srgbClr val="FFFFFF"/>
                </a:solidFill>
                <a:latin typeface="Arial"/>
              </a:rPr>
              <a:t>firewall and NGFW, NAC, DLP, EDR.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Identity  </a:t>
            </a:r>
            <a:r>
              <a:rPr sz="1600">
                <a:solidFill>
                  <a:srgbClr val="FFFFFF"/>
                </a:solidFill>
                <a:latin typeface="Arial"/>
              </a:rPr>
              <a:t>provision, deprovision, and protect privilege.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Respond  </a:t>
            </a:r>
            <a:r>
              <a:rPr sz="1600">
                <a:solidFill>
                  <a:srgbClr val="FFFFFF"/>
                </a:solidFill>
                <a:latin typeface="Arial"/>
              </a:rPr>
              <a:t>through the four phases, and test the plan before you need it.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Preserve  </a:t>
            </a:r>
            <a:r>
              <a:rPr sz="1600">
                <a:solidFill>
                  <a:srgbClr val="FFFFFF"/>
                </a:solidFill>
                <a:latin typeface="Arial"/>
              </a:rPr>
              <a:t>volatile evidence first, and keep the chain of custody unbroken.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Logs  </a:t>
            </a:r>
            <a:r>
              <a:rPr sz="1600">
                <a:solidFill>
                  <a:srgbClr val="FFFFFF"/>
                </a:solidFill>
                <a:latin typeface="Arial"/>
              </a:rPr>
              <a:t>know your sources, and know how long you retain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Write a playbook  </a:t>
            </a:r>
            <a:r>
              <a:rPr sz="1450">
                <a:solidFill>
                  <a:srgbClr val="D1D5DB"/>
                </a:solidFill>
                <a:latin typeface="Arial"/>
              </a:rPr>
              <a:t>which steps you would automate, and where a human must decide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Walk the four phases  </a:t>
            </a:r>
            <a:r>
              <a:rPr sz="1450">
                <a:solidFill>
                  <a:srgbClr val="D1D5DB"/>
                </a:solidFill>
                <a:latin typeface="Arial"/>
              </a:rPr>
              <a:t>who leads, what tools, when to escalate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Practise volatility  </a:t>
            </a:r>
            <a:r>
              <a:rPr sz="1450">
                <a:solidFill>
                  <a:srgbClr val="D1D5DB"/>
                </a:solidFill>
                <a:latin typeface="Arial"/>
              </a:rPr>
              <a:t>list your own systems in capture order, memory before disk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Session 12: governance, risk, compliance and data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12: Governance, Risk, Compliance &amp; Exam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Policies and standards, risk management, compliance and privacy: the final session (Lessons 14–16)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Security governance: policies, standards, procedures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Risk management processes and vendor risk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Compliance, privacy and data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