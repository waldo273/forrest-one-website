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12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Governance, Risk, Compliance &amp; Exam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The final session: how security is governed, how risk becomes a decision, how compliance is proved, and how users become part of the defence.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457553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LESSONS 14–16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1497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6521" y="4224528"/>
            <a:ext cx="1815998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RISK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capstone: governance sets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we are  </a:t>
            </a:r>
            <a:r>
              <a:rPr sz="1450">
                <a:solidFill>
                  <a:srgbClr val="D1D5DB"/>
                </a:solidFill>
                <a:latin typeface="Arial"/>
              </a:rPr>
              <a:t>the final session, and the step back from technical controls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How security is governed  </a:t>
            </a:r>
            <a:r>
              <a:rPr sz="1450">
                <a:solidFill>
                  <a:srgbClr val="D1D5DB"/>
                </a:solidFill>
                <a:latin typeface="Arial"/>
              </a:rPr>
              <a:t>governance sets direction, rules and accountability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follows  </a:t>
            </a:r>
            <a:r>
              <a:rPr sz="1450">
                <a:solidFill>
                  <a:srgbClr val="D1D5DB"/>
                </a:solidFill>
                <a:latin typeface="Arial"/>
              </a:rPr>
              <a:t>risk end to end, then vendors, compliance and awareness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shift  </a:t>
            </a:r>
            <a:r>
              <a:rPr sz="1450">
                <a:solidFill>
                  <a:srgbClr val="D1D5DB"/>
                </a:solidFill>
                <a:latin typeface="Arial"/>
              </a:rPr>
              <a:t>security becomes an organisational discipline, not a set of tools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Your habit  </a:t>
            </a:r>
            <a:r>
              <a:rPr sz="1450">
                <a:solidFill>
                  <a:srgbClr val="D1D5DB"/>
                </a:solidFill>
                <a:latin typeface="Arial"/>
              </a:rPr>
              <a:t>always ask what the business has decided, and why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Domain 5 is 20% of the paper, and the vocabulary is precise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One question keeps you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Keep asking what the business has decided and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governance comes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Aligns security with the business  </a:t>
            </a:r>
            <a:r>
              <a:rPr sz="1450">
                <a:solidFill>
                  <a:srgbClr val="D1D5DB"/>
                </a:solidFill>
                <a:latin typeface="Arial"/>
              </a:rPr>
              <a:t>so security is never implemented in isolation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Directs the investment  </a:t>
            </a:r>
            <a:r>
              <a:rPr sz="1450">
                <a:solidFill>
                  <a:srgbClr val="D1D5DB"/>
                </a:solidFill>
                <a:latin typeface="Arial"/>
              </a:rPr>
              <a:t>targets spending at the assets the business depends 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Sets the risk appetite  </a:t>
            </a:r>
            <a:r>
              <a:rPr sz="1450">
                <a:solidFill>
                  <a:srgbClr val="D1D5DB"/>
                </a:solidFill>
                <a:latin typeface="Arial"/>
              </a:rPr>
              <a:t>everything else in the programme must respect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breach is expensive  </a:t>
            </a:r>
            <a:r>
              <a:rPr sz="1450">
                <a:solidFill>
                  <a:srgbClr val="D1D5DB"/>
                </a:solidFill>
                <a:latin typeface="Arial"/>
              </a:rPr>
              <a:t>and so is security that protects nothing that matters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example  </a:t>
            </a:r>
            <a:r>
              <a:rPr sz="1450">
                <a:solidFill>
                  <a:srgbClr val="D1D5DB"/>
                </a:solidFill>
                <a:latin typeface="Arial"/>
              </a:rPr>
              <a:t>a financial institution prioritises data protection and compliance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That is how security earns its budget  </a:t>
            </a:r>
            <a:r>
              <a:rPr sz="1450">
                <a:solidFill>
                  <a:srgbClr val="D1D5DB"/>
                </a:solidFill>
                <a:latin typeface="Arial"/>
              </a:rPr>
              <a:t>protect what the business rests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Structures, authority and accountability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Element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committee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Cross-functional: information technology, legal, human resources, operations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Reporting lines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reaches the chief executive or the board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Executive oversight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Tone at the top: direction, resources and review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Authority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documented power to decide, approve or authorise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Accountability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Answering for the outcome, reinforced by audits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Two words the exam separates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Authority is the power to decide; accountability answers for the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Executive roles and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Chief Information Security Officer  </a:t>
            </a:r>
            <a:r>
              <a:rPr sz="1450">
                <a:solidFill>
                  <a:srgbClr val="D1D5DB"/>
                </a:solidFill>
                <a:latin typeface="Arial"/>
              </a:rPr>
              <a:t>shapes strategy, develops policy, manages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bridge role  </a:t>
            </a:r>
            <a:r>
              <a:rPr sz="1450">
                <a:solidFill>
                  <a:srgbClr val="D1D5DB"/>
                </a:solidFill>
                <a:latin typeface="Arial"/>
              </a:rPr>
              <a:t>translates technical problems into language executives can act 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directors  </a:t>
            </a:r>
            <a:r>
              <a:rPr sz="1450">
                <a:solidFill>
                  <a:srgbClr val="D1D5DB"/>
                </a:solidFill>
                <a:latin typeface="Arial"/>
              </a:rPr>
              <a:t>report to the CISO, own domains, help plan response and recovery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board of directors  </a:t>
            </a:r>
            <a:r>
              <a:rPr sz="1450">
                <a:solidFill>
                  <a:srgbClr val="D1D5DB"/>
                </a:solidFill>
                <a:latin typeface="Arial"/>
              </a:rPr>
              <a:t>ensures a strategy exists and is genuinely implemented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Oversight in practice  </a:t>
            </a:r>
            <a:r>
              <a:rPr sz="1450">
                <a:solidFill>
                  <a:srgbClr val="D1D5DB"/>
                </a:solidFill>
                <a:latin typeface="Arial"/>
              </a:rPr>
              <a:t>reviews policy, tests risk management, keeps the organisation accountable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Operational roles and data ownership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Responsibility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analyst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Monitors for threats, analyses security data, investigates incidents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administrator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Runs firewalls, intrusion detection and antivirus, runs audits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Security architect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Designs the security framework and integrates 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owner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Classifies data, decides who may access it and how it is protected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custodian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Implements the controls: encryption, access control, backups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Why the list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Clear roles prevent gaps and duplication, because every control has an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1 · GOVERNANCE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four governance document 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39"/>
                <a:gridCol w="35661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High-level statement of management intent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We protect customer data and obey the law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Mandatory, specific and measurable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Passwords of at least twelve characters, mixed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Guideline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Recommended practice, not mandatory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to configure a firewall well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Procedure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Step-by-step instructions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steps for conducting a security audit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The document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Every document is developed with stakeholders, approved by the right authority, distributed, and then reviewed so it stays current.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A password 'standard' says twelve characters minimum; a 'guideline' suggests passphrases. What is the difference in force?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Probe: the standard is mandatory, and audits measure it; the guideline is recommended, and departures are acceptable if justified.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Standards are measured; guidelines are advisory.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EXTERNAL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Regulatory requirements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47548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Regulation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Sector or region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Core requirement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HIPAA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United States healthcare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Safeguard electronic protected health information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PCI DSS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Card payments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Secure the environment handling card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NERC CIP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Protect critical infrastructure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GDPR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European Union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Protect personal data of EU citizens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CCPA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California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Rights over personal information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External becomes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External obligations become internal policy, and policy becomes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EXTERNAL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Contractual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Service level agreements  </a:t>
            </a:r>
            <a:r>
              <a:rPr sz="1450">
                <a:solidFill>
                  <a:srgbClr val="D1D5DB"/>
                </a:solidFill>
                <a:latin typeface="Arial"/>
              </a:rPr>
              <a:t>can mandate controls, encryption standards and response times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processing agreements  </a:t>
            </a:r>
            <a:r>
              <a:rPr sz="1450">
                <a:solidFill>
                  <a:srgbClr val="D1D5DB"/>
                </a:solidFill>
                <a:latin typeface="Arial"/>
              </a:rPr>
              <a:t>define processor and controller duties, with audit rights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Partnership agreements  </a:t>
            </a:r>
            <a:r>
              <a:rPr sz="1450">
                <a:solidFill>
                  <a:srgbClr val="D1D5DB"/>
                </a:solidFill>
                <a:latin typeface="Arial"/>
              </a:rPr>
              <a:t>may require both sides to follow one shared framework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common baseline  </a:t>
            </a:r>
            <a:r>
              <a:rPr sz="1450">
                <a:solidFill>
                  <a:srgbClr val="D1D5DB"/>
                </a:solidFill>
                <a:latin typeface="Arial"/>
              </a:rPr>
              <a:t>the NIST Cybersecurity Framework is often named in contracts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consequence  </a:t>
            </a:r>
            <a:r>
              <a:rPr sz="1450">
                <a:solidFill>
                  <a:srgbClr val="D1D5DB"/>
                </a:solidFill>
                <a:latin typeface="Arial"/>
              </a:rPr>
              <a:t>customers can impose requirements, and failing them breaks the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EXTERNAL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Legal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Liability  </a:t>
            </a:r>
            <a:r>
              <a:rPr sz="1450">
                <a:solidFill>
                  <a:srgbClr val="D1D5DB"/>
                </a:solidFill>
                <a:latin typeface="Arial"/>
              </a:rPr>
              <a:t>legal action from affected parties and penalties from regulators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Due diligence  </a:t>
            </a:r>
            <a:r>
              <a:rPr sz="1450">
                <a:solidFill>
                  <a:srgbClr val="D1D5DB"/>
                </a:solidFill>
                <a:latin typeface="Arial"/>
              </a:rPr>
              <a:t>documenting the reasonable steps you took reduces your exposure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Jurisdiction  </a:t>
            </a:r>
            <a:r>
              <a:rPr sz="1450">
                <a:solidFill>
                  <a:srgbClr val="D1D5DB"/>
                </a:solidFill>
                <a:latin typeface="Arial"/>
              </a:rPr>
              <a:t>a multinational answers to the law of every place it does business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Privacy law  </a:t>
            </a:r>
            <a:r>
              <a:rPr sz="1450">
                <a:solidFill>
                  <a:srgbClr val="D1D5DB"/>
                </a:solidFill>
                <a:latin typeface="Arial"/>
              </a:rPr>
              <a:t>privacy by design, impact assessments, often a protection officer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flow  </a:t>
            </a:r>
            <a:r>
              <a:rPr sz="1450">
                <a:solidFill>
                  <a:srgbClr val="D1D5DB"/>
                </a:solidFill>
                <a:latin typeface="Arial"/>
              </a:rPr>
              <a:t>external requirements are assessed, built into policy, audited, updated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EXTERNAL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you find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Asset inventory first  </a:t>
            </a:r>
            <a:r>
              <a:rPr sz="1450">
                <a:solidFill>
                  <a:srgbClr val="D1D5DB"/>
                </a:solidFill>
                <a:latin typeface="Arial"/>
              </a:rPr>
              <a:t>physical, digital and human resources; list it before you protect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key servers, databases and personnel each carry vulnerabilities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Threat modelling  </a:t>
            </a:r>
            <a:r>
              <a:rPr sz="1450">
                <a:solidFill>
                  <a:srgbClr val="D1D5DB"/>
                </a:solidFill>
                <a:latin typeface="Arial"/>
              </a:rPr>
              <a:t>a structured question: how could this be attacked, and at what cost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example  </a:t>
            </a:r>
            <a:r>
              <a:rPr sz="1450">
                <a:solidFill>
                  <a:srgbClr val="D1D5DB"/>
                </a:solidFill>
                <a:latin typeface="Arial"/>
              </a:rPr>
              <a:t>a web application model names injection attacks and maps how they occur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Vulnerability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scanning tools find known weaknesses, such as outdated software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you cannot manage a risk you have never named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2 · EXTERNAL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Likelihood, impact and two methods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4937760"/>
                <a:gridCol w="1554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Element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When it is used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Probability, judged from the threat landscape and past incidents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assessment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Financial loss, reputational damage, operational disruption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Every assessment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Qualitative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Ratings: high, medium, low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Fast triage, no hard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Quantitative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Money and probabilities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Expensive decisions, good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Both, usually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Qualitative is quick and ideal for triage; quantitative is precise but data hungry.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RISK ANALYSIS AND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calculation, step by step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Figure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Asset value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Worth of the asset to the business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100,000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Exposure 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Percentage lost if the risk occurs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40 percent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Single loss expectancy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Asset value times exposure factor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Annual rate of occurrence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Expected frequency each year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0.1, once in ten years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Annualised loss expectancy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Single loss expectancy times that rate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4,000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Say it in money and an executive will 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Weigh the cost of a control against the loss it prevents.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RISK ANALYSIS AND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register is a living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describes  </a:t>
            </a:r>
            <a:r>
              <a:rPr sz="1450">
                <a:solidFill>
                  <a:srgbClr val="D1D5DB"/>
                </a:solidFill>
                <a:latin typeface="Arial"/>
              </a:rPr>
              <a:t>each risk and the circumstances under which it might occur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rating  </a:t>
            </a:r>
            <a:r>
              <a:rPr sz="1450">
                <a:solidFill>
                  <a:srgbClr val="D1D5DB"/>
                </a:solidFill>
                <a:latin typeface="Arial"/>
              </a:rPr>
              <a:t>built from likelihood and impact, so attention goes to the top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risk owner  </a:t>
            </a:r>
            <a:r>
              <a:rPr sz="1450">
                <a:solidFill>
                  <a:srgbClr val="D1D5DB"/>
                </a:solidFill>
                <a:latin typeface="Arial"/>
              </a:rPr>
              <a:t>one person or team accountable for managing that risk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Treatment status  </a:t>
            </a:r>
            <a:r>
              <a:rPr sz="1450">
                <a:solidFill>
                  <a:srgbClr val="D1D5DB"/>
                </a:solidFill>
                <a:latin typeface="Arial"/>
              </a:rPr>
              <a:t>monitored, mitigated, transferred or accepted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scoring  </a:t>
            </a:r>
            <a:r>
              <a:rPr sz="1450">
                <a:solidFill>
                  <a:srgbClr val="D1D5DB"/>
                </a:solidFill>
                <a:latin typeface="Arial"/>
              </a:rPr>
              <a:t>qualitative, quantitative, or a hybrid of both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 living document  </a:t>
            </a:r>
            <a:r>
              <a:rPr sz="1450">
                <a:solidFill>
                  <a:srgbClr val="D1D5DB"/>
                </a:solidFill>
                <a:latin typeface="Arial"/>
              </a:rPr>
              <a:t>new risks added, ratings reassessed, stakeholders engaged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RISK ANALYSIS AND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Appetite and tolerance are not the 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appetite  </a:t>
            </a:r>
            <a:r>
              <a:rPr sz="1450">
                <a:solidFill>
                  <a:srgbClr val="D1D5DB"/>
                </a:solidFill>
                <a:latin typeface="Arial"/>
              </a:rPr>
              <a:t>how much risk the organisation will pursue or retain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contrast  </a:t>
            </a:r>
            <a:r>
              <a:rPr sz="1450">
                <a:solidFill>
                  <a:srgbClr val="D1D5DB"/>
                </a:solidFill>
                <a:latin typeface="Arial"/>
              </a:rPr>
              <a:t>a regulated bank has a low appetite; a young company accepts more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Risk tolerance  </a:t>
            </a:r>
            <a:r>
              <a:rPr sz="1450">
                <a:solidFill>
                  <a:srgbClr val="D1D5DB"/>
                </a:solidFill>
                <a:latin typeface="Arial"/>
              </a:rPr>
              <a:t>how far it may drift from that appetite before action is taken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worked example  </a:t>
            </a:r>
            <a:r>
              <a:rPr sz="1450">
                <a:solidFill>
                  <a:srgbClr val="D1D5DB"/>
                </a:solidFill>
                <a:latin typeface="Arial"/>
              </a:rPr>
              <a:t>a five percent share loss accepted, but only two percent drift in a quarter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line to remember  </a:t>
            </a:r>
            <a:r>
              <a:rPr sz="1450">
                <a:solidFill>
                  <a:srgbClr val="D1D5DB"/>
                </a:solidFill>
                <a:latin typeface="Arial"/>
              </a:rPr>
              <a:t>appetite sets the boundary; tolerance says how far you may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3 · RISK ANALYSIS AND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four responses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31089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Avoid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Eliminate the activity that creates the risk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Do not enter that volatile market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Transfer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Shift the risk to a third party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Cyber insurance, or outsourcing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Mitigate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Reduce likelihood or impact with controls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Firewalls, detection, training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Retain the risk, with sign off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When the control costs more than the impact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Match, then revisit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Each strategy fits a situation; match it to the organisation, then revisit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respond to the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legacy system cannot be patched. Which response, and how?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Flood risk at a data centre. Which response?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The board accepts a risk. What must be recorded?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supplier holds your most sensitive data. What does the contract require?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response do organisations use most, and why?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Mitigate with compensating controls, or accept with sign-off; transfer via insurance; acceptance must be documented by management; contracts carry data handling, incident notice, audit rights and an exit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risk reporting and business impact, then vendors, compliance, audit and awareness.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RISK REPORTING AND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same risk, three audiences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Technical teams  </a:t>
            </a:r>
            <a:r>
              <a:rPr sz="1450">
                <a:solidFill>
                  <a:srgbClr val="D1D5DB"/>
                </a:solidFill>
                <a:latin typeface="Arial"/>
              </a:rPr>
              <a:t>specific vulnerabilities, threat vectors, severity scores, patch timelines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Executives  </a:t>
            </a:r>
            <a:r>
              <a:rPr sz="1450">
                <a:solidFill>
                  <a:srgbClr val="D1D5DB"/>
                </a:solidFill>
                <a:latin typeface="Arial"/>
              </a:rPr>
              <a:t>operational, financial and strategic impact, in charts rather than logs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Board and regulators  </a:t>
            </a:r>
            <a:r>
              <a:rPr sz="1450">
                <a:solidFill>
                  <a:srgbClr val="D1D5DB"/>
                </a:solidFill>
                <a:latin typeface="Arial"/>
              </a:rPr>
              <a:t>compliance, governance and plain language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format  </a:t>
            </a:r>
            <a:r>
              <a:rPr sz="1450">
                <a:solidFill>
                  <a:srgbClr val="D1D5DB"/>
                </a:solidFill>
                <a:latin typeface="Arial"/>
              </a:rPr>
              <a:t>live dashboards, detailed reports, short executive summaries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Useful metrics  </a:t>
            </a:r>
            <a:r>
              <a:rPr sz="1450">
                <a:solidFill>
                  <a:srgbClr val="D1D5DB"/>
                </a:solidFill>
                <a:latin typeface="Arial"/>
              </a:rPr>
              <a:t>frequency of occurrence, impact severity, mitigation status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rule  </a:t>
            </a:r>
            <a:r>
              <a:rPr sz="1450">
                <a:solidFill>
                  <a:srgbClr val="D1D5DB"/>
                </a:solidFill>
                <a:latin typeface="Arial"/>
              </a:rPr>
              <a:t>report on a regular cycle and tailor the language to the reader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Risk only matters when someone acts on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Reporting is a skill in its own right: one document for everybody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RISK REPORTING AND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Business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What it identifies  </a:t>
            </a:r>
            <a:r>
              <a:rPr sz="1450">
                <a:solidFill>
                  <a:srgbClr val="D1D5DB"/>
                </a:solidFill>
                <a:latin typeface="Arial"/>
              </a:rPr>
              <a:t>the processes critical to operations, whose failure hurts most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Dependencies mapped  </a:t>
            </a:r>
            <a:r>
              <a:rPr sz="1450">
                <a:solidFill>
                  <a:srgbClr val="D1D5DB"/>
                </a:solidFill>
                <a:latin typeface="Arial"/>
              </a:rPr>
              <a:t>the systems, applications and people those processes rely 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Consequences assessed  </a:t>
            </a:r>
            <a:r>
              <a:rPr sz="1450">
                <a:solidFill>
                  <a:srgbClr val="D1D5DB"/>
                </a:solidFill>
                <a:latin typeface="Arial"/>
              </a:rPr>
              <a:t>financial, reputational and regulatory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Recovery priorities  </a:t>
            </a:r>
            <a:r>
              <a:rPr sz="1450">
                <a:solidFill>
                  <a:srgbClr val="D1D5DB"/>
                </a:solidFill>
                <a:latin typeface="Arial"/>
              </a:rPr>
              <a:t>the most critical functions are restored first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Resource allocation  </a:t>
            </a:r>
            <a:r>
              <a:rPr sz="1450">
                <a:solidFill>
                  <a:srgbClr val="D1D5DB"/>
                </a:solidFill>
                <a:latin typeface="Arial"/>
              </a:rPr>
              <a:t>people, technology and budget go where impact is greatest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that is how continuity planning earns its funding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RISK REPORTING AND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Vendor assessment before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Security questionnaire  </a:t>
            </a:r>
            <a:r>
              <a:rPr sz="1450">
                <a:solidFill>
                  <a:srgbClr val="D1D5DB"/>
                </a:solidFill>
                <a:latin typeface="Arial"/>
              </a:rPr>
              <a:t>encryption, network security, incident response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Documentation review  </a:t>
            </a:r>
            <a:r>
              <a:rPr sz="1450">
                <a:solidFill>
                  <a:srgbClr val="D1D5DB"/>
                </a:solidFill>
                <a:latin typeface="Arial"/>
              </a:rPr>
              <a:t>their policies, procedures and any compliance reports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On site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sees practice rather than claims, where it matters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Due diligence  </a:t>
            </a:r>
            <a:r>
              <a:rPr sz="1450">
                <a:solidFill>
                  <a:srgbClr val="D1D5DB"/>
                </a:solidFill>
                <a:latin typeface="Arial"/>
              </a:rPr>
              <a:t>financial stability, certifications, incident history, references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Depth follows risk  </a:t>
            </a:r>
            <a:r>
              <a:rPr sz="1450">
                <a:solidFill>
                  <a:srgbClr val="D1D5DB"/>
                </a:solidFill>
                <a:latin typeface="Arial"/>
              </a:rPr>
              <a:t>data sensitivity, access level and the vendor role set the scrutiny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Common markers of maturity  </a:t>
            </a:r>
            <a:r>
              <a:rPr sz="1450">
                <a:solidFill>
                  <a:srgbClr val="D1D5DB"/>
                </a:solidFill>
                <a:latin typeface="Arial"/>
              </a:rPr>
              <a:t>ISO 27001 and SOC 2 certifications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RISK REPORTING AND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Contracts that carry security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Element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to require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handling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Encryption standards, access controls, data segregation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Incident notification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Define the incident, and the deadline for telling you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Audit rights and agreements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Audit scope and frequency; master service, non disclosure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Service levels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Uptime, response times, compliance with a named standard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Data return and secure destruction on termination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Define it before you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Define what counts as a security incident, and the deadline to tell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4 · RISK REPORTING AND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Monitoring and rules of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Periodic reassessment  </a:t>
            </a:r>
            <a:r>
              <a:rPr sz="1450">
                <a:solidFill>
                  <a:srgbClr val="D1D5DB"/>
                </a:solidFill>
                <a:latin typeface="Arial"/>
              </a:rPr>
              <a:t>checks the vendor still meets your requirements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Compliance verification  </a:t>
            </a:r>
            <a:r>
              <a:rPr sz="1450">
                <a:solidFill>
                  <a:srgbClr val="D1D5DB"/>
                </a:solidFill>
                <a:latin typeface="Arial"/>
              </a:rPr>
              <a:t>confirms they follow the rules that apply to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Performance tracking  </a:t>
            </a:r>
            <a:r>
              <a:rPr sz="1450">
                <a:solidFill>
                  <a:srgbClr val="D1D5DB"/>
                </a:solidFill>
                <a:latin typeface="Arial"/>
              </a:rPr>
              <a:t>agreed indicators for quality, timeliness and reliability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Rules of engagement  </a:t>
            </a:r>
            <a:r>
              <a:rPr sz="1450">
                <a:solidFill>
                  <a:srgbClr val="D1D5DB"/>
                </a:solidFill>
                <a:latin typeface="Arial"/>
              </a:rPr>
              <a:t>the boundaries of what the vendor may access and do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Least privilege  </a:t>
            </a:r>
            <a:r>
              <a:rPr sz="1450">
                <a:solidFill>
                  <a:srgbClr val="D1D5DB"/>
                </a:solidFill>
                <a:latin typeface="Arial"/>
              </a:rPr>
              <a:t>enforced with role based access control and multifactor authentication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Escalation  </a:t>
            </a:r>
            <a:r>
              <a:rPr sz="1450">
                <a:solidFill>
                  <a:srgbClr val="D1D5DB"/>
                </a:solidFill>
                <a:latin typeface="Arial"/>
              </a:rPr>
              <a:t>a route to raise a problem, and a rehearsed vendor incident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COMPLIANCE, PRIVACY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Frameworks and what applies to you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3840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Framework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Covers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Applies to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PCI DSS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Cardholder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Anyone handling card payments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HIPAA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Medical information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Providers, plans and clearinghouses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SOX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Financial reporting integrity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Publicly traded companies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GDPR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Personal data of EU citizens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Any organisation processing that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Compliance is the proof, and a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Decide what applies by industry, geography and data type: compliance is a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COMPLIANCE, PRIVACY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Monitoring and demonstrating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Automated tooling  </a:t>
            </a:r>
            <a:r>
              <a:rPr sz="1450">
                <a:solidFill>
                  <a:srgbClr val="D1D5DB"/>
                </a:solidFill>
                <a:latin typeface="Arial"/>
              </a:rPr>
              <a:t>a security information and event management system alerts on breaches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Configuration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keeps systems on approved settings and reverses drift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Manual review  </a:t>
            </a:r>
            <a:r>
              <a:rPr sz="1450">
                <a:solidFill>
                  <a:srgbClr val="D1D5DB"/>
                </a:solidFill>
                <a:latin typeface="Arial"/>
              </a:rPr>
              <a:t>interpreting a regulation cannot be automated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Evidence  </a:t>
            </a:r>
            <a:r>
              <a:rPr sz="1450">
                <a:solidFill>
                  <a:srgbClr val="D1D5DB"/>
                </a:solidFill>
                <a:latin typeface="Arial"/>
              </a:rPr>
              <a:t>logs, audit trails and documentation that show controls working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Protect the trails  </a:t>
            </a:r>
            <a:r>
              <a:rPr sz="1450">
                <a:solidFill>
                  <a:srgbClr val="D1D5DB"/>
                </a:solidFill>
                <a:latin typeface="Arial"/>
              </a:rPr>
              <a:t>audit trails must resist tampering and unauthorised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Reporting  </a:t>
            </a:r>
            <a:r>
              <a:rPr sz="1450">
                <a:solidFill>
                  <a:srgbClr val="D1D5DB"/>
                </a:solidFill>
                <a:latin typeface="Arial"/>
              </a:rPr>
              <a:t>regulators, auditors and management, with dashboards and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COMPLIANCE, PRIVACY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When compliance fails, and privacy duties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Fines  </a:t>
            </a:r>
            <a:r>
              <a:rPr sz="1450">
                <a:solidFill>
                  <a:srgbClr val="D1D5DB"/>
                </a:solidFill>
                <a:latin typeface="Arial"/>
              </a:rPr>
              <a:t>up to four percent of global turnover, or twenty million euro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Sanctions  </a:t>
            </a:r>
            <a:r>
              <a:rPr sz="1450">
                <a:solidFill>
                  <a:srgbClr val="D1D5DB"/>
                </a:solidFill>
                <a:latin typeface="Arial"/>
              </a:rPr>
              <a:t>regulators can restrict processing, and remove the licence to operate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Reputational damage  </a:t>
            </a:r>
            <a:r>
              <a:rPr sz="1450">
                <a:solidFill>
                  <a:srgbClr val="D1D5DB"/>
                </a:solidFill>
                <a:latin typeface="Arial"/>
              </a:rPr>
              <a:t>customers leave, and new ones stay away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Legal liability  </a:t>
            </a:r>
            <a:r>
              <a:rPr sz="1450">
                <a:solidFill>
                  <a:srgbClr val="D1D5DB"/>
                </a:solidFill>
                <a:latin typeface="Arial"/>
              </a:rPr>
              <a:t>lawsuits and increased regulatory scrutiny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Privacy duties  </a:t>
            </a:r>
            <a:r>
              <a:rPr sz="1450">
                <a:solidFill>
                  <a:srgbClr val="D1D5DB"/>
                </a:solidFill>
                <a:latin typeface="Arial"/>
              </a:rPr>
              <a:t>subject rights, informed consent and breach notification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Privacy by assessment  </a:t>
            </a:r>
            <a:r>
              <a:rPr sz="1450">
                <a:solidFill>
                  <a:srgbClr val="D1D5DB"/>
                </a:solidFill>
                <a:latin typeface="Arial"/>
              </a:rPr>
              <a:t>impact assessments find risk before processing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5 · COMPLIANCE, PRIVACY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Internal and external audits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01752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Audit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Conducted by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organisation's own staff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Self assessment, improvement, preparation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External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An independent third party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Regulatory compliance, customer assurance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Stages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Both types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Planning, evidence, findings, remediation tracking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2918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Reality against the paperwork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Both follow the same four stages: plan with scope, gather evidence, report findings, then track remediation until each issue is closed.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ASSURANCE AND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Attestation and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SOC 1  </a:t>
            </a:r>
            <a:r>
              <a:rPr sz="1450">
                <a:solidFill>
                  <a:srgbClr val="D1D5DB"/>
                </a:solidFill>
                <a:latin typeface="Arial"/>
              </a:rPr>
              <a:t>controls relevant to financial reporting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SOC 2  </a:t>
            </a:r>
            <a:r>
              <a:rPr sz="1450">
                <a:solidFill>
                  <a:srgbClr val="D1D5DB"/>
                </a:solidFill>
                <a:latin typeface="Arial"/>
              </a:rPr>
              <a:t>security, availability, processing integrity, confidentiality, privacy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SOC 3  </a:t>
            </a:r>
            <a:r>
              <a:rPr sz="1450">
                <a:solidFill>
                  <a:srgbClr val="D1D5DB"/>
                </a:solidFill>
                <a:latin typeface="Arial"/>
              </a:rPr>
              <a:t>the same picture at a high level, for a general audience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Certification statements  </a:t>
            </a:r>
            <a:r>
              <a:rPr sz="1450">
                <a:solidFill>
                  <a:srgbClr val="D1D5DB"/>
                </a:solidFill>
                <a:latin typeface="Arial"/>
              </a:rPr>
              <a:t>for example a statement against ISO 27001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Penetration testing  </a:t>
            </a:r>
            <a:r>
              <a:rPr sz="1450">
                <a:solidFill>
                  <a:srgbClr val="D1D5DB"/>
                </a:solidFill>
                <a:latin typeface="Arial"/>
              </a:rPr>
              <a:t>attacking with permission: black box, white box or grey box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cycle  </a:t>
            </a:r>
            <a:r>
              <a:rPr sz="1450">
                <a:solidFill>
                  <a:srgbClr val="D1D5DB"/>
                </a:solidFill>
                <a:latin typeface="Arial"/>
              </a:rPr>
              <a:t>scope and rules of engagement first, then remediate and retest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Attestation declares, testing 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Attestation is a formal declaration that controls meet stated criteria.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ASSURANCE AND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Designing an awareness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Audience analysis  </a:t>
            </a:r>
            <a:r>
              <a:rPr sz="1450">
                <a:solidFill>
                  <a:srgbClr val="D1D5DB"/>
                </a:solidFill>
                <a:latin typeface="Arial"/>
              </a:rPr>
              <a:t>which roles touch sensitive data, what they know, where the gaps 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Objectives  </a:t>
            </a:r>
            <a:r>
              <a:rPr sz="1450">
                <a:solidFill>
                  <a:srgbClr val="D1D5DB"/>
                </a:solidFill>
                <a:latin typeface="Arial"/>
              </a:rPr>
              <a:t>specific, measurable and time bound, such as reporting a phishing email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Content  </a:t>
            </a:r>
            <a:r>
              <a:rPr sz="1450">
                <a:solidFill>
                  <a:srgbClr val="D1D5DB"/>
                </a:solidFill>
                <a:latin typeface="Arial"/>
              </a:rPr>
              <a:t>current and recognisable: real incidents, interactive scenarios, visual aids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Delivery  </a:t>
            </a:r>
            <a:r>
              <a:rPr sz="1450">
                <a:solidFill>
                  <a:srgbClr val="D1D5DB"/>
                </a:solidFill>
                <a:latin typeface="Arial"/>
              </a:rPr>
              <a:t>computer based for scale, instructor led for depth, campaigns for reminders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Tailoring  </a:t>
            </a:r>
            <a:r>
              <a:rPr sz="1450">
                <a:solidFill>
                  <a:srgbClr val="D1D5DB"/>
                </a:solidFill>
                <a:latin typeface="Arial"/>
              </a:rPr>
              <a:t>strategy for executives, depth for technical staff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Measurement  </a:t>
            </a:r>
            <a:r>
              <a:rPr sz="1450">
                <a:solidFill>
                  <a:srgbClr val="D1D5DB"/>
                </a:solidFill>
                <a:latin typeface="Arial"/>
              </a:rPr>
              <a:t>assessments, simulations and reported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ASSURANCE AND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Phishing training and simulations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Recognition  </a:t>
            </a:r>
            <a:r>
              <a:rPr sz="1450">
                <a:solidFill>
                  <a:srgbClr val="D1D5DB"/>
                </a:solidFill>
                <a:latin typeface="Arial"/>
              </a:rPr>
              <a:t>odd sender, urgency, unexpected attachment, unfamiliar link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Reporting  </a:t>
            </a:r>
            <a:r>
              <a:rPr sz="1450">
                <a:solidFill>
                  <a:srgbClr val="D1D5DB"/>
                </a:solidFill>
                <a:latin typeface="Arial"/>
              </a:rPr>
              <a:t>one obvious route, such as forwarding to the security team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Simulations  </a:t>
            </a:r>
            <a:r>
              <a:rPr sz="1450">
                <a:solidFill>
                  <a:srgbClr val="D1D5DB"/>
                </a:solidFill>
                <a:latin typeface="Arial"/>
              </a:rPr>
              <a:t>designed, sent without warning, then analysed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Progressive difficulty  </a:t>
            </a:r>
            <a:r>
              <a:rPr sz="1450">
                <a:solidFill>
                  <a:srgbClr val="D1D5DB"/>
                </a:solidFill>
                <a:latin typeface="Arial"/>
              </a:rPr>
              <a:t>from obvious scams to business email compromise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Immediate feedback  </a:t>
            </a:r>
            <a:r>
              <a:rPr sz="1450">
                <a:solidFill>
                  <a:srgbClr val="D1D5DB"/>
                </a:solidFill>
                <a:latin typeface="Arial"/>
              </a:rPr>
              <a:t>explains what the user missed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metrics  </a:t>
            </a:r>
            <a:r>
              <a:rPr sz="1450">
                <a:solidFill>
                  <a:srgbClr val="D1D5DB"/>
                </a:solidFill>
                <a:latin typeface="Arial"/>
              </a:rPr>
              <a:t>click rate down, reporting rate up, and watch the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Keep the pace reasonable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Too many simulations cause fatigue, and fatigue destroys the reporting habit.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ASSURANCE AND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Guidance, reporting and anomalies to report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to teach and expect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Guidance and reminders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Steps a person can follow today, plus tools such as a password manager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Reporting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 mailbox, a phone line, an anonymous portal, and thanks not blame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Social engineering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Unsolicited requests, impersonation, urgency, poor language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Insider threat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Unusual access, disgruntlement, data hoarding, bypassing controls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Physical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Escort strangers, no tailgating, lock unattended devices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40480"/>
            <a:ext cx="8138160" cy="676656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Thank the person who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07408"/>
            <a:ext cx="7680960" cy="54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Punishment destroys your early warning, so thank the person who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CHAPTER 6 · ASSURANCE AND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Measuring the programme and improving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Assessments  </a:t>
            </a:r>
            <a:r>
              <a:rPr sz="1450">
                <a:solidFill>
                  <a:srgbClr val="D1D5DB"/>
                </a:solidFill>
                <a:latin typeface="Arial"/>
              </a:rPr>
              <a:t>quizzes that test recognition, not recall of slogans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Simulations  </a:t>
            </a:r>
            <a:r>
              <a:rPr sz="1450">
                <a:solidFill>
                  <a:srgbClr val="D1D5DB"/>
                </a:solidFill>
                <a:latin typeface="Arial"/>
              </a:rPr>
              <a:t>how users actually behave under a mock attack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Incident metrics  </a:t>
            </a:r>
            <a:r>
              <a:rPr sz="1450">
                <a:solidFill>
                  <a:srgbClr val="D1D5DB"/>
                </a:solidFill>
                <a:latin typeface="Arial"/>
              </a:rPr>
              <a:t>what users report, and how quickly they report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Analyse  </a:t>
            </a:r>
            <a:r>
              <a:rPr sz="1450">
                <a:solidFill>
                  <a:srgbClr val="D1D5DB"/>
                </a:solidFill>
                <a:latin typeface="Arial"/>
              </a:rPr>
              <a:t>look for trends and gaps in the results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Refresh  </a:t>
            </a:r>
            <a:r>
              <a:rPr sz="1450">
                <a:solidFill>
                  <a:srgbClr val="D1D5DB"/>
                </a:solidFill>
                <a:latin typeface="Arial"/>
              </a:rPr>
              <a:t>recent incidents and current threat intelligence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Ask and vary  </a:t>
            </a:r>
            <a:r>
              <a:rPr sz="1450">
                <a:solidFill>
                  <a:srgbClr val="D1D5DB"/>
                </a:solidFill>
                <a:latin typeface="Arial"/>
              </a:rPr>
              <a:t>feedback from the audience, varied channels, staying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Awareness fades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36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programme that never changes is measuring a threat that has moved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DATA PROTECTION ·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Data classification and data states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356616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No restriction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Brochures, press releases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Internal use only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Procedures, plans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Confidential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Restricted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HR records, contracts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Restricted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Most sensitive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Trade secrets, health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520440"/>
            <a:ext cx="8138160" cy="82296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Classification drives the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7680960" cy="2011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The higher the class, the stronger the protection, and each of the three data states needs its own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DATA PROTECTION ·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Data roles and the data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owner  </a:t>
            </a:r>
            <a:r>
              <a:rPr sz="1450">
                <a:solidFill>
                  <a:srgbClr val="D1D5DB"/>
                </a:solidFill>
                <a:latin typeface="Arial"/>
              </a:rPr>
              <a:t>accountable for classification, access and protection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steward  </a:t>
            </a:r>
            <a:r>
              <a:rPr sz="1450">
                <a:solidFill>
                  <a:srgbClr val="D1D5DB"/>
                </a:solidFill>
                <a:latin typeface="Arial"/>
              </a:rPr>
              <a:t>ensures quality and governance day to day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Data custodian  </a:t>
            </a:r>
            <a:r>
              <a:rPr sz="1450">
                <a:solidFill>
                  <a:srgbClr val="D1D5DB"/>
                </a:solidFill>
                <a:latin typeface="Arial"/>
              </a:rPr>
              <a:t>implements the controls: encryption, access control, backups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lifecycle  </a:t>
            </a:r>
            <a:r>
              <a:rPr sz="1450">
                <a:solidFill>
                  <a:srgbClr val="D1D5DB"/>
                </a:solidFill>
                <a:latin typeface="Arial"/>
              </a:rPr>
              <a:t>collect, store, use, share, archive, destroy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Retention policy  </a:t>
            </a:r>
            <a:r>
              <a:rPr sz="1450">
                <a:solidFill>
                  <a:srgbClr val="D1D5DB"/>
                </a:solidFill>
                <a:latin typeface="Arial"/>
              </a:rPr>
              <a:t>how long data is kept, and why: legal and business drivers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destruction  </a:t>
            </a:r>
            <a:r>
              <a:rPr sz="1450">
                <a:solidFill>
                  <a:srgbClr val="D1D5DB"/>
                </a:solidFill>
                <a:latin typeface="Arial"/>
              </a:rPr>
              <a:t>at the end of retention: wiping or destruction of the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DATA PROTECTION ·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Privacy law and data sovereignty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GDPR and UK GDPR  </a:t>
            </a:r>
            <a:r>
              <a:rPr sz="1450">
                <a:solidFill>
                  <a:srgbClr val="D1D5DB"/>
                </a:solidFill>
                <a:latin typeface="Arial"/>
              </a:rPr>
              <a:t>the EU and UK data protection frameworks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principles  </a:t>
            </a:r>
            <a:r>
              <a:rPr sz="1450">
                <a:solidFill>
                  <a:srgbClr val="D1D5DB"/>
                </a:solidFill>
                <a:latin typeface="Arial"/>
              </a:rPr>
              <a:t>lawful, transparent, minimised, accurate, secure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rights  </a:t>
            </a:r>
            <a:r>
              <a:rPr sz="1450">
                <a:solidFill>
                  <a:srgbClr val="D1D5DB"/>
                </a:solidFill>
                <a:latin typeface="Arial"/>
              </a:rPr>
              <a:t>access, rectification, erasure, portability, restriction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Consent and the breach duty  </a:t>
            </a:r>
            <a:r>
              <a:rPr sz="1450">
                <a:solidFill>
                  <a:srgbClr val="D1D5DB"/>
                </a:solidFill>
                <a:latin typeface="Arial"/>
              </a:rPr>
              <a:t>informed and freely given; notify within 72 hours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Sovereignty  </a:t>
            </a:r>
            <a:r>
              <a:rPr sz="1450">
                <a:solidFill>
                  <a:srgbClr val="D1D5DB"/>
                </a:solidFill>
                <a:latin typeface="Arial"/>
              </a:rPr>
              <a:t>data answers to the law of the jurisdiction where it resides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By data subject  </a:t>
            </a:r>
            <a:r>
              <a:rPr sz="1450">
                <a:solidFill>
                  <a:srgbClr val="D1D5DB"/>
                </a:solidFill>
                <a:latin typeface="Arial"/>
              </a:rPr>
              <a:t>GDPR and CCPA apply by the data subject's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this maps to in the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tests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12.1 Governance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Policy, standard, guideline, procedure; roles and accountability; external obligations; compliance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12.2 Risk Management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Identification and assessment; register and appetite; the four responses; vendors; reporting and BIA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12.3 Data Protection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Classification; roles and lifecycle; privacy law and sovereignty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Assurance &amp; awareness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Attestation and penetration testing; awareness design, phishing and reporting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Governance sets direction  </a:t>
            </a:r>
            <a:r>
              <a:rPr sz="1600">
                <a:solidFill>
                  <a:srgbClr val="FFFFFF"/>
                </a:solidFill>
                <a:latin typeface="Arial"/>
              </a:rPr>
              <a:t>policy, standard, guideline, procedure.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Authority decides, accountability answers  </a:t>
            </a:r>
            <a:r>
              <a:rPr sz="1600">
                <a:solidFill>
                  <a:srgbClr val="FFFFFF"/>
                </a:solidFill>
                <a:latin typeface="Arial"/>
              </a:rPr>
              <a:t>and audits reinforce 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Risk is registered, owned and costed  </a:t>
            </a:r>
            <a:r>
              <a:rPr sz="1600">
                <a:solidFill>
                  <a:srgbClr val="FFFFFF"/>
                </a:solidFill>
                <a:latin typeface="Arial"/>
              </a:rPr>
              <a:t>SLE and ALE put money on 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Four responses  </a:t>
            </a:r>
            <a:r>
              <a:rPr sz="1600">
                <a:solidFill>
                  <a:srgbClr val="FFFFFF"/>
                </a:solidFill>
                <a:latin typeface="Arial"/>
              </a:rPr>
              <a:t>avoid, transfer, mitigate, accept.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Vendors extend your risk  </a:t>
            </a:r>
            <a:r>
              <a:rPr sz="1600">
                <a:solidFill>
                  <a:srgbClr val="FFFFFF"/>
                </a:solidFill>
                <a:latin typeface="Arial"/>
              </a:rPr>
              <a:t>assess, contract, monitor.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Compliance is a baseline  </a:t>
            </a:r>
            <a:r>
              <a:rPr sz="1600">
                <a:solidFill>
                  <a:srgbClr val="FFFFFF"/>
                </a:solidFill>
                <a:latin typeface="Arial"/>
              </a:rPr>
              <a:t>and audits prove it.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Awareness turns users into sensors  </a:t>
            </a:r>
            <a:r>
              <a:rPr sz="1600">
                <a:solidFill>
                  <a:srgbClr val="FFFFFF"/>
                </a:solidFill>
                <a:latin typeface="Arial"/>
              </a:rPr>
              <a:t>train, simulate, measure, refresh.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Quiz_Session_12.html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exam-objective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explanation, because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CompTIA exam objective, e.g. 12.2 Risk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Your next step is the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Revise the five domains  </a:t>
            </a:r>
            <a:r>
              <a:rPr sz="1450">
                <a:solidFill>
                  <a:srgbClr val="D1D5DB"/>
                </a:solidFill>
                <a:latin typeface="Arial"/>
              </a:rPr>
              <a:t>from network models and cryptography to architecture, operations and this session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Revisit the session quizzes  </a:t>
            </a:r>
            <a:r>
              <a:rPr sz="1450">
                <a:solidFill>
                  <a:srgbClr val="D1D5DB"/>
                </a:solidFill>
                <a:latin typeface="Arial"/>
              </a:rPr>
              <a:t>all twelve, as a full sweep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Practise performance-based questions  </a:t>
            </a:r>
            <a:r>
              <a:rPr sz="1450">
                <a:solidFill>
                  <a:srgbClr val="D1D5DB"/>
                </a:solidFill>
                <a:latin typeface="Arial"/>
              </a:rPr>
              <a:t>sequencing and scenario decisions under time pressure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Book the exam  </a:t>
            </a:r>
            <a:r>
              <a:rPr sz="1450">
                <a:solidFill>
                  <a:srgbClr val="D1D5DB"/>
                </a:solidFill>
                <a:latin typeface="Arial"/>
              </a:rPr>
              <a:t>and sit it while the material is fresh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pass mark  </a:t>
            </a:r>
            <a:r>
              <a:rPr sz="1450">
                <a:solidFill>
                  <a:srgbClr val="D1D5DB"/>
                </a:solidFill>
                <a:latin typeface="Arial"/>
              </a:rPr>
              <a:t>750 on a scale of 100 to 900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Stay curious  </a:t>
            </a:r>
            <a:r>
              <a:rPr sz="1450">
                <a:solidFill>
                  <a:srgbClr val="D1D5DB"/>
                </a:solidFill>
                <a:latin typeface="Arial"/>
              </a:rPr>
              <a:t>the certification is the start, not the destination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You are exam-ready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Twelve sessions complete, five domains covered, from the CIA triad to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General Security Concepts, sessions 1–2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Threats, Vulnerabilities &amp; Mitigations, sessions 3–5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Security Architecture, sessions 6–7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Security Operations, sessions 8–11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Security Program Management, session 12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Good luck, and stay curious.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